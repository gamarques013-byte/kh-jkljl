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umo" id="{dbaaea3d-c147-7c3c-728e-492e6abc02b8}">
          <p14:sldIdLst>
            <p14:sldId id="256"/>
            <p14:sldId id="257"/>
            <p14:sldId id="258"/>
          </p14:sldIdLst>
        </p14:section>
        <p14:section name="Como gera valor" id="{4b2e98dc-3fe1-02ea-8195-0980a5981962}">
          <p14:sldIdLst>
            <p14:sldId id="259"/>
            <p14:sldId id="260"/>
            <p14:sldId id="261"/>
          </p14:sldIdLst>
        </p14:section>
        <p14:section name="Fornecedores e barganha" id="{69481ae1-2251-6de5-5e57-bd05f972de6a}">
          <p14:sldIdLst>
            <p14:sldId id="262"/>
            <p14:sldId id="263"/>
            <p14:sldId id="264"/>
          </p14:sldIdLst>
        </p14:section>
        <p14:section name="Retorno e vantagem" id="{243a80d6-6a5e-ef64-9f31-bf42eead6780}">
          <p14:sldIdLst>
            <p14:sldId id="265"/>
            <p14:sldId id="266"/>
          </p14:sldIdLst>
        </p14:section>
        <p14:section name="Riscos e monitoramento" id="{405dc625-f10b-bebc-8f8d-fecf35299c12}">
          <p14:sldIdLst>
            <p14:sldId id="267"/>
            <p14:sldId id="268"/>
          </p14:sldIdLst>
        </p14:section>
        <p14:section name="Fontes" id="{9f551daa-2f05-c5a7-a791-654bdc1a839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2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420"/>
                </a:solidFill>
                <a:latin typeface="+mn-lt"/>
              </a:rPr>
              <a:t>Receita líquida por segmento (R$ bi) e margem bruta consolidada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Segurança</c:v>
                </c:pt>
              </c:strCache>
            </c:strRef>
          </c:tx>
          <c:spPr>
            <a:solidFill>
              <a:srgbClr val="1280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1.01</c:v>
                </c:pt>
                <c:pt idx="1">
                  <c:v>1.15</c:v>
                </c:pt>
                <c:pt idx="2">
                  <c:v>1.62</c:v>
                </c:pt>
                <c:pt idx="3">
                  <c:v>1.98</c:v>
                </c:pt>
                <c:pt idx="4">
                  <c:v>2.23</c:v>
                </c:pt>
                <c:pt idx="5">
                  <c:v>2.6</c:v>
                </c:pt>
                <c:pt idx="6">
                  <c:v>2.73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</c:v>
                </c:pt>
              </c:strCache>
            </c:strRef>
          </c:tx>
          <c:spPr>
            <a:solidFill>
              <a:srgbClr val="E07A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0.58</c:v>
                </c:pt>
                <c:pt idx="1">
                  <c:v>0.77</c:v>
                </c:pt>
                <c:pt idx="2">
                  <c:v>0.92</c:v>
                </c:pt>
                <c:pt idx="3">
                  <c:v>0.84</c:v>
                </c:pt>
                <c:pt idx="4">
                  <c:v>0.91</c:v>
                </c:pt>
                <c:pt idx="5">
                  <c:v>1.06</c:v>
                </c:pt>
                <c:pt idx="6">
                  <c:v>0.98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Energia</c:v>
                </c:pt>
              </c:strCache>
            </c:strRef>
          </c:tx>
          <c:spPr>
            <a:solidFill>
              <a:srgbClr val="2A8F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0.12</c:v>
                </c:pt>
                <c:pt idx="1">
                  <c:v>0.22</c:v>
                </c:pt>
                <c:pt idx="2">
                  <c:v>0.55</c:v>
                </c:pt>
                <c:pt idx="3">
                  <c:v>1.41</c:v>
                </c:pt>
                <c:pt idx="4">
                  <c:v>0.97</c:v>
                </c:pt>
                <c:pt idx="5">
                  <c:v>1.09</c:v>
                </c:pt>
                <c:pt idx="6">
                  <c:v>0.75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Margem bruta (eixo dir.)</c:v>
                </c:pt>
              </c:strCache>
            </c:strRef>
          </c:tx>
          <c:spPr>
            <a:solidFill>
              <a:srgbClr val="0F3D2E"/>
            </a:solidFill>
            <a:ln w="31750" cap="flat">
              <a:solidFill>
                <a:srgbClr val="0F3D2E"/>
              </a:solidFill>
              <a:prstDash val="solid"/>
              <a:round/>
            </a:ln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2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F3D2E"/>
              </a:solidFill>
              <a:ln w="9525" cap="flat">
                <a:solidFill>
                  <a:srgbClr val="0F3D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0.349</c:v>
                </c:pt>
                <c:pt idx="1">
                  <c:v>0.328</c:v>
                </c:pt>
                <c:pt idx="2">
                  <c:v>0.295</c:v>
                </c:pt>
                <c:pt idx="3">
                  <c:v>0.284</c:v>
                </c:pt>
                <c:pt idx="4">
                  <c:v>0.311</c:v>
                </c:pt>
                <c:pt idx="5">
                  <c:v>0.308</c:v>
                </c:pt>
                <c:pt idx="6">
                  <c:v>0.301</c:v>
                </c:pt>
              </c:numCache>
            </c:numRef>
          </c:val>
          <c:smooth val="0"/>
        </c:ser>
        <c:dLbls>
          <c:numFmt formatCode="0.0%" sourceLinked="0"/>
          <c:txPr>
            <a:bodyPr/>
            <a:lstStyle/>
            <a:p>
              <a:pPr>
                <a:defRPr b="0" i="0" strike="noStrike" sz="1100" u="none">
                  <a:solidFill>
                    <a:srgbClr val="1B2420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6350" cap="flat">
              <a:solidFill>
                <a:srgbClr val="D9E0DC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valAx>
        <c:axId val="2094734553"/>
        <c:scaling>
          <c:orientation val="minMax"/>
          <c:max val="0.4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3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  <c:majorUnit val="0.1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20"/>
                </a:solidFill>
                <a:latin typeface="+mn-lt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4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2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420"/>
                </a:solidFill>
                <a:latin typeface="+mn-lt"/>
              </a:rPr>
              <a:t>Receita líquida (R$ bi): 2,6x em seis anos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líquida (R$ bi)</c:v>
                </c:pt>
              </c:strCache>
            </c:strRef>
          </c:tx>
          <c:spPr>
            <a:solidFill>
              <a:srgbClr val="6B7A7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1.7</c:v>
                </c:pt>
                <c:pt idx="1">
                  <c:v>2.13</c:v>
                </c:pt>
                <c:pt idx="2">
                  <c:v>3.09</c:v>
                </c:pt>
                <c:pt idx="3">
                  <c:v>4.23</c:v>
                </c:pt>
                <c:pt idx="4">
                  <c:v>4.1</c:v>
                </c:pt>
                <c:pt idx="5">
                  <c:v>4.76</c:v>
                </c:pt>
                <c:pt idx="6">
                  <c:v>4.46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4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1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2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420"/>
                </a:solidFill>
                <a:latin typeface="+mn-lt"/>
              </a:rPr>
              <a:t>…mas SG&amp;A e margem EBITDA ficaram no mesmo patamar (% da receita)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SG&amp;A / receita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2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0.203</c:v>
                </c:pt>
                <c:pt idx="1">
                  <c:v>0.189</c:v>
                </c:pt>
                <c:pt idx="2">
                  <c:v>0.177</c:v>
                </c:pt>
                <c:pt idx="3">
                  <c:v>0.174</c:v>
                </c:pt>
                <c:pt idx="4">
                  <c:v>0.195</c:v>
                </c:pt>
                <c:pt idx="5">
                  <c:v>0.19</c:v>
                </c:pt>
                <c:pt idx="6">
                  <c:v>0.193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B2420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Margem EBITDA ajustada</c:v>
                </c:pt>
              </c:strCache>
            </c:strRef>
          </c:tx>
          <c:spPr>
            <a:solidFill>
              <a:srgbClr val="12804B"/>
            </a:solidFill>
            <a:ln w="31750" cap="flat">
              <a:solidFill>
                <a:srgbClr val="12804B"/>
              </a:solidFill>
              <a:prstDash val="solid"/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20"/>
                    </a:solidFill>
                    <a:latin typeface="+mn-lt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2804B"/>
              </a:solidFill>
              <a:ln w="9525" cap="flat">
                <a:solidFill>
                  <a:srgbClr val="1280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0.119</c:v>
                </c:pt>
                <c:pt idx="1">
                  <c:v>0.167</c:v>
                </c:pt>
                <c:pt idx="2">
                  <c:v>0.131</c:v>
                </c:pt>
                <c:pt idx="3">
                  <c:v>0.126</c:v>
                </c:pt>
                <c:pt idx="4">
                  <c:v>0.138</c:v>
                </c:pt>
                <c:pt idx="5">
                  <c:v>0.135</c:v>
                </c:pt>
                <c:pt idx="6">
                  <c:v>0.122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B2420"/>
                  </a:solidFill>
                  <a:latin typeface="+mn-lt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  <c:min val="0"/>
        </c:scaling>
        <c:delete val="0"/>
        <c:axPos val="l"/>
        <c:majorGridlines>
          <c:spPr>
            <a:ln w="6350" cap="flat">
              <a:solidFill>
                <a:srgbClr val="D9E0D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4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2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420"/>
                </a:solidFill>
                <a:latin typeface="+mn-lt"/>
              </a:rPr>
              <a:t>ROIC pré-IR = margem EBIT × giro do capital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ROIC pré-IR</c:v>
                </c:pt>
              </c:strCache>
            </c:strRef>
          </c:tx>
          <c:spPr>
            <a:solidFill>
              <a:srgbClr val="12804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20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LTM 2T26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0.312</c:v>
                </c:pt>
                <c:pt idx="1">
                  <c:v>0.255</c:v>
                </c:pt>
                <c:pt idx="2">
                  <c:v>0.264</c:v>
                </c:pt>
                <c:pt idx="3">
                  <c:v>0.233</c:v>
                </c:pt>
                <c:pt idx="4">
                  <c:v>0.181</c:v>
                </c:pt>
                <c:pt idx="5">
                  <c:v>0.151</c:v>
                </c:pt>
                <c:pt idx="6">
                  <c:v>0.188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Margem EBIT</c:v>
                </c:pt>
              </c:strCache>
            </c:strRef>
          </c:tx>
          <c:spPr>
            <a:solidFill>
              <a:srgbClr val="A9B5A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20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LTM 2T26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0.108</c:v>
                </c:pt>
                <c:pt idx="1">
                  <c:v>0.117</c:v>
                </c:pt>
                <c:pt idx="2">
                  <c:v>0.109</c:v>
                </c:pt>
                <c:pt idx="3">
                  <c:v>0.127</c:v>
                </c:pt>
                <c:pt idx="4">
                  <c:v>0.114</c:v>
                </c:pt>
                <c:pt idx="5">
                  <c:v>0.095</c:v>
                </c:pt>
                <c:pt idx="6">
                  <c:v>0.113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B2420"/>
                  </a:solidFill>
                  <a:latin typeface="+mn-l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Giro do capital (x, eixo dir.)</c:v>
                </c:pt>
              </c:strCache>
            </c:strRef>
          </c:tx>
          <c:spPr>
            <a:solidFill>
              <a:srgbClr val="E07A1F"/>
            </a:solidFill>
            <a:ln w="31750" cap="flat">
              <a:solidFill>
                <a:srgbClr val="E07A1F"/>
              </a:solidFill>
              <a:prstDash val="solid"/>
              <a:round/>
            </a:ln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2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07A1F"/>
              </a:solidFill>
              <a:ln w="9525" cap="flat">
                <a:solidFill>
                  <a:srgbClr val="E07A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LTM 2T26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2.88</c:v>
                </c:pt>
                <c:pt idx="1">
                  <c:v>2.17</c:v>
                </c:pt>
                <c:pt idx="2">
                  <c:v>2.41</c:v>
                </c:pt>
                <c:pt idx="3">
                  <c:v>1.84</c:v>
                </c:pt>
                <c:pt idx="4">
                  <c:v>1.58</c:v>
                </c:pt>
                <c:pt idx="5">
                  <c:v>1.58</c:v>
                </c:pt>
                <c:pt idx="6">
                  <c:v>1.66</c:v>
                </c:pt>
              </c:numCache>
            </c:numRef>
          </c:val>
          <c:smooth val="0"/>
        </c:ser>
        <c:dLbls>
          <c:numFmt formatCode="0.0&quot;x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420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9E0D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valAx>
        <c:axId val="2094734553"/>
        <c:scaling>
          <c:orientation val="minMax"/>
          <c:max val="3.5"/>
          <c:min val="0"/>
        </c:scaling>
        <c:delete val="0"/>
        <c:axPos val="r"/>
        <c:numFmt formatCode="0.0&quot;x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3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  <c:majorUnit val="0.5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20"/>
                </a:solidFill>
                <a:latin typeface="+mn-lt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4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explicar a lógica econômica do modelo de negócios da Intelbras — como cria valor, como captura em receita e margem, de que depende e o que o torna defensável ou vulnerável. Base: release e planilha interativa do 2T26, apresentação BTG CEO Conference 2021 e fontes externas. O FRE 2026 não foi verificado diretamente.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 do slide: a margem e o retorno da Intelbras vêm da interface com o mercado brasileiro, não do núcleo tecnológico. Cada linha resume um insight no formato fato → consequência; os slides seguintes detalham cada um. Destaque: o ROIC caiu à metade por giro de capital, não por margem.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Leitura em pares: crescimento (receita e Segurança), margem (bruta e SG&amp;A), capital (capital de giro e ciclo de caixa) e retorno (ROIC e alíquota). O ponto central é que o capital de giro supera o ativo fixo: a Intelbras é intensiva em estoque e crédito ao canal, não em fábrica.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 do mix: entre 2019 e 2022 o peso de Energia foi de 6,8% para 33,3% e a margem bruta consolidada de 34,9% para 28,4%. Quando Energia recuou, a margem voltou a ~31%. Inferência: a compressão foi principalmente mix (solar), não erosão de preço em Segurança. Em 2025 a margem não voltou a 35%, então há outros fatores (AVP, câmbio, competição) que as fontes não permitem separar.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a arquitetura existe: o instalador compra cerca de R$3 mil por mês. Atender 80–90 mil micro-contas diretamente exigiria crédito, cobrança e frete fracionado — inviável para um fabricante. O distribuidor agrega demanda, mantém estoque local e assume o crédito do instalador. O custo: a Intelbras ainda carrega ~144 dias de estoque e concede ~100 dias de prazo ao distribuidor. Note que a rota de projetos (integradores) subiu de 10% para 16% desde 2020.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é onde, na cadeia, a Intelbras captura valor. O P&amp;D de núcleo (chips, óptica, algoritmos de vídeo) vem de parceiros e é pago no preço de transferência. A captura alta está em marca, canal e treinamento do instalador. Fabricar no Brasil vale sobretudo pelo regime fiscal: créditos não-caixa de R$99–134 mi por ano em 2021–25 e alíquota efetiva de IR perto de zero. É vantagem regulatória, não de custo industrial.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Dahua é ao mesmo tempo fornecedora estratégica, ex-acionista relevante e concorrente. Benefícios: tecnologia de vídeo e IA em escala global e velocidade de lançamento, que a Intelbras não teria sozinha. Riscos: concentração na maior categoria do maior segmento, conflito com a marca própria da Dahua no Brasil e saída do capital. Inferência: o poder de barganha migra para o dono da tecnologia. O fim da exclusividade da FiberHome em GPON (jan/2026) mostra que exclusividades são renegociadas.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Escala: a receita cresceu 2,6x e o SG&amp;A sobre a receita ficou entre 17% e 20%; a margem EBITDA ajustada ficou em 12–17%. Não há evidência de economia de escala crescente no período. Escopo: categorias com o mesmo comprador e a mesma obra (controle de acesso, cabeamento, nobreaks) crescem; GPON (vendido a provedores) e solar (rede própria da Renovigi) diluíram retorno e estão sendo podados.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 de leitura: a Intelbras tem poder onde a contraparte é pulverizada e depende da marca para vender (distribuidores, instaladores, consumidor). Perde poder onde a contraparte detém a tecnologia (Dahua, fabricantes de chips) ou compra por especificação técnica (integradores, provedores). O preço do poder sobre o canal é o financiamento: ~100 dias de prazo.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Decomposição: ROIC = margem EBIT × giro (receita / capital empregado). Em 2019: 10,8% × 2,88 = 31%. Em 2025: 9,5% × 1,58 = 15%. A margem ficou na mesma faixa; o giro caiu porque capital de giro (de R$334 mi para R$1,6 bi), intangível (aquisições Khomp e Renovigi) e imobilizado cresceram mais que a receita. Estimativa: 10 dias a menos de ciclo de caixa liberam R$86–125 mi e somam 0,6 a 0,9 p.p. de ROIC.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Testamos cada elo da hipótese do flywheel. Evidenciado: marca e relacionamento (com viés, pois são dados da companhia). Parcial: portfólio, relevância para o canal, volume (sim em Segurança), produto competitivo (a escala é dos parceiros). Não evidenciado ou contradito: share of wallet (não divulgado), escala de custo (SG&amp;A não diluiu) e novas categorias lucrativas (solar e GPON diluíram retorno). Conclusão: existe um loop curto que gira; o loop longo não aparece nos números.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cada fragilidade: o mecanismo e a linha do resultado afetada. Os sinais mais concretos: ciclo de caixa dobrou, provisão para perda de estoques saiu de R$0,6 mi para R$54 mi e a PCLD quadruplicou em 2025. A perda de relevância do instalador (câmeras plug-and-play compradas direto) é a ameaça estrutural ao loop curto, mas não está quantificada nas fontes.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são as variáveis que um modelo financeiro da Intelbras deveria acompanhar trimestre a trimestre. A mais potente para o ROIC é o ciclo de caixa. Para a margem, é preciso separar a parte cíclica (preço a custo de reposição) da estrutural (mix e disciplina comercial).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Transparência sobre fontes: os dados financeiros vêm da planilha interativa e do release 2T26. Os dados atribuídos ao FRE (mix de canais, número de distribuidores e revendedores, exclusividade e participação da Dahua nas compras) vieram de research e imprensa que o reproduzem e devem ser confirmados no documento original. Não é recomendação de investimento.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10312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42900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355080"/>
            <a:ext cx="78638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8503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Intelbras (INTB3) · Modelo de negócios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355080"/>
            <a:ext cx="78638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8503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Intelbras (INTB3) · Modelo de negócios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1031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Intelbras (INTB3)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429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Modelo de negócios: como a empresa cria e captura valor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Equity Research · Data-base 2T26 · Outubro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 valor está no instalador, não no chip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Intelbras converte tecnologia global em disponibilidade, suporte, marca e regime fiscal para ~80–90 mil instaladores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release e planilha interativa 2T26 (Intelbras); apresentação BTG CEO Conference 2021; imprensa (ver slide de fontes). Cálculos próprios.</a:t>
            </a:r>
            <a:endParaRPr lang="en-US" sz="1000" dirty="0"/>
          </a:p>
        </p:txBody>
      </p:sp>
      <p:sp>
        <p:nvSpPr>
          <p:cNvPr id="6" name="card-1"/>
          <p:cNvSpPr/>
          <p:nvPr/>
        </p:nvSpPr>
        <p:spPr>
          <a:xfrm>
            <a:off x="457200" y="1554480"/>
            <a:ext cx="11277295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7" name="num-2"/>
          <p:cNvSpPr txBox="1"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xt-3"/>
          <p:cNvSpPr txBox="1"/>
          <p:nvPr/>
        </p:nvSpPr>
        <p:spPr>
          <a:xfrm>
            <a:off x="132588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ROIC é uma questão de giro</a:t>
            </a:r>
            <a:endParaRPr lang="en-US" sz="1600" dirty="0"/>
          </a:p>
        </p:txBody>
      </p:sp>
      <p:sp>
        <p:nvSpPr>
          <p:cNvPr id="9" name="txt-4"/>
          <p:cNvSpPr txBox="1"/>
          <p:nvPr/>
        </p:nvSpPr>
        <p:spPr>
          <a:xfrm>
            <a:off x="5074920" y="155448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Margem EBIT estável em 10–12%, mas o giro do capital caiu de 2,9x para 1,6x (2019–25). Cada 10 dias a menos de ciclo de caixa ≈ +0,6 a 0,9 p.p. de ROIC.</a:t>
            </a:r>
            <a:endParaRPr lang="en-US" sz="1400" dirty="0"/>
          </a:p>
        </p:txBody>
      </p:sp>
      <p:sp>
        <p:nvSpPr>
          <p:cNvPr id="10" name="card-5"/>
          <p:cNvSpPr/>
          <p:nvPr/>
        </p:nvSpPr>
        <p:spPr>
          <a:xfrm>
            <a:off x="457200" y="2487168"/>
            <a:ext cx="11277295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1" name="num-6"/>
          <p:cNvSpPr txBox="1"/>
          <p:nvPr/>
        </p:nvSpPr>
        <p:spPr>
          <a:xfrm>
            <a:off x="640080" y="26700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xt-7"/>
          <p:cNvSpPr txBox="1"/>
          <p:nvPr/>
        </p:nvSpPr>
        <p:spPr>
          <a:xfrm>
            <a:off x="1325880" y="248716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Margem só onde o comprador é pulverizado</a:t>
            </a:r>
            <a:endParaRPr lang="en-US" sz="1600" dirty="0"/>
          </a:p>
        </p:txBody>
      </p:sp>
      <p:sp>
        <p:nvSpPr>
          <p:cNvPr id="13" name="txt-8"/>
          <p:cNvSpPr txBox="1"/>
          <p:nvPr/>
        </p:nvSpPr>
        <p:spPr>
          <a:xfrm>
            <a:off x="5074920" y="2487168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Segurança teve 38–41% de margem bruta; Energia e TIC, 26–32%. A poda de GPON e solar melhora a margem e reduz o crescimento.</a:t>
            </a:r>
            <a:endParaRPr lang="en-US" sz="1400" dirty="0"/>
          </a:p>
        </p:txBody>
      </p:sp>
      <p:sp>
        <p:nvSpPr>
          <p:cNvPr id="14" name="card-9"/>
          <p:cNvSpPr/>
          <p:nvPr/>
        </p:nvSpPr>
        <p:spPr>
          <a:xfrm>
            <a:off x="457200" y="3419856"/>
            <a:ext cx="11277295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5" name="num-10"/>
          <p:cNvSpPr txBox="1"/>
          <p:nvPr/>
        </p:nvSpPr>
        <p:spPr>
          <a:xfrm>
            <a:off x="640080" y="360273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xt-11"/>
          <p:cNvSpPr txBox="1"/>
          <p:nvPr/>
        </p:nvSpPr>
        <p:spPr>
          <a:xfrm>
            <a:off x="1325880" y="341985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canal é barreira de tempo, com custo recorrente</a:t>
            </a:r>
            <a:endParaRPr lang="en-US" sz="1600" dirty="0"/>
          </a:p>
        </p:txBody>
      </p:sp>
      <p:sp>
        <p:nvSpPr>
          <p:cNvPr id="17" name="txt-12"/>
          <p:cNvSpPr txBox="1"/>
          <p:nvPr/>
        </p:nvSpPr>
        <p:spPr>
          <a:xfrm>
            <a:off x="5074920" y="3419856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~500 pontos e 80–90 mil instaladores sustentam volume e repasse de preço, mas as despesas com vendas seguem em ~13,5% da receita.</a:t>
            </a:r>
            <a:endParaRPr lang="en-US" sz="1400" dirty="0"/>
          </a:p>
        </p:txBody>
      </p:sp>
      <p:sp>
        <p:nvSpPr>
          <p:cNvPr id="18" name="card-13"/>
          <p:cNvSpPr/>
          <p:nvPr/>
        </p:nvSpPr>
        <p:spPr>
          <a:xfrm>
            <a:off x="457200" y="4352544"/>
            <a:ext cx="11277295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9" name="num-14"/>
          <p:cNvSpPr txBox="1"/>
          <p:nvPr/>
        </p:nvSpPr>
        <p:spPr>
          <a:xfrm>
            <a:off x="640080" y="453542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xt-15"/>
          <p:cNvSpPr txBox="1"/>
          <p:nvPr/>
        </p:nvSpPr>
        <p:spPr>
          <a:xfrm>
            <a:off x="1325880" y="435254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Dahua: motor e maior risco do core</a:t>
            </a:r>
            <a:endParaRPr lang="en-US" sz="1600" dirty="0"/>
          </a:p>
        </p:txBody>
      </p:sp>
      <p:sp>
        <p:nvSpPr>
          <p:cNvPr id="21" name="txt-16"/>
          <p:cNvSpPr txBox="1"/>
          <p:nvPr/>
        </p:nvSpPr>
        <p:spPr>
          <a:xfrm>
            <a:off x="5074920" y="4352544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Exclusividade em CFTV e 28,6% das compras (2021). Com marca própria no Brasil e saindo do capital, o poder migra para a Dahua.</a:t>
            </a:r>
            <a:endParaRPr lang="en-US" sz="1400" dirty="0"/>
          </a:p>
        </p:txBody>
      </p:sp>
      <p:sp>
        <p:nvSpPr>
          <p:cNvPr id="22" name="card-17"/>
          <p:cNvSpPr/>
          <p:nvPr/>
        </p:nvSpPr>
        <p:spPr>
          <a:xfrm>
            <a:off x="457200" y="5285232"/>
            <a:ext cx="11277295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3" name="num-18"/>
          <p:cNvSpPr txBox="1"/>
          <p:nvPr/>
        </p:nvSpPr>
        <p:spPr>
          <a:xfrm>
            <a:off x="640080" y="54681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xt-19"/>
          <p:cNvSpPr txBox="1"/>
          <p:nvPr/>
        </p:nvSpPr>
        <p:spPr>
          <a:xfrm>
            <a:off x="1325880" y="528523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Parte do lucro é regulatória</a:t>
            </a:r>
            <a:endParaRPr lang="en-US" sz="1600" dirty="0"/>
          </a:p>
        </p:txBody>
      </p:sp>
      <p:sp>
        <p:nvSpPr>
          <p:cNvPr id="25" name="txt-20"/>
          <p:cNvSpPr txBox="1"/>
          <p:nvPr/>
        </p:nvSpPr>
        <p:spPr>
          <a:xfrm>
            <a:off x="5074920" y="5285232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Créditos tributários ≈ 23–30% do EBIT e IR efetivo próximo de zero: Lei de TICs e ZFM são variáveis do modelo, não constantes.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Oito números que explicam o modelo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Liderança e crescimento em Segurança; capital de giro e incentivos fiscais pesam no retorno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planilha interativa e release 2T26 (Intelbras); cálculos próprios. Capital de giro = contas a receber + estoques − fornecedores − risco sacado. Ciclo de caixa = DSO + DIO − DPO.</a:t>
            </a:r>
            <a:endParaRPr lang="en-US" sz="1000" dirty="0"/>
          </a:p>
        </p:txBody>
      </p:sp>
      <p:sp>
        <p:nvSpPr>
          <p:cNvPr id="6" name="card-21"/>
          <p:cNvSpPr/>
          <p:nvPr/>
        </p:nvSpPr>
        <p:spPr>
          <a:xfrm>
            <a:off x="457200" y="1600200"/>
            <a:ext cx="2613584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7" name="txt-22"/>
          <p:cNvSpPr txBox="1"/>
          <p:nvPr/>
        </p:nvSpPr>
        <p:spPr>
          <a:xfrm>
            <a:off x="640080" y="1783080"/>
            <a:ext cx="2247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R$4,46 bi</a:t>
            </a:r>
            <a:endParaRPr lang="en-US" sz="3400" dirty="0"/>
          </a:p>
        </p:txBody>
      </p:sp>
      <p:sp>
        <p:nvSpPr>
          <p:cNvPr id="8" name="txt-23"/>
          <p:cNvSpPr txBox="1"/>
          <p:nvPr/>
        </p:nvSpPr>
        <p:spPr>
          <a:xfrm>
            <a:off x="640080" y="2606040"/>
            <a:ext cx="224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Receita líquida 2025</a:t>
            </a:r>
            <a:endParaRPr lang="en-US" sz="1400" dirty="0"/>
          </a:p>
        </p:txBody>
      </p:sp>
      <p:sp>
        <p:nvSpPr>
          <p:cNvPr id="9" name="txt-24"/>
          <p:cNvSpPr txBox="1"/>
          <p:nvPr/>
        </p:nvSpPr>
        <p:spPr>
          <a:xfrm>
            <a:off x="640080" y="2971800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Segurança 61% · TIC 22% · Energia 17%</a:t>
            </a:r>
            <a:endParaRPr lang="en-US" sz="1200" dirty="0"/>
          </a:p>
        </p:txBody>
      </p:sp>
      <p:sp>
        <p:nvSpPr>
          <p:cNvPr id="10" name="card-25"/>
          <p:cNvSpPr/>
          <p:nvPr/>
        </p:nvSpPr>
        <p:spPr>
          <a:xfrm>
            <a:off x="3345104" y="1600200"/>
            <a:ext cx="2613584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1" name="txt-26"/>
          <p:cNvSpPr txBox="1"/>
          <p:nvPr/>
        </p:nvSpPr>
        <p:spPr>
          <a:xfrm>
            <a:off x="3527984" y="1783080"/>
            <a:ext cx="2247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+18% a.a.</a:t>
            </a:r>
            <a:endParaRPr lang="en-US" sz="3400" dirty="0"/>
          </a:p>
        </p:txBody>
      </p:sp>
      <p:sp>
        <p:nvSpPr>
          <p:cNvPr id="12" name="txt-27"/>
          <p:cNvSpPr txBox="1"/>
          <p:nvPr/>
        </p:nvSpPr>
        <p:spPr>
          <a:xfrm>
            <a:off x="3527984" y="2606040"/>
            <a:ext cx="224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CAGR de Segurança 2019–25</a:t>
            </a:r>
            <a:endParaRPr lang="en-US" sz="1400" dirty="0"/>
          </a:p>
        </p:txBody>
      </p:sp>
      <p:sp>
        <p:nvSpPr>
          <p:cNvPr id="13" name="txt-28"/>
          <p:cNvSpPr txBox="1"/>
          <p:nvPr/>
        </p:nvSpPr>
        <p:spPr>
          <a:xfrm>
            <a:off x="3527984" y="2971800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Cresceu todo ano; TIC +1,6% a.a. desde 2021</a:t>
            </a:r>
            <a:endParaRPr lang="en-US" sz="1200" dirty="0"/>
          </a:p>
        </p:txBody>
      </p:sp>
      <p:sp>
        <p:nvSpPr>
          <p:cNvPr id="14" name="card-29"/>
          <p:cNvSpPr/>
          <p:nvPr/>
        </p:nvSpPr>
        <p:spPr>
          <a:xfrm>
            <a:off x="6233008" y="1600200"/>
            <a:ext cx="2613584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5" name="txt-30"/>
          <p:cNvSpPr txBox="1"/>
          <p:nvPr/>
        </p:nvSpPr>
        <p:spPr>
          <a:xfrm>
            <a:off x="6415888" y="1783080"/>
            <a:ext cx="2247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30,1%</a:t>
            </a:r>
            <a:endParaRPr lang="en-US" sz="3400" dirty="0"/>
          </a:p>
        </p:txBody>
      </p:sp>
      <p:sp>
        <p:nvSpPr>
          <p:cNvPr id="16" name="txt-31"/>
          <p:cNvSpPr txBox="1"/>
          <p:nvPr/>
        </p:nvSpPr>
        <p:spPr>
          <a:xfrm>
            <a:off x="6415888" y="2606040"/>
            <a:ext cx="224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Margem bruta 2025</a:t>
            </a:r>
            <a:endParaRPr lang="en-US" sz="1400" dirty="0"/>
          </a:p>
        </p:txBody>
      </p:sp>
      <p:sp>
        <p:nvSpPr>
          <p:cNvPr id="17" name="txt-32"/>
          <p:cNvSpPr txBox="1"/>
          <p:nvPr/>
        </p:nvSpPr>
        <p:spPr>
          <a:xfrm>
            <a:off x="6415888" y="2971800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34,9% em 2019; 33,1% no 2T26 (parte cíclica)</a:t>
            </a:r>
            <a:endParaRPr lang="en-US" sz="1200" dirty="0"/>
          </a:p>
        </p:txBody>
      </p:sp>
      <p:sp>
        <p:nvSpPr>
          <p:cNvPr id="18" name="card-33"/>
          <p:cNvSpPr/>
          <p:nvPr/>
        </p:nvSpPr>
        <p:spPr>
          <a:xfrm>
            <a:off x="9120911" y="1600200"/>
            <a:ext cx="2613584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9" name="txt-34"/>
          <p:cNvSpPr txBox="1"/>
          <p:nvPr/>
        </p:nvSpPr>
        <p:spPr>
          <a:xfrm>
            <a:off x="9303791" y="1783080"/>
            <a:ext cx="2247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19,3%</a:t>
            </a:r>
            <a:endParaRPr lang="en-US" sz="3400" dirty="0"/>
          </a:p>
        </p:txBody>
      </p:sp>
      <p:sp>
        <p:nvSpPr>
          <p:cNvPr id="20" name="txt-35"/>
          <p:cNvSpPr txBox="1"/>
          <p:nvPr/>
        </p:nvSpPr>
        <p:spPr>
          <a:xfrm>
            <a:off x="9303791" y="2606040"/>
            <a:ext cx="224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SG&amp;A / receita 2025</a:t>
            </a:r>
            <a:endParaRPr lang="en-US" sz="1400" dirty="0"/>
          </a:p>
        </p:txBody>
      </p:sp>
      <p:sp>
        <p:nvSpPr>
          <p:cNvPr id="21" name="txt-36"/>
          <p:cNvSpPr txBox="1"/>
          <p:nvPr/>
        </p:nvSpPr>
        <p:spPr>
          <a:xfrm>
            <a:off x="9303791" y="2971800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20,3% em 2019: escala não diluiu despesa</a:t>
            </a:r>
            <a:endParaRPr lang="en-US" sz="1200" dirty="0"/>
          </a:p>
        </p:txBody>
      </p:sp>
      <p:sp>
        <p:nvSpPr>
          <p:cNvPr id="22" name="card-37"/>
          <p:cNvSpPr/>
          <p:nvPr/>
        </p:nvSpPr>
        <p:spPr>
          <a:xfrm>
            <a:off x="457200" y="4069080"/>
            <a:ext cx="2613584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23" name="txt-38"/>
          <p:cNvSpPr txBox="1"/>
          <p:nvPr/>
        </p:nvSpPr>
        <p:spPr>
          <a:xfrm>
            <a:off x="640080" y="4251960"/>
            <a:ext cx="2247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R$1,6 bi</a:t>
            </a:r>
            <a:endParaRPr lang="en-US" sz="3400" dirty="0"/>
          </a:p>
        </p:txBody>
      </p:sp>
      <p:sp>
        <p:nvSpPr>
          <p:cNvPr id="24" name="txt-39"/>
          <p:cNvSpPr txBox="1"/>
          <p:nvPr/>
        </p:nvSpPr>
        <p:spPr>
          <a:xfrm>
            <a:off x="640080" y="5074920"/>
            <a:ext cx="224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Capital de giro operacional</a:t>
            </a:r>
            <a:endParaRPr lang="en-US" sz="1400" dirty="0"/>
          </a:p>
        </p:txBody>
      </p:sp>
      <p:sp>
        <p:nvSpPr>
          <p:cNvPr id="25" name="txt-40"/>
          <p:cNvSpPr txBox="1"/>
          <p:nvPr/>
        </p:nvSpPr>
        <p:spPr>
          <a:xfrm>
            <a:off x="640080" y="5440680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Supera imobilizado + intangível (R$1,25 bi)</a:t>
            </a:r>
            <a:endParaRPr lang="en-US" sz="1200" dirty="0"/>
          </a:p>
        </p:txBody>
      </p:sp>
      <p:sp>
        <p:nvSpPr>
          <p:cNvPr id="26" name="card-41"/>
          <p:cNvSpPr/>
          <p:nvPr/>
        </p:nvSpPr>
        <p:spPr>
          <a:xfrm>
            <a:off x="3345104" y="4069080"/>
            <a:ext cx="2613584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27" name="txt-42"/>
          <p:cNvSpPr txBox="1"/>
          <p:nvPr/>
        </p:nvSpPr>
        <p:spPr>
          <a:xfrm>
            <a:off x="3527984" y="4251960"/>
            <a:ext cx="2247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145 dias</a:t>
            </a:r>
            <a:endParaRPr lang="en-US" sz="3400" dirty="0"/>
          </a:p>
        </p:txBody>
      </p:sp>
      <p:sp>
        <p:nvSpPr>
          <p:cNvPr id="28" name="txt-43"/>
          <p:cNvSpPr txBox="1"/>
          <p:nvPr/>
        </p:nvSpPr>
        <p:spPr>
          <a:xfrm>
            <a:off x="3527984" y="5074920"/>
            <a:ext cx="224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Ciclo de caixa 2025</a:t>
            </a:r>
            <a:endParaRPr lang="en-US" sz="1400" dirty="0"/>
          </a:p>
        </p:txBody>
      </p:sp>
      <p:sp>
        <p:nvSpPr>
          <p:cNvPr id="29" name="txt-44"/>
          <p:cNvSpPr txBox="1"/>
          <p:nvPr/>
        </p:nvSpPr>
        <p:spPr>
          <a:xfrm>
            <a:off x="3527984" y="5440680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68 dias em 2019; 132 no LTM 2T26</a:t>
            </a:r>
            <a:endParaRPr lang="en-US" sz="1200" dirty="0"/>
          </a:p>
        </p:txBody>
      </p:sp>
      <p:sp>
        <p:nvSpPr>
          <p:cNvPr id="30" name="card-45"/>
          <p:cNvSpPr/>
          <p:nvPr/>
        </p:nvSpPr>
        <p:spPr>
          <a:xfrm>
            <a:off x="6233008" y="4069080"/>
            <a:ext cx="2613584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31" name="txt-46"/>
          <p:cNvSpPr txBox="1"/>
          <p:nvPr/>
        </p:nvSpPr>
        <p:spPr>
          <a:xfrm>
            <a:off x="6415888" y="4251960"/>
            <a:ext cx="2247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18,8%</a:t>
            </a:r>
            <a:endParaRPr lang="en-US" sz="3400" dirty="0"/>
          </a:p>
        </p:txBody>
      </p:sp>
      <p:sp>
        <p:nvSpPr>
          <p:cNvPr id="32" name="txt-47"/>
          <p:cNvSpPr txBox="1"/>
          <p:nvPr/>
        </p:nvSpPr>
        <p:spPr>
          <a:xfrm>
            <a:off x="6415888" y="5074920"/>
            <a:ext cx="224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ROIC pré-IR (LTM 2T26)</a:t>
            </a:r>
            <a:endParaRPr lang="en-US" sz="1400" dirty="0"/>
          </a:p>
        </p:txBody>
      </p:sp>
      <p:sp>
        <p:nvSpPr>
          <p:cNvPr id="33" name="txt-48"/>
          <p:cNvSpPr txBox="1"/>
          <p:nvPr/>
        </p:nvSpPr>
        <p:spPr>
          <a:xfrm>
            <a:off x="6415888" y="5440680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31% em 2019; 15% em 2025</a:t>
            </a:r>
            <a:endParaRPr lang="en-US" sz="1200" dirty="0"/>
          </a:p>
        </p:txBody>
      </p:sp>
      <p:sp>
        <p:nvSpPr>
          <p:cNvPr id="34" name="card-49"/>
          <p:cNvSpPr/>
          <p:nvPr/>
        </p:nvSpPr>
        <p:spPr>
          <a:xfrm>
            <a:off x="9120911" y="4069080"/>
            <a:ext cx="2613584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35" name="txt-50"/>
          <p:cNvSpPr txBox="1"/>
          <p:nvPr/>
        </p:nvSpPr>
        <p:spPr>
          <a:xfrm>
            <a:off x="9303791" y="4251960"/>
            <a:ext cx="2247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≈ 0%</a:t>
            </a:r>
            <a:endParaRPr lang="en-US" sz="3400" dirty="0"/>
          </a:p>
        </p:txBody>
      </p:sp>
      <p:sp>
        <p:nvSpPr>
          <p:cNvPr id="36" name="txt-51"/>
          <p:cNvSpPr txBox="1"/>
          <p:nvPr/>
        </p:nvSpPr>
        <p:spPr>
          <a:xfrm>
            <a:off x="9303791" y="5074920"/>
            <a:ext cx="224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Alíquota efetiva de IR/CS</a:t>
            </a:r>
            <a:endParaRPr lang="en-US" sz="1400" dirty="0"/>
          </a:p>
        </p:txBody>
      </p:sp>
      <p:sp>
        <p:nvSpPr>
          <p:cNvPr id="37" name="txt-52"/>
          <p:cNvSpPr txBox="1"/>
          <p:nvPr/>
        </p:nvSpPr>
        <p:spPr>
          <a:xfrm>
            <a:off x="9303791" y="5440680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Entre −5,6% e +1,9% em 2019–25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Segurança se compõe; Energia diluiu a margem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margem bruta caiu enquanto o peso de Energia (solar) subiu de 7% para 33% da receita entre 2019 e 2022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planilha interativa 2T26, abas Informações por Segmento e Indicadores Anuais (soma dos trimestres); margens por segmento 2017–20: apresentação BTG CEO Conference 2021, slide 13.</a:t>
            </a:r>
            <a:endParaRPr lang="en-US" sz="1000" dirty="0"/>
          </a:p>
        </p:txBody>
      </p:sp>
      <p:graphicFrame>
        <p:nvGraphicFramePr>
          <p:cNvPr id="6" name="grafico-receita-margem" descr=""/>
          <p:cNvGraphicFramePr/>
          <p:nvPr/>
        </p:nvGraphicFramePr>
        <p:xfrm>
          <a:off x="457200" y="1508760"/>
          <a:ext cx="749808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xt-53"/>
          <p:cNvSpPr txBox="1"/>
          <p:nvPr/>
        </p:nvSpPr>
        <p:spPr>
          <a:xfrm>
            <a:off x="8229600" y="155448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CAGR da receita 2019–25</a:t>
            </a:r>
            <a:endParaRPr lang="en-US" sz="1400" dirty="0"/>
          </a:p>
        </p:txBody>
      </p:sp>
      <p:sp>
        <p:nvSpPr>
          <p:cNvPr id="8" name="txt-54"/>
          <p:cNvSpPr txBox="1"/>
          <p:nvPr/>
        </p:nvSpPr>
        <p:spPr>
          <a:xfrm>
            <a:off x="8229600" y="192024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+18,1% a.a.</a:t>
            </a:r>
            <a:endParaRPr lang="en-US" sz="2800" dirty="0"/>
          </a:p>
        </p:txBody>
      </p:sp>
      <p:sp>
        <p:nvSpPr>
          <p:cNvPr id="9" name="txt-55"/>
          <p:cNvSpPr txBox="1"/>
          <p:nvPr/>
        </p:nvSpPr>
        <p:spPr>
          <a:xfrm>
            <a:off x="8229600" y="2377440"/>
            <a:ext cx="3504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Segurança — cresceu todos os anos (R$1,0 → 2,7 bi)</a:t>
            </a:r>
            <a:endParaRPr lang="en-US" sz="1200" dirty="0"/>
          </a:p>
        </p:txBody>
      </p:sp>
      <p:sp>
        <p:nvSpPr>
          <p:cNvPr id="10" name="txt-56"/>
          <p:cNvSpPr txBox="1"/>
          <p:nvPr/>
        </p:nvSpPr>
        <p:spPr>
          <a:xfrm>
            <a:off x="8229600" y="28803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+9,2% a.a.</a:t>
            </a:r>
            <a:endParaRPr lang="en-US" sz="2800" dirty="0"/>
          </a:p>
        </p:txBody>
      </p:sp>
      <p:sp>
        <p:nvSpPr>
          <p:cNvPr id="11" name="txt-57"/>
          <p:cNvSpPr txBox="1"/>
          <p:nvPr/>
        </p:nvSpPr>
        <p:spPr>
          <a:xfrm>
            <a:off x="8229600" y="3337560"/>
            <a:ext cx="3504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TIC — estagnada desde 2021 (+1,6% a.a.)</a:t>
            </a:r>
            <a:endParaRPr lang="en-US" sz="1200" dirty="0"/>
          </a:p>
        </p:txBody>
      </p:sp>
      <p:sp>
        <p:nvSpPr>
          <p:cNvPr id="12" name="txt-58"/>
          <p:cNvSpPr txBox="1"/>
          <p:nvPr/>
        </p:nvSpPr>
        <p:spPr>
          <a:xfrm>
            <a:off x="8229600" y="384048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+36,7% a.a.</a:t>
            </a:r>
            <a:endParaRPr lang="en-US" sz="2800" dirty="0"/>
          </a:p>
        </p:txBody>
      </p:sp>
      <p:sp>
        <p:nvSpPr>
          <p:cNvPr id="13" name="txt-59"/>
          <p:cNvSpPr txBox="1"/>
          <p:nvPr/>
        </p:nvSpPr>
        <p:spPr>
          <a:xfrm>
            <a:off x="8229600" y="4297680"/>
            <a:ext cx="3504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Energia — pico de R$1,41 bi (2022), R$0,75 bi em 2025</a:t>
            </a:r>
            <a:endParaRPr lang="en-US" sz="1200" dirty="0"/>
          </a:p>
        </p:txBody>
      </p:sp>
      <p:sp>
        <p:nvSpPr>
          <p:cNvPr id="14" name="card-60"/>
          <p:cNvSpPr/>
          <p:nvPr/>
        </p:nvSpPr>
        <p:spPr>
          <a:xfrm>
            <a:off x="8229600" y="4937760"/>
            <a:ext cx="3504895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5" name="txt-61"/>
          <p:cNvSpPr txBox="1"/>
          <p:nvPr/>
        </p:nvSpPr>
        <p:spPr>
          <a:xfrm>
            <a:off x="8412480" y="4937760"/>
            <a:ext cx="3139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Margem bruta 2017–20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Segurança 38–41%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TIC 29–32% · Energia 26–31%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 distribuidor agrega; o instalador escolhe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71% das vendas passam pela distribuição; a Intelbras carrega o estoque e financia o canal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mix de canais 2024 e nº de distribuidores/revendedores: FRE via Genial Analisa (não verificado no FRE original); 2020: BTG CEO Conference 2021, slide 9; prazos: planilha 2T26. Receita por revendedor: estimativa própria.</a:t>
            </a:r>
            <a:endParaRPr lang="en-US" sz="1000" dirty="0"/>
          </a:p>
        </p:txBody>
      </p:sp>
      <p:sp>
        <p:nvSpPr>
          <p:cNvPr id="6" name="card-62"/>
          <p:cNvSpPr/>
          <p:nvPr/>
        </p:nvSpPr>
        <p:spPr>
          <a:xfrm>
            <a:off x="457200" y="2194560"/>
            <a:ext cx="1892808" cy="2606040"/>
          </a:xfrm>
          <a:prstGeom prst="roundRect">
            <a:avLst>
              <a:gd name="adj" fmla="val 3865"/>
            </a:avLst>
          </a:prstGeom>
          <a:solidFill>
            <a:schemeClr val="bg2"/>
          </a:solidFill>
          <a:ln/>
        </p:spPr>
      </p:sp>
      <p:sp>
        <p:nvSpPr>
          <p:cNvPr id="7" name="txt-63"/>
          <p:cNvSpPr txBox="1"/>
          <p:nvPr/>
        </p:nvSpPr>
        <p:spPr>
          <a:xfrm>
            <a:off x="594360" y="2331720"/>
            <a:ext cx="161848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Plataformas e componentes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Dahua (CFTV)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FiberHome (GPON, cabos)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Chips e módulos importados</a:t>
            </a:r>
            <a:endParaRPr lang="en-US" sz="1300" dirty="0"/>
          </a:p>
        </p:txBody>
      </p:sp>
      <p:sp>
        <p:nvSpPr>
          <p:cNvPr id="8" name="card-64"/>
          <p:cNvSpPr/>
          <p:nvPr/>
        </p:nvSpPr>
        <p:spPr>
          <a:xfrm>
            <a:off x="2803322" y="2194560"/>
            <a:ext cx="1892808" cy="2606040"/>
          </a:xfrm>
          <a:prstGeom prst="roundRect">
            <a:avLst>
              <a:gd name="adj" fmla="val 3865"/>
            </a:avLst>
          </a:prstGeom>
          <a:solidFill>
            <a:schemeClr val="tx2"/>
          </a:solidFill>
          <a:ln/>
        </p:spPr>
      </p:sp>
      <p:sp>
        <p:nvSpPr>
          <p:cNvPr id="9" name="txt-65"/>
          <p:cNvSpPr txBox="1"/>
          <p:nvPr/>
        </p:nvSpPr>
        <p:spPr>
          <a:xfrm>
            <a:off x="2940482" y="2331720"/>
            <a:ext cx="161848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Intelbras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Adaptação e firmware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Fábricas: Manaus, SC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Marca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Estoque ~144 dias</a:t>
            </a:r>
            <a:endParaRPr lang="en-US" sz="1300" dirty="0"/>
          </a:p>
        </p:txBody>
      </p:sp>
      <p:sp>
        <p:nvSpPr>
          <p:cNvPr id="10" name="card-66"/>
          <p:cNvSpPr/>
          <p:nvPr/>
        </p:nvSpPr>
        <p:spPr>
          <a:xfrm>
            <a:off x="5149444" y="1554480"/>
            <a:ext cx="1892808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1" name="txt-67"/>
          <p:cNvSpPr txBox="1"/>
          <p:nvPr/>
        </p:nvSpPr>
        <p:spPr>
          <a:xfrm>
            <a:off x="5286604" y="1627632"/>
            <a:ext cx="161848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13%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Varejo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13% em 2020</a:t>
            </a:r>
            <a:endParaRPr lang="en-US" sz="1400" dirty="0"/>
          </a:p>
        </p:txBody>
      </p:sp>
      <p:sp>
        <p:nvSpPr>
          <p:cNvPr id="12" name="card-68"/>
          <p:cNvSpPr/>
          <p:nvPr/>
        </p:nvSpPr>
        <p:spPr>
          <a:xfrm>
            <a:off x="5149444" y="2880360"/>
            <a:ext cx="1892808" cy="1234440"/>
          </a:xfrm>
          <a:prstGeom prst="roundRect">
            <a:avLst>
              <a:gd name="adj" fmla="val 5926"/>
            </a:avLst>
          </a:prstGeom>
          <a:solidFill>
            <a:schemeClr val="accent1"/>
          </a:solidFill>
          <a:ln/>
        </p:spPr>
      </p:sp>
      <p:sp>
        <p:nvSpPr>
          <p:cNvPr id="13" name="txt-69"/>
          <p:cNvSpPr txBox="1"/>
          <p:nvPr/>
        </p:nvSpPr>
        <p:spPr>
          <a:xfrm>
            <a:off x="5286604" y="2953512"/>
            <a:ext cx="161848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71%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Distribuidores (~500 pontos)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77% em 2020</a:t>
            </a:r>
            <a:endParaRPr lang="en-US" sz="1400" dirty="0"/>
          </a:p>
        </p:txBody>
      </p:sp>
      <p:sp>
        <p:nvSpPr>
          <p:cNvPr id="14" name="card-70"/>
          <p:cNvSpPr/>
          <p:nvPr/>
        </p:nvSpPr>
        <p:spPr>
          <a:xfrm>
            <a:off x="5149444" y="4343400"/>
            <a:ext cx="1892808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5" name="txt-71"/>
          <p:cNvSpPr txBox="1"/>
          <p:nvPr/>
        </p:nvSpPr>
        <p:spPr>
          <a:xfrm>
            <a:off x="5286604" y="4416552"/>
            <a:ext cx="161848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16%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Integradores e contas nomeadas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10% em 2020</a:t>
            </a:r>
            <a:endParaRPr lang="en-US" sz="1400" dirty="0"/>
          </a:p>
        </p:txBody>
      </p:sp>
      <p:sp>
        <p:nvSpPr>
          <p:cNvPr id="16" name="card-72"/>
          <p:cNvSpPr/>
          <p:nvPr/>
        </p:nvSpPr>
        <p:spPr>
          <a:xfrm>
            <a:off x="7495565" y="2880360"/>
            <a:ext cx="1892808" cy="1234440"/>
          </a:xfrm>
          <a:prstGeom prst="roundRect">
            <a:avLst>
              <a:gd name="adj" fmla="val 5926"/>
            </a:avLst>
          </a:prstGeom>
          <a:solidFill>
            <a:schemeClr val="accent1"/>
          </a:solidFill>
          <a:ln/>
        </p:spPr>
      </p:sp>
      <p:sp>
        <p:nvSpPr>
          <p:cNvPr id="17" name="txt-73"/>
          <p:cNvSpPr txBox="1"/>
          <p:nvPr/>
        </p:nvSpPr>
        <p:spPr>
          <a:xfrm>
            <a:off x="7632725" y="2953512"/>
            <a:ext cx="161848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80–90 mil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revendedores e instaladores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escolhem a marca</a:t>
            </a:r>
            <a:endParaRPr lang="en-US" sz="1400" dirty="0"/>
          </a:p>
        </p:txBody>
      </p:sp>
      <p:sp>
        <p:nvSpPr>
          <p:cNvPr id="18" name="card-74"/>
          <p:cNvSpPr/>
          <p:nvPr/>
        </p:nvSpPr>
        <p:spPr>
          <a:xfrm>
            <a:off x="9841687" y="1554480"/>
            <a:ext cx="1892808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xt-75"/>
          <p:cNvSpPr txBox="1"/>
          <p:nvPr/>
        </p:nvSpPr>
        <p:spPr>
          <a:xfrm>
            <a:off x="9978847" y="1554480"/>
            <a:ext cx="1618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Consumidor</a:t>
            </a:r>
            <a:endParaRPr lang="en-US" sz="1300" dirty="0"/>
          </a:p>
        </p:txBody>
      </p:sp>
      <p:sp>
        <p:nvSpPr>
          <p:cNvPr id="20" name="card-76"/>
          <p:cNvSpPr/>
          <p:nvPr/>
        </p:nvSpPr>
        <p:spPr>
          <a:xfrm>
            <a:off x="9841687" y="2880360"/>
            <a:ext cx="1892808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xt-77"/>
          <p:cNvSpPr txBox="1"/>
          <p:nvPr/>
        </p:nvSpPr>
        <p:spPr>
          <a:xfrm>
            <a:off x="9978847" y="2880360"/>
            <a:ext cx="1618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Residências, condomínios e PMEs</a:t>
            </a:r>
            <a:endParaRPr lang="en-US" sz="1300" dirty="0"/>
          </a:p>
        </p:txBody>
      </p:sp>
      <p:sp>
        <p:nvSpPr>
          <p:cNvPr id="22" name="card-78"/>
          <p:cNvSpPr/>
          <p:nvPr/>
        </p:nvSpPr>
        <p:spPr>
          <a:xfrm>
            <a:off x="9841687" y="4343400"/>
            <a:ext cx="1892808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xt-79"/>
          <p:cNvSpPr txBox="1"/>
          <p:nvPr/>
        </p:nvSpPr>
        <p:spPr>
          <a:xfrm>
            <a:off x="9978847" y="4343400"/>
            <a:ext cx="1618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Empresas, governo e provedores</a:t>
            </a:r>
            <a:endParaRPr lang="en-US" sz="1300" dirty="0"/>
          </a:p>
        </p:txBody>
      </p:sp>
      <p:sp>
        <p:nvSpPr>
          <p:cNvPr id="24" name="arrow-80"/>
          <p:cNvSpPr/>
          <p:nvPr/>
        </p:nvSpPr>
        <p:spPr>
          <a:xfrm>
            <a:off x="2350008" y="3497580"/>
            <a:ext cx="453314" cy="914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5" name="arrow-81"/>
          <p:cNvSpPr/>
          <p:nvPr/>
        </p:nvSpPr>
        <p:spPr>
          <a:xfrm flipV="1">
            <a:off x="4696130" y="2103120"/>
            <a:ext cx="453314" cy="139446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6" name="arrow-82"/>
          <p:cNvSpPr/>
          <p:nvPr/>
        </p:nvSpPr>
        <p:spPr>
          <a:xfrm>
            <a:off x="4696130" y="3497580"/>
            <a:ext cx="453314" cy="914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7" name="arrow-83"/>
          <p:cNvSpPr/>
          <p:nvPr/>
        </p:nvSpPr>
        <p:spPr>
          <a:xfrm>
            <a:off x="4696130" y="3497580"/>
            <a:ext cx="453314" cy="139446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8" name="arrow-84"/>
          <p:cNvSpPr/>
          <p:nvPr/>
        </p:nvSpPr>
        <p:spPr>
          <a:xfrm>
            <a:off x="7042252" y="3497580"/>
            <a:ext cx="453314" cy="914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9" name="arrow-85"/>
          <p:cNvSpPr/>
          <p:nvPr/>
        </p:nvSpPr>
        <p:spPr>
          <a:xfrm>
            <a:off x="9388373" y="3497580"/>
            <a:ext cx="453314" cy="914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0" name="arrow-86"/>
          <p:cNvSpPr/>
          <p:nvPr/>
        </p:nvSpPr>
        <p:spPr>
          <a:xfrm>
            <a:off x="7042252" y="2103120"/>
            <a:ext cx="2799436" cy="914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1" name="arrow-87"/>
          <p:cNvSpPr/>
          <p:nvPr/>
        </p:nvSpPr>
        <p:spPr>
          <a:xfrm>
            <a:off x="7042252" y="4892040"/>
            <a:ext cx="2799436" cy="914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2" name="txt-88"/>
          <p:cNvSpPr txBox="1"/>
          <p:nvPr/>
        </p:nvSpPr>
        <p:spPr>
          <a:xfrm>
            <a:off x="457200" y="5623560"/>
            <a:ext cx="3576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Quem escolhe a marca: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 instalador (residencial/PME) ou o projetista (projetos)</a:t>
            </a:r>
            <a:endParaRPr lang="en-US" sz="1200" dirty="0"/>
          </a:p>
        </p:txBody>
      </p:sp>
      <p:sp>
        <p:nvSpPr>
          <p:cNvPr id="33" name="txt-89"/>
          <p:cNvSpPr txBox="1"/>
          <p:nvPr/>
        </p:nvSpPr>
        <p:spPr>
          <a:xfrm>
            <a:off x="4307738" y="5623560"/>
            <a:ext cx="3576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Prazo dado ao canal: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~100 dias (DSO LTM 2T26: 103)</a:t>
            </a:r>
            <a:endParaRPr lang="en-US" sz="1200" dirty="0"/>
          </a:p>
        </p:txBody>
      </p:sp>
      <p:sp>
        <p:nvSpPr>
          <p:cNvPr id="34" name="txt-90"/>
          <p:cNvSpPr txBox="1"/>
          <p:nvPr/>
        </p:nvSpPr>
        <p:spPr>
          <a:xfrm>
            <a:off x="8158277" y="5623560"/>
            <a:ext cx="3576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Receita por revendedor: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~R$35–40 mil/ano (estimativa)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Valor capturado na interface com o Brasil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 núcleo tecnológico vem de parceiros; marca, canal, instalador e regime fiscal ficam com a Intelbras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planilha interativa 2T26 (DFC: “Créditos tributários e atualização monetária”; DRE: IR/CS); release 2T26 p.3 e p.9; imprensa (Manaus). Natureza dos créditos (Lei de TICs) é inferência a confirmar nas notas explicativas.</a:t>
            </a:r>
            <a:endParaRPr lang="en-US" sz="1000" dirty="0"/>
          </a:p>
        </p:txBody>
      </p:sp>
      <p:sp>
        <p:nvSpPr>
          <p:cNvPr id="6" name="etapa-91"/>
          <p:cNvSpPr txBox="1"/>
          <p:nvPr/>
        </p:nvSpPr>
        <p:spPr>
          <a:xfrm>
            <a:off x="457200" y="1600200"/>
            <a:ext cx="1455382" cy="502920"/>
          </a:xfrm>
          <a:prstGeom prst="homePlat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xt-92"/>
          <p:cNvSpPr txBox="1"/>
          <p:nvPr/>
        </p:nvSpPr>
        <p:spPr>
          <a:xfrm>
            <a:off x="512064" y="2194560"/>
            <a:ext cx="1299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P&amp;D de núcleo</a:t>
            </a:r>
            <a:endParaRPr lang="en-US" sz="1300" dirty="0"/>
          </a:p>
        </p:txBody>
      </p:sp>
      <p:sp>
        <p:nvSpPr>
          <p:cNvPr id="8" name="txt-93"/>
          <p:cNvSpPr txBox="1"/>
          <p:nvPr/>
        </p:nvSpPr>
        <p:spPr>
          <a:xfrm>
            <a:off x="512064" y="2651760"/>
            <a:ext cx="12999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Parceiros e fornecedores</a:t>
            </a:r>
            <a:endParaRPr lang="en-US" sz="1100" dirty="0"/>
          </a:p>
        </p:txBody>
      </p:sp>
      <p:sp>
        <p:nvSpPr>
          <p:cNvPr id="9" name="captura-94"/>
          <p:cNvSpPr txBox="1"/>
          <p:nvPr/>
        </p:nvSpPr>
        <p:spPr>
          <a:xfrm>
            <a:off x="530352" y="3108960"/>
            <a:ext cx="1263358" cy="384048"/>
          </a:xfrm>
          <a:prstGeom prst="roundRect">
            <a:avLst>
              <a:gd name="adj" fmla="val 47619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Baixa</a:t>
            </a:r>
            <a:endParaRPr lang="en-US" sz="1100" dirty="0"/>
          </a:p>
        </p:txBody>
      </p:sp>
      <p:sp>
        <p:nvSpPr>
          <p:cNvPr id="10" name="etapa-95"/>
          <p:cNvSpPr txBox="1"/>
          <p:nvPr/>
        </p:nvSpPr>
        <p:spPr>
          <a:xfrm>
            <a:off x="1866862" y="1600200"/>
            <a:ext cx="1455382" cy="50292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xt-96"/>
          <p:cNvSpPr txBox="1"/>
          <p:nvPr/>
        </p:nvSpPr>
        <p:spPr>
          <a:xfrm>
            <a:off x="1921726" y="2194560"/>
            <a:ext cx="1299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Adaptação e firmware</a:t>
            </a:r>
            <a:endParaRPr lang="en-US" sz="1300" dirty="0"/>
          </a:p>
        </p:txBody>
      </p:sp>
      <p:sp>
        <p:nvSpPr>
          <p:cNvPr id="12" name="txt-97"/>
          <p:cNvSpPr txBox="1"/>
          <p:nvPr/>
        </p:nvSpPr>
        <p:spPr>
          <a:xfrm>
            <a:off x="1921726" y="2651760"/>
            <a:ext cx="12999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Intelbras</a:t>
            </a:r>
            <a:endParaRPr lang="en-US" sz="1100" dirty="0"/>
          </a:p>
        </p:txBody>
      </p:sp>
      <p:sp>
        <p:nvSpPr>
          <p:cNvPr id="13" name="captura-98"/>
          <p:cNvSpPr txBox="1"/>
          <p:nvPr/>
        </p:nvSpPr>
        <p:spPr>
          <a:xfrm>
            <a:off x="1940014" y="3108960"/>
            <a:ext cx="1263358" cy="384048"/>
          </a:xfrm>
          <a:prstGeom prst="roundRect">
            <a:avLst>
              <a:gd name="adj" fmla="val 47619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Média</a:t>
            </a:r>
            <a:endParaRPr lang="en-US" sz="1100" dirty="0"/>
          </a:p>
        </p:txBody>
      </p:sp>
      <p:sp>
        <p:nvSpPr>
          <p:cNvPr id="14" name="etapa-99"/>
          <p:cNvSpPr txBox="1"/>
          <p:nvPr/>
        </p:nvSpPr>
        <p:spPr>
          <a:xfrm>
            <a:off x="3276524" y="1600200"/>
            <a:ext cx="1455382" cy="50292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xt-100"/>
          <p:cNvSpPr txBox="1"/>
          <p:nvPr/>
        </p:nvSpPr>
        <p:spPr>
          <a:xfrm>
            <a:off x="3331388" y="2194560"/>
            <a:ext cx="1299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Compras</a:t>
            </a:r>
            <a:endParaRPr lang="en-US" sz="1300" dirty="0"/>
          </a:p>
        </p:txBody>
      </p:sp>
      <p:sp>
        <p:nvSpPr>
          <p:cNvPr id="16" name="txt-101"/>
          <p:cNvSpPr txBox="1"/>
          <p:nvPr/>
        </p:nvSpPr>
        <p:spPr>
          <a:xfrm>
            <a:off x="3331388" y="2651760"/>
            <a:ext cx="12999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Intelbras</a:t>
            </a:r>
            <a:endParaRPr lang="en-US" sz="1100" dirty="0"/>
          </a:p>
        </p:txBody>
      </p:sp>
      <p:sp>
        <p:nvSpPr>
          <p:cNvPr id="17" name="captura-102"/>
          <p:cNvSpPr txBox="1"/>
          <p:nvPr/>
        </p:nvSpPr>
        <p:spPr>
          <a:xfrm>
            <a:off x="3349676" y="3108960"/>
            <a:ext cx="1263358" cy="384048"/>
          </a:xfrm>
          <a:prstGeom prst="roundRect">
            <a:avLst>
              <a:gd name="adj" fmla="val 47619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Média</a:t>
            </a:r>
            <a:endParaRPr lang="en-US" sz="1100" dirty="0"/>
          </a:p>
        </p:txBody>
      </p:sp>
      <p:sp>
        <p:nvSpPr>
          <p:cNvPr id="18" name="etapa-103"/>
          <p:cNvSpPr txBox="1"/>
          <p:nvPr/>
        </p:nvSpPr>
        <p:spPr>
          <a:xfrm>
            <a:off x="4686186" y="1600200"/>
            <a:ext cx="1455382" cy="50292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xt-104"/>
          <p:cNvSpPr txBox="1"/>
          <p:nvPr/>
        </p:nvSpPr>
        <p:spPr>
          <a:xfrm>
            <a:off x="4741050" y="2194560"/>
            <a:ext cx="1299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Fabricação</a:t>
            </a:r>
            <a:endParaRPr lang="en-US" sz="1300" dirty="0"/>
          </a:p>
        </p:txBody>
      </p:sp>
      <p:sp>
        <p:nvSpPr>
          <p:cNvPr id="20" name="txt-105"/>
          <p:cNvSpPr txBox="1"/>
          <p:nvPr/>
        </p:nvSpPr>
        <p:spPr>
          <a:xfrm>
            <a:off x="4741050" y="2651760"/>
            <a:ext cx="12999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Intelbras (Manaus, SC)</a:t>
            </a:r>
            <a:endParaRPr lang="en-US" sz="1100" dirty="0"/>
          </a:p>
        </p:txBody>
      </p:sp>
      <p:sp>
        <p:nvSpPr>
          <p:cNvPr id="21" name="captura-106"/>
          <p:cNvSpPr txBox="1"/>
          <p:nvPr/>
        </p:nvSpPr>
        <p:spPr>
          <a:xfrm>
            <a:off x="4759338" y="3108960"/>
            <a:ext cx="1263358" cy="384048"/>
          </a:xfrm>
          <a:prstGeom prst="roundRect">
            <a:avLst>
              <a:gd name="adj" fmla="val 47619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Média: fiscal</a:t>
            </a:r>
            <a:endParaRPr lang="en-US" sz="1100" dirty="0"/>
          </a:p>
        </p:txBody>
      </p:sp>
      <p:sp>
        <p:nvSpPr>
          <p:cNvPr id="22" name="etapa-107"/>
          <p:cNvSpPr txBox="1"/>
          <p:nvPr/>
        </p:nvSpPr>
        <p:spPr>
          <a:xfrm>
            <a:off x="6095848" y="1600200"/>
            <a:ext cx="1455382" cy="50292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xt-108"/>
          <p:cNvSpPr txBox="1"/>
          <p:nvPr/>
        </p:nvSpPr>
        <p:spPr>
          <a:xfrm>
            <a:off x="6150712" y="2194560"/>
            <a:ext cx="1299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Marca</a:t>
            </a:r>
            <a:endParaRPr lang="en-US" sz="1300" dirty="0"/>
          </a:p>
        </p:txBody>
      </p:sp>
      <p:sp>
        <p:nvSpPr>
          <p:cNvPr id="24" name="txt-109"/>
          <p:cNvSpPr txBox="1"/>
          <p:nvPr/>
        </p:nvSpPr>
        <p:spPr>
          <a:xfrm>
            <a:off x="6150712" y="2651760"/>
            <a:ext cx="12999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Intelbras</a:t>
            </a:r>
            <a:endParaRPr lang="en-US" sz="1100" dirty="0"/>
          </a:p>
        </p:txBody>
      </p:sp>
      <p:sp>
        <p:nvSpPr>
          <p:cNvPr id="25" name="captura-110"/>
          <p:cNvSpPr txBox="1"/>
          <p:nvPr/>
        </p:nvSpPr>
        <p:spPr>
          <a:xfrm>
            <a:off x="6169000" y="3108960"/>
            <a:ext cx="1263358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Alta</a:t>
            </a:r>
            <a:endParaRPr lang="en-US" sz="1100" dirty="0"/>
          </a:p>
        </p:txBody>
      </p:sp>
      <p:sp>
        <p:nvSpPr>
          <p:cNvPr id="26" name="etapa-111"/>
          <p:cNvSpPr txBox="1"/>
          <p:nvPr/>
        </p:nvSpPr>
        <p:spPr>
          <a:xfrm>
            <a:off x="7505509" y="1600200"/>
            <a:ext cx="1455382" cy="50292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txt-112"/>
          <p:cNvSpPr txBox="1"/>
          <p:nvPr/>
        </p:nvSpPr>
        <p:spPr>
          <a:xfrm>
            <a:off x="7560374" y="2194560"/>
            <a:ext cx="1299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Estoque e crédito</a:t>
            </a:r>
            <a:endParaRPr lang="en-US" sz="1300" dirty="0"/>
          </a:p>
        </p:txBody>
      </p:sp>
      <p:sp>
        <p:nvSpPr>
          <p:cNvPr id="28" name="txt-113"/>
          <p:cNvSpPr txBox="1"/>
          <p:nvPr/>
        </p:nvSpPr>
        <p:spPr>
          <a:xfrm>
            <a:off x="7560374" y="2651760"/>
            <a:ext cx="12999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Intelbras + distribuidor</a:t>
            </a:r>
            <a:endParaRPr lang="en-US" sz="1100" dirty="0"/>
          </a:p>
        </p:txBody>
      </p:sp>
      <p:sp>
        <p:nvSpPr>
          <p:cNvPr id="29" name="captura-114"/>
          <p:cNvSpPr txBox="1"/>
          <p:nvPr/>
        </p:nvSpPr>
        <p:spPr>
          <a:xfrm>
            <a:off x="7578661" y="3108960"/>
            <a:ext cx="1263358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Alta: cara em capital</a:t>
            </a:r>
            <a:endParaRPr lang="en-US" sz="1100" dirty="0"/>
          </a:p>
        </p:txBody>
      </p:sp>
      <p:sp>
        <p:nvSpPr>
          <p:cNvPr id="30" name="etapa-115"/>
          <p:cNvSpPr txBox="1"/>
          <p:nvPr/>
        </p:nvSpPr>
        <p:spPr>
          <a:xfrm>
            <a:off x="8915171" y="1600200"/>
            <a:ext cx="1455382" cy="50292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1" name="txt-116"/>
          <p:cNvSpPr txBox="1"/>
          <p:nvPr/>
        </p:nvSpPr>
        <p:spPr>
          <a:xfrm>
            <a:off x="8970035" y="2194560"/>
            <a:ext cx="1299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Treinamento</a:t>
            </a:r>
            <a:endParaRPr lang="en-US" sz="1300" dirty="0"/>
          </a:p>
        </p:txBody>
      </p:sp>
      <p:sp>
        <p:nvSpPr>
          <p:cNvPr id="32" name="txt-117"/>
          <p:cNvSpPr txBox="1"/>
          <p:nvPr/>
        </p:nvSpPr>
        <p:spPr>
          <a:xfrm>
            <a:off x="8970035" y="2651760"/>
            <a:ext cx="12999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Intelbras</a:t>
            </a:r>
            <a:endParaRPr lang="en-US" sz="1100" dirty="0"/>
          </a:p>
        </p:txBody>
      </p:sp>
      <p:sp>
        <p:nvSpPr>
          <p:cNvPr id="33" name="captura-118"/>
          <p:cNvSpPr txBox="1"/>
          <p:nvPr/>
        </p:nvSpPr>
        <p:spPr>
          <a:xfrm>
            <a:off x="8988323" y="3108960"/>
            <a:ext cx="1263358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Alta</a:t>
            </a:r>
            <a:endParaRPr lang="en-US" sz="1100" dirty="0"/>
          </a:p>
        </p:txBody>
      </p:sp>
      <p:sp>
        <p:nvSpPr>
          <p:cNvPr id="34" name="etapa-119"/>
          <p:cNvSpPr txBox="1"/>
          <p:nvPr/>
        </p:nvSpPr>
        <p:spPr>
          <a:xfrm>
            <a:off x="10324833" y="1600200"/>
            <a:ext cx="1455382" cy="50292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35" name="txt-120"/>
          <p:cNvSpPr txBox="1"/>
          <p:nvPr/>
        </p:nvSpPr>
        <p:spPr>
          <a:xfrm>
            <a:off x="10379697" y="2194560"/>
            <a:ext cx="1299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Pós-venda</a:t>
            </a:r>
            <a:endParaRPr lang="en-US" sz="1300" dirty="0"/>
          </a:p>
        </p:txBody>
      </p:sp>
      <p:sp>
        <p:nvSpPr>
          <p:cNvPr id="36" name="txt-121"/>
          <p:cNvSpPr txBox="1"/>
          <p:nvPr/>
        </p:nvSpPr>
        <p:spPr>
          <a:xfrm>
            <a:off x="10379697" y="2651760"/>
            <a:ext cx="12999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Intelbras</a:t>
            </a:r>
            <a:endParaRPr lang="en-US" sz="1100" dirty="0"/>
          </a:p>
        </p:txBody>
      </p:sp>
      <p:sp>
        <p:nvSpPr>
          <p:cNvPr id="37" name="captura-122"/>
          <p:cNvSpPr txBox="1"/>
          <p:nvPr/>
        </p:nvSpPr>
        <p:spPr>
          <a:xfrm>
            <a:off x="10397985" y="3108960"/>
            <a:ext cx="1263358" cy="384048"/>
          </a:xfrm>
          <a:prstGeom prst="roundRect">
            <a:avLst>
              <a:gd name="adj" fmla="val 47619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Média</a:t>
            </a:r>
            <a:endParaRPr lang="en-US" sz="1100" dirty="0"/>
          </a:p>
        </p:txBody>
      </p:sp>
      <p:sp>
        <p:nvSpPr>
          <p:cNvPr id="38" name="txt-123"/>
          <p:cNvSpPr txBox="1"/>
          <p:nvPr/>
        </p:nvSpPr>
        <p:spPr>
          <a:xfrm>
            <a:off x="45720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Captura de valor pela Intelbras</a:t>
            </a:r>
            <a:endParaRPr lang="en-US" sz="1100" dirty="0"/>
          </a:p>
        </p:txBody>
      </p:sp>
      <p:sp>
        <p:nvSpPr>
          <p:cNvPr id="39" name="card-124"/>
          <p:cNvSpPr/>
          <p:nvPr/>
        </p:nvSpPr>
        <p:spPr>
          <a:xfrm>
            <a:off x="457200" y="3977640"/>
            <a:ext cx="6949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0" name="txt-125"/>
          <p:cNvSpPr txBox="1"/>
          <p:nvPr/>
        </p:nvSpPr>
        <p:spPr>
          <a:xfrm>
            <a:off x="685800" y="414223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Fabricar no Brasil vale sobretudo pelo regime fiscal</a:t>
            </a:r>
            <a:endParaRPr lang="en-US" sz="1600" dirty="0"/>
          </a:p>
        </p:txBody>
      </p:sp>
      <p:sp>
        <p:nvSpPr>
          <p:cNvPr id="41" name="txt-126"/>
          <p:cNvSpPr txBox="1"/>
          <p:nvPr/>
        </p:nvSpPr>
        <p:spPr>
          <a:xfrm>
            <a:off x="685800" y="4663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R$129 mi</a:t>
            </a:r>
            <a:endParaRPr lang="en-US" sz="3000" dirty="0"/>
          </a:p>
        </p:txBody>
      </p:sp>
      <p:sp>
        <p:nvSpPr>
          <p:cNvPr id="42" name="txt-127"/>
          <p:cNvSpPr txBox="1"/>
          <p:nvPr/>
        </p:nvSpPr>
        <p:spPr>
          <a:xfrm>
            <a:off x="685800" y="5257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créditos tributários não-caixa em 2025 (≈30% do EBIT)</a:t>
            </a:r>
            <a:endParaRPr lang="en-US" sz="1200" dirty="0"/>
          </a:p>
        </p:txBody>
      </p:sp>
      <p:sp>
        <p:nvSpPr>
          <p:cNvPr id="43" name="txt-128"/>
          <p:cNvSpPr txBox="1"/>
          <p:nvPr/>
        </p:nvSpPr>
        <p:spPr>
          <a:xfrm>
            <a:off x="2926080" y="4663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−0,7%</a:t>
            </a:r>
            <a:endParaRPr lang="en-US" sz="3000" dirty="0"/>
          </a:p>
        </p:txBody>
      </p:sp>
      <p:sp>
        <p:nvSpPr>
          <p:cNvPr id="44" name="txt-129"/>
          <p:cNvSpPr txBox="1"/>
          <p:nvPr/>
        </p:nvSpPr>
        <p:spPr>
          <a:xfrm>
            <a:off x="2926080" y="5257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alíquota efetiva de IR/CS em 2025</a:t>
            </a:r>
            <a:endParaRPr lang="en-US" sz="1200" dirty="0"/>
          </a:p>
        </p:txBody>
      </p:sp>
      <p:sp>
        <p:nvSpPr>
          <p:cNvPr id="45" name="txt-130"/>
          <p:cNvSpPr txBox="1"/>
          <p:nvPr/>
        </p:nvSpPr>
        <p:spPr>
          <a:xfrm>
            <a:off x="5166360" y="4663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R$200 mi</a:t>
            </a:r>
            <a:endParaRPr lang="en-US" sz="3000" dirty="0"/>
          </a:p>
        </p:txBody>
      </p:sp>
      <p:sp>
        <p:nvSpPr>
          <p:cNvPr id="46" name="txt-131"/>
          <p:cNvSpPr txBox="1"/>
          <p:nvPr/>
        </p:nvSpPr>
        <p:spPr>
          <a:xfrm>
            <a:off x="5166360" y="5257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nova fábrica em Manaus (2026–27)</a:t>
            </a:r>
            <a:endParaRPr lang="en-US" sz="1200" dirty="0"/>
          </a:p>
        </p:txBody>
      </p:sp>
      <p:sp>
        <p:nvSpPr>
          <p:cNvPr id="47" name="card-132"/>
          <p:cNvSpPr/>
          <p:nvPr/>
        </p:nvSpPr>
        <p:spPr>
          <a:xfrm>
            <a:off x="7680960" y="3977640"/>
            <a:ext cx="4053535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48" name="txt-133"/>
          <p:cNvSpPr txBox="1"/>
          <p:nvPr/>
        </p:nvSpPr>
        <p:spPr>
          <a:xfrm>
            <a:off x="7909560" y="4142232"/>
            <a:ext cx="3596335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Leitura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 tecnologia é paga no preço de transferência. A margem vem da marca, do canal e do instalador — e do incentivo fiscal, que depende de política pública.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Dahua: motor do core e principal risco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Exclusividade em CFTV com um parceiro que já tem marca e canal próprios no Brasil e está saindo do capital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prospecto do IPO e research Genial/Nord citando o FRE (acordo e 28,6%, não verificados no FRE original); Brazil Journal; FilingReader (15/08/2025); Dahua Brasil; IT Forum; Teletime (12/01/2026).</a:t>
            </a:r>
            <a:endParaRPr lang="en-US" sz="1000" dirty="0"/>
          </a:p>
        </p:txBody>
      </p:sp>
      <p:sp>
        <p:nvSpPr>
          <p:cNvPr id="6" name="linha-tempo"/>
          <p:cNvSpPr/>
          <p:nvPr/>
        </p:nvSpPr>
        <p:spPr>
          <a:xfrm>
            <a:off x="1417320" y="1783080"/>
            <a:ext cx="0" cy="389534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7" name="txt-134"/>
          <p:cNvSpPr txBox="1"/>
          <p:nvPr/>
        </p:nvSpPr>
        <p:spPr>
          <a:xfrm>
            <a:off x="457200" y="161848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2016</a:t>
            </a:r>
            <a:endParaRPr lang="en-US" sz="1300" dirty="0"/>
          </a:p>
        </p:txBody>
      </p:sp>
      <p:sp>
        <p:nvSpPr>
          <p:cNvPr id="8" name="marco-135"/>
          <p:cNvSpPr/>
          <p:nvPr/>
        </p:nvSpPr>
        <p:spPr>
          <a:xfrm>
            <a:off x="1325880" y="1691640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txt-136"/>
          <p:cNvSpPr txBox="1"/>
          <p:nvPr/>
        </p:nvSpPr>
        <p:spPr>
          <a:xfrm>
            <a:off x="1691640" y="160020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Dahua abre operação própria no Brasil; depois vira região independente</a:t>
            </a:r>
            <a:endParaRPr lang="en-US" sz="1300" dirty="0"/>
          </a:p>
        </p:txBody>
      </p:sp>
      <p:sp>
        <p:nvSpPr>
          <p:cNvPr id="10" name="txt-137"/>
          <p:cNvSpPr txBox="1"/>
          <p:nvPr/>
        </p:nvSpPr>
        <p:spPr>
          <a:xfrm>
            <a:off x="457200" y="226771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2018</a:t>
            </a:r>
            <a:endParaRPr lang="en-US" sz="1300" dirty="0"/>
          </a:p>
        </p:txBody>
      </p:sp>
      <p:sp>
        <p:nvSpPr>
          <p:cNvPr id="11" name="marco-138"/>
          <p:cNvSpPr/>
          <p:nvPr/>
        </p:nvSpPr>
        <p:spPr>
          <a:xfrm>
            <a:off x="1325880" y="2340864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txt-139"/>
          <p:cNvSpPr txBox="1"/>
          <p:nvPr/>
        </p:nvSpPr>
        <p:spPr>
          <a:xfrm>
            <a:off x="1691640" y="2249424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Acordo de cooperação: compra exclusiva de CFTV da Dahua</a:t>
            </a:r>
            <a:endParaRPr lang="en-US" sz="1300" dirty="0"/>
          </a:p>
        </p:txBody>
      </p:sp>
      <p:sp>
        <p:nvSpPr>
          <p:cNvPr id="13" name="txt-140"/>
          <p:cNvSpPr txBox="1"/>
          <p:nvPr/>
        </p:nvSpPr>
        <p:spPr>
          <a:xfrm>
            <a:off x="457200" y="291693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2019</a:t>
            </a:r>
            <a:endParaRPr lang="en-US" sz="1300" dirty="0"/>
          </a:p>
        </p:txBody>
      </p:sp>
      <p:sp>
        <p:nvSpPr>
          <p:cNvPr id="14" name="marco-141"/>
          <p:cNvSpPr/>
          <p:nvPr/>
        </p:nvSpPr>
        <p:spPr>
          <a:xfrm>
            <a:off x="1325880" y="2990088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5" name="txt-142"/>
          <p:cNvSpPr txBox="1"/>
          <p:nvPr/>
        </p:nvSpPr>
        <p:spPr>
          <a:xfrm>
            <a:off x="1691640" y="2898648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Dahua compra 10% da Intelbras</a:t>
            </a:r>
            <a:endParaRPr lang="en-US" sz="1300" dirty="0"/>
          </a:p>
        </p:txBody>
      </p:sp>
      <p:sp>
        <p:nvSpPr>
          <p:cNvPr id="16" name="txt-143"/>
          <p:cNvSpPr txBox="1"/>
          <p:nvPr/>
        </p:nvSpPr>
        <p:spPr>
          <a:xfrm>
            <a:off x="457200" y="356616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2021</a:t>
            </a:r>
            <a:endParaRPr lang="en-US" sz="1300" dirty="0"/>
          </a:p>
        </p:txBody>
      </p:sp>
      <p:sp>
        <p:nvSpPr>
          <p:cNvPr id="17" name="marco-144"/>
          <p:cNvSpPr/>
          <p:nvPr/>
        </p:nvSpPr>
        <p:spPr>
          <a:xfrm>
            <a:off x="1325880" y="3639312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txt-145"/>
          <p:cNvSpPr txBox="1"/>
          <p:nvPr/>
        </p:nvSpPr>
        <p:spPr>
          <a:xfrm>
            <a:off x="1691640" y="3547872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Pagamentos à Dahua = 28,6% das compras da Intelbras</a:t>
            </a:r>
            <a:endParaRPr lang="en-US" sz="1300" dirty="0"/>
          </a:p>
        </p:txBody>
      </p:sp>
      <p:sp>
        <p:nvSpPr>
          <p:cNvPr id="19" name="txt-146"/>
          <p:cNvSpPr txBox="1"/>
          <p:nvPr/>
        </p:nvSpPr>
        <p:spPr>
          <a:xfrm>
            <a:off x="457200" y="421538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Pós-IPO</a:t>
            </a:r>
            <a:endParaRPr lang="en-US" sz="1300" dirty="0"/>
          </a:p>
        </p:txBody>
      </p:sp>
      <p:sp>
        <p:nvSpPr>
          <p:cNvPr id="20" name="marco-147"/>
          <p:cNvSpPr/>
          <p:nvPr/>
        </p:nvSpPr>
        <p:spPr>
          <a:xfrm>
            <a:off x="1325880" y="4288536"/>
            <a:ext cx="182880" cy="18288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1" name="txt-148"/>
          <p:cNvSpPr txBox="1"/>
          <p:nvPr/>
        </p:nvSpPr>
        <p:spPr>
          <a:xfrm>
            <a:off x="1691640" y="4197096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Venda em bloco de ~2,5%: participação cai para 7,56%</a:t>
            </a:r>
            <a:endParaRPr lang="en-US" sz="1300" dirty="0"/>
          </a:p>
        </p:txBody>
      </p:sp>
      <p:sp>
        <p:nvSpPr>
          <p:cNvPr id="22" name="txt-149"/>
          <p:cNvSpPr txBox="1"/>
          <p:nvPr/>
        </p:nvSpPr>
        <p:spPr>
          <a:xfrm>
            <a:off x="457200" y="48646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Ago/25</a:t>
            </a:r>
            <a:endParaRPr lang="en-US" sz="1300" dirty="0"/>
          </a:p>
        </p:txBody>
      </p:sp>
      <p:sp>
        <p:nvSpPr>
          <p:cNvPr id="23" name="marco-150"/>
          <p:cNvSpPr/>
          <p:nvPr/>
        </p:nvSpPr>
        <p:spPr>
          <a:xfrm>
            <a:off x="1325880" y="4937760"/>
            <a:ext cx="182880" cy="18288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4" name="txt-151"/>
          <p:cNvSpPr txBox="1"/>
          <p:nvPr/>
        </p:nvSpPr>
        <p:spPr>
          <a:xfrm>
            <a:off x="1691640" y="484632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Dahua autoriza vender os 7,56% restantes em até 36 meses</a:t>
            </a:r>
            <a:endParaRPr lang="en-US" sz="1300" dirty="0"/>
          </a:p>
        </p:txBody>
      </p:sp>
      <p:sp>
        <p:nvSpPr>
          <p:cNvPr id="25" name="txt-152"/>
          <p:cNvSpPr txBox="1"/>
          <p:nvPr/>
        </p:nvSpPr>
        <p:spPr>
          <a:xfrm>
            <a:off x="457200" y="551383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Jan/26</a:t>
            </a:r>
            <a:endParaRPr lang="en-US" sz="1300" dirty="0"/>
          </a:p>
        </p:txBody>
      </p:sp>
      <p:sp>
        <p:nvSpPr>
          <p:cNvPr id="26" name="marco-153"/>
          <p:cNvSpPr/>
          <p:nvPr/>
        </p:nvSpPr>
        <p:spPr>
          <a:xfrm>
            <a:off x="1325880" y="5586984"/>
            <a:ext cx="182880" cy="18288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7" name="txt-154"/>
          <p:cNvSpPr txBox="1"/>
          <p:nvPr/>
        </p:nvSpPr>
        <p:spPr>
          <a:xfrm>
            <a:off x="1691640" y="5495544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Precedente: fim da exclusividade GPON com a FiberHome</a:t>
            </a:r>
            <a:endParaRPr lang="en-US" sz="1300" dirty="0"/>
          </a:p>
        </p:txBody>
      </p:sp>
      <p:sp>
        <p:nvSpPr>
          <p:cNvPr id="28" name="card-155"/>
          <p:cNvSpPr/>
          <p:nvPr/>
        </p:nvSpPr>
        <p:spPr>
          <a:xfrm>
            <a:off x="5257800" y="1600200"/>
            <a:ext cx="3101188" cy="3520440"/>
          </a:xfrm>
          <a:prstGeom prst="roundRect">
            <a:avLst>
              <a:gd name="adj" fmla="val 2359"/>
            </a:avLst>
          </a:prstGeom>
          <a:solidFill>
            <a:schemeClr val="bg2"/>
          </a:solidFill>
          <a:ln/>
        </p:spPr>
      </p:sp>
      <p:sp>
        <p:nvSpPr>
          <p:cNvPr id="29" name="cab-156"/>
          <p:cNvSpPr txBox="1"/>
          <p:nvPr/>
        </p:nvSpPr>
        <p:spPr>
          <a:xfrm>
            <a:off x="5257800" y="1600200"/>
            <a:ext cx="3101188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17780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Benefícios</a:t>
            </a:r>
            <a:endParaRPr lang="en-US" sz="1600" dirty="0"/>
          </a:p>
        </p:txBody>
      </p:sp>
      <p:sp>
        <p:nvSpPr>
          <p:cNvPr id="30" name="txt-157"/>
          <p:cNvSpPr txBox="1"/>
          <p:nvPr/>
        </p:nvSpPr>
        <p:spPr>
          <a:xfrm>
            <a:off x="5440680" y="2194560"/>
            <a:ext cx="27354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Vídeo e IA em escala global (P&amp;D da Intelbras ≈ 4% da receita)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Lançamentos no ritmo do mercado global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 de escala do parceiro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Inspeção pré-embarque e auditoria de fornecedores</a:t>
            </a:r>
            <a:endParaRPr lang="en-US" sz="1400" dirty="0"/>
          </a:p>
        </p:txBody>
      </p:sp>
      <p:sp>
        <p:nvSpPr>
          <p:cNvPr id="31" name="card-158"/>
          <p:cNvSpPr/>
          <p:nvPr/>
        </p:nvSpPr>
        <p:spPr>
          <a:xfrm>
            <a:off x="8633308" y="1600200"/>
            <a:ext cx="3101188" cy="3520440"/>
          </a:xfrm>
          <a:prstGeom prst="roundRect">
            <a:avLst>
              <a:gd name="adj" fmla="val 2359"/>
            </a:avLst>
          </a:prstGeom>
          <a:solidFill>
            <a:schemeClr val="bg2"/>
          </a:solidFill>
          <a:ln/>
        </p:spPr>
      </p:sp>
      <p:sp>
        <p:nvSpPr>
          <p:cNvPr id="32" name="cab-159"/>
          <p:cNvSpPr txBox="1"/>
          <p:nvPr/>
        </p:nvSpPr>
        <p:spPr>
          <a:xfrm>
            <a:off x="8633308" y="1600200"/>
            <a:ext cx="3101188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  <p:txBody>
          <a:bodyPr wrap="square" lIns="17780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Riscos</a:t>
            </a:r>
            <a:endParaRPr lang="en-US" sz="1600" dirty="0"/>
          </a:p>
        </p:txBody>
      </p:sp>
      <p:sp>
        <p:nvSpPr>
          <p:cNvPr id="33" name="txt-160"/>
          <p:cNvSpPr txBox="1"/>
          <p:nvPr/>
        </p:nvSpPr>
        <p:spPr>
          <a:xfrm>
            <a:off x="8816188" y="2194560"/>
            <a:ext cx="27354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Concentração na maior categoria do maior segmento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Dahua disputa o mesmo instalador com marca e distribuidor próprios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Saída do capital: menos alinhamento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Geopolítica: EUA restringem a Dahua (NDAA, FCC)</a:t>
            </a:r>
            <a:endParaRPr lang="en-US" sz="1400" dirty="0"/>
          </a:p>
        </p:txBody>
      </p:sp>
      <p:sp>
        <p:nvSpPr>
          <p:cNvPr id="34" name="card-161"/>
          <p:cNvSpPr/>
          <p:nvPr/>
        </p:nvSpPr>
        <p:spPr>
          <a:xfrm>
            <a:off x="5257800" y="5349240"/>
            <a:ext cx="6476695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35" name="txt-162"/>
          <p:cNvSpPr txBox="1"/>
          <p:nvPr/>
        </p:nvSpPr>
        <p:spPr>
          <a:xfrm>
            <a:off x="5486400" y="5349240"/>
            <a:ext cx="6019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Inferência: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 poder de barganha migra para o dono da tecnologia — risco assimétrico na margem bruta de Segurança.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Escopo funciona; escala não aparece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Receita 2,6x maior em 2019–25 sem diluir SG&amp;A; o portfólio só agrega quando cabe na obra do instalador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planilha interativa 2T26 (DRE e Indicadores Anuais; EBITDA ajustado de 2020 e 2023); release 2T26 p.7–8; imprensa (Renovigi, FiberHome). Cálculos próprios.</a:t>
            </a:r>
            <a:endParaRPr lang="en-US" sz="1000" dirty="0"/>
          </a:p>
        </p:txBody>
      </p:sp>
      <p:graphicFrame>
        <p:nvGraphicFramePr>
          <p:cNvPr id="6" name="grafico-receita" descr=""/>
          <p:cNvGraphicFramePr/>
          <p:nvPr/>
        </p:nvGraphicFramePr>
        <p:xfrm>
          <a:off x="457200" y="1508760"/>
          <a:ext cx="585216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grafico-escala" descr=""/>
          <p:cNvGraphicFramePr/>
          <p:nvPr/>
        </p:nvGraphicFramePr>
        <p:xfrm>
          <a:off x="457200" y="3840480"/>
          <a:ext cx="58521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ela-escop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600200"/>
          <a:ext cx="5150815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914400"/>
                <a:gridCol w="777240"/>
                <a:gridCol w="176753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 adjacente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Mesmo comprador?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Mesma obra?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Acesso, interfonia, alarmes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 cresceu todo 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Cabeamento e redes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 +7% a/a no 2T26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Nobreaks e carregadores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crescimento no 2T26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GPON para provedores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Podado; exclusividade encerrada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(kits e miniusinas)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R$1,41 bi (2022) → R$0,75 bi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card-163"/>
          <p:cNvSpPr/>
          <p:nvPr/>
        </p:nvSpPr>
        <p:spPr>
          <a:xfrm>
            <a:off x="6583680" y="4709160"/>
            <a:ext cx="5150815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0" name="txt-164"/>
          <p:cNvSpPr txBox="1"/>
          <p:nvPr/>
        </p:nvSpPr>
        <p:spPr>
          <a:xfrm>
            <a:off x="6766560" y="4800600"/>
            <a:ext cx="47850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Economia de escopo real, mas limitada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Mais SKUs só elevam o share of wallet quando o comprador e a ocasião de compra são os mesmos. Solar entrou por aquisição de outra rede, não pelo canal existente.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Poder de barganha: forte no canal, fraco na origem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Intelbras domina contrapartes pulverizadas e cede poder a donos de tecnologia e compradores técnicos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planilha interativa 2T26 (prazos, estoque); FRE via imprensa (nenhum cliente &gt;10% da receita; mix de canais); research citando o FRE (Dahua). Receita por revendedor: estimativa própria.</a:t>
            </a:r>
            <a:endParaRPr lang="en-US" sz="1000" dirty="0"/>
          </a:p>
        </p:txBody>
      </p:sp>
      <p:graphicFrame>
        <p:nvGraphicFramePr>
          <p:cNvPr id="10" name="tabela-barganh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652241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tem mais poder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 (fatos observáveis)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Fornecedores de componentes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Fornecedor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Intelbras é tomadora de preço em chips e commodities; na crise de 2021 o estoque chegou a 217 dias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Dahua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Dahua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Detém a tecnologia e tem canal próprio; a Intelbras tem o canal, mas assumiu exclusividade em CFTV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Distribuidores (~500 pontos)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Intelbras (moderado)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 cliente &gt;10% da receita e marca puxada pelo instalador; o custo é financiar o canal (~100 dias)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Revendedores e instaladores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Intelbras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~R$3 mil/mês cada (est.); juntos especificam e trocam de marca em itens commoditizados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Varejistas (13%)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Equilibrado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Compradores concentrados comparam com importados; a marca reconhecida limita o poder do varejo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Integradores e contas nomeadas (16%)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Contraparte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Especificação técnica, licitação e acesso direto a fabricantes globais; GPON para provedores foi podado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Consumidor final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Intelbras (indireto)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Fragmentado e delega a escolha ao instalador; o limite é o preço no residencial de baixa renda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ROIC caiu à metade por giro, não por margem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Capital empregado cresceu 4,8x contra 2,6x da receita em 2019–25; capital de giro é a principal alavanca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planilha interativa 2T26 (Indicadores Anuais) e release 2T26 p.6; cálculos próprios. ROIC pré-IR = EBIT / (dívida líquida + PL), definição da companhia. 2020 excluído (não recorrentes).</a:t>
            </a:r>
            <a:endParaRPr lang="en-US" sz="1000" dirty="0"/>
          </a:p>
        </p:txBody>
      </p:sp>
      <p:graphicFrame>
        <p:nvGraphicFramePr>
          <p:cNvPr id="6" name="grafico-roic" descr=""/>
          <p:cNvGraphicFramePr/>
          <p:nvPr/>
        </p:nvGraphicFramePr>
        <p:xfrm>
          <a:off x="457200" y="1508760"/>
          <a:ext cx="731520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-165"/>
          <p:cNvSpPr/>
          <p:nvPr/>
        </p:nvSpPr>
        <p:spPr>
          <a:xfrm>
            <a:off x="8092440" y="1600200"/>
            <a:ext cx="364205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8" name="txt-166"/>
          <p:cNvSpPr txBox="1"/>
          <p:nvPr/>
        </p:nvSpPr>
        <p:spPr>
          <a:xfrm>
            <a:off x="8275320" y="1737360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4,8x vs 2,6x</a:t>
            </a:r>
            <a:endParaRPr lang="en-US" sz="2800" dirty="0"/>
          </a:p>
        </p:txBody>
      </p:sp>
      <p:sp>
        <p:nvSpPr>
          <p:cNvPr id="9" name="txt-167"/>
          <p:cNvSpPr txBox="1"/>
          <p:nvPr/>
        </p:nvSpPr>
        <p:spPr>
          <a:xfrm>
            <a:off x="8275320" y="2331720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crescimento do capital empregado vs receita (2019–25)</a:t>
            </a:r>
            <a:endParaRPr lang="en-US" sz="1300" dirty="0"/>
          </a:p>
        </p:txBody>
      </p:sp>
      <p:sp>
        <p:nvSpPr>
          <p:cNvPr id="10" name="card-168"/>
          <p:cNvSpPr/>
          <p:nvPr/>
        </p:nvSpPr>
        <p:spPr>
          <a:xfrm>
            <a:off x="8092440" y="3154680"/>
            <a:ext cx="364205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1" name="txt-169"/>
          <p:cNvSpPr txBox="1"/>
          <p:nvPr/>
        </p:nvSpPr>
        <p:spPr>
          <a:xfrm>
            <a:off x="8275320" y="3291840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68 → 145 dias</a:t>
            </a:r>
            <a:endParaRPr lang="en-US" sz="2800" dirty="0"/>
          </a:p>
        </p:txBody>
      </p:sp>
      <p:sp>
        <p:nvSpPr>
          <p:cNvPr id="12" name="txt-170"/>
          <p:cNvSpPr txBox="1"/>
          <p:nvPr/>
        </p:nvSpPr>
        <p:spPr>
          <a:xfrm>
            <a:off x="8275320" y="3886200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ciclo de caixa, 2019 → 2025 (132 no LTM 2T26)</a:t>
            </a:r>
            <a:endParaRPr lang="en-US" sz="1300" dirty="0"/>
          </a:p>
        </p:txBody>
      </p:sp>
      <p:sp>
        <p:nvSpPr>
          <p:cNvPr id="13" name="card-171"/>
          <p:cNvSpPr/>
          <p:nvPr/>
        </p:nvSpPr>
        <p:spPr>
          <a:xfrm>
            <a:off x="8092440" y="4709160"/>
            <a:ext cx="364205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txt-172"/>
          <p:cNvSpPr txBox="1"/>
          <p:nvPr/>
        </p:nvSpPr>
        <p:spPr>
          <a:xfrm>
            <a:off x="8275320" y="4846320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+0,6 a 0,9 p.p.</a:t>
            </a:r>
            <a:endParaRPr lang="en-US" sz="2800" dirty="0"/>
          </a:p>
        </p:txBody>
      </p:sp>
      <p:sp>
        <p:nvSpPr>
          <p:cNvPr id="15" name="txt-173"/>
          <p:cNvSpPr txBox="1"/>
          <p:nvPr/>
        </p:nvSpPr>
        <p:spPr>
          <a:xfrm>
            <a:off x="8275320" y="5440680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 ROIC por 10 dias a menos de ciclo de caixa (estimativa)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 flywheel gira curto e quebra longo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 ciclo funciona dentro da obra do instalador; a expansão para solar e GPON consumiu capital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análise própria com base na planilha e no release 2T26, apresentação BTG CEO Conference 2021 (marca, NPS, nº de distribuidores) e imprensa. Status de cada elo = grau de evidência nas fontes disponíveis.</a:t>
            </a:r>
            <a:endParaRPr lang="en-US" sz="1000" dirty="0"/>
          </a:p>
        </p:txBody>
      </p:sp>
      <p:sp>
        <p:nvSpPr>
          <p:cNvPr id="6" name="anel"/>
          <p:cNvSpPr/>
          <p:nvPr/>
        </p:nvSpPr>
        <p:spPr>
          <a:xfrm>
            <a:off x="2148840" y="2468880"/>
            <a:ext cx="2560320" cy="2926080"/>
          </a:xfrm>
          <a:prstGeom prst="ellipse">
            <a:avLst/>
          </a:prstGeom>
          <a:ln w="19050">
            <a:solidFill>
              <a:schemeClr val="accent6"/>
            </a:solidFill>
            <a:prstDash val="solid"/>
          </a:ln>
        </p:spPr>
      </p:sp>
      <p:sp>
        <p:nvSpPr>
          <p:cNvPr id="7" name="seta-anel-174"/>
          <p:cNvSpPr/>
          <p:nvPr/>
        </p:nvSpPr>
        <p:spPr>
          <a:xfrm rot="6919936">
            <a:off x="3836600" y="2497951"/>
            <a:ext cx="164592" cy="164592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8" name="seta-anel-175"/>
          <p:cNvSpPr/>
          <p:nvPr/>
        </p:nvSpPr>
        <p:spPr>
          <a:xfrm rot="9604657">
            <a:off x="4529418" y="3289743"/>
            <a:ext cx="164592" cy="164592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9" name="seta-anel-176"/>
          <p:cNvSpPr/>
          <p:nvPr/>
        </p:nvSpPr>
        <p:spPr>
          <a:xfrm rot="11995343">
            <a:off x="4529418" y="4409505"/>
            <a:ext cx="164592" cy="164592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0" name="seta-anel-177"/>
          <p:cNvSpPr/>
          <p:nvPr/>
        </p:nvSpPr>
        <p:spPr>
          <a:xfrm rot="14680064">
            <a:off x="3836600" y="5201297"/>
            <a:ext cx="164592" cy="164592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1" name="seta-anel-178"/>
          <p:cNvSpPr/>
          <p:nvPr/>
        </p:nvSpPr>
        <p:spPr>
          <a:xfrm rot="-3880064">
            <a:off x="2856808" y="5201297"/>
            <a:ext cx="164592" cy="164592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2" name="seta-anel-179"/>
          <p:cNvSpPr/>
          <p:nvPr/>
        </p:nvSpPr>
        <p:spPr>
          <a:xfrm rot="-1195343">
            <a:off x="2163990" y="4409505"/>
            <a:ext cx="164592" cy="164592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3" name="seta-anel-180"/>
          <p:cNvSpPr/>
          <p:nvPr/>
        </p:nvSpPr>
        <p:spPr>
          <a:xfrm rot="1195343">
            <a:off x="2163990" y="3289743"/>
            <a:ext cx="164592" cy="164592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4" name="seta-anel-181"/>
          <p:cNvSpPr/>
          <p:nvPr/>
        </p:nvSpPr>
        <p:spPr>
          <a:xfrm rot="3880064">
            <a:off x="2856808" y="2497951"/>
            <a:ext cx="164592" cy="164592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5" name="num-182"/>
          <p:cNvSpPr txBox="1"/>
          <p:nvPr/>
        </p:nvSpPr>
        <p:spPr>
          <a:xfrm>
            <a:off x="3218688" y="2258568"/>
            <a:ext cx="420624" cy="420624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txt-183"/>
          <p:cNvSpPr txBox="1"/>
          <p:nvPr/>
        </p:nvSpPr>
        <p:spPr>
          <a:xfrm>
            <a:off x="2240280" y="18013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Portfólio maior</a:t>
            </a:r>
            <a:endParaRPr lang="en-US" sz="1200" dirty="0"/>
          </a:p>
        </p:txBody>
      </p:sp>
      <p:sp>
        <p:nvSpPr>
          <p:cNvPr id="17" name="num-184"/>
          <p:cNvSpPr txBox="1"/>
          <p:nvPr/>
        </p:nvSpPr>
        <p:spPr>
          <a:xfrm>
            <a:off x="4123898" y="2687082"/>
            <a:ext cx="420624" cy="420624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xt-185"/>
          <p:cNvSpPr txBox="1"/>
          <p:nvPr/>
        </p:nvSpPr>
        <p:spPr>
          <a:xfrm>
            <a:off x="4635962" y="261393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Relevância para o canal</a:t>
            </a:r>
            <a:endParaRPr lang="en-US" sz="1200" dirty="0"/>
          </a:p>
        </p:txBody>
      </p:sp>
      <p:sp>
        <p:nvSpPr>
          <p:cNvPr id="19" name="num-186"/>
          <p:cNvSpPr txBox="1"/>
          <p:nvPr/>
        </p:nvSpPr>
        <p:spPr>
          <a:xfrm>
            <a:off x="4498848" y="3721608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xt-187"/>
          <p:cNvSpPr txBox="1"/>
          <p:nvPr/>
        </p:nvSpPr>
        <p:spPr>
          <a:xfrm>
            <a:off x="5010912" y="36484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Share of wallet ↑</a:t>
            </a:r>
            <a:endParaRPr lang="en-US" sz="1200" dirty="0"/>
          </a:p>
        </p:txBody>
      </p:sp>
      <p:sp>
        <p:nvSpPr>
          <p:cNvPr id="21" name="num-188"/>
          <p:cNvSpPr txBox="1"/>
          <p:nvPr/>
        </p:nvSpPr>
        <p:spPr>
          <a:xfrm>
            <a:off x="4123898" y="4756134"/>
            <a:ext cx="420624" cy="420624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xt-189"/>
          <p:cNvSpPr txBox="1"/>
          <p:nvPr/>
        </p:nvSpPr>
        <p:spPr>
          <a:xfrm>
            <a:off x="4635962" y="468298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Volume ↑ (sim em Segurança)</a:t>
            </a:r>
            <a:endParaRPr lang="en-US" sz="1200" dirty="0"/>
          </a:p>
        </p:txBody>
      </p:sp>
      <p:sp>
        <p:nvSpPr>
          <p:cNvPr id="23" name="num-190"/>
          <p:cNvSpPr txBox="1"/>
          <p:nvPr/>
        </p:nvSpPr>
        <p:spPr>
          <a:xfrm>
            <a:off x="3218688" y="5184648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xt-191"/>
          <p:cNvSpPr txBox="1"/>
          <p:nvPr/>
        </p:nvSpPr>
        <p:spPr>
          <a:xfrm>
            <a:off x="2240280" y="56601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Escala: custo unitário ↓</a:t>
            </a:r>
            <a:endParaRPr lang="en-US" sz="1200" dirty="0"/>
          </a:p>
        </p:txBody>
      </p:sp>
      <p:sp>
        <p:nvSpPr>
          <p:cNvPr id="25" name="num-192"/>
          <p:cNvSpPr txBox="1"/>
          <p:nvPr/>
        </p:nvSpPr>
        <p:spPr>
          <a:xfrm>
            <a:off x="2313478" y="4756134"/>
            <a:ext cx="420624" cy="420624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xt-193"/>
          <p:cNvSpPr txBox="1"/>
          <p:nvPr/>
        </p:nvSpPr>
        <p:spPr>
          <a:xfrm>
            <a:off x="804718" y="468298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Produto competitivo e lançamentos</a:t>
            </a:r>
            <a:endParaRPr lang="en-US" sz="1200" dirty="0"/>
          </a:p>
        </p:txBody>
      </p:sp>
      <p:sp>
        <p:nvSpPr>
          <p:cNvPr id="27" name="num-194"/>
          <p:cNvSpPr txBox="1"/>
          <p:nvPr/>
        </p:nvSpPr>
        <p:spPr>
          <a:xfrm>
            <a:off x="1938528" y="372160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8" name="txt-195"/>
          <p:cNvSpPr txBox="1"/>
          <p:nvPr/>
        </p:nvSpPr>
        <p:spPr>
          <a:xfrm>
            <a:off x="429768" y="36484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Marca e relacionamento</a:t>
            </a:r>
            <a:endParaRPr lang="en-US" sz="1200" dirty="0"/>
          </a:p>
        </p:txBody>
      </p:sp>
      <p:sp>
        <p:nvSpPr>
          <p:cNvPr id="29" name="num-196"/>
          <p:cNvSpPr txBox="1"/>
          <p:nvPr/>
        </p:nvSpPr>
        <p:spPr>
          <a:xfrm>
            <a:off x="2313478" y="2687082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30" name="txt-197"/>
          <p:cNvSpPr txBox="1"/>
          <p:nvPr/>
        </p:nvSpPr>
        <p:spPr>
          <a:xfrm>
            <a:off x="804718" y="261393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Novas categorias lucrativas</a:t>
            </a:r>
            <a:endParaRPr lang="en-US" sz="1200" dirty="0"/>
          </a:p>
        </p:txBody>
      </p:sp>
      <p:sp>
        <p:nvSpPr>
          <p:cNvPr id="31" name="leg-198"/>
          <p:cNvSpPr/>
          <p:nvPr/>
        </p:nvSpPr>
        <p:spPr>
          <a:xfrm>
            <a:off x="2514600" y="3575304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xt-199"/>
          <p:cNvSpPr txBox="1"/>
          <p:nvPr/>
        </p:nvSpPr>
        <p:spPr>
          <a:xfrm>
            <a:off x="2715768" y="3520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Evidenciado</a:t>
            </a:r>
            <a:endParaRPr lang="en-US" sz="1100" dirty="0"/>
          </a:p>
        </p:txBody>
      </p:sp>
      <p:sp>
        <p:nvSpPr>
          <p:cNvPr id="33" name="leg-200"/>
          <p:cNvSpPr/>
          <p:nvPr/>
        </p:nvSpPr>
        <p:spPr>
          <a:xfrm>
            <a:off x="2514600" y="3867912"/>
            <a:ext cx="146304" cy="14630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4" name="txt-201"/>
          <p:cNvSpPr txBox="1"/>
          <p:nvPr/>
        </p:nvSpPr>
        <p:spPr>
          <a:xfrm>
            <a:off x="2715768" y="3813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Parcial</a:t>
            </a:r>
            <a:endParaRPr lang="en-US" sz="1100" dirty="0"/>
          </a:p>
        </p:txBody>
      </p:sp>
      <p:sp>
        <p:nvSpPr>
          <p:cNvPr id="35" name="leg-202"/>
          <p:cNvSpPr/>
          <p:nvPr/>
        </p:nvSpPr>
        <p:spPr>
          <a:xfrm>
            <a:off x="2514600" y="4160520"/>
            <a:ext cx="146304" cy="14630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6" name="txt-203"/>
          <p:cNvSpPr txBox="1"/>
          <p:nvPr/>
        </p:nvSpPr>
        <p:spPr>
          <a:xfrm>
            <a:off x="2715768" y="41056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Não evidenciado / contradito</a:t>
            </a:r>
            <a:endParaRPr lang="en-US" sz="1100" dirty="0"/>
          </a:p>
        </p:txBody>
      </p:sp>
      <p:sp>
        <p:nvSpPr>
          <p:cNvPr id="37" name="card-204"/>
          <p:cNvSpPr/>
          <p:nvPr/>
        </p:nvSpPr>
        <p:spPr>
          <a:xfrm>
            <a:off x="7315200" y="1600200"/>
            <a:ext cx="441929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8" name="num-205"/>
          <p:cNvSpPr txBox="1"/>
          <p:nvPr/>
        </p:nvSpPr>
        <p:spPr>
          <a:xfrm>
            <a:off x="7498080" y="178308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39" name="txt-206"/>
          <p:cNvSpPr txBox="1"/>
          <p:nvPr/>
        </p:nvSpPr>
        <p:spPr>
          <a:xfrm>
            <a:off x="7863840" y="1737360"/>
            <a:ext cx="3687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Loop curto: gira</a:t>
            </a:r>
            <a:endParaRPr lang="en-US" sz="1600" dirty="0"/>
          </a:p>
        </p:txBody>
      </p:sp>
      <p:sp>
        <p:nvSpPr>
          <p:cNvPr id="40" name="txt-207"/>
          <p:cNvSpPr txBox="1"/>
          <p:nvPr/>
        </p:nvSpPr>
        <p:spPr>
          <a:xfrm>
            <a:off x="7498080" y="2130552"/>
            <a:ext cx="4053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Instalador treinado → disponibilidade local → marca → volume em Segurança (+18% a.a. em 2019–25)</a:t>
            </a:r>
            <a:endParaRPr lang="en-US" sz="1300" dirty="0"/>
          </a:p>
        </p:txBody>
      </p:sp>
      <p:sp>
        <p:nvSpPr>
          <p:cNvPr id="41" name="card-208"/>
          <p:cNvSpPr/>
          <p:nvPr/>
        </p:nvSpPr>
        <p:spPr>
          <a:xfrm>
            <a:off x="7315200" y="3154680"/>
            <a:ext cx="441929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2" name="num-209"/>
          <p:cNvSpPr txBox="1"/>
          <p:nvPr/>
        </p:nvSpPr>
        <p:spPr>
          <a:xfrm>
            <a:off x="7498080" y="3337560"/>
            <a:ext cx="256032" cy="256032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43" name="txt-210"/>
          <p:cNvSpPr txBox="1"/>
          <p:nvPr/>
        </p:nvSpPr>
        <p:spPr>
          <a:xfrm>
            <a:off x="7863840" y="3291840"/>
            <a:ext cx="3687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Loop longo: quebra</a:t>
            </a:r>
            <a:endParaRPr lang="en-US" sz="1600" dirty="0"/>
          </a:p>
        </p:txBody>
      </p:sp>
      <p:sp>
        <p:nvSpPr>
          <p:cNvPr id="44" name="txt-211"/>
          <p:cNvSpPr txBox="1"/>
          <p:nvPr/>
        </p:nvSpPr>
        <p:spPr>
          <a:xfrm>
            <a:off x="7498080" y="3685032"/>
            <a:ext cx="4053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Portfólio → escala → custo menor → novas categorias. O SG&amp;A não diluiu e o ROIC caiu de 31% para 15% enquanto o portfólio crescia</a:t>
            </a:r>
            <a:endParaRPr lang="en-US" sz="1300" dirty="0"/>
          </a:p>
        </p:txBody>
      </p:sp>
      <p:sp>
        <p:nvSpPr>
          <p:cNvPr id="45" name="card-212"/>
          <p:cNvSpPr/>
          <p:nvPr/>
        </p:nvSpPr>
        <p:spPr>
          <a:xfrm>
            <a:off x="7315200" y="4709160"/>
            <a:ext cx="441929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6" name="num-213"/>
          <p:cNvSpPr txBox="1"/>
          <p:nvPr/>
        </p:nvSpPr>
        <p:spPr>
          <a:xfrm>
            <a:off x="7498080" y="4892040"/>
            <a:ext cx="256032" cy="256032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47" name="txt-214"/>
          <p:cNvSpPr txBox="1"/>
          <p:nvPr/>
        </p:nvSpPr>
        <p:spPr>
          <a:xfrm>
            <a:off x="7863840" y="4846320"/>
            <a:ext cx="3687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que confirmaria</a:t>
            </a:r>
            <a:endParaRPr lang="en-US" sz="1600" dirty="0"/>
          </a:p>
        </p:txBody>
      </p:sp>
      <p:sp>
        <p:nvSpPr>
          <p:cNvPr id="48" name="txt-215"/>
          <p:cNvSpPr txBox="1"/>
          <p:nvPr/>
        </p:nvSpPr>
        <p:spPr>
          <a:xfrm>
            <a:off x="7498080" y="5239512"/>
            <a:ext cx="4053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Receita por revendedor ativo · compra cruzada entre segmentos · sell-out por distribuidor · ROIC por segmento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 que pode quebrar o modelo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Seis mecanismos de risco, cada um com o sinal que já aparece nos números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planilha interativa 2T26 (DFC: provisões, PCLD; prazos); release 2T26 p.10; FilingReader (Dahua, 15/08/2025). Créditos tributários: natureza a confirmar nas notas explicativas.</a:t>
            </a:r>
            <a:endParaRPr lang="en-US" sz="1000" dirty="0"/>
          </a:p>
        </p:txBody>
      </p:sp>
      <p:sp>
        <p:nvSpPr>
          <p:cNvPr id="6" name="card-216"/>
          <p:cNvSpPr/>
          <p:nvPr/>
        </p:nvSpPr>
        <p:spPr>
          <a:xfrm>
            <a:off x="457200" y="1600200"/>
            <a:ext cx="357621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7" name="num-217"/>
          <p:cNvSpPr txBox="1"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xt-218"/>
          <p:cNvSpPr txBox="1"/>
          <p:nvPr/>
        </p:nvSpPr>
        <p:spPr>
          <a:xfrm>
            <a:off x="1143000" y="1783080"/>
            <a:ext cx="27075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Dahua vira concorrente</a:t>
            </a:r>
            <a:endParaRPr lang="en-US" sz="1600" dirty="0"/>
          </a:p>
        </p:txBody>
      </p:sp>
      <p:sp>
        <p:nvSpPr>
          <p:cNvPr id="9" name="txt-219"/>
          <p:cNvSpPr txBox="1"/>
          <p:nvPr/>
        </p:nvSpPr>
        <p:spPr>
          <a:xfrm>
            <a:off x="640080" y="2286000"/>
            <a:ext cx="32104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Marca e canal próprios + saída do capital → pressão no preço de transferência e na margem de CFTV</a:t>
            </a:r>
            <a:endParaRPr lang="en-US" sz="1300" dirty="0"/>
          </a:p>
        </p:txBody>
      </p:sp>
      <p:sp>
        <p:nvSpPr>
          <p:cNvPr id="10" name="txt-220"/>
          <p:cNvSpPr txBox="1"/>
          <p:nvPr/>
        </p:nvSpPr>
        <p:spPr>
          <a:xfrm>
            <a:off x="640080" y="320040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Sinal: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Venda dos 7,56% autorizada (ago/25)</a:t>
            </a:r>
            <a:endParaRPr lang="en-US" sz="1300" dirty="0"/>
          </a:p>
        </p:txBody>
      </p:sp>
      <p:sp>
        <p:nvSpPr>
          <p:cNvPr id="11" name="card-221"/>
          <p:cNvSpPr/>
          <p:nvPr/>
        </p:nvSpPr>
        <p:spPr>
          <a:xfrm>
            <a:off x="4307738" y="1600200"/>
            <a:ext cx="357621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2" name="num-222"/>
          <p:cNvSpPr txBox="1"/>
          <p:nvPr/>
        </p:nvSpPr>
        <p:spPr>
          <a:xfrm>
            <a:off x="4490618" y="178308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xt-223"/>
          <p:cNvSpPr txBox="1"/>
          <p:nvPr/>
        </p:nvSpPr>
        <p:spPr>
          <a:xfrm>
            <a:off x="4993538" y="1783080"/>
            <a:ext cx="27075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Capital de giro</a:t>
            </a:r>
            <a:endParaRPr lang="en-US" sz="1600" dirty="0"/>
          </a:p>
        </p:txBody>
      </p:sp>
      <p:sp>
        <p:nvSpPr>
          <p:cNvPr id="14" name="txt-224"/>
          <p:cNvSpPr txBox="1"/>
          <p:nvPr/>
        </p:nvSpPr>
        <p:spPr>
          <a:xfrm>
            <a:off x="4490618" y="2286000"/>
            <a:ext cx="32104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Mais SKUs, importação longa e crédito ao canal → capital cresce mais que o lucro → ROIC cai</a:t>
            </a:r>
            <a:endParaRPr lang="en-US" sz="1300" dirty="0"/>
          </a:p>
        </p:txBody>
      </p:sp>
      <p:sp>
        <p:nvSpPr>
          <p:cNvPr id="15" name="txt-225"/>
          <p:cNvSpPr txBox="1"/>
          <p:nvPr/>
        </p:nvSpPr>
        <p:spPr>
          <a:xfrm>
            <a:off x="4490618" y="320040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Sinal: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Ciclo de caixa: 68 → 145 dias; PCLD 4x em 2025</a:t>
            </a:r>
            <a:endParaRPr lang="en-US" sz="1300" dirty="0"/>
          </a:p>
        </p:txBody>
      </p:sp>
      <p:sp>
        <p:nvSpPr>
          <p:cNvPr id="16" name="card-226"/>
          <p:cNvSpPr/>
          <p:nvPr/>
        </p:nvSpPr>
        <p:spPr>
          <a:xfrm>
            <a:off x="8158277" y="1600200"/>
            <a:ext cx="357621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7" name="num-227"/>
          <p:cNvSpPr txBox="1"/>
          <p:nvPr/>
        </p:nvSpPr>
        <p:spPr>
          <a:xfrm>
            <a:off x="8341157" y="178308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xt-228"/>
          <p:cNvSpPr txBox="1"/>
          <p:nvPr/>
        </p:nvSpPr>
        <p:spPr>
          <a:xfrm>
            <a:off x="8844077" y="1783080"/>
            <a:ext cx="27075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Obsolescência de estoque</a:t>
            </a:r>
            <a:endParaRPr lang="en-US" sz="1600" dirty="0"/>
          </a:p>
        </p:txBody>
      </p:sp>
      <p:sp>
        <p:nvSpPr>
          <p:cNvPr id="19" name="txt-229"/>
          <p:cNvSpPr txBox="1"/>
          <p:nvPr/>
        </p:nvSpPr>
        <p:spPr>
          <a:xfrm>
            <a:off x="8341157" y="2286000"/>
            <a:ext cx="32104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Ciclo tecnológico curto × ~5 meses de estoque → baixas e provisões</a:t>
            </a:r>
            <a:endParaRPr lang="en-US" sz="1300" dirty="0"/>
          </a:p>
        </p:txBody>
      </p:sp>
      <p:sp>
        <p:nvSpPr>
          <p:cNvPr id="20" name="txt-230"/>
          <p:cNvSpPr txBox="1"/>
          <p:nvPr/>
        </p:nvSpPr>
        <p:spPr>
          <a:xfrm>
            <a:off x="8341157" y="320040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Sinal: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Provisão: R$0,6 mi (2019) → R$54 mi (2025)</a:t>
            </a:r>
            <a:endParaRPr lang="en-US" sz="1300" dirty="0"/>
          </a:p>
        </p:txBody>
      </p:sp>
      <p:sp>
        <p:nvSpPr>
          <p:cNvPr id="21" name="card-231"/>
          <p:cNvSpPr/>
          <p:nvPr/>
        </p:nvSpPr>
        <p:spPr>
          <a:xfrm>
            <a:off x="457200" y="4069080"/>
            <a:ext cx="357621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22" name="num-232"/>
          <p:cNvSpPr txBox="1"/>
          <p:nvPr/>
        </p:nvSpPr>
        <p:spPr>
          <a:xfrm>
            <a:off x="640080" y="425196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xt-233"/>
          <p:cNvSpPr txBox="1"/>
          <p:nvPr/>
        </p:nvSpPr>
        <p:spPr>
          <a:xfrm>
            <a:off x="1143000" y="4251960"/>
            <a:ext cx="27075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Câmbio</a:t>
            </a:r>
            <a:endParaRPr lang="en-US" sz="1600" dirty="0"/>
          </a:p>
        </p:txBody>
      </p:sp>
      <p:sp>
        <p:nvSpPr>
          <p:cNvPr id="24" name="txt-234"/>
          <p:cNvSpPr txBox="1"/>
          <p:nvPr/>
        </p:nvSpPr>
        <p:spPr>
          <a:xfrm>
            <a:off x="640080" y="4754880"/>
            <a:ext cx="32104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Custo dolarizado repassado com defasagem → margem bruta cíclica</a:t>
            </a:r>
            <a:endParaRPr lang="en-US" sz="1300" dirty="0"/>
          </a:p>
        </p:txBody>
      </p:sp>
      <p:sp>
        <p:nvSpPr>
          <p:cNvPr id="25" name="txt-235"/>
          <p:cNvSpPr txBox="1"/>
          <p:nvPr/>
        </p:nvSpPr>
        <p:spPr>
          <a:xfrm>
            <a:off x="640080" y="566928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Sinal: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Parte da margem do 2T26 vai normalizar (cia.)</a:t>
            </a:r>
            <a:endParaRPr lang="en-US" sz="1300" dirty="0"/>
          </a:p>
        </p:txBody>
      </p:sp>
      <p:sp>
        <p:nvSpPr>
          <p:cNvPr id="26" name="card-236"/>
          <p:cNvSpPr/>
          <p:nvPr/>
        </p:nvSpPr>
        <p:spPr>
          <a:xfrm>
            <a:off x="4307738" y="4069080"/>
            <a:ext cx="357621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27" name="num-237"/>
          <p:cNvSpPr txBox="1"/>
          <p:nvPr/>
        </p:nvSpPr>
        <p:spPr>
          <a:xfrm>
            <a:off x="4490618" y="425196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xt-238"/>
          <p:cNvSpPr txBox="1"/>
          <p:nvPr/>
        </p:nvSpPr>
        <p:spPr>
          <a:xfrm>
            <a:off x="4993538" y="4251960"/>
            <a:ext cx="27075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Regulação fiscal</a:t>
            </a:r>
            <a:endParaRPr lang="en-US" sz="1600" dirty="0"/>
          </a:p>
        </p:txBody>
      </p:sp>
      <p:sp>
        <p:nvSpPr>
          <p:cNvPr id="29" name="txt-239"/>
          <p:cNvSpPr txBox="1"/>
          <p:nvPr/>
        </p:nvSpPr>
        <p:spPr>
          <a:xfrm>
            <a:off x="4490618" y="4754880"/>
            <a:ext cx="32104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Lei de TICs, ZFM e reforma tributária mexem nos créditos → NOPAT e ROIC</a:t>
            </a:r>
            <a:endParaRPr lang="en-US" sz="1300" dirty="0"/>
          </a:p>
        </p:txBody>
      </p:sp>
      <p:sp>
        <p:nvSpPr>
          <p:cNvPr id="30" name="txt-240"/>
          <p:cNvSpPr txBox="1"/>
          <p:nvPr/>
        </p:nvSpPr>
        <p:spPr>
          <a:xfrm>
            <a:off x="4490618" y="566928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Sinal: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Créditos ≈ 30% do EBIT em 2025</a:t>
            </a:r>
            <a:endParaRPr lang="en-US" sz="1300" dirty="0"/>
          </a:p>
        </p:txBody>
      </p:sp>
      <p:sp>
        <p:nvSpPr>
          <p:cNvPr id="31" name="card-241"/>
          <p:cNvSpPr/>
          <p:nvPr/>
        </p:nvSpPr>
        <p:spPr>
          <a:xfrm>
            <a:off x="8158277" y="4069080"/>
            <a:ext cx="357621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32" name="num-242"/>
          <p:cNvSpPr txBox="1"/>
          <p:nvPr/>
        </p:nvSpPr>
        <p:spPr>
          <a:xfrm>
            <a:off x="8341157" y="425196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xt-243"/>
          <p:cNvSpPr txBox="1"/>
          <p:nvPr/>
        </p:nvSpPr>
        <p:spPr>
          <a:xfrm>
            <a:off x="8844077" y="4251960"/>
            <a:ext cx="27075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Instalador perde relevância</a:t>
            </a:r>
            <a:endParaRPr lang="en-US" sz="1600" dirty="0"/>
          </a:p>
        </p:txBody>
      </p:sp>
      <p:sp>
        <p:nvSpPr>
          <p:cNvPr id="34" name="txt-244"/>
          <p:cNvSpPr txBox="1"/>
          <p:nvPr/>
        </p:nvSpPr>
        <p:spPr>
          <a:xfrm>
            <a:off x="8341157" y="4754880"/>
            <a:ext cx="32104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Câmeras plug-and-play + marketplace → consumidor compra direto → enfraquece o loop curto</a:t>
            </a:r>
            <a:endParaRPr lang="en-US" sz="1300" dirty="0"/>
          </a:p>
        </p:txBody>
      </p:sp>
      <p:sp>
        <p:nvSpPr>
          <p:cNvPr id="35" name="txt-245"/>
          <p:cNvSpPr txBox="1"/>
          <p:nvPr/>
        </p:nvSpPr>
        <p:spPr>
          <a:xfrm>
            <a:off x="8341157" y="566928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Sinal: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Não quantificado nas fontes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Variáveis para acompanhar no modelo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Seis indicadores que dizem se a vantagem se sustenta e se o retorno volta a subir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Fonte: síntese da análise. Dados-base: planilha interativa e release 2T26.</a:t>
            </a:r>
            <a:endParaRPr lang="en-US" sz="1000" dirty="0"/>
          </a:p>
        </p:txBody>
      </p:sp>
      <p:sp>
        <p:nvSpPr>
          <p:cNvPr id="6" name="card-246"/>
          <p:cNvSpPr/>
          <p:nvPr/>
        </p:nvSpPr>
        <p:spPr>
          <a:xfrm>
            <a:off x="457200" y="1600200"/>
            <a:ext cx="5501488" cy="1371600"/>
          </a:xfrm>
          <a:prstGeom prst="roundRect">
            <a:avLst>
              <a:gd name="adj" fmla="val 5333"/>
            </a:avLst>
          </a:prstGeom>
          <a:solidFill>
            <a:srgbClr val="174D3B"/>
          </a:solidFill>
          <a:ln/>
        </p:spPr>
      </p:sp>
      <p:sp>
        <p:nvSpPr>
          <p:cNvPr id="7" name="num-247"/>
          <p:cNvSpPr txBox="1"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xt-248"/>
          <p:cNvSpPr txBox="1"/>
          <p:nvPr/>
        </p:nvSpPr>
        <p:spPr>
          <a:xfrm>
            <a:off x="1325880" y="1801368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Ciclo de caixa e estoque</a:t>
            </a:r>
            <a:endParaRPr lang="en-US" sz="1800" dirty="0"/>
          </a:p>
        </p:txBody>
      </p:sp>
      <p:sp>
        <p:nvSpPr>
          <p:cNvPr id="9" name="txt-249"/>
          <p:cNvSpPr txBox="1"/>
          <p:nvPr/>
        </p:nvSpPr>
        <p:spPr>
          <a:xfrm>
            <a:off x="1325880" y="2258568"/>
            <a:ext cx="440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Principal alavanca de ROIC: 10 dias ≈ 0,6 a 0,9 p.p.</a:t>
            </a:r>
            <a:endParaRPr lang="en-US" sz="1400" dirty="0"/>
          </a:p>
        </p:txBody>
      </p:sp>
      <p:sp>
        <p:nvSpPr>
          <p:cNvPr id="10" name="card-250"/>
          <p:cNvSpPr/>
          <p:nvPr/>
        </p:nvSpPr>
        <p:spPr>
          <a:xfrm>
            <a:off x="6233008" y="1600200"/>
            <a:ext cx="5501488" cy="1371600"/>
          </a:xfrm>
          <a:prstGeom prst="roundRect">
            <a:avLst>
              <a:gd name="adj" fmla="val 5333"/>
            </a:avLst>
          </a:prstGeom>
          <a:solidFill>
            <a:srgbClr val="174D3B"/>
          </a:solidFill>
          <a:ln/>
        </p:spPr>
      </p:sp>
      <p:sp>
        <p:nvSpPr>
          <p:cNvPr id="11" name="num-251"/>
          <p:cNvSpPr txBox="1"/>
          <p:nvPr/>
        </p:nvSpPr>
        <p:spPr>
          <a:xfrm>
            <a:off x="6461608" y="2057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xt-252"/>
          <p:cNvSpPr txBox="1"/>
          <p:nvPr/>
        </p:nvSpPr>
        <p:spPr>
          <a:xfrm>
            <a:off x="7101688" y="1801368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Margem bruta ex-AVP × câmbio</a:t>
            </a:r>
            <a:endParaRPr lang="en-US" sz="1800" dirty="0"/>
          </a:p>
        </p:txBody>
      </p:sp>
      <p:sp>
        <p:nvSpPr>
          <p:cNvPr id="13" name="txt-253"/>
          <p:cNvSpPr txBox="1"/>
          <p:nvPr/>
        </p:nvSpPr>
        <p:spPr>
          <a:xfrm>
            <a:off x="7101688" y="2258568"/>
            <a:ext cx="440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Separar a parte cíclica (custo de reposição) da estrutural</a:t>
            </a:r>
            <a:endParaRPr lang="en-US" sz="1400" dirty="0"/>
          </a:p>
        </p:txBody>
      </p:sp>
      <p:sp>
        <p:nvSpPr>
          <p:cNvPr id="14" name="card-254"/>
          <p:cNvSpPr/>
          <p:nvPr/>
        </p:nvSpPr>
        <p:spPr>
          <a:xfrm>
            <a:off x="457200" y="3200400"/>
            <a:ext cx="5501488" cy="1371600"/>
          </a:xfrm>
          <a:prstGeom prst="roundRect">
            <a:avLst>
              <a:gd name="adj" fmla="val 5333"/>
            </a:avLst>
          </a:prstGeom>
          <a:solidFill>
            <a:srgbClr val="174D3B"/>
          </a:solidFill>
          <a:ln/>
        </p:spPr>
      </p:sp>
      <p:sp>
        <p:nvSpPr>
          <p:cNvPr id="15" name="num-255"/>
          <p:cNvSpPr txBox="1"/>
          <p:nvPr/>
        </p:nvSpPr>
        <p:spPr>
          <a:xfrm>
            <a:off x="685800" y="3657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xt-256"/>
          <p:cNvSpPr txBox="1"/>
          <p:nvPr/>
        </p:nvSpPr>
        <p:spPr>
          <a:xfrm>
            <a:off x="1325880" y="3401568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Peso de Energia (solar) e GPON no mix</a:t>
            </a:r>
            <a:endParaRPr lang="en-US" sz="1800" dirty="0"/>
          </a:p>
        </p:txBody>
      </p:sp>
      <p:sp>
        <p:nvSpPr>
          <p:cNvPr id="17" name="txt-257"/>
          <p:cNvSpPr txBox="1"/>
          <p:nvPr/>
        </p:nvSpPr>
        <p:spPr>
          <a:xfrm>
            <a:off x="1325880" y="3858768"/>
            <a:ext cx="440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Mix fora do instalador dilui margem e ROIC</a:t>
            </a:r>
            <a:endParaRPr lang="en-US" sz="1400" dirty="0"/>
          </a:p>
        </p:txBody>
      </p:sp>
      <p:sp>
        <p:nvSpPr>
          <p:cNvPr id="18" name="card-258"/>
          <p:cNvSpPr/>
          <p:nvPr/>
        </p:nvSpPr>
        <p:spPr>
          <a:xfrm>
            <a:off x="6233008" y="3200400"/>
            <a:ext cx="5501488" cy="1371600"/>
          </a:xfrm>
          <a:prstGeom prst="roundRect">
            <a:avLst>
              <a:gd name="adj" fmla="val 5333"/>
            </a:avLst>
          </a:prstGeom>
          <a:solidFill>
            <a:srgbClr val="174D3B"/>
          </a:solidFill>
          <a:ln/>
        </p:spPr>
      </p:sp>
      <p:sp>
        <p:nvSpPr>
          <p:cNvPr id="19" name="num-259"/>
          <p:cNvSpPr txBox="1"/>
          <p:nvPr/>
        </p:nvSpPr>
        <p:spPr>
          <a:xfrm>
            <a:off x="6461608" y="3657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xt-260"/>
          <p:cNvSpPr txBox="1"/>
          <p:nvPr/>
        </p:nvSpPr>
        <p:spPr>
          <a:xfrm>
            <a:off x="7101688" y="3401568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Relação com a Dahua</a:t>
            </a:r>
            <a:endParaRPr lang="en-US" sz="1800" dirty="0"/>
          </a:p>
        </p:txBody>
      </p:sp>
      <p:sp>
        <p:nvSpPr>
          <p:cNvPr id="21" name="txt-261"/>
          <p:cNvSpPr txBox="1"/>
          <p:nvPr/>
        </p:nvSpPr>
        <p:spPr>
          <a:xfrm>
            <a:off x="7101688" y="3858768"/>
            <a:ext cx="440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Exclusividade, participação acionária e preço de transferência</a:t>
            </a:r>
            <a:endParaRPr lang="en-US" sz="1400" dirty="0"/>
          </a:p>
        </p:txBody>
      </p:sp>
      <p:sp>
        <p:nvSpPr>
          <p:cNvPr id="22" name="card-262"/>
          <p:cNvSpPr/>
          <p:nvPr/>
        </p:nvSpPr>
        <p:spPr>
          <a:xfrm>
            <a:off x="457200" y="4800600"/>
            <a:ext cx="5501488" cy="1371600"/>
          </a:xfrm>
          <a:prstGeom prst="roundRect">
            <a:avLst>
              <a:gd name="adj" fmla="val 5333"/>
            </a:avLst>
          </a:prstGeom>
          <a:solidFill>
            <a:srgbClr val="174D3B"/>
          </a:solidFill>
          <a:ln/>
        </p:spPr>
      </p:sp>
      <p:sp>
        <p:nvSpPr>
          <p:cNvPr id="23" name="num-263"/>
          <p:cNvSpPr txBox="1"/>
          <p:nvPr/>
        </p:nvSpPr>
        <p:spPr>
          <a:xfrm>
            <a:off x="685800" y="5257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xt-264"/>
          <p:cNvSpPr txBox="1"/>
          <p:nvPr/>
        </p:nvSpPr>
        <p:spPr>
          <a:xfrm>
            <a:off x="1325880" y="5001768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Créditos da Lei de TICs e reforma tributária</a:t>
            </a:r>
            <a:endParaRPr lang="en-US" sz="1800" dirty="0"/>
          </a:p>
        </p:txBody>
      </p:sp>
      <p:sp>
        <p:nvSpPr>
          <p:cNvPr id="25" name="txt-265"/>
          <p:cNvSpPr txBox="1"/>
          <p:nvPr/>
        </p:nvSpPr>
        <p:spPr>
          <a:xfrm>
            <a:off x="1325880" y="5458968"/>
            <a:ext cx="440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≈ 23–30% do EBIT dependem de política pública</a:t>
            </a:r>
            <a:endParaRPr lang="en-US" sz="1400" dirty="0"/>
          </a:p>
        </p:txBody>
      </p:sp>
      <p:sp>
        <p:nvSpPr>
          <p:cNvPr id="26" name="card-266"/>
          <p:cNvSpPr/>
          <p:nvPr/>
        </p:nvSpPr>
        <p:spPr>
          <a:xfrm>
            <a:off x="6233008" y="4800600"/>
            <a:ext cx="5501488" cy="1371600"/>
          </a:xfrm>
          <a:prstGeom prst="roundRect">
            <a:avLst>
              <a:gd name="adj" fmla="val 5333"/>
            </a:avLst>
          </a:prstGeom>
          <a:solidFill>
            <a:srgbClr val="174D3B"/>
          </a:solidFill>
          <a:ln/>
        </p:spPr>
      </p:sp>
      <p:sp>
        <p:nvSpPr>
          <p:cNvPr id="27" name="num-267"/>
          <p:cNvSpPr txBox="1"/>
          <p:nvPr/>
        </p:nvSpPr>
        <p:spPr>
          <a:xfrm>
            <a:off x="6461608" y="5257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txt-268"/>
          <p:cNvSpPr txBox="1"/>
          <p:nvPr/>
        </p:nvSpPr>
        <p:spPr>
          <a:xfrm>
            <a:off x="7101688" y="5001768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Despesas com vendas / receita</a:t>
            </a:r>
            <a:endParaRPr lang="en-US" sz="1800" dirty="0"/>
          </a:p>
        </p:txBody>
      </p:sp>
      <p:sp>
        <p:nvSpPr>
          <p:cNvPr id="29" name="txt-269"/>
          <p:cNvSpPr txBox="1"/>
          <p:nvPr/>
        </p:nvSpPr>
        <p:spPr>
          <a:xfrm>
            <a:off x="7101688" y="5458968"/>
            <a:ext cx="440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Testa se o canal ganha escala ou só custa mais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Fontes e notas metodológicas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 FRE 2026 não estava entre os anexos; dados atribuídos a ele vieram de research e imprensa</a:t>
            </a:r>
            <a:endParaRPr lang="en-US" sz="1600" dirty="0"/>
          </a:p>
        </p:txBody>
      </p:sp>
      <p:sp>
        <p:nvSpPr>
          <p:cNvPr id="5" name="txt-270"/>
          <p:cNvSpPr txBox="1"/>
          <p:nvPr/>
        </p:nvSpPr>
        <p:spPr>
          <a:xfrm>
            <a:off x="457200" y="1600200"/>
            <a:ext cx="545576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Documentos da companhia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Release de Resultados 2T26 (29/07/2026)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Planilha interativa 2T26 (DRE, BP, DFC, indicadores, segmentos)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Apresentação e comunicado BTG CEO Conference (mai/2021)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Notas e definições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Ciclo de caixa = DSO + DIO − DPO; DPO inclui risco sacado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Capital de giro = contas a receber + estoques − fornecedores − risco sacado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ROIC pré-IR = EBIT / (dívida líquida + PL), definição da companhia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Estimativas e inferências são próprias e indicadas nos slides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Análise de modelo de negócios, não recomendação de investimento</a:t>
            </a:r>
            <a:endParaRPr lang="en-US" sz="1400" dirty="0"/>
          </a:p>
        </p:txBody>
      </p:sp>
      <p:sp>
        <p:nvSpPr>
          <p:cNvPr id="6" name="txt-271"/>
          <p:cNvSpPr txBox="1"/>
          <p:nvPr/>
        </p:nvSpPr>
        <p:spPr>
          <a:xfrm>
            <a:off x="6278728" y="1600200"/>
            <a:ext cx="545576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Fontes externas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Genial Analisa: mix de canais, distribuidores e revendedores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Nord Research e prospecto do IPO: acordo com a Dahua, 28,6% das compras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Brazil Journal: venda em bloco de ~2,5% da Intelbras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FilingReader (15/08/2025): Dahua autoriza venda de 7,56%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Dahua Brasil e IT Forum: operação e distribuidor próprios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Teletime (12/01/2026): fim da exclusividade GPON FiberHome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Gecex 829 e 837/2025; DPL News: antidumping de fibra óptica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Teletime e Forbes (abr/2026): fábrica de R$200 mi em Manaus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Brazil Journal e InfoMoney: aquisição da Renovigi (R$334 mi)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Nord (3T25) e Safra (2T26): margem de TIC e margem ex-AVP</a:t>
            </a:r>
            <a:endParaRPr lang="en-US" sz="14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4572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lbras Research">
  <a:themeElements>
    <a:clrScheme name="Intelbras Research">
      <a:dk1>
        <a:srgbClr val="1B2420"/>
      </a:dk1>
      <a:lt1>
        <a:srgbClr val="FFFFFF"/>
      </a:lt1>
      <a:dk2>
        <a:srgbClr val="0F3D2E"/>
      </a:dk2>
      <a:lt2>
        <a:srgbClr val="EEF3F0"/>
      </a:lt2>
      <a:accent1>
        <a:srgbClr val="12804B"/>
      </a:accent1>
      <a:accent2>
        <a:srgbClr val="E07A1F"/>
      </a:accent2>
      <a:accent3>
        <a:srgbClr val="2A8FCB"/>
      </a:accent3>
      <a:accent4>
        <a:srgbClr val="C0392B"/>
      </a:accent4>
      <a:accent5>
        <a:srgbClr val="E3A825"/>
      </a:accent5>
      <a:accent6>
        <a:srgbClr val="6B7A73"/>
      </a:accent6>
      <a:hlink>
        <a:srgbClr val="12804B"/>
      </a:hlink>
      <a:folHlink>
        <a:srgbClr val="6B7A73"/>
      </a:folHlink>
    </a:clrScheme>
    <a:fontScheme name="Intelbras Resear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Intelbras (INTB3) — Modelo de negócios</dc:title>
  <dc:subject>Equity research — modelo de negócios</dc:subject>
  <dc:creator>Equity Research</dc:creator>
  <cp:lastModifiedBy>Equity Research</cp:lastModifiedBy>
  <cp:revision>1</cp:revision>
  <dcterms:created xsi:type="dcterms:W3CDTF">2026-10-03T21:30:45Z</dcterms:created>
  <dcterms:modified xsi:type="dcterms:W3CDTF">2026-10-03T21:30:45Z</dcterms:modified>
</cp:coreProperties>
</file>