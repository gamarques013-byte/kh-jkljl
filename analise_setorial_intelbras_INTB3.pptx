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6"/>
  </p:notesMasterIdLst>
  <p:sldIdLst>
    <p:sldId id="256" r:id="rId5"/>
    <p:sldId id="257" r:id="rId4"/>
    <p:sldId id="258" r:id="rId3"/>
    <p:sldId id="259" r:id="rId2"/>
    <p:sldId id="260" r:id="rId13"/>
    <p:sldId id="261" r:id="rId14"/>
    <p:sldId id="262" r:id="rId15"/>
    <p:sldId id="263" r:id="rId16"/>
    <p:sldId id="264" r:id="rId17"/>
    <p:sldId id="265" r:id="rId18"/>
    <p:sldId id="266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58672B-220E-4724-AF36-31A7AEC243DC}" v="1" dt="2026-10-04T16:11:59.9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 showGuides="1">
      <p:cViewPr varScale="1">
        <p:scale>
          <a:sx n="79" d="100"/>
          <a:sy n="79" d="100"/>
        </p:scale>
        <p:origin x="114" y="149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Marques" userId="1d9ea02e7d99515e" providerId="LiveId" clId="{7D7F225A-F182-4246-BCF5-AE16DC506AED}"/>
    <pc:docChg chg="addSld delSld modSld">
      <pc:chgData name="Gabriel Marques" userId="1d9ea02e7d99515e" providerId="LiveId" clId="{7D7F225A-F182-4246-BCF5-AE16DC506AED}" dt="2026-10-04T16:11:59.972" v="1"/>
      <pc:docMkLst>
        <pc:docMk/>
      </pc:docMkLst>
      <pc:sldChg chg="add">
        <pc:chgData name="Gabriel Marques" userId="1d9ea02e7d99515e" providerId="LiveId" clId="{7D7F225A-F182-4246-BCF5-AE16DC506AED}" dt="2026-10-04T16:11:59.972" v="1"/>
        <pc:sldMkLst>
          <pc:docMk/>
          <pc:sldMk cId="1076457472" sldId="259"/>
        </pc:sldMkLst>
      </pc:sldChg>
      <pc:sldChg chg="add">
        <pc:chgData name="Gabriel Marques" userId="1d9ea02e7d99515e" providerId="LiveId" clId="{7D7F225A-F182-4246-BCF5-AE16DC506AED}" dt="2026-10-04T16:11:59.972" v="1"/>
        <pc:sldMkLst>
          <pc:docMk/>
          <pc:sldMk cId="3949088512" sldId="262"/>
        </pc:sldMkLst>
      </pc:sldChg>
      <pc:sldChg chg="add">
        <pc:chgData name="Gabriel Marques" userId="1d9ea02e7d99515e" providerId="LiveId" clId="{7D7F225A-F182-4246-BCF5-AE16DC506AED}" dt="2026-10-04T16:11:59.972" v="1"/>
        <pc:sldMkLst>
          <pc:docMk/>
          <pc:sldMk cId="3611808962" sldId="278"/>
        </pc:sldMkLst>
      </pc:sldChg>
      <pc:sldChg chg="add">
        <pc:chgData name="Gabriel Marques" userId="1d9ea02e7d99515e" providerId="LiveId" clId="{7D7F225A-F182-4246-BCF5-AE16DC506AED}" dt="2026-10-04T16:11:59.972" v="1"/>
        <pc:sldMkLst>
          <pc:docMk/>
          <pc:sldMk cId="2098809387" sldId="279"/>
        </pc:sldMkLst>
      </pc:sldChg>
      <pc:sldChg chg="del">
        <pc:chgData name="Gabriel Marques" userId="1d9ea02e7d99515e" providerId="LiveId" clId="{7D7F225A-F182-4246-BCF5-AE16DC506AED}" dt="2026-10-04T16:11:58.979" v="0" actId="47"/>
        <pc:sldMkLst>
          <pc:docMk/>
          <pc:sldMk cId="0" sldId="280"/>
        </pc:sldMkLst>
      </pc:sldChg>
      <pc:sldChg chg="del">
        <pc:chgData name="Gabriel Marques" userId="1d9ea02e7d99515e" providerId="LiveId" clId="{7D7F225A-F182-4246-BCF5-AE16DC506AED}" dt="2026-10-04T16:11:58.979" v="0" actId="47"/>
        <pc:sldMkLst>
          <pc:docMk/>
          <pc:sldMk cId="0" sldId="281"/>
        </pc:sldMkLst>
      </pc:sldChg>
      <pc:sldChg chg="del">
        <pc:chgData name="Gabriel Marques" userId="1d9ea02e7d99515e" providerId="LiveId" clId="{7D7F225A-F182-4246-BCF5-AE16DC506AED}" dt="2026-10-04T16:11:58.979" v="0" actId="47"/>
        <pc:sldMkLst>
          <pc:docMk/>
          <pc:sldMk cId="0" sldId="282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Segurança</c:v>
                </c:pt>
              </c:strCache>
            </c:strRef>
          </c:tx>
          <c:spPr>
            <a:solidFill>
              <a:srgbClr val="009F41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1.007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1.148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1.620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1.982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2.225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2.703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2.730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1007</c:v>
                </c:pt>
                <c:pt idx="1">
                  <c:v>1148</c:v>
                </c:pt>
                <c:pt idx="2">
                  <c:v>1620</c:v>
                </c:pt>
                <c:pt idx="3">
                  <c:v>1982</c:v>
                </c:pt>
                <c:pt idx="4">
                  <c:v>2225</c:v>
                </c:pt>
                <c:pt idx="5">
                  <c:v>2703</c:v>
                </c:pt>
                <c:pt idx="6">
                  <c:v>2730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TIC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cat>
            <c:strRef>
              <c:f>Sheet1!$A$2:$A$8</c:f>
              <c:strCach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576</c:v>
                </c:pt>
                <c:pt idx="1">
                  <c:v>771</c:v>
                </c:pt>
                <c:pt idx="2">
                  <c:v>918</c:v>
                </c:pt>
                <c:pt idx="3">
                  <c:v>843</c:v>
                </c:pt>
                <c:pt idx="4">
                  <c:v>908</c:v>
                </c:pt>
                <c:pt idx="5">
                  <c:v>1062</c:v>
                </c:pt>
                <c:pt idx="6">
                  <c:v>977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Energia</c:v>
                </c:pt>
              </c:strCache>
            </c:strRef>
          </c:tx>
          <c:spPr>
            <a:solidFill>
              <a:srgbClr val="BFBFBF"/>
            </a:solidFill>
          </c:spPr>
          <c:invertIfNegative val="0"/>
          <c:cat>
            <c:strRef>
              <c:f>Sheet1!$A$2:$A$8</c:f>
              <c:strCach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115</c:v>
                </c:pt>
                <c:pt idx="1">
                  <c:v>215</c:v>
                </c:pt>
                <c:pt idx="2">
                  <c:v>549</c:v>
                </c:pt>
                <c:pt idx="3">
                  <c:v>1408</c:v>
                </c:pt>
                <c:pt idx="4">
                  <c:v>971</c:v>
                </c:pt>
                <c:pt idx="5">
                  <c:v>1091</c:v>
                </c:pt>
                <c:pt idx="6">
                  <c:v>753</c:v>
                </c:pt>
              </c:numCache>
            </c:numRef>
          </c:val>
        </c:ser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009F41"/>
              </a:solidFill>
            </c:spPr>
          </c:dPt>
          <c:dPt>
            <c:idx val="1"/>
            <c:spPr>
              <a:solidFill>
                <a:srgbClr val="7CC79A"/>
              </a:solidFill>
            </c:spPr>
          </c:dPt>
          <c:dPt>
            <c:idx val="2"/>
            <c:spPr>
              <a:solidFill>
                <a:srgbClr val="1A1A1A"/>
              </a:solidFill>
            </c:spPr>
          </c:dPt>
          <c:dPt>
            <c:idx val="3"/>
            <c:spPr>
              <a:solidFill>
                <a:srgbClr val="BFBFBF"/>
              </a:solidFill>
            </c:spPr>
          </c:dPt>
          <c:dPt>
            <c:idx val="4"/>
            <c:spPr>
              <a:solidFill>
                <a:srgbClr val="BFBFBF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09F41"/>
                        </a:solidFill>
                      </a:rPr>
                      <a:t>~28%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595959"/>
                        </a:solidFill>
                      </a:rPr>
                      <a:t>~14,7%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A1A1A"/>
                        </a:solidFill>
                      </a:rPr>
                      <a:t>13,75%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595959"/>
                        </a:solidFill>
                      </a:rPr>
                      <a:t>~7,5%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595959"/>
                        </a:solidFill>
                      </a:rPr>
                      <a:t>~5,9%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Segurança</c:v>
                </c:pt>
                <c:pt idx="1">
                  <c:v>Segurança sem ICMS-AM</c:v>
                </c:pt>
                <c:pt idx="2">
                  <c:v>Selic (set/26)</c:v>
                </c:pt>
                <c:pt idx="3">
                  <c:v>TIC</c:v>
                </c:pt>
                <c:pt idx="4">
                  <c:v>Energia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28.0</c:v>
                </c:pt>
                <c:pt idx="1">
                  <c:v>14.7</c:v>
                </c:pt>
                <c:pt idx="2">
                  <c:v>13.75</c:v>
                </c:pt>
                <c:pt idx="3">
                  <c:v>7.5</c:v>
                </c:pt>
                <c:pt idx="4">
                  <c:v>5.9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 w="9525">
            <a:noFill/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do lucro bruto</c:v>
                </c:pt>
              </c:strCache>
            </c:strRef>
          </c:tx>
          <c:spPr>
            <a:solidFill>
              <a:srgbClr val="009F41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68%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19%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14%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Segurança</c:v>
                </c:pt>
                <c:pt idx="1">
                  <c:v>TIC</c:v>
                </c:pt>
                <c:pt idx="2">
                  <c:v>Energia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67.5</c:v>
                </c:pt>
                <c:pt idx="1">
                  <c:v>18.7</c:v>
                </c:pt>
                <c:pt idx="2">
                  <c:v>13.8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% do capital operacional</c:v>
                </c:pt>
              </c:strCache>
            </c:strRef>
          </c:tx>
          <c:spPr>
            <a:solidFill>
              <a:srgbClr val="BFBFBF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48%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29%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24%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Segurança</c:v>
                </c:pt>
                <c:pt idx="1">
                  <c:v>TIC</c:v>
                </c:pt>
                <c:pt idx="2">
                  <c:v>Energia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47.6</c:v>
                </c:pt>
                <c:pt idx="1">
                  <c:v>28.8</c:v>
                </c:pt>
                <c:pt idx="2">
                  <c:v>23.5</c:v>
                </c:pt>
              </c:numCache>
            </c:numRef>
          </c:val>
        </c:ser>
        <c:gapWidth val="7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A1A1A"/>
              </a:solidFill>
            </c:spPr>
          </c:dPt>
          <c:dPt>
            <c:idx val="1"/>
            <c:spPr>
              <a:solidFill>
                <a:srgbClr val="1A1A1A"/>
              </a:solidFill>
            </c:spPr>
          </c:dPt>
          <c:dPt>
            <c:idx val="2"/>
            <c:spPr>
              <a:solidFill>
                <a:srgbClr val="009F41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A1A1A"/>
                        </a:solidFill>
                      </a:rPr>
                      <a:t>12,95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A1A1A"/>
                        </a:solidFill>
                      </a:rPr>
                      <a:t>~4,5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009F41"/>
                        </a:solidFill>
                      </a:rPr>
                      <a:t>0,80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Hikvision</c:v>
                </c:pt>
                <c:pt idx="1">
                  <c:v>Dahua</c:v>
                </c:pt>
                <c:pt idx="2">
                  <c:v>Intelbras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12.95</c:v>
                </c:pt>
                <c:pt idx="1">
                  <c:v>4.5</c:v>
                </c:pt>
                <c:pt idx="2">
                  <c:v>0.8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 w="9525">
            <a:noFill/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.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009F41"/>
              </a:solidFill>
            </c:spPr>
          </c:dPt>
          <c:dPt>
            <c:idx val="1"/>
            <c:spPr>
              <a:solidFill>
                <a:srgbClr val="595959"/>
              </a:solidFill>
            </c:spPr>
          </c:dPt>
          <c:dPt>
            <c:idx val="2"/>
            <c:spPr>
              <a:solidFill>
                <a:srgbClr val="595959"/>
              </a:solidFill>
            </c:spPr>
          </c:dPt>
          <c:dPt>
            <c:idx val="3"/>
            <c:spPr>
              <a:solidFill>
                <a:srgbClr val="BFBFBF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009F41"/>
                        </a:solidFill>
                      </a:rPr>
                      <a:t>44%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595959"/>
                        </a:solidFill>
                      </a:rPr>
                      <a:t>19%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595959"/>
                        </a:solidFill>
                      </a:rPr>
                      <a:t>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595959"/>
                        </a:solidFill>
                      </a:rPr>
                      <a:t>1,9%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Segurança · vs Hikvision</c:v>
                </c:pt>
                <c:pt idx="1">
                  <c:v>Energia sem solar · vs SMS (Legrand)</c:v>
                </c:pt>
                <c:pt idx="2">
                  <c:v>TIC · vs Huawei, Cisco, TP-Link</c:v>
                </c:pt>
                <c:pt idx="3">
                  <c:v>Solar · mercado pulverizado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</c:v>
                </c:pt>
                <c:pt idx="1">
                  <c:v>19</c:v>
                </c:pt>
                <c:pt idx="2">
                  <c:v>9</c:v>
                </c:pt>
                <c:pt idx="3">
                  <c:v>1.9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 w="9525">
            <a:noFill/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009F41"/>
            </a:solidFill>
          </c:spPr>
          <c:invertIfNegative val="0"/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BFBFBF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43%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54%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43%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44%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2020
CFTV</c:v>
                </c:pt>
                <c:pt idx="1">
                  <c:v>c.2022
CFTV</c:v>
                </c:pt>
                <c:pt idx="2">
                  <c:v>2024
Segurança</c:v>
                </c:pt>
                <c:pt idx="3">
                  <c:v>2025
Segurança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</c:v>
                </c:pt>
                <c:pt idx="1">
                  <c:v>54</c:v>
                </c:pt>
                <c:pt idx="2">
                  <c:v>43</c:v>
                </c:pt>
                <c:pt idx="3">
                  <c:v>44</c:v>
                </c:pt>
              </c:numCache>
            </c:numRef>
          </c:val>
        </c:ser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SG&amp;A ÷ receita</c:v>
                </c:pt>
              </c:strCache>
            </c:strRef>
          </c:tx>
          <c:spPr>
            <a:ln w="28575">
              <a:solidFill>
                <a:srgbClr val="1A1A1A"/>
              </a:solidFill>
            </a:ln>
          </c:spPr>
          <c:marker>
            <c:symbol val="circle"/>
            <c:size val="6"/>
            <c:spPr>
              <a:solidFill>
                <a:srgbClr val="1A1A1A"/>
              </a:solidFill>
              <a:ln>
                <a:solidFill>
                  <a:srgbClr val="1A1A1A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20,3%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17,4%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19,3%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20.3</c:v>
                </c:pt>
                <c:pt idx="1">
                  <c:v>18.9</c:v>
                </c:pt>
                <c:pt idx="2">
                  <c:v>17.7</c:v>
                </c:pt>
                <c:pt idx="3">
                  <c:v>17.4</c:v>
                </c:pt>
                <c:pt idx="4">
                  <c:v>19.5</c:v>
                </c:pt>
                <c:pt idx="5">
                  <c:v>19.0</c:v>
                </c:pt>
                <c:pt idx="6">
                  <c:v>19.3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2.0"/>
          <c:min val="14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Ciclo de caixa</c:v>
                </c:pt>
              </c:strCache>
            </c:strRef>
          </c:tx>
          <c:spPr>
            <a:solidFill>
              <a:srgbClr val="BFBFBF"/>
            </a:solidFill>
          </c:spPr>
          <c:invertIfNegative val="0"/>
          <c:dPt>
            <c:idx val="6"/>
            <c:spPr>
              <a:solidFill>
                <a:srgbClr val="009F41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68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69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147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112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124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157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145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68</c:v>
                </c:pt>
                <c:pt idx="1">
                  <c:v>69</c:v>
                </c:pt>
                <c:pt idx="2">
                  <c:v>147</c:v>
                </c:pt>
                <c:pt idx="3">
                  <c:v>112</c:v>
                </c:pt>
                <c:pt idx="4">
                  <c:v>124</c:v>
                </c:pt>
                <c:pt idx="5">
                  <c:v>157</c:v>
                </c:pt>
                <c:pt idx="6">
                  <c:v>145</c:v>
                </c:pt>
              </c:numCache>
            </c:numRef>
          </c:val>
        </c:ser>
        <c:gapWidth val="4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1ª fatia</c:v>
                </c:pt>
              </c:strCache>
            </c:strRef>
          </c:tx>
          <c:spPr>
            <a:ln w="12700">
              <a:solidFill>
                <a:srgbClr val="FFFFFF"/>
              </a:solidFill>
            </a:ln>
          </c:spPr>
          <c:dPt>
            <c:idx val="0"/>
            <c:spPr>
              <a:solidFill>
                <a:srgbClr val="595959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595959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595959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595959"/>
              </a:solidFill>
              <a:ln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1A1A1A"/>
              </a:solidFill>
              <a:ln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1A1A1A"/>
              </a:solidFill>
              <a:ln>
                <a:solidFill>
                  <a:srgbClr val="FFFFFF"/>
                </a:solidFill>
              </a:ln>
            </c:spPr>
          </c:dPt>
          <c:dPt>
            <c:idx val="6"/>
            <c:spPr>
              <a:solidFill>
                <a:srgbClr val="1A1A1A"/>
              </a:solidFill>
              <a:ln>
                <a:solidFill>
                  <a:srgbClr val="FFFFFF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800" b="1">
                        <a:solidFill>
                          <a:srgbClr val="FFFFFF"/>
                        </a:solidFill>
                      </a:rPr>
                      <a:t>TSMC (TW) 70%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800" b="1">
                        <a:solidFill>
                          <a:srgbClr val="FFFFFF"/>
                        </a:solidFill>
                      </a:rPr>
                      <a:t>SK hynix (KR)</a:t>
                    </a:r>
                  </a:p>
                  <a:p>
                    <a:r>
                      <a:rPr sz="800" b="0">
                        <a:solidFill>
                          <a:srgbClr val="FFFFFF"/>
                        </a:solidFill>
                      </a:rPr>
                      <a:t>33%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800" b="1">
                        <a:solidFill>
                          <a:srgbClr val="FFFFFF"/>
                        </a:solidFill>
                      </a:rPr>
                      <a:t>WD (EUA)</a:t>
                    </a:r>
                  </a:p>
                  <a:p>
                    <a:r>
                      <a:rPr sz="800" b="0">
                        <a:solidFill>
                          <a:srgbClr val="FFFFFF"/>
                        </a:solidFill>
                      </a:rPr>
                      <a:t>42%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800" b="1">
                        <a:solidFill>
                          <a:srgbClr val="FFFFFF"/>
                        </a:solidFill>
                      </a:rPr>
                      <a:t>Broadcom · Qualcomm · MediaTek · Realtek · Intel</a:t>
                    </a:r>
                  </a:p>
                  <a:p>
                    <a:r>
                      <a:rPr sz="800" b="0">
                        <a:solidFill>
                          <a:srgbClr val="FFFFFF"/>
                        </a:solidFill>
                      </a:rPr>
                      <a:t>82% juntos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800" b="1">
                        <a:solidFill>
                          <a:srgbClr val="FFFFFF"/>
                        </a:solidFill>
                      </a:rPr>
                      <a:t>Hikvision</a:t>
                    </a:r>
                  </a:p>
                  <a:p>
                    <a:r>
                      <a:rPr sz="800" b="0">
                        <a:solidFill>
                          <a:srgbClr val="FFFFFF"/>
                        </a:solidFill>
                      </a:rPr>
                      <a:t>25%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750" b="1">
                        <a:solidFill>
                          <a:srgbClr val="FFFFFF"/>
                        </a:solidFill>
                      </a:rPr>
                      <a:t>Jinko</a:t>
                    </a:r>
                  </a:p>
                  <a:p>
                    <a:r>
                      <a:rPr sz="750" b="0">
                        <a:solidFill>
                          <a:srgbClr val="FFFFFF"/>
                        </a:solidFill>
                      </a:rPr>
                      <a:t>13%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750" b="1">
                        <a:solidFill>
                          <a:srgbClr val="FFFFFF"/>
                        </a:solidFill>
                      </a:rPr>
                      <a:t>CATL</a:t>
                    </a:r>
                  </a:p>
                  <a:p>
                    <a:r>
                      <a:rPr sz="750" b="0">
                        <a:solidFill>
                          <a:srgbClr val="FFFFFF"/>
                        </a:solidFill>
                      </a:rPr>
                      <a:t>27%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Fabricação de chips · 2025
todos os eletrônicos</c:v>
                </c:pt>
                <c:pt idx="1">
                  <c:v>Memória DRAM · 3T25
câmeras, gravadores, roteadores</c:v>
                </c:pt>
                <c:pt idx="2">
                  <c:v>Discos rígidos · 1T25
gravadores de vídeo</c:v>
                </c:pt>
                <c:pt idx="3">
                  <c:v>Chips Wi-Fi · 2024
roteadores (Twibi usa Realtek)</c:v>
                </c:pt>
                <c:pt idx="4">
                  <c:v>Câmeras e gravadores · 2023/22
CFTV (Intelbras compra só da Dahua)</c:v>
                </c:pt>
                <c:pt idx="5">
                  <c:v>Módulos solares · 2024
energia solar</c:v>
                </c:pt>
                <c:pt idx="6">
                  <c:v>Células para armazenamento · 1S26
baterias de lítio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69.9</c:v>
                </c:pt>
                <c:pt idx="1">
                  <c:v>33.2</c:v>
                </c:pt>
                <c:pt idx="2">
                  <c:v>42</c:v>
                </c:pt>
                <c:pt idx="3">
                  <c:v>82</c:v>
                </c:pt>
                <c:pt idx="4">
                  <c:v>25</c:v>
                </c:pt>
                <c:pt idx="5">
                  <c:v>12.8</c:v>
                </c:pt>
                <c:pt idx="6">
                  <c:v>27.1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2ª fatia</c:v>
                </c:pt>
              </c:strCache>
            </c:strRef>
          </c:tx>
          <c:spPr>
            <a:ln w="12700">
              <a:solidFill>
                <a:srgbClr val="FFFFFF"/>
              </a:solidFill>
            </a:ln>
          </c:spPr>
          <c:dPt>
            <c:idx val="0"/>
            <c:spPr>
              <a:solidFill>
                <a:srgbClr val="8C8C8C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8C8C8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8C8C8C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E3E3E3"/>
              </a:solidFill>
              <a:ln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1A1A1A"/>
              </a:solidFill>
              <a:ln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1A1A1A"/>
              </a:solidFill>
              <a:ln>
                <a:solidFill>
                  <a:srgbClr val="FFFFFF"/>
                </a:solidFill>
              </a:ln>
            </c:spPr>
          </c:dPt>
          <c:dPt>
            <c:idx val="6"/>
            <c:spPr>
              <a:solidFill>
                <a:srgbClr val="1A1A1A"/>
              </a:solidFill>
              <a:ln>
                <a:solidFill>
                  <a:srgbClr val="FFFFFF"/>
                </a:solidFill>
              </a:ln>
            </c:spPr>
          </c:dPt>
          <c:dLbls>
            <c:dLbl>
              <c:idx val="1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800" b="1">
                        <a:solidFill>
                          <a:srgbClr val="FFFFFF"/>
                        </a:solidFill>
                      </a:rPr>
                      <a:t>Samsung (KR)</a:t>
                    </a:r>
                  </a:p>
                  <a:p>
                    <a:r>
                      <a:rPr sz="800" b="0">
                        <a:solidFill>
                          <a:srgbClr val="FFFFFF"/>
                        </a:solidFill>
                      </a:rPr>
                      <a:t>33%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800" b="1">
                        <a:solidFill>
                          <a:srgbClr val="FFFFFF"/>
                        </a:solidFill>
                      </a:rPr>
                      <a:t>Seagate (EUA)</a:t>
                    </a:r>
                  </a:p>
                  <a:p>
                    <a:r>
                      <a:rPr sz="800" b="0">
                        <a:solidFill>
                          <a:srgbClr val="FFFFFF"/>
                        </a:solidFill>
                      </a:rPr>
                      <a:t>40%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800" b="1">
                        <a:solidFill>
                          <a:srgbClr val="595959"/>
                        </a:solidFill>
                      </a:rPr>
                      <a:t>outros 18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800" b="1">
                        <a:solidFill>
                          <a:srgbClr val="FFFFFF"/>
                        </a:solidFill>
                      </a:rPr>
                      <a:t>Dahua</a:t>
                    </a:r>
                  </a:p>
                  <a:p>
                    <a:r>
                      <a:rPr sz="800" b="0">
                        <a:solidFill>
                          <a:srgbClr val="FFFFFF"/>
                        </a:solidFill>
                      </a:rPr>
                      <a:t>12%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750" b="1">
                        <a:solidFill>
                          <a:srgbClr val="FFFFFF"/>
                        </a:solidFill>
                      </a:rPr>
                      <a:t>LONGi</a:t>
                    </a:r>
                  </a:p>
                  <a:p>
                    <a:r>
                      <a:rPr sz="750" b="0">
                        <a:solidFill>
                          <a:srgbClr val="FFFFFF"/>
                        </a:solidFill>
                      </a:rPr>
                      <a:t>11%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750" b="1">
                        <a:solidFill>
                          <a:srgbClr val="FFFFFF"/>
                        </a:solidFill>
                      </a:rPr>
                      <a:t>EVE</a:t>
                    </a:r>
                  </a:p>
                  <a:p>
                    <a:r>
                      <a:rPr sz="750" b="0">
                        <a:solidFill>
                          <a:srgbClr val="FFFFFF"/>
                        </a:solidFill>
                      </a:rPr>
                      <a:t>10%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Fabricação de chips · 2025
todos os eletrônicos</c:v>
                </c:pt>
                <c:pt idx="1">
                  <c:v>Memória DRAM · 3T25
câmeras, gravadores, roteadores</c:v>
                </c:pt>
                <c:pt idx="2">
                  <c:v>Discos rígidos · 1T25
gravadores de vídeo</c:v>
                </c:pt>
                <c:pt idx="3">
                  <c:v>Chips Wi-Fi · 2024
roteadores (Twibi usa Realtek)</c:v>
                </c:pt>
                <c:pt idx="4">
                  <c:v>Câmeras e gravadores · 2023/22
CFTV (Intelbras compra só da Dahua)</c:v>
                </c:pt>
                <c:pt idx="5">
                  <c:v>Módulos solares · 2024
energia solar</c:v>
                </c:pt>
                <c:pt idx="6">
                  <c:v>Células para armazenamento · 1S26
baterias de lítio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7.2</c:v>
                </c:pt>
                <c:pt idx="1">
                  <c:v>32.6</c:v>
                </c:pt>
                <c:pt idx="2">
                  <c:v>40</c:v>
                </c:pt>
                <c:pt idx="3">
                  <c:v>18</c:v>
                </c:pt>
                <c:pt idx="4">
                  <c:v>12</c:v>
                </c:pt>
                <c:pt idx="5">
                  <c:v>10.7</c:v>
                </c:pt>
                <c:pt idx="6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3ª fatia</c:v>
                </c:pt>
              </c:strCache>
            </c:strRef>
          </c:tx>
          <c:spPr>
            <a:ln w="12700">
              <a:solidFill>
                <a:srgbClr val="FFFFFF"/>
              </a:solidFill>
            </a:ln>
          </c:spPr>
          <c:dPt>
            <c:idx val="0"/>
            <c:spPr>
              <a:solidFill>
                <a:srgbClr val="1A1A1A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595959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595959"/>
              </a:solidFill>
              <a:ln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E3E3E3"/>
              </a:solidFill>
              <a:ln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1A1A1A"/>
              </a:solidFill>
              <a:ln>
                <a:solidFill>
                  <a:srgbClr val="FFFFFF"/>
                </a:solidFill>
              </a:ln>
            </c:spPr>
          </c:dPt>
          <c:dPt>
            <c:idx val="6"/>
            <c:spPr>
              <a:solidFill>
                <a:srgbClr val="1A1A1A"/>
              </a:solidFill>
              <a:ln>
                <a:solidFill>
                  <a:srgbClr val="FFFFFF"/>
                </a:solidFill>
              </a:ln>
            </c:spPr>
          </c:dPt>
          <c:dLbls>
            <c:dLbl>
              <c:idx val="1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800" b="1">
                        <a:solidFill>
                          <a:srgbClr val="FFFFFF"/>
                        </a:solidFill>
                      </a:rPr>
                      <a:t>Micron (EUA)</a:t>
                    </a:r>
                  </a:p>
                  <a:p>
                    <a:r>
                      <a:rPr sz="800" b="0">
                        <a:solidFill>
                          <a:srgbClr val="FFFFFF"/>
                        </a:solidFill>
                      </a:rPr>
                      <a:t>26%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800" b="1">
                        <a:solidFill>
                          <a:srgbClr val="FFFFFF"/>
                        </a:solidFill>
                      </a:rPr>
                      <a:t>Toshiba (JP)</a:t>
                    </a:r>
                  </a:p>
                  <a:p>
                    <a:r>
                      <a:rPr sz="800" b="0">
                        <a:solidFill>
                          <a:srgbClr val="FFFFFF"/>
                        </a:solidFill>
                      </a:rPr>
                      <a:t>18%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800" b="1">
                        <a:solidFill>
                          <a:srgbClr val="595959"/>
                        </a:solidFill>
                      </a:rPr>
                      <a:t>Axis, Motorola, Hanwha, Uniview e outros</a:t>
                    </a:r>
                  </a:p>
                  <a:p>
                    <a:r>
                      <a:rPr sz="800" b="0">
                        <a:solidFill>
                          <a:srgbClr val="595959"/>
                        </a:solidFill>
                      </a:rPr>
                      <a:t>63%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750" b="1">
                        <a:solidFill>
                          <a:srgbClr val="FFFFFF"/>
                        </a:solidFill>
                      </a:rPr>
                      <a:t>JA</a:t>
                    </a:r>
                  </a:p>
                  <a:p>
                    <a:r>
                      <a:rPr sz="750" b="0">
                        <a:solidFill>
                          <a:srgbClr val="FFFFFF"/>
                        </a:solidFill>
                      </a:rPr>
                      <a:t>11%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750" b="1">
                        <a:solidFill>
                          <a:srgbClr val="FFFFFF"/>
                        </a:solidFill>
                      </a:rPr>
                      <a:t>Hithium</a:t>
                    </a:r>
                  </a:p>
                  <a:p>
                    <a:r>
                      <a:rPr sz="750" b="0">
                        <a:solidFill>
                          <a:srgbClr val="FFFFFF"/>
                        </a:solidFill>
                      </a:rPr>
                      <a:t>10%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Fabricação de chips · 2025
todos os eletrônicos</c:v>
                </c:pt>
                <c:pt idx="1">
                  <c:v>Memória DRAM · 3T25
câmeras, gravadores, roteadores</c:v>
                </c:pt>
                <c:pt idx="2">
                  <c:v>Discos rígidos · 1T25
gravadores de vídeo</c:v>
                </c:pt>
                <c:pt idx="3">
                  <c:v>Chips Wi-Fi · 2024
roteadores (Twibi usa Realtek)</c:v>
                </c:pt>
                <c:pt idx="4">
                  <c:v>Câmeras e gravadores · 2023/22
CFTV (Intelbras compra só da Dahua)</c:v>
                </c:pt>
                <c:pt idx="5">
                  <c:v>Módulos solares · 2024
energia solar</c:v>
                </c:pt>
                <c:pt idx="6">
                  <c:v>Células para armazenamento · 1S26
baterias de lítio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5.3</c:v>
                </c:pt>
                <c:pt idx="1">
                  <c:v>25.7</c:v>
                </c:pt>
                <c:pt idx="2">
                  <c:v>18</c:v>
                </c:pt>
                <c:pt idx="4">
                  <c:v>63</c:v>
                </c:pt>
                <c:pt idx="5">
                  <c:v>10.6</c:v>
                </c:pt>
                <c:pt idx="6">
                  <c:v>10.0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4ª fatia</c:v>
                </c:pt>
              </c:strCache>
            </c:strRef>
          </c:tx>
          <c:spPr>
            <a:ln w="12700">
              <a:solidFill>
                <a:srgbClr val="FFFFFF"/>
              </a:solidFill>
            </a:ln>
          </c:spPr>
          <c:dPt>
            <c:idx val="0"/>
            <c:spPr>
              <a:solidFill>
                <a:srgbClr val="E3E3E3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3E3E3"/>
              </a:solidFill>
              <a:ln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1A1A1A"/>
              </a:solidFill>
              <a:ln>
                <a:solidFill>
                  <a:srgbClr val="FFFFFF"/>
                </a:solidFill>
              </a:ln>
            </c:spPr>
          </c:dPt>
          <c:dPt>
            <c:idx val="6"/>
            <c:spPr>
              <a:solidFill>
                <a:srgbClr val="1A1A1A"/>
              </a:solidFill>
              <a:ln>
                <a:solidFill>
                  <a:srgbClr val="FFFFFF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800" b="1">
                        <a:solidFill>
                          <a:srgbClr val="595959"/>
                        </a:solidFill>
                      </a:rPr>
                      <a:t>outros 18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750" b="1">
                        <a:solidFill>
                          <a:srgbClr val="FFFFFF"/>
                        </a:solidFill>
                      </a:rPr>
                      <a:t>Trina</a:t>
                    </a:r>
                  </a:p>
                  <a:p>
                    <a:r>
                      <a:rPr sz="750" b="0">
                        <a:solidFill>
                          <a:srgbClr val="FFFFFF"/>
                        </a:solidFill>
                      </a:rPr>
                      <a:t>11%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750" b="1">
                        <a:solidFill>
                          <a:srgbClr val="FFFFFF"/>
                        </a:solidFill>
                      </a:rPr>
                      <a:t>BYD</a:t>
                    </a:r>
                  </a:p>
                  <a:p>
                    <a:r>
                      <a:rPr sz="750" b="0">
                        <a:solidFill>
                          <a:srgbClr val="FFFFFF"/>
                        </a:solidFill>
                      </a:rPr>
                      <a:t>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Fabricação de chips · 2025
todos os eletrônicos</c:v>
                </c:pt>
                <c:pt idx="1">
                  <c:v>Memória DRAM · 3T25
câmeras, gravadores, roteadores</c:v>
                </c:pt>
                <c:pt idx="2">
                  <c:v>Discos rígidos · 1T25
gravadores de vídeo</c:v>
                </c:pt>
                <c:pt idx="3">
                  <c:v>Chips Wi-Fi · 2024
roteadores (Twibi usa Realtek)</c:v>
                </c:pt>
                <c:pt idx="4">
                  <c:v>Câmeras e gravadores · 2023/22
CFTV (Intelbras compra só da Dahua)</c:v>
                </c:pt>
                <c:pt idx="5">
                  <c:v>Módulos solares · 2024
energia solar</c:v>
                </c:pt>
                <c:pt idx="6">
                  <c:v>Células para armazenamento · 1S26
baterias de lítio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17.6</c:v>
                </c:pt>
                <c:pt idx="1">
                  <c:v>8.5</c:v>
                </c:pt>
                <c:pt idx="5">
                  <c:v>10.6</c:v>
                </c:pt>
                <c:pt idx="6">
                  <c:v>7.7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5ª fatia</c:v>
                </c:pt>
              </c:strCache>
            </c:strRef>
          </c:tx>
          <c:spPr>
            <a:ln w="12700">
              <a:solidFill>
                <a:srgbClr val="FFFFFF"/>
              </a:solidFill>
            </a:ln>
          </c:spPr>
          <c:dPt>
            <c:idx val="5"/>
            <c:spPr>
              <a:solidFill>
                <a:srgbClr val="404040"/>
              </a:solidFill>
              <a:ln>
                <a:solidFill>
                  <a:srgbClr val="FFFFFF"/>
                </a:solidFill>
              </a:ln>
            </c:spPr>
          </c:dPt>
          <c:dPt>
            <c:idx val="6"/>
            <c:spPr>
              <a:solidFill>
                <a:srgbClr val="404040"/>
              </a:solidFill>
              <a:ln>
                <a:solidFill>
                  <a:srgbClr val="FFFFFF"/>
                </a:solidFill>
              </a:ln>
            </c:spPr>
          </c:dPt>
          <c:dLbls>
            <c:dLbl>
              <c:idx val="5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750" b="1">
                        <a:solidFill>
                          <a:srgbClr val="FFFFFF"/>
                        </a:solidFill>
                      </a:rPr>
                      <a:t>outras chinesas</a:t>
                    </a:r>
                  </a:p>
                  <a:p>
                    <a:r>
                      <a:rPr sz="750" b="0">
                        <a:solidFill>
                          <a:srgbClr val="FFFFFF"/>
                        </a:solidFill>
                      </a:rPr>
                      <a:t>40%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750" b="1">
                        <a:solidFill>
                          <a:srgbClr val="FFFFFF"/>
                        </a:solidFill>
                      </a:rPr>
                      <a:t>outras chinesas</a:t>
                    </a:r>
                  </a:p>
                  <a:p>
                    <a:r>
                      <a:rPr sz="750" b="0">
                        <a:solidFill>
                          <a:srgbClr val="FFFFFF"/>
                        </a:solidFill>
                      </a:rPr>
                      <a:t>34%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Fabricação de chips · 2025
todos os eletrônicos</c:v>
                </c:pt>
                <c:pt idx="1">
                  <c:v>Memória DRAM · 3T25
câmeras, gravadores, roteadores</c:v>
                </c:pt>
                <c:pt idx="2">
                  <c:v>Discos rígidos · 1T25
gravadores de vídeo</c:v>
                </c:pt>
                <c:pt idx="3">
                  <c:v>Chips Wi-Fi · 2024
roteadores (Twibi usa Realtek)</c:v>
                </c:pt>
                <c:pt idx="4">
                  <c:v>Câmeras e gravadores · 2023/22
CFTV (Intelbras compra só da Dahua)</c:v>
                </c:pt>
                <c:pt idx="5">
                  <c:v>Módulos solares · 2024
energia solar</c:v>
                </c:pt>
                <c:pt idx="6">
                  <c:v>Células para armazenamento · 1S26
baterias de lítio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5">
                  <c:v>41.7</c:v>
                </c:pt>
                <c:pt idx="6">
                  <c:v>33.6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6ª fatia</c:v>
                </c:pt>
              </c:strCache>
            </c:strRef>
          </c:tx>
          <c:spPr>
            <a:ln w="12700">
              <a:solidFill>
                <a:srgbClr val="FFFFFF"/>
              </a:solidFill>
            </a:ln>
          </c:spPr>
          <c:dPt>
            <c:idx val="5"/>
            <c:spPr>
              <a:solidFill>
                <a:srgbClr val="E3E3E3"/>
              </a:solidFill>
              <a:ln>
                <a:solidFill>
                  <a:srgbClr val="FFFFFF"/>
                </a:solidFill>
              </a:ln>
            </c:spPr>
          </c:dPt>
          <c:dPt>
            <c:idx val="6"/>
            <c:spPr>
              <a:solidFill>
                <a:srgbClr val="595959"/>
              </a:solidFill>
              <a:ln>
                <a:solidFill>
                  <a:srgbClr val="FFFFFF"/>
                </a:solidFill>
              </a:ln>
            </c:spPr>
          </c:dPt>
          <c:dLbls>
            <c:dLbl>
              <c:idx val="5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750" b="1">
                        <a:solidFill>
                          <a:srgbClr val="595959"/>
                        </a:solidFill>
                      </a:rPr>
                      <a:t>resto</a:t>
                    </a:r>
                  </a:p>
                  <a:p>
                    <a:r>
                      <a:rPr sz="750" b="0">
                        <a:solidFill>
                          <a:srgbClr val="595959"/>
                        </a:solidFill>
                      </a:rPr>
                      <a:t>14%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Fabricação de chips · 2025
todos os eletrônicos</c:v>
                </c:pt>
                <c:pt idx="1">
                  <c:v>Memória DRAM · 3T25
câmeras, gravadores, roteadores</c:v>
                </c:pt>
                <c:pt idx="2">
                  <c:v>Discos rígidos · 1T25
gravadores de vídeo</c:v>
                </c:pt>
                <c:pt idx="3">
                  <c:v>Chips Wi-Fi · 2024
roteadores (Twibi usa Realtek)</c:v>
                </c:pt>
                <c:pt idx="4">
                  <c:v>Câmeras e gravadores · 2023/22
CFTV (Intelbras compra só da Dahua)</c:v>
                </c:pt>
                <c:pt idx="5">
                  <c:v>Módulos solares · 2024
energia solar</c:v>
                </c:pt>
                <c:pt idx="6">
                  <c:v>Células para armazenamento · 1S26
baterias de lítio</c:v>
                </c:pt>
              </c:strCache>
            </c:strRef>
          </c:cat>
          <c:val>
            <c:numRef>
              <c:f>Sheet1!$G$2:$G$8</c:f>
              <c:numCache>
                <c:formatCode>General</c:formatCode>
                <c:ptCount val="7"/>
                <c:pt idx="5">
                  <c:v>13.6</c:v>
                </c:pt>
                <c:pt idx="6">
                  <c:v>4.0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7ª fatia</c:v>
                </c:pt>
              </c:strCache>
            </c:strRef>
          </c:tx>
          <c:spPr>
            <a:ln w="12700">
              <a:solidFill>
                <a:srgbClr val="FFFFFF"/>
              </a:solidFill>
            </a:ln>
          </c:spPr>
          <c:dPt>
            <c:idx val="6"/>
            <c:spPr>
              <a:solidFill>
                <a:srgbClr val="E3E3E3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Sheet1!$A$2:$A$8</c:f>
              <c:strCache>
                <c:ptCount val="7"/>
                <c:pt idx="0">
                  <c:v>Fabricação de chips · 2025
todos os eletrônicos</c:v>
                </c:pt>
                <c:pt idx="1">
                  <c:v>Memória DRAM · 3T25
câmeras, gravadores, roteadores</c:v>
                </c:pt>
                <c:pt idx="2">
                  <c:v>Discos rígidos · 1T25
gravadores de vídeo</c:v>
                </c:pt>
                <c:pt idx="3">
                  <c:v>Chips Wi-Fi · 2024
roteadores (Twibi usa Realtek)</c:v>
                </c:pt>
                <c:pt idx="4">
                  <c:v>Câmeras e gravadores · 2023/22
CFTV (Intelbras compra só da Dahua)</c:v>
                </c:pt>
                <c:pt idx="5">
                  <c:v>Módulos solares · 2024
energia solar</c:v>
                </c:pt>
                <c:pt idx="6">
                  <c:v>Células para armazenamento · 1S26
baterias de lítio</c:v>
                </c:pt>
              </c:strCache>
            </c:strRef>
          </c:cat>
          <c:val>
            <c:numRef>
              <c:f>Sheet1!$H$2:$H$8</c:f>
              <c:numCache>
                <c:formatCode>General</c:formatCode>
                <c:ptCount val="7"/>
                <c:pt idx="6">
                  <c:v>7.2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Dahua ÷ CPV de Segurança</c:v>
                </c:pt>
              </c:strCache>
            </c:strRef>
          </c:tx>
          <c:spPr>
            <a:solidFill>
              <a:srgbClr val="1A1A1A"/>
            </a:solidFill>
          </c:spPr>
          <c:invertIfNegative val="0"/>
          <c:dPt>
            <c:idx val="3"/>
            <c:spPr>
              <a:solidFill>
                <a:srgbClr val="8C8C8C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48%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51%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39%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70%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40%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</c:v>
                </c:pt>
                <c:pt idx="1">
                  <c:v>51</c:v>
                </c:pt>
                <c:pt idx="2">
                  <c:v>39</c:v>
                </c:pt>
                <c:pt idx="3">
                  <c:v>70</c:v>
                </c:pt>
                <c:pt idx="4">
                  <c:v>40</c:v>
                </c:pt>
              </c:numCache>
            </c:numRef>
          </c:val>
        </c:ser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Margem bruta</c:v>
                </c:pt>
              </c:strCache>
            </c:strRef>
          </c:tx>
          <c:spPr>
            <a:ln w="28575">
              <a:solidFill>
                <a:srgbClr val="009F41"/>
              </a:solidFill>
            </a:ln>
          </c:spPr>
          <c:marker>
            <c:symbol val="circle"/>
            <c:size val="6"/>
            <c:spPr>
              <a:solidFill>
                <a:srgbClr val="009F41"/>
              </a:solidFill>
              <a:ln>
                <a:solidFill>
                  <a:srgbClr val="009F41"/>
                </a:solidFill>
              </a:ln>
            </c:spPr>
          </c:marker>
          <c:dLbls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9F41"/>
                        </a:solidFill>
                      </a:rPr>
                      <a:t>34,4%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9F41"/>
                        </a:solidFill>
                      </a:rPr>
                      <a:t>26,9%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9F41"/>
                        </a:solidFill>
                      </a:rPr>
                      <a:t>33,9%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9F41"/>
                        </a:solidFill>
                      </a:rPr>
                      <a:t>29,0%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9F41"/>
                        </a:solidFill>
                      </a:rPr>
                      <a:t>33,1%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1T23</c:v>
                </c:pt>
                <c:pt idx="1">
                  <c:v>2T23</c:v>
                </c:pt>
                <c:pt idx="2">
                  <c:v>3T23</c:v>
                </c:pt>
                <c:pt idx="3">
                  <c:v>4T23</c:v>
                </c:pt>
                <c:pt idx="4">
                  <c:v>1T24</c:v>
                </c:pt>
                <c:pt idx="5">
                  <c:v>2T24</c:v>
                </c:pt>
                <c:pt idx="6">
                  <c:v>3T24</c:v>
                </c:pt>
                <c:pt idx="7">
                  <c:v>4T24</c:v>
                </c:pt>
                <c:pt idx="8">
                  <c:v>1T25</c:v>
                </c:pt>
                <c:pt idx="9">
                  <c:v>2T25</c:v>
                </c:pt>
                <c:pt idx="10">
                  <c:v>3T25</c:v>
                </c:pt>
                <c:pt idx="11">
                  <c:v>4T25</c:v>
                </c:pt>
                <c:pt idx="12">
                  <c:v>1T26</c:v>
                </c:pt>
                <c:pt idx="13">
                  <c:v>2T26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31.6</c:v>
                </c:pt>
                <c:pt idx="1">
                  <c:v>34.4</c:v>
                </c:pt>
                <c:pt idx="2">
                  <c:v>32.4</c:v>
                </c:pt>
                <c:pt idx="3">
                  <c:v>26.9</c:v>
                </c:pt>
                <c:pt idx="4">
                  <c:v>33.9</c:v>
                </c:pt>
                <c:pt idx="5">
                  <c:v>31.5</c:v>
                </c:pt>
                <c:pt idx="6">
                  <c:v>29.3</c:v>
                </c:pt>
                <c:pt idx="7">
                  <c:v>29.0</c:v>
                </c:pt>
                <c:pt idx="8">
                  <c:v>29.4</c:v>
                </c:pt>
                <c:pt idx="9">
                  <c:v>29.3</c:v>
                </c:pt>
                <c:pt idx="10">
                  <c:v>30.9</c:v>
                </c:pt>
                <c:pt idx="11">
                  <c:v>30.7</c:v>
                </c:pt>
                <c:pt idx="12">
                  <c:v>30.7</c:v>
                </c:pt>
                <c:pt idx="13">
                  <c:v>33.1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7.0"/>
          <c:min val="24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8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Segurança</c:v>
                </c:pt>
              </c:strCache>
            </c:strRef>
          </c:tx>
          <c:spPr>
            <a:ln w="28575">
              <a:solidFill>
                <a:srgbClr val="009F41"/>
              </a:solidFill>
            </a:ln>
          </c:spPr>
          <c:marker>
            <c:symbol val="circle"/>
            <c:size val="6"/>
            <c:spPr>
              <a:solidFill>
                <a:srgbClr val="009F41"/>
              </a:solidFill>
              <a:ln>
                <a:solidFill>
                  <a:srgbClr val="009F41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9F41"/>
                        </a:solidFill>
                      </a:rPr>
                      <a:t>36,5%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9F41"/>
                        </a:solidFill>
                      </a:rPr>
                      <a:t>37,4%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9F41"/>
                        </a:solidFill>
                      </a:rPr>
                      <a:t>33,2%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2020
R$5,16</c:v>
                </c:pt>
                <c:pt idx="1">
                  <c:v>2021
R$5,40</c:v>
                </c:pt>
                <c:pt idx="2">
                  <c:v>2022
R$5,16</c:v>
                </c:pt>
                <c:pt idx="3">
                  <c:v>2023
R$4,99</c:v>
                </c:pt>
                <c:pt idx="4">
                  <c:v>2024
R$5,39</c:v>
                </c:pt>
                <c:pt idx="5">
                  <c:v>2025
R$5,58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36.5</c:v>
                </c:pt>
                <c:pt idx="1">
                  <c:v>34.1</c:v>
                </c:pt>
                <c:pt idx="2">
                  <c:v>34.5</c:v>
                </c:pt>
                <c:pt idx="3">
                  <c:v>37.4</c:v>
                </c:pt>
                <c:pt idx="4">
                  <c:v>34.8</c:v>
                </c:pt>
                <c:pt idx="5">
                  <c:v>33.2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TIC</c:v>
                </c:pt>
              </c:strCache>
            </c:strRef>
          </c:tx>
          <c:spPr>
            <a:ln w="28575">
              <a:solidFill>
                <a:srgbClr val="1A1A1A"/>
              </a:solidFill>
            </a:ln>
          </c:spPr>
          <c:marker>
            <c:symbol val="circle"/>
            <c:size val="6"/>
            <c:spPr>
              <a:solidFill>
                <a:srgbClr val="1A1A1A"/>
              </a:solidFill>
              <a:ln>
                <a:solidFill>
                  <a:srgbClr val="1A1A1A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29,8%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25,7%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2020
R$5,16</c:v>
                </c:pt>
                <c:pt idx="1">
                  <c:v>2021
R$5,40</c:v>
                </c:pt>
                <c:pt idx="2">
                  <c:v>2022
R$5,16</c:v>
                </c:pt>
                <c:pt idx="3">
                  <c:v>2023
R$4,99</c:v>
                </c:pt>
                <c:pt idx="4">
                  <c:v>2024
R$5,39</c:v>
                </c:pt>
                <c:pt idx="5">
                  <c:v>2025
R$5,58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29.8</c:v>
                </c:pt>
                <c:pt idx="1">
                  <c:v>26.1</c:v>
                </c:pt>
                <c:pt idx="2">
                  <c:v>28.8</c:v>
                </c:pt>
                <c:pt idx="3">
                  <c:v>30.3</c:v>
                </c:pt>
                <c:pt idx="4">
                  <c:v>27.2</c:v>
                </c:pt>
                <c:pt idx="5">
                  <c:v>25.7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Energia</c:v>
                </c:pt>
              </c:strCache>
            </c:strRef>
          </c:tx>
          <c:spPr>
            <a:ln w="28575">
              <a:solidFill>
                <a:srgbClr val="8C8C8C"/>
              </a:solidFill>
            </a:ln>
          </c:spPr>
          <c:marker>
            <c:symbol val="circle"/>
            <c:size val="6"/>
            <c:spPr>
              <a:solidFill>
                <a:srgbClr val="8C8C8C"/>
              </a:solidFill>
              <a:ln>
                <a:solidFill>
                  <a:srgbClr val="8C8C8C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8C8C8C"/>
                        </a:solidFill>
                      </a:rPr>
                      <a:t>24,3%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8C8C8C"/>
                        </a:solidFill>
                      </a:rPr>
                      <a:t>17,5%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2020
R$5,16</c:v>
                </c:pt>
                <c:pt idx="1">
                  <c:v>2021
R$5,40</c:v>
                </c:pt>
                <c:pt idx="2">
                  <c:v>2022
R$5,16</c:v>
                </c:pt>
                <c:pt idx="3">
                  <c:v>2023
R$4,99</c:v>
                </c:pt>
                <c:pt idx="4">
                  <c:v>2024
R$5,39</c:v>
                </c:pt>
                <c:pt idx="5">
                  <c:v>2025
R$5,58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24.3</c:v>
                </c:pt>
                <c:pt idx="1">
                  <c:v>21.5</c:v>
                </c:pt>
                <c:pt idx="2">
                  <c:v>19.6</c:v>
                </c:pt>
                <c:pt idx="3">
                  <c:v>17.5</c:v>
                </c:pt>
                <c:pt idx="4">
                  <c:v>24.7</c:v>
                </c:pt>
                <c:pt idx="5">
                  <c:v>24.6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2.0"/>
          <c:min val="12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8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Incentivos ÷ receita</c:v>
                </c:pt>
              </c:strCache>
            </c:strRef>
          </c:tx>
          <c:spPr>
            <a:ln w="28575">
              <a:solidFill>
                <a:srgbClr val="8C8C8C"/>
              </a:solidFill>
            </a:ln>
          </c:spPr>
          <c:marker>
            <c:symbol val="circle"/>
            <c:size val="6"/>
            <c:spPr>
              <a:solidFill>
                <a:srgbClr val="8C8C8C"/>
              </a:solidFill>
              <a:ln>
                <a:solidFill>
                  <a:srgbClr val="8C8C8C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8C8C8C"/>
                        </a:solidFill>
                      </a:rPr>
                      <a:t>10,0%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8C8C8C"/>
                        </a:solidFill>
                      </a:rPr>
                      <a:t>9,0%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8C8C8C"/>
                        </a:solidFill>
                      </a:rPr>
                      <a:t>10,6%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8C8C8C"/>
                        </a:solidFill>
                      </a:rPr>
                      <a:t>10,8%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8C8C8C"/>
                        </a:solidFill>
                      </a:rPr>
                      <a:t>10,3%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10.0</c:v>
                </c:pt>
                <c:pt idx="1">
                  <c:v>9.0</c:v>
                </c:pt>
                <c:pt idx="2">
                  <c:v>10.6</c:v>
                </c:pt>
                <c:pt idx="3">
                  <c:v>10.8</c:v>
                </c:pt>
                <c:pt idx="4">
                  <c:v>10.3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Margem EBIT sem incentivos</c:v>
                </c:pt>
              </c:strCache>
            </c:strRef>
          </c:tx>
          <c:spPr>
            <a:ln w="28575">
              <a:solidFill>
                <a:srgbClr val="009F41"/>
              </a:solidFill>
            </a:ln>
          </c:spPr>
          <c:marker>
            <c:symbol val="circle"/>
            <c:size val="6"/>
            <c:spPr>
              <a:solidFill>
                <a:srgbClr val="009F41"/>
              </a:solidFill>
              <a:ln>
                <a:solidFill>
                  <a:srgbClr val="009F41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1,8%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1,9%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2,1%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0,6%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−0,8%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1.8</c:v>
                </c:pt>
                <c:pt idx="1">
                  <c:v>1.9</c:v>
                </c:pt>
                <c:pt idx="2">
                  <c:v>2.1</c:v>
                </c:pt>
                <c:pt idx="3">
                  <c:v>0.6</c:v>
                </c:pt>
                <c:pt idx="4">
                  <c:v>-0.8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4.0"/>
          <c:min val="-4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MVI por 100 mil</c:v>
                </c:pt>
              </c:strCache>
            </c:strRef>
          </c:tx>
          <c:spPr>
            <a:solidFill>
              <a:srgbClr val="8C8C8C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27,7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19,1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2012</c:v>
                </c:pt>
                <c:pt idx="1">
                  <c:v>2025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27.7</c:v>
                </c:pt>
                <c:pt idx="1">
                  <c:v>19.1</c:v>
                </c:pt>
              </c:numCache>
            </c:numRef>
          </c:val>
        </c:ser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Maior problema</c:v>
                </c:pt>
              </c:strCache>
            </c:strRef>
          </c:tx>
          <c:spPr>
            <a:solidFill>
              <a:srgbClr val="009F41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17%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38%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30%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out/24</c:v>
                </c:pt>
                <c:pt idx="1">
                  <c:v>nov/25</c:v>
                </c:pt>
                <c:pt idx="2">
                  <c:v>jun/26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</c:v>
                </c:pt>
                <c:pt idx="1">
                  <c:v>38</c:v>
                </c:pt>
                <c:pt idx="2">
                  <c:v>30</c:v>
                </c:pt>
              </c:numCache>
            </c:numRef>
          </c:val>
        </c:ser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BFBFBF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+4,9%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−8,0%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−31,0%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Segurança</c:v>
                </c:pt>
                <c:pt idx="1">
                  <c:v>TIC</c:v>
                </c:pt>
                <c:pt idx="2">
                  <c:v>Energia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4.9</c:v>
                </c:pt>
                <c:pt idx="1">
                  <c:v>-8.0</c:v>
                </c:pt>
                <c:pt idx="2">
                  <c:v>-31.0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1S26</c:v>
                </c:pt>
              </c:strCache>
            </c:strRef>
          </c:tx>
          <c:spPr>
            <a:solidFill>
              <a:srgbClr val="009F41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+5,8%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+13,7%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−12,4%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Segurança</c:v>
                </c:pt>
                <c:pt idx="1">
                  <c:v>TIC</c:v>
                </c:pt>
                <c:pt idx="2">
                  <c:v>Energia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5.8</c:v>
                </c:pt>
                <c:pt idx="1">
                  <c:v>13.7</c:v>
                </c:pt>
                <c:pt idx="2">
                  <c:v>-12.4</c:v>
                </c:pt>
              </c:numCache>
            </c:numRef>
          </c:val>
        </c:ser>
        <c:gapWidth val="7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.0"/>
          <c:min val="-4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TIC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dPt>
            <c:idx val="6"/>
            <c:spPr>
              <a:solidFill>
                <a:srgbClr val="1A1A1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576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771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918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843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908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1.062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977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576</c:v>
                </c:pt>
                <c:pt idx="1">
                  <c:v>771</c:v>
                </c:pt>
                <c:pt idx="2">
                  <c:v>918</c:v>
                </c:pt>
                <c:pt idx="3">
                  <c:v>843</c:v>
                </c:pt>
                <c:pt idx="4">
                  <c:v>908</c:v>
                </c:pt>
                <c:pt idx="5">
                  <c:v>1062</c:v>
                </c:pt>
                <c:pt idx="6">
                  <c:v>977</c:v>
                </c:pt>
              </c:numCache>
            </c:numRef>
          </c:val>
        </c:ser>
        <c:gapWidth val="4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5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Margem bruta de TIC</c:v>
                </c:pt>
              </c:strCache>
            </c:strRef>
          </c:tx>
          <c:spPr>
            <a:ln w="28575">
              <a:solidFill>
                <a:srgbClr val="1A1A1A"/>
              </a:solidFill>
            </a:ln>
          </c:spPr>
          <c:marker>
            <c:symbol val="circle"/>
            <c:size val="6"/>
            <c:spPr>
              <a:solidFill>
                <a:srgbClr val="1A1A1A"/>
              </a:solidFill>
              <a:ln>
                <a:solidFill>
                  <a:srgbClr val="1A1A1A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29,8%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26,1%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28,8%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30,3%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27,2%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25,7%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29.8</c:v>
                </c:pt>
                <c:pt idx="1">
                  <c:v>26.1</c:v>
                </c:pt>
                <c:pt idx="2">
                  <c:v>28.8</c:v>
                </c:pt>
                <c:pt idx="3">
                  <c:v>30.3</c:v>
                </c:pt>
                <c:pt idx="4">
                  <c:v>27.2</c:v>
                </c:pt>
                <c:pt idx="5">
                  <c:v>25.7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4.0"/>
          <c:min val="2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Energia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dPt>
            <c:idx val="3"/>
            <c:spPr>
              <a:solidFill>
                <a:srgbClr val="1A1A1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115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215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549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1.408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971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1.091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753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115</c:v>
                </c:pt>
                <c:pt idx="1">
                  <c:v>215</c:v>
                </c:pt>
                <c:pt idx="2">
                  <c:v>549</c:v>
                </c:pt>
                <c:pt idx="3">
                  <c:v>1408</c:v>
                </c:pt>
                <c:pt idx="4">
                  <c:v>971</c:v>
                </c:pt>
                <c:pt idx="5">
                  <c:v>1091</c:v>
                </c:pt>
                <c:pt idx="6">
                  <c:v>753</c:v>
                </c:pt>
              </c:numCache>
            </c:numRef>
          </c:val>
        </c:ser>
        <c:gapWidth val="4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GW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15,0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10,6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2024</c:v>
                </c:pt>
                <c:pt idx="1">
                  <c:v>2025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15.0</c:v>
                </c:pt>
                <c:pt idx="1">
                  <c:v>10.6</c:v>
                </c:pt>
              </c:numCache>
            </c:numRef>
          </c:val>
        </c:ser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Fio B</c:v>
                </c:pt>
              </c:strCache>
            </c:strRef>
          </c:tx>
          <c:spPr>
            <a:solidFill>
              <a:srgbClr val="1A1A1A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45%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60%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75%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90%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60</c:v>
                </c:pt>
                <c:pt idx="2">
                  <c:v>75</c:v>
                </c:pt>
                <c:pt idx="3">
                  <c:v>90</c:v>
                </c:pt>
              </c:numCache>
            </c:numRef>
          </c:val>
        </c:ser>
        <c:gapWidth val="5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009F41"/>
              </a:solidFill>
            </c:spPr>
          </c:dPt>
          <c:dPt>
            <c:idx val="1"/>
            <c:spPr>
              <a:solidFill>
                <a:srgbClr val="BFBFBF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009F41"/>
                        </a:solidFill>
                      </a:rPr>
                      <a:t>19%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595959"/>
                        </a:solidFill>
                      </a:rPr>
                      <a:t>1,9%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Energia sem solar · líder: SMS (Legrand)</c:v>
                </c:pt>
                <c:pt idx="1">
                  <c:v>Solar · kits, mercado pulverizado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</c:v>
                </c:pt>
                <c:pt idx="1">
                  <c:v>1.9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 w="9525">
            <a:noFill/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Margem bruta de Energia</c:v>
                </c:pt>
              </c:strCache>
            </c:strRef>
          </c:tx>
          <c:spPr>
            <a:ln w="28575">
              <a:solidFill>
                <a:srgbClr val="009F41"/>
              </a:solidFill>
            </a:ln>
          </c:spPr>
          <c:marker>
            <c:symbol val="circle"/>
            <c:size val="6"/>
            <c:spPr>
              <a:solidFill>
                <a:srgbClr val="009F41"/>
              </a:solidFill>
              <a:ln>
                <a:solidFill>
                  <a:srgbClr val="009F41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24,3%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21,5%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19,6%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17,5%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24,7%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24,6%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24.3</c:v>
                </c:pt>
                <c:pt idx="1">
                  <c:v>21.5</c:v>
                </c:pt>
                <c:pt idx="2">
                  <c:v>19.6</c:v>
                </c:pt>
                <c:pt idx="3">
                  <c:v>17.5</c:v>
                </c:pt>
                <c:pt idx="4">
                  <c:v>24.7</c:v>
                </c:pt>
                <c:pt idx="5">
                  <c:v>24.6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12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128835-0813-47C1-8179-7B192D0834C9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638EA8-CAB9-4394-A5EA-6EE33784BC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000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(≈1 min) — 1. Três setores, um só criador de valor</a:t>
            </a:r>
          </a:p>
          <a:p/>
          <a:p>
            <a:r>
              <a:t>ABERTURA: "A primeira coisa a entender sobre a Intelbras é que ela não está em um setor, e sim em três. E só um deles cria valor."</a:t>
            </a:r>
          </a:p>
          <a:p>
            <a:r>
              <a:t>I. "Segurança é 61% da receita e cresceu 18% ao ano desde 2019. É o núcleo."</a:t>
            </a:r>
          </a:p>
          <a:p>
            <a:r>
              <a:t>II. "Só Segurança rende acima da Selic: ~28% de retorno sobre o capital. Mas tire o incentivo de ICMS de Manaus e cai para ~15%, perto da Selic. TIC e Energia rendem 6% a 8%, abaixo do custo de capital."</a:t>
            </a:r>
          </a:p>
          <a:p>
            <a:r>
              <a:t>III. "Segurança gera dois terços do lucro bruto usando menos da metade do capital."</a:t>
            </a:r>
          </a:p>
          <a:p>
            <a:r>
              <a:t>IV. "E cada segmento é um setor diferente: rival diferente, comprador diferente. Em Segurança quem decide é o instalador; em TIC, o engenheiro e o provedor."</a:t>
            </a:r>
          </a:p>
          <a:p>
            <a:r>
              <a:t>PONTE: "Por que Segurança vence? Vamos olhar a competição."</a:t>
            </a:r>
          </a:p>
          <a:p/>
          <a:p>
            <a:r>
              <a:t>DETALHES (se perguntarem)</a:t>
            </a:r>
          </a:p>
          <a:p>
            <a:r>
              <a:t>• ROIC por segmento é estimativa: lucro bruto do segmento menos SG&amp;A rateado pela receita (19,3%), dividido pelo capital operacional do segmento (recebíveis + estoques + imobilizado + intangível − fornecedores). O crédito da Lei de TICs (R$123 mi) não foi alocado.</a:t>
            </a:r>
          </a:p>
          <a:p>
            <a:r>
              <a:t>• Erro comum: somar os três mercados num "TAM de R$17 bi". Eles têm compradores, rivais e retornos diferentes.</a:t>
            </a:r>
          </a:p>
          <a:p>
            <a:r>
              <a:t>• Crescer em TIC e Energia no nível atual de margem destrói valor (retorno &lt; Selic).</a:t>
            </a:r>
          </a:p>
          <a:p/>
          <a:p>
            <a:r>
              <a:t>FONTES E CONTAS</a:t>
            </a:r>
          </a:p>
          <a:p>
            <a:r>
              <a:t>• Receita (R$ mi, 2019–25): Segurança 1.007/1.148/1.620/1.982/2.225/2.703/2.730; TIC 576/771/918/843/908/1.062/977; Energia 115/215/549/1.408/971/1.091/753 (Planilha; DFP NE 31).</a:t>
            </a:r>
          </a:p>
          <a:p>
            <a:r>
              <a:t>• ROIC Segurança = (906,7 − 19,3% × 2.730,3) ÷ 1.357,1 = 28,0%. Sem ICMS-AM: (379,5 − 180,0) ÷ 1.357,1 = 14,7%. TIC = (250,7 − 188,7) ÷ 821,2 = 7,5%. Energia = (185,1 − 145,4) ÷ 669,6 = 5,9%.</a:t>
            </a:r>
          </a:p>
          <a:p>
            <a:r>
              <a:t>• Lucro bruto 2025: 906,7 / 250,7 / 185,1 → 67,5% / 18,7% / 13,8%. Capital: 1.357 / 821 / 670 → 47,6% / 28,8% / 23,5%.</a:t>
            </a:r>
          </a:p>
          <a:p>
            <a:r>
              <a:t>• Share MIDI 2025: FRE 1.4. Rivais: FRE 1.4 p.26; SMS (Legrand) como líder de UPS: DCD.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(≈1 min) — 2. Competição: escala global, vantagem local</a:t>
            </a:r>
          </a:p>
          <a:p/>
          <a:p>
            <a:r>
              <a:t>ABERTURA: "Na competição, a Intelbras é pequena."</a:t>
            </a:r>
          </a:p>
          <a:p>
            <a:r>
              <a:t>I. "A Hikvision fatura 16 vezes mais; a Dahua, 5 vezes. Só a Hikvision tem um quarto do mercado mundial de vídeo."</a:t>
            </a:r>
          </a:p>
          <a:p>
            <a:r>
              <a:t>II. "Mesmo assim, a Intelbras tem 44% do mercado de Segurança no Brasil. Em TIC, só 9%; em solar, quase nada."</a:t>
            </a:r>
          </a:p>
          <a:p>
            <a:r>
              <a:t>III. "E esse share está estável. A série antiga mede só CFTV; a nova, o segmento inteiro. Não dá para dizer que ela ganhou share. Em 2025, a receita cresceu 4,9% e o mercado ~2,5%: cresceu com o mercado."</a:t>
            </a:r>
          </a:p>
          <a:p>
            <a:r>
              <a:t>IV. "Testamos cada vantagem. Só passam as locais: canal, treinamento, regime fiscal de Manaus e estoque à pronta-entrega. Escala industrial e P&amp;D são fracos, e a Dahua é mais risco que vantagem."</a:t>
            </a:r>
          </a:p>
          <a:p>
            <a:r>
              <a:t>PONTE: "A vantagem que sobra é o canal. Vamos ver como ele funciona."</a:t>
            </a:r>
          </a:p>
          <a:p/>
          <a:p>
            <a:r>
              <a:t>DETALHES</a:t>
            </a:r>
          </a:p>
          <a:p>
            <a:r>
              <a:t>• MIDI: ferramenta paga sobre dados de importação (Comex Stat), em R$, só da controladora. Não é auditada e pode atribuir mal a montagem local de rivais (Hikvision é montada pela Multilaser em Manaus desde 2022).</a:t>
            </a:r>
          </a:p>
          <a:p>
            <a:r>
              <a:t>• Séries de share: 43% CFTV (2020, BTG21), 54% CFTV (c.2022, Genial), 43% e 44% do segmento (2024 e 2025, FRE). Mudou a definição, não necessariamente a posição.</a:t>
            </a:r>
          </a:p>
          <a:p>
            <a:r>
              <a:t>• Mercado implícito: 1,049 × 43/44 − 1 ≈ +2,5%.</a:t>
            </a:r>
          </a:p>
          <a:p>
            <a:r>
              <a:t>• P&amp;D: Intelbras R$179 mi (FRE 2.10) contra RMB 4,34 bi da Dahua (≈R$3,4 bi), com 11.594 pessoas em P&amp;D (Relatório Anual Dahua 2025).</a:t>
            </a:r>
          </a:p>
          <a:p/>
          <a:p>
            <a:r>
              <a:t>FONTES E CONTAS</a:t>
            </a:r>
          </a:p>
          <a:p>
            <a:r>
              <a:t>• Hikvision: RMB 92,5 bi = US$12,95 bi (2025). Dahua: RMB 32,7 bi ≈ US$4,5 bi. Intelbras: R$4.460 mi ÷ 5,58 ≈ US$0,80 bi.</a:t>
            </a:r>
          </a:p>
          <a:p>
            <a:r>
              <a:t>• Omdia: Hikvision 25% do mercado mundial de vídeo inteligente em 2023 (US$25,6 bi), via Sina Finance.</a:t>
            </a:r>
          </a:p>
          <a:p>
            <a:r>
              <a:t>• Testes de vantagem: análise setorial, seção 3.4.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(≈1 min) — 3. Canal</a:t>
            </a:r>
          </a:p>
          <a:p/>
          <a:p>
            <a:r>
              <a:t>ABERTURA: "O moat da Intelbras está na distribuição, não no produto."</a:t>
            </a:r>
          </a:p>
          <a:p>
            <a:r>
              <a:t>I. "68% das vendas passam por ~500 distribuidores, que atendem mais de 90 mil instaladores. O distribuidor agrega; quem escolhe a marca é o instalador. Cada instalador compra uns R$34 mil por ano."</a:t>
            </a:r>
          </a:p>
          <a:p>
            <a:r>
              <a:t>II. "Essa fidelidade é comprada. A Intelbras dá proteção de preço, troca estoque parado, gera leads e dá desconto; em troca, o distribuidor é exclusivo, reporta vendas e cumpre metas. 95% aderem, por opção."</a:t>
            </a:r>
          </a:p>
          <a:p>
            <a:r>
              <a:t>III. "O problema: isso não dilui custo. O SG&amp;A voltou a 19% da receita, e o ciclo de caixa dobrou, de 68 para 145 dias."</a:t>
            </a:r>
          </a:p>
          <a:p>
            <a:r>
              <a:t>IV. "O ciclo curto funciona: treinamento, especificação, disponibilidade, volume. O ciclo longo, de escala virar custo menor, não aparece: o retorno caiu de 31% para 15%."</a:t>
            </a:r>
          </a:p>
          <a:p>
            <a:r>
              <a:t>PONTE: "O canal protege o lado da venda. Do lado da compra, a história é outra: fornecedores."</a:t>
            </a:r>
          </a:p>
          <a:p/>
          <a:p>
            <a:r>
              <a:t>DETALHES</a:t>
            </a:r>
          </a:p>
          <a:p>
            <a:r>
              <a:t>• O instalador escolhe pelo custo total do serviço: achar o produto, saber instalar, ter suporte, não voltar ao cliente.</a:t>
            </a:r>
          </a:p>
          <a:p>
            <a:r>
              <a:t>• Funciona em Segurança residencial e PMEs; funciona menos em projetos, GPON e varejo.</a:t>
            </a:r>
          </a:p>
          <a:p>
            <a:r>
              <a:t>• Receita por instalador: 2020 ≈ R$20,5 mil (80 mil, 77%); 2025 ≈ R$33,7 mil (90 mil, 68%). A rede amadureceu.</a:t>
            </a:r>
          </a:p>
          <a:p>
            <a:r>
              <a:t>• Ciclo de caixa = dias de estoque + dias de recebimento − dias de pagamento (fornecedores + risco sacado).</a:t>
            </a:r>
          </a:p>
          <a:p/>
          <a:p>
            <a:r>
              <a:t>FONTES E CONTAS</a:t>
            </a:r>
          </a:p>
          <a:p>
            <a:r>
              <a:t>• FRE 1.2 (PCI, Mais Verde 95%, desconto 2–9%), 1.4.b (68% distribuição, 16% varejo, 16% integradores; ~500 pontos; 90 mil instaladores), 1.1 (370 mil qualificações).</a:t>
            </a:r>
          </a:p>
          <a:p>
            <a:r>
              <a:t>• SG&amp;A ÷ receita 2019–25: 20,3/18,9/17,7/17,4/19,5/19,0/19,3%. Ciclo de caixa: 68/69/147/112/124/157/145 dias (Planilha; DFPs).</a:t>
            </a:r>
          </a:p>
          <a:p>
            <a:r>
              <a:t>• ROIC pré-IR 31,2% (2019) → 15,1% (2025) (Planilha).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(≈1 min 15s) — 4. Fornecedores</a:t>
            </a:r>
          </a:p>
          <a:p/>
          <a:p>
            <a:r>
              <a:t>ABERTURA: "Do lado de quem vende para a Intelbras, o poder está com o fornecedor."</a:t>
            </a:r>
          </a:p>
          <a:p>
            <a:r>
              <a:t>I. (percorra as barras) "Em cada insumo há poucos fabricantes no mundo. Os chips vêm de Taiwan, Coreia e EUA: a TSMC fabrica 70% de tudo, e três empresas fazem 92% da memória. Os produtos prontos e a energia vêm da China, as barras pretas: Hikvision e Dahua em câmeras, 86% dos módulos solares, quase 90% das baterias."</a:t>
            </a:r>
          </a:p>
          <a:p>
            <a:r>
              <a:t>II. "O fornecedor mais importante é a Dahua: cerca de metade do custo de Segurança e 36% de todos os gastos com fornecedores."</a:t>
            </a:r>
          </a:p>
          <a:p>
            <a:r>
              <a:t>III. "E exclusividades com parceiros chineses terminam. A FiberHome encerrou a dela em janeiro. A Dahua já tem venda das ações autorizada desde 2023, montou canal próprio em 2024 e o acordo vence em dezembro de 2028."</a:t>
            </a:r>
          </a:p>
          <a:p>
            <a:r>
              <a:t>PONTE: "Fornecedor forte e custo em dólar levam a uma consequência no preço."</a:t>
            </a:r>
          </a:p>
          <a:p/>
          <a:p>
            <a:r>
              <a:t>DETALHES</a:t>
            </a:r>
          </a:p>
          <a:p>
            <a:r>
              <a:t>• A Intelbras não compra da TSMC diretamente: compra de quem não tem fábrica (Realtek, Qualcomm) e produto pronto (Dahua). Todos dependem das mesmas fundições e memórias. Concentração em cascata.</a:t>
            </a:r>
          </a:p>
          <a:p>
            <a:r>
              <a:t>• Crise de memória de 2026: preços de DRAM +80% a +170% (relatos), capacidade direcionada para IA. Comprador pequeno fica no fim da fila.</a:t>
            </a:r>
          </a:p>
          <a:p>
            <a:r>
              <a:t>• Dahua: nada foi vendido. A Dahua ainda registra a Intelbras como coligada em 30/06/2026; o RI mostra 7,56% em 30/12/2025. A autorização de 2023 (24 meses) venceu sem uso e foi renovada em 2025 por 36 meses.</a:t>
            </a:r>
          </a:p>
          <a:p>
            <a:r>
              <a:t>• Acordo de acionistas: a Dahua não pode concorrer enquanto sócia e por 3 anos depois de sair (cl. 12.1), exceto em projetos; se sair, segue fornecendo por 3 anos (cl. 11.9).</a:t>
            </a:r>
          </a:p>
          <a:p>
            <a:r>
              <a:t>• % do CPV de Segurança em 2024 (70%) foi inflado por compra antecipada de estoque.</a:t>
            </a:r>
          </a:p>
          <a:p/>
          <a:p>
            <a:r>
              <a:t>FONTES E CONTAS</a:t>
            </a:r>
          </a:p>
          <a:p>
            <a:r>
              <a:t>• Concentração: TrendForce (fundição 2025; DRAM 3T25); TrendFocus (HD 1T25); Counterpoint (Wi-Fi 2024); Omdia (Hikvision 2023, Dahua 2022); InfoLink e IEA-PVPS (módulos 2024); SNE Research (armazenamento 1S26).</a:t>
            </a:r>
          </a:p>
          <a:p>
            <a:r>
              <a:t>• Dahua ÷ CPV de Segurança = compras da Dahua (DFP NE 32: 515/664/545/1.187/729) ÷ CPV do segmento (DFP NE 31) = 48/51/39/70/40%.</a:t>
            </a:r>
          </a:p>
          <a:p>
            <a:r>
              <a:t>• FiberHome: comunicados Intelbras de 24/10/2023 e 12/01/2026. Dahua: anúncios 2023-073 e 2025-075; distribuidores WDC (Teletime, jun/24), Agora (TI Inside, out/24), Dimensional (IT Forum).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(≈1 min) — 5. Preços</a:t>
            </a:r>
          </a:p>
          <a:p/>
          <a:p>
            <a:r>
              <a:t>ABERTURA: "A Intelbras não define o preço; ela decide quando repassar."</a:t>
            </a:r>
          </a:p>
          <a:p>
            <a:r>
              <a:t>I. "A margem bruta oscila até 5 pontos. Em 2024, o dólar subiu 28%, o repasse foi incompleto e a margem caiu quase 5 pontos. No 2T26, a memória ficou cara, ela reajustou a preço de reposição e a margem subiu 2,4 pontos. A própria empresa diz que isso é transitório."</a:t>
            </a:r>
          </a:p>
          <a:p>
            <a:r>
              <a:t>II. "O mecanismo: o produto é comprado em dólar, chega com frete e tributos e fica uns 170 dias em estoque, a custo médio. O preço é reajustado a custo de reposição. A diferença entre os dois é a margem que sobe ou desce."</a:t>
            </a:r>
          </a:p>
          <a:p>
            <a:r>
              <a:t>III. "Na prática: 10% a mais no dólar são R$249 milhões a mais de custo por ano. Para manter a margem, o preço precisa subir 8%. Cada ponto de margem vale R$45 milhões de EBITDA. O hedge só protege o resultado financeiro."</a:t>
            </a:r>
          </a:p>
          <a:p>
            <a:r>
              <a:t>IV. "Por segmento, Segurança oscila entre 33% e 37% desde 2020, sem tendência de alta. Liderança não virou poder de preço."</a:t>
            </a:r>
          </a:p>
          <a:p>
            <a:r>
              <a:t>PONTE: "Se o preço é de mercado, o que sustenta o retorno? Os incentivos fiscais."</a:t>
            </a:r>
          </a:p>
          <a:p/>
          <a:p>
            <a:r>
              <a:t>DETALHES</a:t>
            </a:r>
          </a:p>
          <a:p>
            <a:r>
              <a:t>• Fórmula: Δmargem ≈ −(% do CPV em US$) × Δcâmbio × (CPV ÷ receita) × (1 − repasse) = −0,80 × 10% × 69,9% × (1 − repasse) = −5,6 p.p. × (1 − repasse).</a:t>
            </a:r>
          </a:p>
          <a:p>
            <a:r>
              <a:t>• Erro comum: "dólar caindo = margem subindo". No 1S26 o dólar caiu e a margem subiu por outro motivo (componentes). A margem tende a voltar quando o estoque novo, mais caro, chegar ao CPV.</a:t>
            </a:r>
          </a:p>
          <a:p>
            <a:r>
              <a:t>• Margem normalizada sugerida: ~30–31% [inferência].</a:t>
            </a:r>
          </a:p>
          <a:p>
            <a:r>
              <a:t>• Hedge: NDF de ~50% dos fornecedores em US$, prazo de ~90 dias: ±10% no dólar = ∓R$26 mi no resultado financeiro.</a:t>
            </a:r>
          </a:p>
          <a:p/>
          <a:p>
            <a:r>
              <a:t>FONTES E CONTAS</a:t>
            </a:r>
          </a:p>
          <a:p>
            <a:r>
              <a:t>• Margem trimestral: Planilha interativa 2T26 (4T23 reportado 26,9%; ajustado 29,5%).</a:t>
            </a:r>
          </a:p>
          <a:p>
            <a:r>
              <a:t>• Dólar médio: BCB (2020 5,16; 2021 5,40; 2022 5,16; 2023 4,99; 2024 5,39; 2025 5,58).</a:t>
            </a:r>
          </a:p>
          <a:p>
            <a:r>
              <a:t>• Estoque: DFP NE 8 (R$1.474 mi; em trânsito R$318 mi). FRE 2.2: "o mercado define os preços"; ~80% do CPV em moeda estrangeira.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(≈1 min 15s) — 6. Incentivos fiscais</a:t>
            </a:r>
          </a:p>
          <a:p/>
          <a:p>
            <a:r>
              <a:t>ABERTURA: "Os incentivos são a maior variável do lucro, mas não pelo motivo que parece."</a:t>
            </a:r>
          </a:p>
          <a:p>
            <a:r>
              <a:t>I. (percorra a cascata) "Sem incentivos, o EBIT de 2025 seria negativo: −R$35 milhões. O ICMS de Manaus soma 180, o ICMS dos outros estados 156 e a Lei de TICs 123. Os incentivos são 95% do lucro líquido."</a:t>
            </a:r>
          </a:p>
          <a:p>
            <a:r>
              <a:t>II. "Mas cada um tem uma data. A Lei de TICs vence em 2029; o ICMS fora de Manaus, em 2032, com uma transição compensada por um fundo. O de Manaus é o mais valioso e o mais durável: a reforma preserva o regime da Zona Franca até 2073."</a:t>
            </a:r>
          </a:p>
          <a:p>
            <a:r>
              <a:t>III. "E perda contábil não é perda econômica. Se os incentivos fora de Manaus acabarem e nada for repassado ao preço, o lucro cai 58%. Mas os rivais também perdem o ICMS, então o repasse tende a ser alto. No caso central, o lucro cai ~21%."</a:t>
            </a:r>
          </a:p>
          <a:p>
            <a:r>
              <a:t>IV. "A prova de que o incentivo é paridade: ele ficou em ~10% da receita todos os anos, enquanto a margem sem incentivos caiu de 2% para −0,8%. A competição transforma o incentivo em preço. Com tudo isso, o retorno de 2025 foi 15%, igual à Selic."</a:t>
            </a:r>
          </a:p>
          <a:p>
            <a:r>
              <a:t>PONTE: "Além dos incentivos, outras regras protegem ou expõem a Intelbras: as de importação."</a:t>
            </a:r>
          </a:p>
          <a:p/>
          <a:p>
            <a:r>
              <a:t>DETALHES</a:t>
            </a:r>
          </a:p>
          <a:p>
            <a:r>
              <a:t>• Onde entra: ICMS reduz as deduções de venda (sobe receita líquida e lucro bruto); Lei de TICs entra em outras receitas. A margem bruta de 30,1% seria 24,4% sem o ICMS incentivado.</a:t>
            </a:r>
          </a:p>
          <a:p>
            <a:r>
              <a:t>• ICMS-AM: as DFPs de 2024–25 dão vencimento em 2032 (fim do ICMS); depois, o benefício de Manaus depende do novo regime (IPI só para a ZFM + créditos presumidos de IBS/CBS). O valor pós-2032 não está garantido.</a:t>
            </a:r>
          </a:p>
          <a:p>
            <a:r>
              <a:t>• Caso central: ICMS (rivais também perdem) repasse ~75% → perda 39; Lei de TICs (só fabricantes têm) repasse ~25%, líquido de R$39,5 mi de P&amp;D vinculado → perda 63. Total ~102 → lucro −21%.</a:t>
            </a:r>
          </a:p>
          <a:p>
            <a:r>
              <a:t>• Risco à parte: se a exclusão das subvenções da base do IR for contestada (Lei 14.789/2023), 34% × 459,7 = R$156 mi (32% do lucro).</a:t>
            </a:r>
          </a:p>
          <a:p>
            <a:r>
              <a:t>• Erro comum: ler "95% do lucro" como "sem incentivo, o lucro cai 95%". Isso supõe preços e rivais constantes.</a:t>
            </a:r>
          </a:p>
          <a:p/>
          <a:p>
            <a:r>
              <a:t>FONTES E CONTAS</a:t>
            </a:r>
          </a:p>
          <a:p>
            <a:r>
              <a:t>• DFP 2025 NE 23: ICMS-AM 180,0; SC 123,6; MG 24,6; PE 8,1; Lei de TICs 123,3; total 459,7. EBIT 425,2 → sem incentivos −34,5.</a:t>
            </a:r>
          </a:p>
          <a:p>
            <a:r>
              <a:t>• Índices: 459,7 ÷ 483,7 = 95% do lucro; ÷ 541,8 = 85% do EBITDA; ÷ 4.460,4 = 10,3% da receita.</a:t>
            </a:r>
          </a:p>
          <a:p>
            <a:r>
              <a:t>• Incentivos ÷ receita 2021–25: 10,0/9,0/10,6/10,8/10,3%; margem EBIT sem incentivos: 1,8/1,9/2,1/0,6/−0,8% (conciliação do IR nas DFPs).</a:t>
            </a:r>
          </a:p>
          <a:p>
            <a:r>
              <a:t>• Cenários: Parcial perde 279,7 → lucro 204,0 (−58%), 343,9 (−29%), 413,8 (−14%); Eliminado perde 459,7 → 24,1 (−95%), 253,9 (−48%), 368,8 (−24%).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(≈1 min) — 7. Regras de importação</a:t>
            </a:r>
          </a:p>
          <a:p/>
          <a:p>
            <a:r>
              <a:t>ABERTURA: "As regras de importação protegem parte do portfólio e expõem outra."</a:t>
            </a:r>
          </a:p>
          <a:p>
            <a:r>
              <a:t>I. "Desde dezembro, há sobretaxa de até 5 anos sobre fibra e cabos ópticos da China. A fábrica de Tubarão está quase cheia: preço protegido, volume limitado."</a:t>
            </a:r>
          </a:p>
          <a:p>
            <a:r>
              <a:t>II. "A Anatel retirou mais de 8 milhões de produtos irregulares desde 2018. Isso protege quem tem produto homologado, como a Intelbras."</a:t>
            </a:r>
          </a:p>
          <a:p>
            <a:r>
              <a:t>III. "No varejo, o vento virou. A taxa de 20% sobre compras de até US$50 acabou em maio. Quando ela entrou, as encomendas caíram 11%; agora a câmera e o roteador baratos voltam a vir direto do exterior."</a:t>
            </a:r>
          </a:p>
          <a:p>
            <a:r>
              <a:t>IV. "No mapa: cabos protegidos; CFTV profissional protegido pelo canal; câmeras Wi-Fi e roteadores no varejo, 16% das vendas, expostos."</a:t>
            </a:r>
          </a:p>
          <a:p>
            <a:r>
              <a:t>PONTE: "Regras explicam a oferta. E a demanda, de onde vem?"</a:t>
            </a:r>
          </a:p>
          <a:p/>
          <a:p>
            <a:r>
              <a:t>DETALHES</a:t>
            </a:r>
          </a:p>
          <a:p>
            <a:r>
              <a:t>• Antidumping: US$47,46/kg sobre fibra monomodo e US$2,42/kg sobre cabos ópticos da China (Gecex 829 e 837/2025). Pedido de Prysmian e Lightera.</a:t>
            </a:r>
          </a:p>
          <a:p>
            <a:r>
              <a:t>• Cross-border: II zerado pela MP de 13/05/2026, aprovada em 03/09/2026. Segue o ICMS de 17–20%. Sem IPI e PIS/COFINS na remessa.</a:t>
            </a:r>
          </a:p>
          <a:p>
            <a:r>
              <a:t>• Inclui a Imou, marca de consumo da própria Dahua, vendida via AliExpress.</a:t>
            </a:r>
          </a:p>
          <a:p>
            <a:r>
              <a:t>• Risco de margem no varejo plug-and-play a partir do 2S26 [inferência].</a:t>
            </a:r>
          </a:p>
          <a:p/>
          <a:p>
            <a:r>
              <a:t>FONTES E CONTAS</a:t>
            </a:r>
          </a:p>
          <a:p>
            <a:r>
              <a:t>• Gecex; Teletime (05/01/2026); Anatel via Teletime e Olhar Digital (8,02 mi; 4.226 apreensões); Olhar Digital (fim da taxa; encomendas −11% em 2024); Release 2T26 p.8 (Tubarão); FRE 1.4.b (varejo 16%).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(≈1 min) — 8. Demanda: percepção, obra e juros</a:t>
            </a:r>
          </a:p>
          <a:p/>
          <a:p>
            <a:r>
              <a:t>ABERTURA: "A demanda de Segurança não segue o crime."</a:t>
            </a:r>
          </a:p>
          <a:p>
            <a:r>
              <a:t>I. "As mortes violentas caíram 31% desde 2012. Mas a parcela que vê a segurança como maior problema do país foi de 17% para 38% em um ano. A compra segue a percepção, e percepção pode reverter."</a:t>
            </a:r>
          </a:p>
          <a:p>
            <a:r>
              <a:t>II. "O driver mais forte é a obra. Os lançamentos subiram 30% em 2025, e a câmera, o interfone e o controle de acesso entram no fim da obra, 2 a 3 anos depois. E há 13,3 milhões de unidades em condomínio para modernizar: esse retrofit é o driver maior e menos cíclico."</a:t>
            </a:r>
          </a:p>
          <a:p>
            <a:r>
              <a:t>III. "Juros: pesam mais em Energia e TIC, que dependem de financiamento. Câmbio pesa em tudo."</a:t>
            </a:r>
          </a:p>
          <a:p>
            <a:r>
              <a:t>IV. "O que chegou à receita: Segurança cresce 5–6%; TIC volta no 1S26 sobre base fraca; Energia cai com solar. E a inadimplência quadruplicou."</a:t>
            </a:r>
          </a:p>
          <a:p>
            <a:r>
              <a:t>PONTE: "Vamos aos dois segmentos que mais sofrem: TIC e Energia."</a:t>
            </a:r>
          </a:p>
          <a:p/>
          <a:p>
            <a:r>
              <a:t>DETALHES</a:t>
            </a:r>
          </a:p>
          <a:p>
            <a:r>
              <a:t>• Mecanismo de compra: risco percebido + queda do preço por câmera + troca de mão de obra (portaria remota reduz a taxa condominial em 15–50%).</a:t>
            </a:r>
          </a:p>
          <a:p>
            <a:r>
              <a:t>• Não usar "medo" como acelerador no modelo: é piso de demanda.</a:t>
            </a:r>
          </a:p>
          <a:p>
            <a:r>
              <a:t>• MCMV tem conteúdo por unidade menor que médio e alto padrão. [Lacuna: conteúdo em R$ por unidade.]</a:t>
            </a:r>
          </a:p>
          <a:p>
            <a:r>
              <a:t>• Selic 13,75% (set/26), cortes graduais desde abr/26.</a:t>
            </a:r>
          </a:p>
          <a:p/>
          <a:p>
            <a:r>
              <a:t>FONTES E CONTAS</a:t>
            </a:r>
          </a:p>
          <a:p>
            <a:r>
              <a:t>• Anuário FBSP via CNN Brasil (MVI 19,1 por 100 mil em 2025; −31% desde 2012 → 2012 ≈ 27,7, estimado); Quaest (17% out/24, 38% nov/25, 30% jun/26).</a:t>
            </a:r>
          </a:p>
          <a:p>
            <a:r>
              <a:t>• Abrainc/Fipe (lançamentos +30,1%; 85,9% MCMV jan–out); CNEFE (13,3 mi unidades); SíndicoNet/Abese (14 mil condomínios; +24%).</a:t>
            </a:r>
          </a:p>
          <a:p>
            <a:r>
              <a:t>• Crescimento: Segurança +4,9%/+5,8%; TIC −8,0%/+13,7%; Energia −31,0%/−12,4% (2025/1S26, Planilha). PCLD R$7,1 → 28,8 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(≈1 min) — 9. TIC</a:t>
            </a:r>
          </a:p>
          <a:p/>
          <a:p>
            <a:r>
              <a:t>ABERTURA: "TIC é grande, mas a vantagem de canal da Intelbras vale pouco onde quem especifica é engenheiro."</a:t>
            </a:r>
          </a:p>
          <a:p>
            <a:r>
              <a:t>I. "A receita está parada desde 2021: 1,6% ao ano. O 1S26 voltou a crescer, mas sobre base fraca."</a:t>
            </a:r>
          </a:p>
          <a:p>
            <a:r>
              <a:t>II. "Onde vale disputar: cabeamento óptico, protegido pelo antidumping, e redes de pequenas empresas, que o mesmo instalador vende. GPON e 5G são fracos: a FiberHome ficou livre, o provedor tem risco de crédito e quem compra o aparelho 5G é a operadora."</a:t>
            </a:r>
          </a:p>
          <a:p>
            <a:r>
              <a:t>III. "Os drivers confirmam: banda larga cresce 2,7%, já 79% em fibra, nas mãos de pequenos provedores. O 5G cobre 80% da população, mas não vira receita relevante."</a:t>
            </a:r>
          </a:p>
          <a:p>
            <a:r>
              <a:t>IV. "A margem caiu para 25,7% e o retorno, ~7,5%, fica abaixo da Selic. TIC não deve ser modelada como história de ganho de share."</a:t>
            </a:r>
          </a:p>
          <a:p>
            <a:r>
              <a:t>PONTE: "Energia tem um problema parecido, mas concentrado em uma linha: solar."</a:t>
            </a:r>
          </a:p>
          <a:p/>
          <a:p>
            <a:r>
              <a:t>DETALHES</a:t>
            </a:r>
          </a:p>
          <a:p>
            <a:r>
              <a:t>• Por que o share é menor que em Segurança: o instalador não especifica rede de provedor; não há parceiro com exclusividade equivalente à Dahua; o universo do MIDI inclui segmentos de Huawei e Cisco.</a:t>
            </a:r>
          </a:p>
          <a:p>
            <a:r>
              <a:t>• Em 2023, a Intelbras esperava que o FWA chegasse a 20% da banda larga; a fibra tem 79%.</a:t>
            </a:r>
          </a:p>
          <a:p>
            <a:r>
              <a:t>• O 5G pode ajudar cabos (backhaul de fibra) [inferência].</a:t>
            </a:r>
          </a:p>
          <a:p/>
          <a:p>
            <a:r>
              <a:t>FONTES E CONTAS</a:t>
            </a:r>
          </a:p>
          <a:p>
            <a:r>
              <a:t>• Receita de TIC: Planilha. Margem bruta 2020–25: 29,8/26,1/28,8/30,3/27,2/25,7% (DFP NE 31).</a:t>
            </a:r>
          </a:p>
          <a:p>
            <a:r>
              <a:t>• Anatel via TI Inside (banda larga +2,7%; fibra 79%; PPPs 63%); Agência Gov (5G 80%); Gecex 829/837; Teletime (FWA 2023); comunicado FiberHome (12/01/2026).</a:t>
            </a:r>
          </a:p>
          <a:p>
            <a:r>
              <a:t>• ROIC TIC = (250,7 − 188,7) ÷ 821,2 = 7,5%.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(≈1 min) — 10. Energia</a:t>
            </a:r>
          </a:p>
          <a:p/>
          <a:p>
            <a:r>
              <a:t>ABERTURA: "A queda de Energia é solar, não o negócio todo."</a:t>
            </a:r>
          </a:p>
          <a:p>
            <a:r>
              <a:t>I. "A receita foi a R$1,4 bilhão no boom solar de 2022 e caiu 31% em 2025."</a:t>
            </a:r>
          </a:p>
          <a:p>
            <a:r>
              <a:t>II. "O mercado solar encolheu de 15 para 10,6 gigawatts, e a cobrança do Fio B sobe de 45% para 90% até 2028: o retorno do painel solar piora e menos gente instala."</a:t>
            </a:r>
          </a:p>
          <a:p>
            <a:r>
              <a:t>III. "Em solar, a Intelbras tem 1,9% de share: é commodity global, sem escala e fora do canal do instalador. Sem solar, ela é a desafiante, com 19%, atrás da SMS da Legrand."</a:t>
            </a:r>
          </a:p>
          <a:p>
            <a:r>
              <a:t>IV. "Sem solar, a margem melhora: voltou a ~25%, e no 2T26 o lucro bruto subiu 12% com receita caindo 13,5%."</a:t>
            </a:r>
          </a:p>
          <a:p>
            <a:r>
              <a:t>PONTE: "Juntando tudo, a síntese."</a:t>
            </a:r>
          </a:p>
          <a:p/>
          <a:p>
            <a:r>
              <a:t>DETALHES</a:t>
            </a:r>
          </a:p>
          <a:p>
            <a:r>
              <a:t>• Problema setorial (volume e preço por watt: R$3,66 → 3,10 bi/GW, −15%) e de execução (entrada via aquisição da Renovigi exigiu canal próprio). Em 3T25 a empresa priorizou rentabilidade.</a:t>
            </a:r>
          </a:p>
          <a:p>
            <a:r>
              <a:t>• Energia sem solar (nobreaks, fontes, baterias, carregadores de VE) usa o mesmo canal e cliente de Segurança: um "satélite".</a:t>
            </a:r>
          </a:p>
          <a:p>
            <a:r>
              <a:t>• Carregadores de VE: frota eletrificada de 613 mil (+64%), base pequena.</a:t>
            </a:r>
          </a:p>
          <a:p/>
          <a:p>
            <a:r>
              <a:t>FONTES E CONTAS</a:t>
            </a:r>
          </a:p>
          <a:p>
            <a:r>
              <a:t>• Receita: Planilha. Margem bruta 2020–25: 24,3/21,5/19,6/17,5/24,7/24,6% (DFP NE 31).</a:t>
            </a:r>
          </a:p>
          <a:p>
            <a:r>
              <a:t>• Absolar via eixos (15 → 10,6 GW; investimento −40%); Lei 14.300/2022 (Fio B 45/60/75/90%); FRE 1.4 (share 19% e 1,9%); DCD (SMS/Legrand); Release 2T26 p.8.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(≈1 min 15s) — 11. Síntese</a:t>
            </a:r>
          </a:p>
          <a:p/>
          <a:p>
            <a:r>
              <a:t>ABERTURA: "Resumindo o setor em uma frase: o valor da Intelbras depende menos de os mercados crescerem e mais de três variáveis."</a:t>
            </a:r>
          </a:p>
          <a:p>
            <a:r>
              <a:t>I. "Na matriz, Segurança é o único segmento com share, barreira, canal e retorno favoráveis. TIC tem a pior estrutura: rivais grandes, comprador técnico, retorno baixo. Energia sofre com solar."</a:t>
            </a:r>
          </a:p>
          <a:p>
            <a:r>
              <a:t>II. "As três variáveis:</a:t>
            </a:r>
          </a:p>
          <a:p>
            <a:r>
              <a:t>1. Os incentivos fora de Manaus, R$280 milhões que vencem entre 2029 e 2033, uns R$100 milhões no caso econômico.</a:t>
            </a:r>
          </a:p>
          <a:p>
            <a:r>
              <a:t>2. A Dahua, que vence em 2028: cada 1% a mais no preço custa R$7 milhões.</a:t>
            </a:r>
          </a:p>
          <a:p>
            <a:r>
              <a:t>3. O preço e o câmbio: cada ponto de margem vale R$45 milhões."</a:t>
            </a:r>
          </a:p>
          <a:p>
            <a:r>
              <a:t>III. "O mercado pode estar subestimando dois pontos a favor: o incentivo de Manaus é o mais durável, e há capital de giro a liberar. Contra: o risco Dahua, o varejo exposto ao cross-border e uma margem de 2T26 que é transitória."</a:t>
            </a:r>
          </a:p>
          <a:p/>
          <a:p>
            <a:r>
              <a:t>DETALHES</a:t>
            </a:r>
          </a:p>
          <a:p>
            <a:r>
              <a:t>• Maiores riscos: (1) não renovação, ou renovação pior, com a Dahua; (2) Lei de TICs não renovada e ICMS de SC/MG/PE sem compensação; (3) contestação da exclusão das subvenções do IR (R$156 mi); (4) desvalorização abrupta sem repasse; (5) cross-border tirando relevância do instalador; (6) crise de memória e chips.</a:t>
            </a:r>
          </a:p>
          <a:p>
            <a:r>
              <a:t>• Sell-side: BTG ("barata não basta", 2026 como ano de arrumação); JPMorgan rebaixou para neutro de olho no 2S26. O debate parece focado no curto prazo, não na estrutura fiscal e de fornecimento [inferência].</a:t>
            </a:r>
          </a:p>
          <a:p>
            <a:r>
              <a:t>• Ciclo de caixa LTM 2T26: 132 dias, contra 145 em 2025.</a:t>
            </a:r>
          </a:p>
          <a:p/>
          <a:p>
            <a:r>
              <a:t>FONTES E CONTAS</a:t>
            </a:r>
          </a:p>
          <a:p>
            <a:r>
              <a:t>• Matriz e justificativas: análise setorial, Parte V.</a:t>
            </a:r>
          </a:p>
          <a:p>
            <a:r>
              <a:t>• R$7 mi = 1% × compras da Dahua de R$729 mi. R$45 mi = 1% × receita de R$4.460 mi (aprox.).</a:t>
            </a:r>
          </a:p>
          <a:p>
            <a:r>
              <a:t>• Caso econômico central dos incentivos: ~R$102 mi (ver slide 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lbras | 4 quadra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L1"/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L1"/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L1"/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údo L1"/>
          <p:cNvSpPr>
            <a:spLocks noGrp="1"/>
          </p:cNvSpPr>
          <p:nvPr>
            <p:ph sz="quarter" idx="30"/>
          </p:nvPr>
        </p:nvSpPr>
        <p:spPr>
          <a:xfrm>
            <a:off x="571500" y="1545336"/>
            <a:ext cx="552450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R1"/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R1"/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R1"/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údo R1"/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abeçalho L2"/>
          <p:cNvSpPr>
            <a:spLocks noGrp="1"/>
          </p:cNvSpPr>
          <p:nvPr>
            <p:ph type="body" sz="quarter" idx="12"/>
          </p:nvPr>
        </p:nvSpPr>
        <p:spPr>
          <a:xfrm>
            <a:off x="566928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Linha L2"/>
          <p:cNvCxnSpPr/>
          <p:nvPr userDrawn="1"/>
        </p:nvCxnSpPr>
        <p:spPr>
          <a:xfrm>
            <a:off x="566928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4" name="Descrição L2"/>
          <p:cNvSpPr>
            <a:spLocks noGrp="1"/>
          </p:cNvSpPr>
          <p:nvPr>
            <p:ph type="body" sz="quarter" idx="16"/>
          </p:nvPr>
        </p:nvSpPr>
        <p:spPr>
          <a:xfrm>
            <a:off x="566928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údo L2"/>
          <p:cNvSpPr>
            <a:spLocks noGrp="1"/>
          </p:cNvSpPr>
          <p:nvPr>
            <p:ph sz="quarter" idx="32"/>
          </p:nvPr>
        </p:nvSpPr>
        <p:spPr>
          <a:xfrm>
            <a:off x="566928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abeçalho R2"/>
          <p:cNvSpPr>
            <a:spLocks noGrp="1"/>
          </p:cNvSpPr>
          <p:nvPr>
            <p:ph type="body" sz="quarter" idx="13"/>
          </p:nvPr>
        </p:nvSpPr>
        <p:spPr>
          <a:xfrm>
            <a:off x="6428232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Linha R2"/>
          <p:cNvCxnSpPr/>
          <p:nvPr userDrawn="1"/>
        </p:nvCxnSpPr>
        <p:spPr>
          <a:xfrm>
            <a:off x="6428232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8" name="Descrição R2"/>
          <p:cNvSpPr>
            <a:spLocks noGrp="1"/>
          </p:cNvSpPr>
          <p:nvPr>
            <p:ph type="body" sz="quarter" idx="17"/>
          </p:nvPr>
        </p:nvSpPr>
        <p:spPr>
          <a:xfrm>
            <a:off x="6428232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údo R2"/>
          <p:cNvSpPr>
            <a:spLocks noGrp="1"/>
          </p:cNvSpPr>
          <p:nvPr>
            <p:ph sz="quarter" idx="33"/>
          </p:nvPr>
        </p:nvSpPr>
        <p:spPr>
          <a:xfrm>
            <a:off x="6428232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78643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">
            <a:extLst>
              <a:ext uri="{FF2B5EF4-FFF2-40B4-BE49-F238E27FC236}">
                <a16:creationId xmlns:a16="http://schemas.microsoft.com/office/drawing/2014/main" id="{08A86C5D-B5F1-A201-A803-FC2B06BC1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4" name="Subtítulo">
            <a:extLst>
              <a:ext uri="{FF2B5EF4-FFF2-40B4-BE49-F238E27FC236}">
                <a16:creationId xmlns:a16="http://schemas.microsoft.com/office/drawing/2014/main" id="{BE673581-4171-765D-CF42-A03B1335C0E5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abeçalho L1">
            <a:extLst>
              <a:ext uri="{FF2B5EF4-FFF2-40B4-BE49-F238E27FC236}">
                <a16:creationId xmlns:a16="http://schemas.microsoft.com/office/drawing/2014/main" id="{2CF8C16A-D844-F260-4E96-4A7088F8DC7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6" name="Linha L1">
            <a:extLst>
              <a:ext uri="{FF2B5EF4-FFF2-40B4-BE49-F238E27FC236}">
                <a16:creationId xmlns:a16="http://schemas.microsoft.com/office/drawing/2014/main" id="{6B2BDA49-2D8C-8E92-98C5-4AF723A23CF4}"/>
              </a:ext>
            </a:extLst>
          </p:cNvPr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7" name="Descrição L1">
            <a:extLst>
              <a:ext uri="{FF2B5EF4-FFF2-40B4-BE49-F238E27FC236}">
                <a16:creationId xmlns:a16="http://schemas.microsoft.com/office/drawing/2014/main" id="{DBA64B7F-D991-F80B-632A-A6F008F382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abeçalho R1">
            <a:extLst>
              <a:ext uri="{FF2B5EF4-FFF2-40B4-BE49-F238E27FC236}">
                <a16:creationId xmlns:a16="http://schemas.microsoft.com/office/drawing/2014/main" id="{63E473F4-0BD6-077F-9932-938AFBF13B7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Linha R1">
            <a:extLst>
              <a:ext uri="{FF2B5EF4-FFF2-40B4-BE49-F238E27FC236}">
                <a16:creationId xmlns:a16="http://schemas.microsoft.com/office/drawing/2014/main" id="{C5D0D066-5B11-0856-4073-CD7F2F043381}"/>
              </a:ext>
            </a:extLst>
          </p:cNvPr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1" name="Descrição R1">
            <a:extLst>
              <a:ext uri="{FF2B5EF4-FFF2-40B4-BE49-F238E27FC236}">
                <a16:creationId xmlns:a16="http://schemas.microsoft.com/office/drawing/2014/main" id="{5656BE59-0847-8CB6-5BA7-687DF8FE150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údo R1">
            <a:extLst>
              <a:ext uri="{FF2B5EF4-FFF2-40B4-BE49-F238E27FC236}">
                <a16:creationId xmlns:a16="http://schemas.microsoft.com/office/drawing/2014/main" id="{275C8C39-0130-44B2-B522-AB8447F3755A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abeçalho R2">
            <a:extLst>
              <a:ext uri="{FF2B5EF4-FFF2-40B4-BE49-F238E27FC236}">
                <a16:creationId xmlns:a16="http://schemas.microsoft.com/office/drawing/2014/main" id="{DFA8ED1C-70D9-555F-0951-A17E938658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8232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8" name="Linha R2">
            <a:extLst>
              <a:ext uri="{FF2B5EF4-FFF2-40B4-BE49-F238E27FC236}">
                <a16:creationId xmlns:a16="http://schemas.microsoft.com/office/drawing/2014/main" id="{23E53C43-0A06-3841-43EA-8CBBC05E38E4}"/>
              </a:ext>
            </a:extLst>
          </p:cNvPr>
          <p:cNvCxnSpPr/>
          <p:nvPr userDrawn="1"/>
        </p:nvCxnSpPr>
        <p:spPr>
          <a:xfrm>
            <a:off x="6428232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9" name="Descrição R2">
            <a:extLst>
              <a:ext uri="{FF2B5EF4-FFF2-40B4-BE49-F238E27FC236}">
                <a16:creationId xmlns:a16="http://schemas.microsoft.com/office/drawing/2014/main" id="{17B70730-704D-1A43-8FBA-BD7FE18348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428232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Conteúdo R2">
            <a:extLst>
              <a:ext uri="{FF2B5EF4-FFF2-40B4-BE49-F238E27FC236}">
                <a16:creationId xmlns:a16="http://schemas.microsoft.com/office/drawing/2014/main" id="{9E63C622-421B-6FEC-8987-607A26EFBA37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6428232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Fontes">
            <a:extLst>
              <a:ext uri="{FF2B5EF4-FFF2-40B4-BE49-F238E27FC236}">
                <a16:creationId xmlns:a16="http://schemas.microsoft.com/office/drawing/2014/main" id="{F667FDC0-0538-49ED-735B-F8FA537E3E1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95433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telbras | 4 quadra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L1"/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L1"/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L1"/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údo L1"/>
          <p:cNvSpPr>
            <a:spLocks noGrp="1"/>
          </p:cNvSpPr>
          <p:nvPr>
            <p:ph sz="quarter" idx="30"/>
          </p:nvPr>
        </p:nvSpPr>
        <p:spPr>
          <a:xfrm>
            <a:off x="571500" y="1545336"/>
            <a:ext cx="552450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R1"/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R1"/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R1"/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údo R1"/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Linha L2"/>
          <p:cNvCxnSpPr>
            <a:cxnSpLocks/>
          </p:cNvCxnSpPr>
          <p:nvPr userDrawn="1"/>
        </p:nvCxnSpPr>
        <p:spPr>
          <a:xfrm>
            <a:off x="566928" y="4119372"/>
            <a:ext cx="11396472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4" name="Descrição L2"/>
          <p:cNvSpPr>
            <a:spLocks noGrp="1"/>
          </p:cNvSpPr>
          <p:nvPr>
            <p:ph type="body" sz="quarter" idx="16"/>
          </p:nvPr>
        </p:nvSpPr>
        <p:spPr>
          <a:xfrm>
            <a:off x="571500" y="4168392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abeçalho R2"/>
          <p:cNvSpPr>
            <a:spLocks noGrp="1"/>
          </p:cNvSpPr>
          <p:nvPr>
            <p:ph type="body" sz="quarter" idx="13"/>
          </p:nvPr>
        </p:nvSpPr>
        <p:spPr>
          <a:xfrm>
            <a:off x="571500" y="377656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Linha R2"/>
          <p:cNvCxnSpPr/>
          <p:nvPr userDrawn="1"/>
        </p:nvCxnSpPr>
        <p:spPr>
          <a:xfrm>
            <a:off x="6428232" y="7564229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8" name="Descrição R2"/>
          <p:cNvSpPr>
            <a:spLocks noGrp="1"/>
          </p:cNvSpPr>
          <p:nvPr>
            <p:ph type="body" sz="quarter" idx="17"/>
          </p:nvPr>
        </p:nvSpPr>
        <p:spPr>
          <a:xfrm>
            <a:off x="6428232" y="7600805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údo R2"/>
          <p:cNvSpPr>
            <a:spLocks noGrp="1"/>
          </p:cNvSpPr>
          <p:nvPr>
            <p:ph sz="quarter" idx="33"/>
          </p:nvPr>
        </p:nvSpPr>
        <p:spPr>
          <a:xfrm>
            <a:off x="571500" y="4421704"/>
            <a:ext cx="374904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údo R2">
            <a:extLst>
              <a:ext uri="{FF2B5EF4-FFF2-40B4-BE49-F238E27FC236}">
                <a16:creationId xmlns:a16="http://schemas.microsoft.com/office/drawing/2014/main" id="{C20F45A2-CC70-86CA-D254-970E22AF0660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4383678" y="4418693"/>
            <a:ext cx="374904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Conteúdo R2">
            <a:extLst>
              <a:ext uri="{FF2B5EF4-FFF2-40B4-BE49-F238E27FC236}">
                <a16:creationId xmlns:a16="http://schemas.microsoft.com/office/drawing/2014/main" id="{626C2B49-63EF-6B3E-66FE-3A88E630EBA1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8199737" y="4418693"/>
            <a:ext cx="374904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214800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lbras | 2 blo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9144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66928" y="502920"/>
            <a:ext cx="11393424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F1"/>
          <p:cNvSpPr>
            <a:spLocks noGrp="1"/>
          </p:cNvSpPr>
          <p:nvPr>
            <p:ph type="body" sz="quarter" idx="10"/>
          </p:nvPr>
        </p:nvSpPr>
        <p:spPr>
          <a:xfrm>
            <a:off x="566928" y="868680"/>
            <a:ext cx="11393424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F1"/>
          <p:cNvCxnSpPr/>
          <p:nvPr userDrawn="1"/>
        </p:nvCxnSpPr>
        <p:spPr>
          <a:xfrm>
            <a:off x="566928" y="1261872"/>
            <a:ext cx="11393424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F1"/>
          <p:cNvSpPr>
            <a:spLocks noGrp="1"/>
          </p:cNvSpPr>
          <p:nvPr>
            <p:ph type="body" sz="quarter" idx="14" hasCustomPrompt="1"/>
          </p:nvPr>
        </p:nvSpPr>
        <p:spPr>
          <a:xfrm>
            <a:off x="566928" y="1298448"/>
            <a:ext cx="11393424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r>
              <a:rPr lang="pt-BR" dirty="0"/>
              <a:t>Descrição do gráfico (métrica, período, unidade)</a:t>
            </a:r>
          </a:p>
        </p:txBody>
      </p:sp>
      <p:sp>
        <p:nvSpPr>
          <p:cNvPr id="7" name="Conteúdo F1"/>
          <p:cNvSpPr>
            <a:spLocks noGrp="1"/>
          </p:cNvSpPr>
          <p:nvPr>
            <p:ph sz="quarter" idx="30"/>
          </p:nvPr>
        </p:nvSpPr>
        <p:spPr>
          <a:xfrm>
            <a:off x="566928" y="1545336"/>
            <a:ext cx="11393424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F2"/>
          <p:cNvSpPr>
            <a:spLocks noGrp="1"/>
          </p:cNvSpPr>
          <p:nvPr>
            <p:ph type="body" sz="quarter" idx="12"/>
          </p:nvPr>
        </p:nvSpPr>
        <p:spPr>
          <a:xfrm>
            <a:off x="566928" y="3726180"/>
            <a:ext cx="11393424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F2"/>
          <p:cNvCxnSpPr/>
          <p:nvPr userDrawn="1"/>
        </p:nvCxnSpPr>
        <p:spPr>
          <a:xfrm>
            <a:off x="566928" y="4119372"/>
            <a:ext cx="11393424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F2"/>
          <p:cNvSpPr>
            <a:spLocks noGrp="1"/>
          </p:cNvSpPr>
          <p:nvPr>
            <p:ph type="body" sz="quarter" idx="16" hasCustomPrompt="1"/>
          </p:nvPr>
        </p:nvSpPr>
        <p:spPr>
          <a:xfrm>
            <a:off x="566928" y="4155948"/>
            <a:ext cx="11393424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r>
              <a:rPr lang="pt-BR" dirty="0"/>
              <a:t>Descrição do gráfico (métrica, período, unidade)</a:t>
            </a:r>
          </a:p>
        </p:txBody>
      </p:sp>
      <p:sp>
        <p:nvSpPr>
          <p:cNvPr id="11" name="Conteúdo F2"/>
          <p:cNvSpPr>
            <a:spLocks noGrp="1"/>
          </p:cNvSpPr>
          <p:nvPr>
            <p:ph sz="quarter" idx="32"/>
          </p:nvPr>
        </p:nvSpPr>
        <p:spPr>
          <a:xfrm>
            <a:off x="566928" y="4402836"/>
            <a:ext cx="11393424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3616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Intelbras | 4 quadra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L1"/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L1"/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L1"/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údo L1"/>
          <p:cNvSpPr>
            <a:spLocks noGrp="1"/>
          </p:cNvSpPr>
          <p:nvPr>
            <p:ph sz="quarter" idx="30"/>
          </p:nvPr>
        </p:nvSpPr>
        <p:spPr>
          <a:xfrm>
            <a:off x="571500" y="1545336"/>
            <a:ext cx="552450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R1"/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R1"/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R1"/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údo R1"/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abeçalho L2"/>
          <p:cNvSpPr>
            <a:spLocks noGrp="1"/>
          </p:cNvSpPr>
          <p:nvPr>
            <p:ph type="body" sz="quarter" idx="12"/>
          </p:nvPr>
        </p:nvSpPr>
        <p:spPr>
          <a:xfrm>
            <a:off x="566928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Linha L2"/>
          <p:cNvCxnSpPr/>
          <p:nvPr userDrawn="1"/>
        </p:nvCxnSpPr>
        <p:spPr>
          <a:xfrm>
            <a:off x="566928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4" name="Descrição L2"/>
          <p:cNvSpPr>
            <a:spLocks noGrp="1"/>
          </p:cNvSpPr>
          <p:nvPr>
            <p:ph type="body" sz="quarter" idx="16"/>
          </p:nvPr>
        </p:nvSpPr>
        <p:spPr>
          <a:xfrm>
            <a:off x="566928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údo L2"/>
          <p:cNvSpPr>
            <a:spLocks noGrp="1"/>
          </p:cNvSpPr>
          <p:nvPr>
            <p:ph sz="quarter" idx="32"/>
          </p:nvPr>
        </p:nvSpPr>
        <p:spPr>
          <a:xfrm>
            <a:off x="566928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abeçalho R2"/>
          <p:cNvSpPr>
            <a:spLocks noGrp="1"/>
          </p:cNvSpPr>
          <p:nvPr>
            <p:ph type="body" sz="quarter" idx="13"/>
          </p:nvPr>
        </p:nvSpPr>
        <p:spPr>
          <a:xfrm>
            <a:off x="6428232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Linha R2"/>
          <p:cNvCxnSpPr/>
          <p:nvPr userDrawn="1"/>
        </p:nvCxnSpPr>
        <p:spPr>
          <a:xfrm>
            <a:off x="6428232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8" name="Descrição R2"/>
          <p:cNvSpPr>
            <a:spLocks noGrp="1"/>
          </p:cNvSpPr>
          <p:nvPr>
            <p:ph type="body" sz="quarter" idx="17"/>
          </p:nvPr>
        </p:nvSpPr>
        <p:spPr>
          <a:xfrm>
            <a:off x="6428232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údo R2"/>
          <p:cNvSpPr>
            <a:spLocks noGrp="1"/>
          </p:cNvSpPr>
          <p:nvPr>
            <p:ph sz="quarter" idx="33"/>
          </p:nvPr>
        </p:nvSpPr>
        <p:spPr>
          <a:xfrm>
            <a:off x="6428232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31626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Relationship Id="rId8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FEAF86BB-950D-C028-EE25-EAF6B2091A5D}"/>
              </a:ext>
            </a:extLst>
          </p:cNvPr>
          <p:cNvSpPr/>
          <p:nvPr userDrawn="1"/>
        </p:nvSpPr>
        <p:spPr>
          <a:xfrm rot="10800000" flipH="1">
            <a:off x="0" y="2431"/>
            <a:ext cx="346464" cy="6858000"/>
          </a:xfrm>
          <a:prstGeom prst="rect">
            <a:avLst/>
          </a:prstGeom>
          <a:gradFill>
            <a:gsLst>
              <a:gs pos="19000">
                <a:srgbClr val="035144"/>
              </a:gs>
              <a:gs pos="95000">
                <a:srgbClr val="00D054"/>
              </a:gs>
              <a:gs pos="76000">
                <a:srgbClr val="009F4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3" name="Connector 43">
            <a:extLst>
              <a:ext uri="{FF2B5EF4-FFF2-40B4-BE49-F238E27FC236}">
                <a16:creationId xmlns:a16="http://schemas.microsoft.com/office/drawing/2014/main" id="{0C1F9473-D70C-D468-BBA5-C37F5F700542}"/>
              </a:ext>
            </a:extLst>
          </p:cNvPr>
          <p:cNvCxnSpPr>
            <a:cxnSpLocks/>
          </p:cNvCxnSpPr>
          <p:nvPr userDrawn="1"/>
        </p:nvCxnSpPr>
        <p:spPr>
          <a:xfrm>
            <a:off x="566928" y="6515100"/>
            <a:ext cx="11393424" cy="0"/>
          </a:xfrm>
          <a:prstGeom prst="line">
            <a:avLst/>
          </a:prstGeom>
          <a:ln w="12700">
            <a:solidFill>
              <a:srgbClr val="76B900"/>
            </a:solidFill>
          </a:ln>
        </p:spPr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9DE3E556-E840-AC70-8618-F06E954425CA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17266" y1="39861" x2="17266" y2="39861"/>
                        <a14:foregroundMark x1="17266" y1="45000" x2="17266" y2="45000"/>
                        <a14:foregroundMark x1="20391" y1="55694" x2="20391" y2="55694"/>
                        <a14:foregroundMark x1="30391" y1="49306" x2="30391" y2="49306"/>
                        <a14:foregroundMark x1="41250" y1="51111" x2="41250" y2="51111"/>
                        <a14:foregroundMark x1="46797" y1="53194" x2="46797" y2="53194"/>
                        <a14:foregroundMark x1="62266" y1="53194" x2="62266" y2="53194"/>
                        <a14:foregroundMark x1="72734" y1="58056" x2="72734" y2="58056"/>
                        <a14:foregroundMark x1="81719" y1="59167" x2="81719" y2="59167"/>
                        <a14:backgroundMark x1="38984" y1="50278" x2="38984" y2="50278"/>
                      </a14:backgroundRemoval>
                    </a14:imgEffect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8894" y="-373028"/>
            <a:ext cx="1919326" cy="1079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568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0" r:id="rId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>
          <p15:clr>
            <a:srgbClr val="F26B43"/>
          </p15:clr>
        </p15:guide>
        <p15:guide id="3" pos="216">
          <p15:clr>
            <a:srgbClr val="F26B43"/>
          </p15:clr>
        </p15:guide>
        <p15:guide id="4" pos="7536">
          <p15:clr>
            <a:srgbClr val="F26B43"/>
          </p15:clr>
        </p15:guide>
        <p15:guide id="5" orient="horz" pos="480">
          <p15:clr>
            <a:srgbClr val="F26B43"/>
          </p15:clr>
        </p15:guide>
        <p15:guide id="6" orient="horz" pos="4104">
          <p15:clr>
            <a:srgbClr val="F26B43"/>
          </p15:clr>
        </p15:guide>
        <p15:guide id="8" pos="3840">
          <p15:clr>
            <a:srgbClr val="F26B43"/>
          </p15:clr>
        </p15:guide>
        <p15:guide id="9" pos="360">
          <p15:clr>
            <a:srgbClr val="F26B43"/>
          </p15:clr>
        </p15:guide>
        <p15:guide id="10" pos="4032">
          <p15:clr>
            <a:srgbClr val="F26B43"/>
          </p15:clr>
        </p15:guide>
        <p15:guide id="11" orient="horz" pos="2232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3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Relationship Id="rId4" Type="http://schemas.openxmlformats.org/officeDocument/2006/relationships/chart" Target="../charts/chart16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9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Relationship Id="rId5" Type="http://schemas.openxmlformats.org/officeDocument/2006/relationships/chart" Target="../charts/chart22.xml"/><Relationship Id="rId6" Type="http://schemas.openxmlformats.org/officeDocument/2006/relationships/chart" Target="../charts/chart23.xml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Três setores, um só criador de valor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Só Segurança combina liderança, canal cativo e retorno acima do custo de capital; TIC e Energia rendem abaixo da Selic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Segurança é 61% da receita e o núcleo estável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Receita líquida por segmento (R$ mi)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Só Segurança rende acima da Selic, e metade disso é Manaus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ROIC pré-IR estimado por segmento, 2025 (%)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III. Segurança gera 2/3 do lucro bruto com menos da metade do capital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Participação de cada segmento no lucro bruto e no capital operacional, 2025 (%)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IV. Cada segmento é outro setor: rival, comprador e retorno diferentes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Share no Brasil (MIDI), principal rival, quem especifica e ROIC estimado, 2025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DFP 2025 (NE 31); Planilha interativa 2T26; FRE 2026 (1.4); BCB (Selic, set/26). ROIC = (lucro bruto − SG&amp;A rateado pela receita) ÷ capital operacional do segmento.</a:t>
            </a:r>
          </a:p>
        </p:txBody>
      </p:sp>
      <p:graphicFrame>
        <p:nvGraphicFramePr>
          <p:cNvPr id="17" name="Grafico receita por segmento"/>
          <p:cNvGraphicFramePr>
            <a:graphicFrameLocks noGrp="1"/>
          </p:cNvGraphicFramePr>
          <p:nvPr/>
        </p:nvGraphicFramePr>
        <p:xfrm>
          <a:off x="566928" y="1545336"/>
          <a:ext cx="4023360" cy="1984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Destaque CAGR"/>
          <p:cNvSpPr txBox="1"/>
          <p:nvPr/>
        </p:nvSpPr>
        <p:spPr>
          <a:xfrm>
            <a:off x="4681728" y="1819656"/>
            <a:ext cx="1417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09F41"/>
                </a:solidFill>
              </a:rPr>
              <a:t>+18% a.a.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</a:rPr>
              <a:t>Segurança, 2019–25</a:t>
            </a:r>
          </a:p>
        </p:txBody>
      </p:sp>
      <p:sp>
        <p:nvSpPr>
          <p:cNvPr id="19" name="Destaque 61"/>
          <p:cNvSpPr txBox="1"/>
          <p:nvPr/>
        </p:nvSpPr>
        <p:spPr>
          <a:xfrm>
            <a:off x="4681728" y="2642615"/>
            <a:ext cx="1417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</a:rPr>
              <a:t>61%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</a:rPr>
              <a:t>da receita de 2025</a:t>
            </a:r>
          </a:p>
        </p:txBody>
      </p:sp>
      <p:graphicFrame>
        <p:nvGraphicFramePr>
          <p:cNvPr id="20" name="Grafico ROIC por segmento"/>
          <p:cNvGraphicFramePr>
            <a:graphicFrameLocks noGrp="1"/>
          </p:cNvGraphicFramePr>
          <p:nvPr/>
        </p:nvGraphicFramePr>
        <p:xfrm>
          <a:off x="6428232" y="1545336"/>
          <a:ext cx="5532120" cy="1984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1" name="Grafico lucro bruto vs capital"/>
          <p:cNvGraphicFramePr>
            <a:graphicFrameLocks noGrp="1"/>
          </p:cNvGraphicFramePr>
          <p:nvPr/>
        </p:nvGraphicFramePr>
        <p:xfrm>
          <a:off x="566928" y="4407408"/>
          <a:ext cx="5532120" cy="1984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2" name="Tabela segmentos cab 0"/>
          <p:cNvSpPr txBox="1"/>
          <p:nvPr/>
        </p:nvSpPr>
        <p:spPr>
          <a:xfrm>
            <a:off x="6428232" y="4425696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595959"/>
                </a:solidFill>
              </a:rPr>
              <a:t>Segmento</a:t>
            </a:r>
          </a:p>
        </p:txBody>
      </p:sp>
      <p:sp>
        <p:nvSpPr>
          <p:cNvPr id="23" name="Tabela segmentos cab 1"/>
          <p:cNvSpPr txBox="1"/>
          <p:nvPr/>
        </p:nvSpPr>
        <p:spPr>
          <a:xfrm>
            <a:off x="7479792" y="4425696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595959"/>
                </a:solidFill>
              </a:rPr>
              <a:t>Share</a:t>
            </a:r>
          </a:p>
        </p:txBody>
      </p:sp>
      <p:sp>
        <p:nvSpPr>
          <p:cNvPr id="24" name="Tabela segmentos cab 2"/>
          <p:cNvSpPr txBox="1"/>
          <p:nvPr/>
        </p:nvSpPr>
        <p:spPr>
          <a:xfrm>
            <a:off x="8211312" y="4425696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595959"/>
                </a:solidFill>
              </a:rPr>
              <a:t>Rival líder</a:t>
            </a:r>
          </a:p>
        </p:txBody>
      </p:sp>
      <p:sp>
        <p:nvSpPr>
          <p:cNvPr id="25" name="Tabela segmentos cab 3"/>
          <p:cNvSpPr txBox="1"/>
          <p:nvPr/>
        </p:nvSpPr>
        <p:spPr>
          <a:xfrm>
            <a:off x="9674352" y="4425696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595959"/>
                </a:solidFill>
              </a:rPr>
              <a:t>Quem especifica</a:t>
            </a:r>
          </a:p>
        </p:txBody>
      </p:sp>
      <p:sp>
        <p:nvSpPr>
          <p:cNvPr id="26" name="Tabela segmentos cab 4"/>
          <p:cNvSpPr txBox="1"/>
          <p:nvPr/>
        </p:nvSpPr>
        <p:spPr>
          <a:xfrm>
            <a:off x="11091672" y="4425696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595959"/>
                </a:solidFill>
              </a:rPr>
              <a:t>ROIC</a:t>
            </a:r>
          </a:p>
        </p:txBody>
      </p:sp>
      <p:cxnSp>
        <p:nvCxnSpPr>
          <p:cNvPr id="27" name="Tabela segmentos linha"/>
          <p:cNvCxnSpPr/>
          <p:nvPr/>
        </p:nvCxnSpPr>
        <p:spPr>
          <a:xfrm>
            <a:off x="6428232" y="4654296"/>
            <a:ext cx="5532120" cy="0"/>
          </a:xfrm>
          <a:prstGeom prst="line">
            <a:avLst/>
          </a:prstGeom>
          <a:ln w="12700">
            <a:solidFill>
              <a:srgbClr val="009F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abela segmentos faixa 0"/>
          <p:cNvSpPr/>
          <p:nvPr/>
        </p:nvSpPr>
        <p:spPr>
          <a:xfrm>
            <a:off x="6428232" y="4681728"/>
            <a:ext cx="5532120" cy="3931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sp>
        <p:nvSpPr>
          <p:cNvPr id="29" name="Tabela segmentos 0-0"/>
          <p:cNvSpPr txBox="1"/>
          <p:nvPr/>
        </p:nvSpPr>
        <p:spPr>
          <a:xfrm>
            <a:off x="6428232" y="4700016"/>
            <a:ext cx="10515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09F41"/>
                </a:solidFill>
              </a:rPr>
              <a:t>Segurança</a:t>
            </a:r>
          </a:p>
        </p:txBody>
      </p:sp>
      <p:sp>
        <p:nvSpPr>
          <p:cNvPr id="30" name="Tabela segmentos 0-1"/>
          <p:cNvSpPr txBox="1"/>
          <p:nvPr/>
        </p:nvSpPr>
        <p:spPr>
          <a:xfrm>
            <a:off x="7479792" y="4700016"/>
            <a:ext cx="73152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09F41"/>
                </a:solidFill>
              </a:rPr>
              <a:t>44%</a:t>
            </a:r>
          </a:p>
        </p:txBody>
      </p:sp>
      <p:sp>
        <p:nvSpPr>
          <p:cNvPr id="31" name="Tabela segmentos 0-2"/>
          <p:cNvSpPr txBox="1"/>
          <p:nvPr/>
        </p:nvSpPr>
        <p:spPr>
          <a:xfrm>
            <a:off x="8211312" y="4700016"/>
            <a:ext cx="14630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A1A1A"/>
                </a:solidFill>
              </a:rPr>
              <a:t>Hikvision</a:t>
            </a:r>
          </a:p>
        </p:txBody>
      </p:sp>
      <p:sp>
        <p:nvSpPr>
          <p:cNvPr id="32" name="Tabela segmentos 0-3"/>
          <p:cNvSpPr txBox="1"/>
          <p:nvPr/>
        </p:nvSpPr>
        <p:spPr>
          <a:xfrm>
            <a:off x="9674352" y="4700016"/>
            <a:ext cx="141732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A1A1A"/>
                </a:solidFill>
              </a:rPr>
              <a:t>instalador</a:t>
            </a:r>
          </a:p>
        </p:txBody>
      </p:sp>
      <p:sp>
        <p:nvSpPr>
          <p:cNvPr id="33" name="Tabela segmentos 0-4"/>
          <p:cNvSpPr txBox="1"/>
          <p:nvPr/>
        </p:nvSpPr>
        <p:spPr>
          <a:xfrm>
            <a:off x="11091672" y="4700016"/>
            <a:ext cx="8686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09F41"/>
                </a:solidFill>
              </a:rPr>
              <a:t>~28%</a:t>
            </a:r>
          </a:p>
        </p:txBody>
      </p:sp>
      <p:sp>
        <p:nvSpPr>
          <p:cNvPr id="34" name="Tabela segmentos 1-0"/>
          <p:cNvSpPr txBox="1"/>
          <p:nvPr/>
        </p:nvSpPr>
        <p:spPr>
          <a:xfrm>
            <a:off x="6428232" y="5093207"/>
            <a:ext cx="10515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</a:rPr>
              <a:t>TIC</a:t>
            </a:r>
          </a:p>
        </p:txBody>
      </p:sp>
      <p:sp>
        <p:nvSpPr>
          <p:cNvPr id="35" name="Tabela segmentos 1-1"/>
          <p:cNvSpPr txBox="1"/>
          <p:nvPr/>
        </p:nvSpPr>
        <p:spPr>
          <a:xfrm>
            <a:off x="7479792" y="5093207"/>
            <a:ext cx="73152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A1A1A"/>
                </a:solidFill>
              </a:rPr>
              <a:t>9%</a:t>
            </a:r>
          </a:p>
        </p:txBody>
      </p:sp>
      <p:sp>
        <p:nvSpPr>
          <p:cNvPr id="36" name="Tabela segmentos 1-2"/>
          <p:cNvSpPr txBox="1"/>
          <p:nvPr/>
        </p:nvSpPr>
        <p:spPr>
          <a:xfrm>
            <a:off x="8211312" y="5093207"/>
            <a:ext cx="14630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A1A1A"/>
                </a:solidFill>
              </a:rPr>
              <a:t>Huawei, Cisco, TP-Link</a:t>
            </a:r>
          </a:p>
        </p:txBody>
      </p:sp>
      <p:sp>
        <p:nvSpPr>
          <p:cNvPr id="37" name="Tabela segmentos 1-3"/>
          <p:cNvSpPr txBox="1"/>
          <p:nvPr/>
        </p:nvSpPr>
        <p:spPr>
          <a:xfrm>
            <a:off x="9674352" y="5093207"/>
            <a:ext cx="141732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A1A1A"/>
                </a:solidFill>
              </a:rPr>
              <a:t>engenheiro, provedor</a:t>
            </a:r>
          </a:p>
        </p:txBody>
      </p:sp>
      <p:sp>
        <p:nvSpPr>
          <p:cNvPr id="38" name="Tabela segmentos 1-4"/>
          <p:cNvSpPr txBox="1"/>
          <p:nvPr/>
        </p:nvSpPr>
        <p:spPr>
          <a:xfrm>
            <a:off x="11091672" y="5093207"/>
            <a:ext cx="8686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</a:rPr>
              <a:t>~7,5%</a:t>
            </a:r>
          </a:p>
        </p:txBody>
      </p:sp>
      <p:sp>
        <p:nvSpPr>
          <p:cNvPr id="39" name="Tabela segmentos faixa 2"/>
          <p:cNvSpPr/>
          <p:nvPr/>
        </p:nvSpPr>
        <p:spPr>
          <a:xfrm>
            <a:off x="6428232" y="5468112"/>
            <a:ext cx="5532120" cy="3931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sp>
        <p:nvSpPr>
          <p:cNvPr id="40" name="Tabela segmentos 2-0"/>
          <p:cNvSpPr txBox="1"/>
          <p:nvPr/>
        </p:nvSpPr>
        <p:spPr>
          <a:xfrm>
            <a:off x="6428232" y="5486400"/>
            <a:ext cx="10515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</a:rPr>
              <a:t>Energia</a:t>
            </a:r>
          </a:p>
        </p:txBody>
      </p:sp>
      <p:sp>
        <p:nvSpPr>
          <p:cNvPr id="41" name="Tabela segmentos 2-1"/>
          <p:cNvSpPr txBox="1"/>
          <p:nvPr/>
        </p:nvSpPr>
        <p:spPr>
          <a:xfrm>
            <a:off x="7479792" y="5486400"/>
            <a:ext cx="73152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A1A1A"/>
                </a:solidFill>
              </a:rPr>
              <a:t>19%¹</a:t>
            </a:r>
          </a:p>
        </p:txBody>
      </p:sp>
      <p:sp>
        <p:nvSpPr>
          <p:cNvPr id="42" name="Tabela segmentos 2-2"/>
          <p:cNvSpPr txBox="1"/>
          <p:nvPr/>
        </p:nvSpPr>
        <p:spPr>
          <a:xfrm>
            <a:off x="8211312" y="5486400"/>
            <a:ext cx="14630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A1A1A"/>
                </a:solidFill>
              </a:rPr>
              <a:t>SMS (Legrand)</a:t>
            </a:r>
          </a:p>
        </p:txBody>
      </p:sp>
      <p:sp>
        <p:nvSpPr>
          <p:cNvPr id="43" name="Tabela segmentos 2-3"/>
          <p:cNvSpPr txBox="1"/>
          <p:nvPr/>
        </p:nvSpPr>
        <p:spPr>
          <a:xfrm>
            <a:off x="9674352" y="5486400"/>
            <a:ext cx="141732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A1A1A"/>
                </a:solidFill>
              </a:rPr>
              <a:t>instalador, integrador solar</a:t>
            </a:r>
          </a:p>
        </p:txBody>
      </p:sp>
      <p:sp>
        <p:nvSpPr>
          <p:cNvPr id="44" name="Tabela segmentos 2-4"/>
          <p:cNvSpPr txBox="1"/>
          <p:nvPr/>
        </p:nvSpPr>
        <p:spPr>
          <a:xfrm>
            <a:off x="11091672" y="5486400"/>
            <a:ext cx="8686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</a:rPr>
              <a:t>~6%</a:t>
            </a:r>
          </a:p>
        </p:txBody>
      </p:sp>
      <p:sp>
        <p:nvSpPr>
          <p:cNvPr id="45" name="Nota energia"/>
          <p:cNvSpPr txBox="1"/>
          <p:nvPr/>
        </p:nvSpPr>
        <p:spPr>
          <a:xfrm>
            <a:off x="6428232" y="5961888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1">
                <a:solidFill>
                  <a:srgbClr val="6B6B6B"/>
                </a:solidFill>
              </a:rPr>
              <a:t>¹ Sem solar. Em solar, o share é de 1,9%.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Competição: escala global, vantagem local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A Intelbras é 16 vezes menor que a Hikvision e só vence onde a escala relevante é local: canal, treinamento, regime fiscal e estoque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Os rivais de Segurança são 5 a 16 vezes maiores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Receita total em 2025 (US$ bi)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Share alto só em Segurança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Share da Intelbras no Brasil, 2025 (%, MIDI), e o principal rival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III. Share estável; ganho estrutural não comprovado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Share da Intelbras em Segurança (%): a definição mudou de CFTV para o segmento inteiro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IV. Testes de vantagem: só canal e regime fiscal passam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Vantagem alegada, força da evidência e o dado que decide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Hikvision e Dahua (resultados 2025); Omdia (2023); FRE 2026 (1.4.c, 2.10); BTG CEO Conference 2021; Genial (c.2022); DFP 2025; Dahua, Relatório Anual 2025.</a:t>
            </a:r>
          </a:p>
        </p:txBody>
      </p:sp>
      <p:graphicFrame>
        <p:nvGraphicFramePr>
          <p:cNvPr id="17" name="Grafico escala global"/>
          <p:cNvGraphicFramePr>
            <a:graphicFrameLocks noGrp="1"/>
          </p:cNvGraphicFramePr>
          <p:nvPr/>
        </p:nvGraphicFramePr>
        <p:xfrm>
          <a:off x="566928" y="1545336"/>
          <a:ext cx="3931920" cy="1984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Destaque Hikvision"/>
          <p:cNvSpPr txBox="1"/>
          <p:nvPr/>
        </p:nvSpPr>
        <p:spPr>
          <a:xfrm>
            <a:off x="4590288" y="1819656"/>
            <a:ext cx="1508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</a:rPr>
              <a:t>25%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</a:rPr>
              <a:t>do mercado mundial de vídeo é da Hikvision (Omdia, 2023)</a:t>
            </a:r>
          </a:p>
        </p:txBody>
      </p:sp>
      <p:graphicFrame>
        <p:nvGraphicFramePr>
          <p:cNvPr id="19" name="Grafico share por segmento"/>
          <p:cNvGraphicFramePr>
            <a:graphicFrameLocks noGrp="1"/>
          </p:cNvGraphicFramePr>
          <p:nvPr/>
        </p:nvGraphicFramePr>
        <p:xfrm>
          <a:off x="6428232" y="1545336"/>
          <a:ext cx="5532120" cy="1984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Grafico share Seguranca"/>
          <p:cNvGraphicFramePr>
            <a:graphicFrameLocks noGrp="1"/>
          </p:cNvGraphicFramePr>
          <p:nvPr/>
        </p:nvGraphicFramePr>
        <p:xfrm>
          <a:off x="566928" y="4407408"/>
          <a:ext cx="3931920" cy="1984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cxnSp>
        <p:nvCxnSpPr>
          <p:cNvPr id="21" name="Quebra de serie"/>
          <p:cNvCxnSpPr/>
          <p:nvPr/>
        </p:nvCxnSpPr>
        <p:spPr>
          <a:xfrm>
            <a:off x="2532888" y="4498848"/>
            <a:ext cx="0" cy="1600200"/>
          </a:xfrm>
          <a:prstGeom prst="line">
            <a:avLst/>
          </a:prstGeom>
          <a:ln w="12700">
            <a:solidFill>
              <a:srgbClr val="8C8C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otulo quebra"/>
          <p:cNvSpPr txBox="1"/>
          <p:nvPr/>
        </p:nvSpPr>
        <p:spPr>
          <a:xfrm>
            <a:off x="1984248" y="438912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1">
                <a:solidFill>
                  <a:srgbClr val="6B6B6B"/>
                </a:solidFill>
              </a:rPr>
              <a:t>quebra de série</a:t>
            </a:r>
          </a:p>
        </p:txBody>
      </p:sp>
      <p:sp>
        <p:nvSpPr>
          <p:cNvPr id="23" name="Destaque mercado"/>
          <p:cNvSpPr txBox="1"/>
          <p:nvPr/>
        </p:nvSpPr>
        <p:spPr>
          <a:xfrm>
            <a:off x="4590288" y="4681728"/>
            <a:ext cx="1508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09F41"/>
                </a:solidFill>
              </a:rPr>
              <a:t>+2,5%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</a:rPr>
              <a:t>mercado implícito em 2025, contra +4,9% da receita: cresceu com o mercado</a:t>
            </a:r>
          </a:p>
        </p:txBody>
      </p:sp>
      <p:sp>
        <p:nvSpPr>
          <p:cNvPr id="24" name="Teste 0"/>
          <p:cNvSpPr txBox="1"/>
          <p:nvPr/>
        </p:nvSpPr>
        <p:spPr>
          <a:xfrm>
            <a:off x="6428232" y="4425696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</a:rPr>
              <a:t>Canal e treinamento</a:t>
            </a:r>
          </a:p>
        </p:txBody>
      </p:sp>
      <p:sp>
        <p:nvSpPr>
          <p:cNvPr id="25" name="Selo 0"/>
          <p:cNvSpPr/>
          <p:nvPr/>
        </p:nvSpPr>
        <p:spPr>
          <a:xfrm>
            <a:off x="8714232" y="4443983"/>
            <a:ext cx="1143000" cy="182880"/>
          </a:xfrm>
          <a:prstGeom prst="roundRect">
            <a:avLst>
              <a:gd name="adj" fmla="val 15000"/>
            </a:avLst>
          </a:prstGeom>
          <a:solidFill>
            <a:srgbClr val="7C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1A1A1A"/>
                </a:solidFill>
              </a:rPr>
              <a:t>MODERADA</a:t>
            </a:r>
          </a:p>
        </p:txBody>
      </p:sp>
      <p:sp>
        <p:nvSpPr>
          <p:cNvPr id="26" name="Teste nota 0"/>
          <p:cNvSpPr txBox="1"/>
          <p:nvPr/>
        </p:nvSpPr>
        <p:spPr>
          <a:xfrm>
            <a:off x="9948672" y="4425696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6B6B"/>
                </a:solidFill>
              </a:rPr>
              <a:t>370 mil qualificações/ano</a:t>
            </a:r>
          </a:p>
        </p:txBody>
      </p:sp>
      <p:sp>
        <p:nvSpPr>
          <p:cNvPr id="27" name="Teste 1"/>
          <p:cNvSpPr txBox="1"/>
          <p:nvPr/>
        </p:nvSpPr>
        <p:spPr>
          <a:xfrm>
            <a:off x="6428232" y="4670755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</a:rPr>
              <a:t>Exclusividade dos distribuidores</a:t>
            </a:r>
          </a:p>
        </p:txBody>
      </p:sp>
      <p:sp>
        <p:nvSpPr>
          <p:cNvPr id="28" name="Selo 1"/>
          <p:cNvSpPr/>
          <p:nvPr/>
        </p:nvSpPr>
        <p:spPr>
          <a:xfrm>
            <a:off x="8714232" y="4689043"/>
            <a:ext cx="1143000" cy="182880"/>
          </a:xfrm>
          <a:prstGeom prst="roundRect">
            <a:avLst>
              <a:gd name="adj" fmla="val 15000"/>
            </a:avLst>
          </a:prstGeom>
          <a:solidFill>
            <a:srgbClr val="7C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1A1A1A"/>
                </a:solidFill>
              </a:rPr>
              <a:t>MODERADA</a:t>
            </a:r>
          </a:p>
        </p:txBody>
      </p:sp>
      <p:sp>
        <p:nvSpPr>
          <p:cNvPr id="29" name="Teste nota 1"/>
          <p:cNvSpPr txBox="1"/>
          <p:nvPr/>
        </p:nvSpPr>
        <p:spPr>
          <a:xfrm>
            <a:off x="9948672" y="4670755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6B6B"/>
                </a:solidFill>
              </a:rPr>
              <a:t>95% aderem, por desconto</a:t>
            </a:r>
          </a:p>
        </p:txBody>
      </p:sp>
      <p:sp>
        <p:nvSpPr>
          <p:cNvPr id="30" name="Teste 2"/>
          <p:cNvSpPr txBox="1"/>
          <p:nvPr/>
        </p:nvSpPr>
        <p:spPr>
          <a:xfrm>
            <a:off x="6428232" y="4915814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</a:rPr>
              <a:t>Regime fiscal (Manaus)</a:t>
            </a:r>
          </a:p>
        </p:txBody>
      </p:sp>
      <p:sp>
        <p:nvSpPr>
          <p:cNvPr id="31" name="Selo 2"/>
          <p:cNvSpPr/>
          <p:nvPr/>
        </p:nvSpPr>
        <p:spPr>
          <a:xfrm>
            <a:off x="8714232" y="4934102"/>
            <a:ext cx="1143000" cy="182880"/>
          </a:xfrm>
          <a:prstGeom prst="roundRect">
            <a:avLst>
              <a:gd name="adj" fmla="val 15000"/>
            </a:avLst>
          </a:prstGeom>
          <a:solidFill>
            <a:srgbClr val="7C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1A1A1A"/>
                </a:solidFill>
              </a:rPr>
              <a:t>MODERADA</a:t>
            </a:r>
          </a:p>
        </p:txBody>
      </p:sp>
      <p:sp>
        <p:nvSpPr>
          <p:cNvPr id="32" name="Teste nota 2"/>
          <p:cNvSpPr txBox="1"/>
          <p:nvPr/>
        </p:nvSpPr>
        <p:spPr>
          <a:xfrm>
            <a:off x="9948672" y="491581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6B6B"/>
                </a:solidFill>
              </a:rPr>
              <a:t>R$180 mi; Hikvision também lá</a:t>
            </a:r>
          </a:p>
        </p:txBody>
      </p:sp>
      <p:sp>
        <p:nvSpPr>
          <p:cNvPr id="33" name="Teste 3"/>
          <p:cNvSpPr txBox="1"/>
          <p:nvPr/>
        </p:nvSpPr>
        <p:spPr>
          <a:xfrm>
            <a:off x="6428232" y="5160873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</a:rPr>
              <a:t>Estoque à pronta-entrega</a:t>
            </a:r>
          </a:p>
        </p:txBody>
      </p:sp>
      <p:sp>
        <p:nvSpPr>
          <p:cNvPr id="34" name="Selo 3"/>
          <p:cNvSpPr/>
          <p:nvPr/>
        </p:nvSpPr>
        <p:spPr>
          <a:xfrm>
            <a:off x="8714232" y="5179161"/>
            <a:ext cx="1143000" cy="182880"/>
          </a:xfrm>
          <a:prstGeom prst="roundRect">
            <a:avLst>
              <a:gd name="adj" fmla="val 15000"/>
            </a:avLst>
          </a:prstGeom>
          <a:solidFill>
            <a:srgbClr val="7C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1A1A1A"/>
                </a:solidFill>
              </a:rPr>
              <a:t>MODERADA</a:t>
            </a:r>
          </a:p>
        </p:txBody>
      </p:sp>
      <p:sp>
        <p:nvSpPr>
          <p:cNvPr id="35" name="Teste nota 3"/>
          <p:cNvSpPr txBox="1"/>
          <p:nvPr/>
        </p:nvSpPr>
        <p:spPr>
          <a:xfrm>
            <a:off x="9948672" y="5160873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6B6B"/>
                </a:solidFill>
              </a:rPr>
              <a:t>173 dias, mas custa capital</a:t>
            </a:r>
          </a:p>
        </p:txBody>
      </p:sp>
      <p:sp>
        <p:nvSpPr>
          <p:cNvPr id="36" name="Teste 4"/>
          <p:cNvSpPr txBox="1"/>
          <p:nvPr/>
        </p:nvSpPr>
        <p:spPr>
          <a:xfrm>
            <a:off x="6428232" y="5405932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</a:rPr>
              <a:t>Escala industrial e de compras</a:t>
            </a:r>
          </a:p>
        </p:txBody>
      </p:sp>
      <p:sp>
        <p:nvSpPr>
          <p:cNvPr id="37" name="Selo 4"/>
          <p:cNvSpPr/>
          <p:nvPr/>
        </p:nvSpPr>
        <p:spPr>
          <a:xfrm>
            <a:off x="8714232" y="5424220"/>
            <a:ext cx="1143000" cy="182880"/>
          </a:xfrm>
          <a:prstGeom prst="roundRect">
            <a:avLst>
              <a:gd name="adj" fmla="val 15000"/>
            </a:avLst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1A1A1A"/>
                </a:solidFill>
              </a:rPr>
              <a:t>FRACA</a:t>
            </a:r>
          </a:p>
        </p:txBody>
      </p:sp>
      <p:sp>
        <p:nvSpPr>
          <p:cNvPr id="38" name="Teste nota 4"/>
          <p:cNvSpPr txBox="1"/>
          <p:nvPr/>
        </p:nvSpPr>
        <p:spPr>
          <a:xfrm>
            <a:off x="9948672" y="540593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6B6B"/>
                </a:solidFill>
              </a:rPr>
              <a:t>Hikvision 16x maior</a:t>
            </a:r>
          </a:p>
        </p:txBody>
      </p:sp>
      <p:sp>
        <p:nvSpPr>
          <p:cNvPr id="39" name="Teste 5"/>
          <p:cNvSpPr txBox="1"/>
          <p:nvPr/>
        </p:nvSpPr>
        <p:spPr>
          <a:xfrm>
            <a:off x="6428232" y="5650992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</a:rPr>
              <a:t>P&amp;D próprio</a:t>
            </a:r>
          </a:p>
        </p:txBody>
      </p:sp>
      <p:sp>
        <p:nvSpPr>
          <p:cNvPr id="40" name="Selo 5"/>
          <p:cNvSpPr/>
          <p:nvPr/>
        </p:nvSpPr>
        <p:spPr>
          <a:xfrm>
            <a:off x="8714232" y="5669279"/>
            <a:ext cx="1143000" cy="182880"/>
          </a:xfrm>
          <a:prstGeom prst="roundRect">
            <a:avLst>
              <a:gd name="adj" fmla="val 15000"/>
            </a:avLst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1A1A1A"/>
                </a:solidFill>
              </a:rPr>
              <a:t>FRACA</a:t>
            </a:r>
          </a:p>
        </p:txBody>
      </p:sp>
      <p:sp>
        <p:nvSpPr>
          <p:cNvPr id="41" name="Teste nota 5"/>
          <p:cNvSpPr txBox="1"/>
          <p:nvPr/>
        </p:nvSpPr>
        <p:spPr>
          <a:xfrm>
            <a:off x="9948672" y="565099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6B6B"/>
                </a:solidFill>
              </a:rPr>
              <a:t>R$0,18 bi vs R$3,4 bi da Dahua</a:t>
            </a:r>
          </a:p>
        </p:txBody>
      </p:sp>
      <p:sp>
        <p:nvSpPr>
          <p:cNvPr id="42" name="Teste 6"/>
          <p:cNvSpPr txBox="1"/>
          <p:nvPr/>
        </p:nvSpPr>
        <p:spPr>
          <a:xfrm>
            <a:off x="6428232" y="5896051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</a:rPr>
              <a:t>Sourcing via Dahua</a:t>
            </a:r>
          </a:p>
        </p:txBody>
      </p:sp>
      <p:sp>
        <p:nvSpPr>
          <p:cNvPr id="43" name="Selo 6"/>
          <p:cNvSpPr/>
          <p:nvPr/>
        </p:nvSpPr>
        <p:spPr>
          <a:xfrm>
            <a:off x="8714232" y="5914339"/>
            <a:ext cx="1143000" cy="182880"/>
          </a:xfrm>
          <a:prstGeom prst="roundRect">
            <a:avLst>
              <a:gd name="adj" fmla="val 15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FFFFFF"/>
                </a:solidFill>
              </a:rPr>
              <a:t>RISCO</a:t>
            </a:r>
          </a:p>
        </p:txBody>
      </p:sp>
      <p:sp>
        <p:nvSpPr>
          <p:cNvPr id="44" name="Teste nota 6"/>
          <p:cNvSpPr txBox="1"/>
          <p:nvPr/>
        </p:nvSpPr>
        <p:spPr>
          <a:xfrm>
            <a:off x="9948672" y="5896051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6B6B"/>
                </a:solidFill>
              </a:rPr>
              <a:t>~50% do custo de Segurança</a:t>
            </a:r>
          </a:p>
        </p:txBody>
      </p:sp>
      <p:sp>
        <p:nvSpPr>
          <p:cNvPr id="45" name="Teste 7"/>
          <p:cNvSpPr txBox="1"/>
          <p:nvPr/>
        </p:nvSpPr>
        <p:spPr>
          <a:xfrm>
            <a:off x="6428232" y="6141110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</a:rPr>
              <a:t>Marca como poder de preço</a:t>
            </a:r>
          </a:p>
        </p:txBody>
      </p:sp>
      <p:sp>
        <p:nvSpPr>
          <p:cNvPr id="46" name="Selo 7"/>
          <p:cNvSpPr/>
          <p:nvPr/>
        </p:nvSpPr>
        <p:spPr>
          <a:xfrm>
            <a:off x="8714232" y="6159398"/>
            <a:ext cx="1143000" cy="182880"/>
          </a:xfrm>
          <a:prstGeom prst="roundRect">
            <a:avLst>
              <a:gd name="adj" fmla="val 15000"/>
            </a:avLst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1A1A1A"/>
                </a:solidFill>
              </a:rPr>
              <a:t>NÃO COMPROVADA</a:t>
            </a:r>
          </a:p>
        </p:txBody>
      </p:sp>
      <p:sp>
        <p:nvSpPr>
          <p:cNvPr id="47" name="Teste nota 7"/>
          <p:cNvSpPr txBox="1"/>
          <p:nvPr/>
        </p:nvSpPr>
        <p:spPr>
          <a:xfrm>
            <a:off x="9948672" y="614111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6B6B"/>
                </a:solidFill>
              </a:rPr>
              <a:t>sem prêmio de preço medido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Canal: o moat está na distribuição, não no hardware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Quase todos os distribuidores são exclusivos por opção, mas a fidelidade é comprada e não dilui custo: o canal defende share, não expande margem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O distribuidor agrega; o instalador especifica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Para onde vão as vendas da Intelbras, 2025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A fidelidade é comprada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O contrato econômico com o canal (programas PCI e Mais Verde)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III. O custo do canal não dilui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SG&amp;A ÷ receita (%) e ciclo de caixa (dias), 2019–2025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IV. O loop curto gira; o longo não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Teste do flywheel do canal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FRE 2026 (1.1, 1.2, 1.4.b); Planilha interativa 2T26; DFPs 2019–25. Receita por ponto e por instalador: cálculo próprio (R$4.460 mi × 68% ÷ 500 pontos e ÷ 90 mil instaladores).</a:t>
            </a:r>
          </a:p>
        </p:txBody>
      </p:sp>
      <p:sp>
        <p:nvSpPr>
          <p:cNvPr id="17" name="Fluxo Intelbras"/>
          <p:cNvSpPr/>
          <p:nvPr/>
        </p:nvSpPr>
        <p:spPr>
          <a:xfrm>
            <a:off x="566928" y="1636776"/>
            <a:ext cx="1097280" cy="502920"/>
          </a:xfrm>
          <a:prstGeom prst="roundRect">
            <a:avLst>
              <a:gd name="adj" fmla="val 15000"/>
            </a:avLst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Intelbras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709928" y="1883664"/>
            <a:ext cx="274320" cy="0"/>
          </a:xfrm>
          <a:prstGeom prst="line">
            <a:avLst/>
          </a:prstGeom>
          <a:ln w="22225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Fluxo distribuidores"/>
          <p:cNvSpPr/>
          <p:nvPr/>
        </p:nvSpPr>
        <p:spPr>
          <a:xfrm>
            <a:off x="2029968" y="1636776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~500 pontos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de distribuição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47288" y="1883664"/>
            <a:ext cx="274320" cy="0"/>
          </a:xfrm>
          <a:prstGeom prst="line">
            <a:avLst/>
          </a:prstGeom>
          <a:ln w="22225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luxo instaladores"/>
          <p:cNvSpPr/>
          <p:nvPr/>
        </p:nvSpPr>
        <p:spPr>
          <a:xfrm>
            <a:off x="3767328" y="1636776"/>
            <a:ext cx="1325880" cy="502920"/>
          </a:xfrm>
          <a:prstGeom prst="roundRect">
            <a:avLst>
              <a:gd name="adj" fmla="val 15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&gt;90 mil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instaladores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138928" y="1883664"/>
            <a:ext cx="228600" cy="0"/>
          </a:xfrm>
          <a:prstGeom prst="line">
            <a:avLst/>
          </a:prstGeom>
          <a:ln w="22225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Fluxo cliente"/>
          <p:cNvSpPr/>
          <p:nvPr/>
        </p:nvSpPr>
        <p:spPr>
          <a:xfrm>
            <a:off x="5413248" y="1636776"/>
            <a:ext cx="685800" cy="502920"/>
          </a:xfrm>
          <a:prstGeom prst="roundRect">
            <a:avLst>
              <a:gd name="adj" fmla="val 15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cliente</a:t>
            </a:r>
          </a:p>
        </p:txBody>
      </p:sp>
      <p:sp>
        <p:nvSpPr>
          <p:cNvPr id="24" name="Destaque 68"/>
          <p:cNvSpPr txBox="1"/>
          <p:nvPr/>
        </p:nvSpPr>
        <p:spPr>
          <a:xfrm>
            <a:off x="2029968" y="2231136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9F41"/>
                </a:solidFill>
              </a:rPr>
              <a:t>68%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das vendas passam por aqui</a:t>
            </a:r>
          </a:p>
        </p:txBody>
      </p:sp>
      <p:sp>
        <p:nvSpPr>
          <p:cNvPr id="25" name="Destaque instalador"/>
          <p:cNvSpPr txBox="1"/>
          <p:nvPr/>
        </p:nvSpPr>
        <p:spPr>
          <a:xfrm>
            <a:off x="3767328" y="2231136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</a:rPr>
              <a:t>R$34 mil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de compra por instalador/ano</a:t>
            </a:r>
          </a:p>
        </p:txBody>
      </p:sp>
      <p:sp>
        <p:nvSpPr>
          <p:cNvPr id="26" name="Fluxo varejo"/>
          <p:cNvSpPr/>
          <p:nvPr/>
        </p:nvSpPr>
        <p:spPr>
          <a:xfrm>
            <a:off x="566928" y="3054096"/>
            <a:ext cx="1691640" cy="384048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900" b="1">
                <a:solidFill>
                  <a:srgbClr val="1A1A1A"/>
                </a:solidFill>
              </a:rPr>
              <a:t>Varejo e e-commerce: 16%</a:t>
            </a:r>
          </a:p>
        </p:txBody>
      </p:sp>
      <p:sp>
        <p:nvSpPr>
          <p:cNvPr id="27" name="Fluxo integradores"/>
          <p:cNvSpPr/>
          <p:nvPr/>
        </p:nvSpPr>
        <p:spPr>
          <a:xfrm>
            <a:off x="2350008" y="3054096"/>
            <a:ext cx="2011680" cy="384048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900" b="1">
                <a:solidFill>
                  <a:srgbClr val="1A1A1A"/>
                </a:solidFill>
              </a:rPr>
              <a:t>Integradores e projetos: 16%</a:t>
            </a:r>
          </a:p>
        </p:txBody>
      </p:sp>
      <p:sp>
        <p:nvSpPr>
          <p:cNvPr id="28" name="Nota canais"/>
          <p:cNvSpPr txBox="1"/>
          <p:nvPr/>
        </p:nvSpPr>
        <p:spPr>
          <a:xfrm>
            <a:off x="4453128" y="3054096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1">
                <a:solidFill>
                  <a:srgbClr val="6B6B6B"/>
                </a:solidFill>
              </a:rPr>
              <a:t>canais onde o instalador pesa menos</a:t>
            </a:r>
          </a:p>
        </p:txBody>
      </p:sp>
      <p:sp>
        <p:nvSpPr>
          <p:cNvPr id="29" name="Contrato Intelbras dá"/>
          <p:cNvSpPr/>
          <p:nvPr/>
        </p:nvSpPr>
        <p:spPr>
          <a:xfrm>
            <a:off x="6428232" y="1591056"/>
            <a:ext cx="2606040" cy="292608"/>
          </a:xfrm>
          <a:prstGeom prst="roundRect">
            <a:avLst>
              <a:gd name="adj" fmla="val 15000"/>
            </a:avLst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Intelbras dá</a:t>
            </a:r>
          </a:p>
        </p:txBody>
      </p:sp>
      <p:sp>
        <p:nvSpPr>
          <p:cNvPr id="30" name="Contrato itens 0"/>
          <p:cNvSpPr txBox="1"/>
          <p:nvPr/>
        </p:nvSpPr>
        <p:spPr>
          <a:xfrm>
            <a:off x="6519672" y="1956816"/>
            <a:ext cx="2423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</a:rPr>
              <a:t>Proteção de preço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</a:rPr>
              <a:t>Rotação de estoque parado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</a:rPr>
              <a:t>Leads e marketing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</a:rPr>
              <a:t>Desconto de 2–9%</a:t>
            </a:r>
          </a:p>
        </p:txBody>
      </p:sp>
      <p:sp>
        <p:nvSpPr>
          <p:cNvPr id="31" name="Contrato Canal entrega"/>
          <p:cNvSpPr/>
          <p:nvPr/>
        </p:nvSpPr>
        <p:spPr>
          <a:xfrm>
            <a:off x="9354312" y="1591056"/>
            <a:ext cx="2606040" cy="292608"/>
          </a:xfrm>
          <a:prstGeom prst="roundRect">
            <a:avLst>
              <a:gd name="adj" fmla="val 15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Canal entrega</a:t>
            </a:r>
          </a:p>
        </p:txBody>
      </p:sp>
      <p:sp>
        <p:nvSpPr>
          <p:cNvPr id="32" name="Contrato itens 1"/>
          <p:cNvSpPr txBox="1"/>
          <p:nvPr/>
        </p:nvSpPr>
        <p:spPr>
          <a:xfrm>
            <a:off x="9445752" y="1956816"/>
            <a:ext cx="2423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</a:rPr>
              <a:t>Exclusividade de linha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</a:rPr>
              <a:t>Dados de sell-out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</a:rPr>
              <a:t>Metas quadrimestrais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</a:rPr>
              <a:t>Não vender ao consumidor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079992" y="1737360"/>
            <a:ext cx="228600" cy="0"/>
          </a:xfrm>
          <a:prstGeom prst="line">
            <a:avLst/>
          </a:prstGeom>
          <a:ln w="1905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Destaque 95"/>
          <p:cNvSpPr txBox="1"/>
          <p:nvPr/>
        </p:nvSpPr>
        <p:spPr>
          <a:xfrm>
            <a:off x="6428232" y="2916936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09F41"/>
                </a:solidFill>
              </a:rPr>
              <a:t>95%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</a:rPr>
              <a:t>dos distribuidores aderem à exclusividade por opção</a:t>
            </a:r>
          </a:p>
        </p:txBody>
      </p:sp>
      <p:sp>
        <p:nvSpPr>
          <p:cNvPr id="35" name="Nota replicavel"/>
          <p:cNvSpPr txBox="1"/>
          <p:nvPr/>
        </p:nvSpPr>
        <p:spPr>
          <a:xfrm>
            <a:off x="9354312" y="2962656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6B6B6B"/>
                </a:solidFill>
              </a:rPr>
              <a:t>Quem pagar mais desconto e prazo pode replicar: a fidelidade é contratual, não técnica.</a:t>
            </a:r>
          </a:p>
        </p:txBody>
      </p:sp>
      <p:graphicFrame>
        <p:nvGraphicFramePr>
          <p:cNvPr id="36" name="Grafico SGA"/>
          <p:cNvGraphicFramePr>
            <a:graphicFrameLocks noGrp="1"/>
          </p:cNvGraphicFramePr>
          <p:nvPr/>
        </p:nvGraphicFramePr>
        <p:xfrm>
          <a:off x="566928" y="4407408"/>
          <a:ext cx="2697480" cy="1984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7" name="Grafico ciclo de caixa"/>
          <p:cNvGraphicFramePr>
            <a:graphicFrameLocks noGrp="1"/>
          </p:cNvGraphicFramePr>
          <p:nvPr/>
        </p:nvGraphicFramePr>
        <p:xfrm>
          <a:off x="3401568" y="4407408"/>
          <a:ext cx="2697480" cy="1984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8" name="Rotulo SGA"/>
          <p:cNvSpPr txBox="1"/>
          <p:nvPr/>
        </p:nvSpPr>
        <p:spPr>
          <a:xfrm>
            <a:off x="566928" y="4389120"/>
            <a:ext cx="2697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595959"/>
                </a:solidFill>
              </a:rPr>
              <a:t>SG&amp;A ÷ receita (%)</a:t>
            </a:r>
          </a:p>
        </p:txBody>
      </p:sp>
      <p:sp>
        <p:nvSpPr>
          <p:cNvPr id="39" name="Rotulo CCC"/>
          <p:cNvSpPr txBox="1"/>
          <p:nvPr/>
        </p:nvSpPr>
        <p:spPr>
          <a:xfrm>
            <a:off x="3401568" y="4389120"/>
            <a:ext cx="2697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595959"/>
                </a:solidFill>
              </a:rPr>
              <a:t>Ciclo de caixa (dias)</a:t>
            </a:r>
          </a:p>
        </p:txBody>
      </p:sp>
      <p:sp>
        <p:nvSpPr>
          <p:cNvPr id="40" name="Loop curto 0"/>
          <p:cNvSpPr/>
          <p:nvPr/>
        </p:nvSpPr>
        <p:spPr>
          <a:xfrm>
            <a:off x="6428232" y="4498848"/>
            <a:ext cx="1234440" cy="384048"/>
          </a:xfrm>
          <a:prstGeom prst="roundRect">
            <a:avLst>
              <a:gd name="adj" fmla="val 15000"/>
            </a:avLst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950" b="1">
                <a:solidFill>
                  <a:srgbClr val="FFFFFF"/>
                </a:solidFill>
              </a:rPr>
              <a:t>Treinamento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680960" y="4690872"/>
            <a:ext cx="164592" cy="0"/>
          </a:xfrm>
          <a:prstGeom prst="line">
            <a:avLst/>
          </a:prstGeom>
          <a:ln w="1905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Loop curto 1"/>
          <p:cNvSpPr/>
          <p:nvPr/>
        </p:nvSpPr>
        <p:spPr>
          <a:xfrm>
            <a:off x="7863840" y="4498848"/>
            <a:ext cx="1234440" cy="384048"/>
          </a:xfrm>
          <a:prstGeom prst="roundRect">
            <a:avLst>
              <a:gd name="adj" fmla="val 15000"/>
            </a:avLst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950" b="1">
                <a:solidFill>
                  <a:srgbClr val="FFFFFF"/>
                </a:solidFill>
              </a:rPr>
              <a:t>Especificação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116567" y="4690872"/>
            <a:ext cx="164592" cy="0"/>
          </a:xfrm>
          <a:prstGeom prst="line">
            <a:avLst/>
          </a:prstGeom>
          <a:ln w="1905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Loop curto 2"/>
          <p:cNvSpPr/>
          <p:nvPr/>
        </p:nvSpPr>
        <p:spPr>
          <a:xfrm>
            <a:off x="9299448" y="4498848"/>
            <a:ext cx="1234440" cy="384048"/>
          </a:xfrm>
          <a:prstGeom prst="roundRect">
            <a:avLst>
              <a:gd name="adj" fmla="val 15000"/>
            </a:avLst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950" b="1">
                <a:solidFill>
                  <a:srgbClr val="FFFFFF"/>
                </a:solidFill>
              </a:rPr>
              <a:t>Disponibilidade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552176" y="4690872"/>
            <a:ext cx="164591" cy="0"/>
          </a:xfrm>
          <a:prstGeom prst="line">
            <a:avLst/>
          </a:prstGeom>
          <a:ln w="1905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Loop curto 3"/>
          <p:cNvSpPr/>
          <p:nvPr/>
        </p:nvSpPr>
        <p:spPr>
          <a:xfrm>
            <a:off x="10735056" y="4498848"/>
            <a:ext cx="1234440" cy="384048"/>
          </a:xfrm>
          <a:prstGeom prst="roundRect">
            <a:avLst>
              <a:gd name="adj" fmla="val 15000"/>
            </a:avLst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950" b="1">
                <a:solidFill>
                  <a:srgbClr val="FFFFFF"/>
                </a:solidFill>
              </a:rPr>
              <a:t>Volume</a:t>
            </a:r>
          </a:p>
        </p:txBody>
      </p:sp>
      <p:sp>
        <p:nvSpPr>
          <p:cNvPr id="47" name="Loop curto status"/>
          <p:cNvSpPr txBox="1"/>
          <p:nvPr/>
        </p:nvSpPr>
        <p:spPr>
          <a:xfrm>
            <a:off x="6428232" y="4937760"/>
            <a:ext cx="5532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09F41"/>
                </a:solidFill>
              </a:rPr>
              <a:t>✔ Gira: Segurança cresceu 18% a.a. em 2019–25, com share de 43–44%</a:t>
            </a:r>
          </a:p>
        </p:txBody>
      </p:sp>
      <p:sp>
        <p:nvSpPr>
          <p:cNvPr id="48" name="Loop longo 0"/>
          <p:cNvSpPr/>
          <p:nvPr/>
        </p:nvSpPr>
        <p:spPr>
          <a:xfrm>
            <a:off x="6428232" y="5367528"/>
            <a:ext cx="1691640" cy="384048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950" b="1">
                <a:solidFill>
                  <a:srgbClr val="595959"/>
                </a:solidFill>
              </a:rPr>
              <a:t>Escala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138160" y="5559552"/>
            <a:ext cx="192024" cy="0"/>
          </a:xfrm>
          <a:prstGeom prst="line">
            <a:avLst/>
          </a:prstGeom>
          <a:ln w="19050">
            <a:solidFill>
              <a:srgbClr val="BFBF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Loop longo 1"/>
          <p:cNvSpPr/>
          <p:nvPr/>
        </p:nvSpPr>
        <p:spPr>
          <a:xfrm>
            <a:off x="8348472" y="5367528"/>
            <a:ext cx="1691640" cy="384048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950" b="1">
                <a:solidFill>
                  <a:srgbClr val="595959"/>
                </a:solidFill>
              </a:rPr>
              <a:t>Custo menor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058400" y="5559552"/>
            <a:ext cx="192024" cy="0"/>
          </a:xfrm>
          <a:prstGeom prst="line">
            <a:avLst/>
          </a:prstGeom>
          <a:ln w="19050">
            <a:solidFill>
              <a:srgbClr val="BFBF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Loop longo 2"/>
          <p:cNvSpPr/>
          <p:nvPr/>
        </p:nvSpPr>
        <p:spPr>
          <a:xfrm>
            <a:off x="10268712" y="5367528"/>
            <a:ext cx="1691640" cy="384048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950" b="1">
                <a:solidFill>
                  <a:srgbClr val="595959"/>
                </a:solidFill>
              </a:rPr>
              <a:t>Condições melhores</a:t>
            </a:r>
          </a:p>
        </p:txBody>
      </p:sp>
      <p:sp>
        <p:nvSpPr>
          <p:cNvPr id="53" name="Loop longo status"/>
          <p:cNvSpPr txBox="1"/>
          <p:nvPr/>
        </p:nvSpPr>
        <p:spPr>
          <a:xfrm>
            <a:off x="6428232" y="5806440"/>
            <a:ext cx="5532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595959"/>
                </a:solidFill>
              </a:rPr>
              <a:t>✘ Não aparece nos números: ROIC pré-IR de 31% (2019) para 15% (2025); SG&amp;A sem diluição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Fornecedores: poucos, globais e chineses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Chips vêm de Taiwan, Coreia e EUA; produtos prontos e energia, da China; e cerca de metade do custo de Segurança está num só contrato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Em cada insumo, poucos fabricantes no mundo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Participação dos maiores fabricantes no mundo (%) e o produto Intelbras que depende do insumo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A Dahua é cerca de metade do custo de Segurança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Compras da Dahua ÷ custo dos produtos vendidos de Segurança (%)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III. Exclusividades de parceiros chineses terminam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Marcos das parcerias com a FiberHome e a Dahua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TrendForce; TrendFocus; Counterpoint; Omdia; InfoLink; IEA-PVPS; SNE Research; DFPs 2021–25 (NE 31, 32); FRE 2026 (1.4.e, 11.3); comunicados Intelbras; Dahua (anúncios 2023-073 e 2025-075).</a:t>
            </a:r>
          </a:p>
        </p:txBody>
      </p:sp>
      <p:graphicFrame>
        <p:nvGraphicFramePr>
          <p:cNvPr id="13" name="Grafico concentracao fornecedores"/>
          <p:cNvGraphicFramePr>
            <a:graphicFrameLocks noGrp="1"/>
          </p:cNvGraphicFramePr>
          <p:nvPr/>
        </p:nvGraphicFramePr>
        <p:xfrm>
          <a:off x="566928" y="1545336"/>
          <a:ext cx="5532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Legenda China"/>
          <p:cNvSpPr/>
          <p:nvPr/>
        </p:nvSpPr>
        <p:spPr>
          <a:xfrm>
            <a:off x="2304288" y="5788151"/>
            <a:ext cx="128016" cy="128016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genda China texto"/>
          <p:cNvSpPr txBox="1"/>
          <p:nvPr/>
        </p:nvSpPr>
        <p:spPr>
          <a:xfrm>
            <a:off x="2487168" y="5751575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empresa chinesa</a:t>
            </a:r>
          </a:p>
        </p:txBody>
      </p:sp>
      <p:sp>
        <p:nvSpPr>
          <p:cNvPr id="16" name="Legenda outras"/>
          <p:cNvSpPr/>
          <p:nvPr/>
        </p:nvSpPr>
        <p:spPr>
          <a:xfrm>
            <a:off x="3721608" y="5788151"/>
            <a:ext cx="128016" cy="12801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Legenda outras texto"/>
          <p:cNvSpPr txBox="1"/>
          <p:nvPr/>
        </p:nvSpPr>
        <p:spPr>
          <a:xfrm>
            <a:off x="3904487" y="5751575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Taiwan, Coreia, EUA, Japão</a:t>
            </a:r>
          </a:p>
        </p:txBody>
      </p:sp>
      <p:graphicFrame>
        <p:nvGraphicFramePr>
          <p:cNvPr id="18" name="Grafico Dahua CPV Seguranca"/>
          <p:cNvGraphicFramePr>
            <a:graphicFrameLocks noGrp="1"/>
          </p:cNvGraphicFramePr>
          <p:nvPr/>
        </p:nvGraphicFramePr>
        <p:xfrm>
          <a:off x="6428232" y="1545336"/>
          <a:ext cx="3931920" cy="1984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Nota 2024"/>
          <p:cNvSpPr txBox="1"/>
          <p:nvPr/>
        </p:nvSpPr>
        <p:spPr>
          <a:xfrm>
            <a:off x="8668512" y="159105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1">
                <a:solidFill>
                  <a:srgbClr val="6B6B6B"/>
                </a:solidFill>
              </a:rPr>
              <a:t>estoque antecipado</a:t>
            </a:r>
          </a:p>
        </p:txBody>
      </p:sp>
      <p:sp>
        <p:nvSpPr>
          <p:cNvPr id="20" name="Destaque 36"/>
          <p:cNvSpPr txBox="1"/>
          <p:nvPr/>
        </p:nvSpPr>
        <p:spPr>
          <a:xfrm>
            <a:off x="10451592" y="1819656"/>
            <a:ext cx="1508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</a:rPr>
              <a:t>36%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</a:rPr>
              <a:t>de todos os gastos com fornecedores (2025)</a:t>
            </a:r>
          </a:p>
        </p:txBody>
      </p:sp>
      <p:sp>
        <p:nvSpPr>
          <p:cNvPr id="21" name="Ano 2018"/>
          <p:cNvSpPr txBox="1"/>
          <p:nvPr/>
        </p:nvSpPr>
        <p:spPr>
          <a:xfrm>
            <a:off x="7205472" y="60990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2018</a:t>
            </a:r>
          </a:p>
        </p:txBody>
      </p:sp>
      <p:sp>
        <p:nvSpPr>
          <p:cNvPr id="22" name="Ano 2020"/>
          <p:cNvSpPr txBox="1"/>
          <p:nvPr/>
        </p:nvSpPr>
        <p:spPr>
          <a:xfrm>
            <a:off x="7972914" y="60990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2020</a:t>
            </a:r>
          </a:p>
        </p:txBody>
      </p:sp>
      <p:sp>
        <p:nvSpPr>
          <p:cNvPr id="23" name="Ano 2022"/>
          <p:cNvSpPr txBox="1"/>
          <p:nvPr/>
        </p:nvSpPr>
        <p:spPr>
          <a:xfrm>
            <a:off x="8740357" y="60990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2022</a:t>
            </a:r>
          </a:p>
        </p:txBody>
      </p:sp>
      <p:sp>
        <p:nvSpPr>
          <p:cNvPr id="24" name="Ano 2024"/>
          <p:cNvSpPr txBox="1"/>
          <p:nvPr/>
        </p:nvSpPr>
        <p:spPr>
          <a:xfrm>
            <a:off x="9507800" y="60990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2024</a:t>
            </a:r>
          </a:p>
        </p:txBody>
      </p:sp>
      <p:sp>
        <p:nvSpPr>
          <p:cNvPr id="25" name="Ano 2026"/>
          <p:cNvSpPr txBox="1"/>
          <p:nvPr/>
        </p:nvSpPr>
        <p:spPr>
          <a:xfrm>
            <a:off x="10275243" y="60990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2026</a:t>
            </a:r>
          </a:p>
        </p:txBody>
      </p:sp>
      <p:sp>
        <p:nvSpPr>
          <p:cNvPr id="26" name="Ano 2028"/>
          <p:cNvSpPr txBox="1"/>
          <p:nvPr/>
        </p:nvSpPr>
        <p:spPr>
          <a:xfrm>
            <a:off x="11042686" y="60990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2028</a:t>
            </a:r>
          </a:p>
        </p:txBody>
      </p:sp>
      <p:sp>
        <p:nvSpPr>
          <p:cNvPr id="27" name="Rotulo FiberHome"/>
          <p:cNvSpPr txBox="1"/>
          <p:nvPr/>
        </p:nvSpPr>
        <p:spPr>
          <a:xfrm>
            <a:off x="6428232" y="472744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FiberHome</a:t>
            </a:r>
          </a:p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(fibra, GPON)</a:t>
            </a:r>
          </a:p>
        </p:txBody>
      </p:sp>
      <p:sp>
        <p:nvSpPr>
          <p:cNvPr id="28" name="Rotulo Dahua"/>
          <p:cNvSpPr txBox="1"/>
          <p:nvPr/>
        </p:nvSpPr>
        <p:spPr>
          <a:xfrm>
            <a:off x="6428232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Dahua</a:t>
            </a:r>
          </a:p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(câmeras)</a:t>
            </a:r>
          </a:p>
        </p:txBody>
      </p:sp>
      <p:cxnSp>
        <p:nvCxnSpPr>
          <p:cNvPr id="29" name="Trilho FiberHome"/>
          <p:cNvCxnSpPr/>
          <p:nvPr/>
        </p:nvCxnSpPr>
        <p:spPr>
          <a:xfrm>
            <a:off x="7479792" y="4864608"/>
            <a:ext cx="4297680" cy="0"/>
          </a:xfrm>
          <a:prstGeom prst="line">
            <a:avLst/>
          </a:prstGeom>
          <a:ln w="12700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Trilho Dahua"/>
          <p:cNvCxnSpPr/>
          <p:nvPr/>
        </p:nvCxnSpPr>
        <p:spPr>
          <a:xfrm>
            <a:off x="7479792" y="5641848"/>
            <a:ext cx="4297680" cy="0"/>
          </a:xfrm>
          <a:prstGeom prst="line">
            <a:avLst/>
          </a:prstGeom>
          <a:ln w="12700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Barra exclusividade FiberHome"/>
          <p:cNvSpPr/>
          <p:nvPr/>
        </p:nvSpPr>
        <p:spPr>
          <a:xfrm>
            <a:off x="9782120" y="4773168"/>
            <a:ext cx="778954" cy="1828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750" b="0">
                <a:solidFill>
                  <a:srgbClr val="FFFFFF"/>
                </a:solidFill>
              </a:rPr>
              <a:t>exclusiva</a:t>
            </a:r>
          </a:p>
        </p:txBody>
      </p:sp>
      <p:sp>
        <p:nvSpPr>
          <p:cNvPr id="32" name="Ponto fim FH"/>
          <p:cNvSpPr/>
          <p:nvPr/>
        </p:nvSpPr>
        <p:spPr>
          <a:xfrm>
            <a:off x="10487923" y="4791456"/>
            <a:ext cx="146304" cy="146304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tulo FH"/>
          <p:cNvSpPr txBox="1"/>
          <p:nvPr/>
        </p:nvSpPr>
        <p:spPr>
          <a:xfrm>
            <a:off x="8794242" y="448056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jan/24 → jan/26; depois, ambas podem usar outros parceiros</a:t>
            </a:r>
          </a:p>
        </p:txBody>
      </p:sp>
      <p:sp>
        <p:nvSpPr>
          <p:cNvPr id="34" name="Barra acordo Dahua"/>
          <p:cNvSpPr/>
          <p:nvPr/>
        </p:nvSpPr>
        <p:spPr>
          <a:xfrm>
            <a:off x="7859676" y="5559552"/>
            <a:ext cx="3837214" cy="16459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sp>
        <p:nvSpPr>
          <p:cNvPr id="35" name="Ponto venda autorizada"/>
          <p:cNvSpPr/>
          <p:nvPr/>
        </p:nvSpPr>
        <p:spPr>
          <a:xfrm>
            <a:off x="9583810" y="5394959"/>
            <a:ext cx="128016" cy="128016"/>
          </a:xfrm>
          <a:prstGeom prst="ellipse">
            <a:avLst/>
          </a:prstGeom>
          <a:solidFill>
            <a:srgbClr val="8C8C8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tulo venda"/>
          <p:cNvSpPr txBox="1"/>
          <p:nvPr/>
        </p:nvSpPr>
        <p:spPr>
          <a:xfrm>
            <a:off x="8367658" y="51114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ago/23: venda das ações autorizada; nada vendido</a:t>
            </a:r>
          </a:p>
        </p:txBody>
      </p:sp>
      <p:sp>
        <p:nvSpPr>
          <p:cNvPr id="37" name="Ponto canal proprio"/>
          <p:cNvSpPr/>
          <p:nvPr/>
        </p:nvSpPr>
        <p:spPr>
          <a:xfrm>
            <a:off x="9909973" y="5760720"/>
            <a:ext cx="128016" cy="128016"/>
          </a:xfrm>
          <a:prstGeom prst="ellipse">
            <a:avLst/>
          </a:prstGeom>
          <a:solidFill>
            <a:srgbClr val="8C8C8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tulo canal"/>
          <p:cNvSpPr txBox="1"/>
          <p:nvPr/>
        </p:nvSpPr>
        <p:spPr>
          <a:xfrm>
            <a:off x="8693821" y="5888736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2024: canal próprio (3 distribuidores)</a:t>
            </a:r>
          </a:p>
        </p:txBody>
      </p:sp>
      <p:sp>
        <p:nvSpPr>
          <p:cNvPr id="39" name="Ponto vencimento"/>
          <p:cNvSpPr/>
          <p:nvPr/>
        </p:nvSpPr>
        <p:spPr>
          <a:xfrm>
            <a:off x="11587162" y="5532120"/>
            <a:ext cx="219456" cy="219456"/>
          </a:xfrm>
          <a:prstGeom prst="ellipse">
            <a:avLst/>
          </a:prstGeom>
          <a:solidFill>
            <a:srgbClr val="009F4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tulo dez28"/>
          <p:cNvSpPr txBox="1"/>
          <p:nvPr/>
        </p:nvSpPr>
        <p:spPr>
          <a:xfrm>
            <a:off x="11193970" y="5230368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009F41"/>
                </a:solidFill>
              </a:rPr>
              <a:t>dez/28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Preços: tomadora de preço, com defasagem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O preço é ancorado no custo global e no câmbio; a margem só ganha na defasagem dos ~170 dias de estoque, e o pico do 2T26 é transitório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A margem bruta oscila até 5 p.p. com câmbio e componentes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Margem bruta consolidada por trimestre (%)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O choque de custo chega ao CPV em ~2 trimestres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Do preço na origem ao preço Intelbras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III. O risco é operacional, não financeiro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Efeito de +10% no dólar sobre a base de 2025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IV. Segurança oscila entre 33% e 37%, sem tendência de alta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Margem bruta por segmento (%) e dólar médio do ano (R$)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Planilha interativa 2T26; Release 2T26 (p.2–3); DFPs 2020–25 (NE 8, 25, 31); FRE 2026 (2.2); BCB (dólar médio). 4T23 reportado (29,5% ajustado).</a:t>
            </a:r>
          </a:p>
        </p:txBody>
      </p:sp>
      <p:graphicFrame>
        <p:nvGraphicFramePr>
          <p:cNvPr id="17" name="Grafico margem trimestral"/>
          <p:cNvGraphicFramePr>
            <a:graphicFrameLocks noGrp="1"/>
          </p:cNvGraphicFramePr>
          <p:nvPr/>
        </p:nvGraphicFramePr>
        <p:xfrm>
          <a:off x="566928" y="1911095"/>
          <a:ext cx="5532120" cy="16184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Nota 2024"/>
          <p:cNvSpPr/>
          <p:nvPr/>
        </p:nvSpPr>
        <p:spPr>
          <a:xfrm>
            <a:off x="2167128" y="1563624"/>
            <a:ext cx="210312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1A1A1A"/>
                </a:solidFill>
              </a:rPr>
              <a:t>2024: dólar +28%, repasse incompleto</a:t>
            </a:r>
          </a:p>
          <a:p>
            <a:pPr algn="ctr"/>
            <a:r>
              <a:rPr sz="850" b="0">
                <a:solidFill>
                  <a:srgbClr val="1A1A1A"/>
                </a:solidFill>
              </a:rPr>
              <a:t>→ −4,9 p.p.</a:t>
            </a:r>
          </a:p>
        </p:txBody>
      </p:sp>
      <p:sp>
        <p:nvSpPr>
          <p:cNvPr id="19" name="Nota 2T26"/>
          <p:cNvSpPr/>
          <p:nvPr/>
        </p:nvSpPr>
        <p:spPr>
          <a:xfrm>
            <a:off x="4361688" y="1563624"/>
            <a:ext cx="173736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00" b="1">
                <a:solidFill>
                  <a:srgbClr val="1A1A1A"/>
                </a:solidFill>
              </a:rPr>
              <a:t>2T26: memória cara, preço a</a:t>
            </a:r>
          </a:p>
          <a:p>
            <a:pPr algn="ctr"/>
            <a:r>
              <a:rPr sz="800" b="0">
                <a:solidFill>
                  <a:srgbClr val="1A1A1A"/>
                </a:solidFill>
              </a:rPr>
              <a:t>reposição → +2,4 p.p. (transitório)</a:t>
            </a:r>
          </a:p>
        </p:txBody>
      </p:sp>
      <p:sp>
        <p:nvSpPr>
          <p:cNvPr id="20" name="Cadeia 0"/>
          <p:cNvSpPr/>
          <p:nvPr/>
        </p:nvSpPr>
        <p:spPr>
          <a:xfrm>
            <a:off x="6428232" y="1636776"/>
            <a:ext cx="914400" cy="640080"/>
          </a:xfrm>
          <a:prstGeom prst="roundRect">
            <a:avLst>
              <a:gd name="adj" fmla="val 15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950" b="1">
                <a:solidFill>
                  <a:srgbClr val="FFFFFF"/>
                </a:solidFill>
              </a:rPr>
              <a:t>Preço FOB</a:t>
            </a:r>
          </a:p>
          <a:p>
            <a:pPr algn="ctr"/>
            <a:r>
              <a:rPr sz="950" b="0">
                <a:solidFill>
                  <a:srgbClr val="FFFFFF"/>
                </a:solidFill>
              </a:rPr>
              <a:t>(US$)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70064" y="1956816"/>
            <a:ext cx="182880" cy="0"/>
          </a:xfrm>
          <a:prstGeom prst="line">
            <a:avLst/>
          </a:prstGeom>
          <a:ln w="1905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adeia 1"/>
          <p:cNvSpPr/>
          <p:nvPr/>
        </p:nvSpPr>
        <p:spPr>
          <a:xfrm>
            <a:off x="7580376" y="1636776"/>
            <a:ext cx="914400" cy="640080"/>
          </a:xfrm>
          <a:prstGeom prst="roundRect">
            <a:avLst>
              <a:gd name="adj" fmla="val 15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950" b="1">
                <a:solidFill>
                  <a:srgbClr val="FFFFFF"/>
                </a:solidFill>
              </a:rPr>
              <a:t>× câmbio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522208" y="1956816"/>
            <a:ext cx="182880" cy="0"/>
          </a:xfrm>
          <a:prstGeom prst="line">
            <a:avLst/>
          </a:prstGeom>
          <a:ln w="1905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adeia 2"/>
          <p:cNvSpPr/>
          <p:nvPr/>
        </p:nvSpPr>
        <p:spPr>
          <a:xfrm>
            <a:off x="8732520" y="1636776"/>
            <a:ext cx="914400" cy="640080"/>
          </a:xfrm>
          <a:prstGeom prst="roundRect">
            <a:avLst>
              <a:gd name="adj" fmla="val 15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950" b="1">
                <a:solidFill>
                  <a:srgbClr val="FFFFFF"/>
                </a:solidFill>
              </a:rPr>
              <a:t>+ frete e</a:t>
            </a:r>
          </a:p>
          <a:p>
            <a:pPr algn="ctr"/>
            <a:r>
              <a:rPr sz="950" b="0">
                <a:solidFill>
                  <a:srgbClr val="FFFFFF"/>
                </a:solidFill>
              </a:rPr>
              <a:t>tributos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674352" y="1956816"/>
            <a:ext cx="182880" cy="0"/>
          </a:xfrm>
          <a:prstGeom prst="line">
            <a:avLst/>
          </a:prstGeom>
          <a:ln w="1905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adeia 3"/>
          <p:cNvSpPr/>
          <p:nvPr/>
        </p:nvSpPr>
        <p:spPr>
          <a:xfrm>
            <a:off x="9884664" y="1636776"/>
            <a:ext cx="914400" cy="640080"/>
          </a:xfrm>
          <a:prstGeom prst="roundRect">
            <a:avLst>
              <a:gd name="adj" fmla="val 15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950" b="1">
                <a:solidFill>
                  <a:srgbClr val="FFFFFF"/>
                </a:solidFill>
              </a:rPr>
              <a:t>Estoque</a:t>
            </a:r>
          </a:p>
          <a:p>
            <a:pPr algn="ctr"/>
            <a:r>
              <a:rPr sz="950" b="0">
                <a:solidFill>
                  <a:srgbClr val="FFFFFF"/>
                </a:solidFill>
              </a:rPr>
              <a:t>173 dias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826496" y="1956816"/>
            <a:ext cx="182880" cy="0"/>
          </a:xfrm>
          <a:prstGeom prst="line">
            <a:avLst/>
          </a:prstGeom>
          <a:ln w="1905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adeia 4"/>
          <p:cNvSpPr/>
          <p:nvPr/>
        </p:nvSpPr>
        <p:spPr>
          <a:xfrm>
            <a:off x="11036808" y="1636776"/>
            <a:ext cx="914400" cy="640080"/>
          </a:xfrm>
          <a:prstGeom prst="roundRect">
            <a:avLst>
              <a:gd name="adj" fmla="val 15000"/>
            </a:avLst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950" b="1">
                <a:solidFill>
                  <a:srgbClr val="FFFFFF"/>
                </a:solidFill>
              </a:rPr>
              <a:t>Preço</a:t>
            </a:r>
          </a:p>
          <a:p>
            <a:pPr algn="ctr"/>
            <a:r>
              <a:rPr sz="950" b="0">
                <a:solidFill>
                  <a:srgbClr val="FFFFFF"/>
                </a:solidFill>
              </a:rPr>
              <a:t>Intelbras</a:t>
            </a:r>
          </a:p>
        </p:txBody>
      </p:sp>
      <p:sp>
        <p:nvSpPr>
          <p:cNvPr id="29" name="Nota custo medio"/>
          <p:cNvSpPr txBox="1"/>
          <p:nvPr/>
        </p:nvSpPr>
        <p:spPr>
          <a:xfrm>
            <a:off x="9747504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1">
                <a:solidFill>
                  <a:srgbClr val="6B6B6B"/>
                </a:solidFill>
              </a:rPr>
              <a:t>a custo médio</a:t>
            </a:r>
          </a:p>
        </p:txBody>
      </p:sp>
      <p:sp>
        <p:nvSpPr>
          <p:cNvPr id="30" name="Nota reposicao"/>
          <p:cNvSpPr txBox="1"/>
          <p:nvPr/>
        </p:nvSpPr>
        <p:spPr>
          <a:xfrm>
            <a:off x="10853928" y="232257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1">
                <a:solidFill>
                  <a:srgbClr val="6B6B6B"/>
                </a:solidFill>
              </a:rPr>
              <a:t>a custo de reposição</a:t>
            </a:r>
          </a:p>
        </p:txBody>
      </p:sp>
      <p:sp>
        <p:nvSpPr>
          <p:cNvPr id="31" name="Destaque transito"/>
          <p:cNvSpPr txBox="1"/>
          <p:nvPr/>
        </p:nvSpPr>
        <p:spPr>
          <a:xfrm>
            <a:off x="6428232" y="2642615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</a:rPr>
              <a:t>R$318 mi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em importações em trânsito (~37 dias)</a:t>
            </a:r>
          </a:p>
        </p:txBody>
      </p:sp>
      <p:sp>
        <p:nvSpPr>
          <p:cNvPr id="32" name="Citacao precos"/>
          <p:cNvSpPr txBox="1"/>
          <p:nvPr/>
        </p:nvSpPr>
        <p:spPr>
          <a:xfrm>
            <a:off x="8805672" y="27340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595959"/>
                </a:solidFill>
              </a:rPr>
              <a:t>“O mercado define os preços.”</a:t>
            </a:r>
          </a:p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595959"/>
                </a:solidFill>
              </a:rPr>
              <a:t>FRE 2026, item 2.2</a:t>
            </a:r>
          </a:p>
        </p:txBody>
      </p:sp>
      <p:sp>
        <p:nvSpPr>
          <p:cNvPr id="33" name="Sensibilidade 0"/>
          <p:cNvSpPr txBox="1"/>
          <p:nvPr/>
        </p:nvSpPr>
        <p:spPr>
          <a:xfrm>
            <a:off x="566928" y="4453128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</a:rPr>
              <a:t>+R$249 mi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</a:rPr>
              <a:t>de custo por ano (80% do CPV em dólar)</a:t>
            </a:r>
          </a:p>
        </p:txBody>
      </p:sp>
      <p:sp>
        <p:nvSpPr>
          <p:cNvPr id="34" name="Sensibilidade 1"/>
          <p:cNvSpPr txBox="1"/>
          <p:nvPr/>
        </p:nvSpPr>
        <p:spPr>
          <a:xfrm>
            <a:off x="3401568" y="4453128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</a:rPr>
              <a:t>+8%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</a:rPr>
              <a:t>de reajuste para manter a margem</a:t>
            </a:r>
          </a:p>
        </p:txBody>
      </p:sp>
      <p:sp>
        <p:nvSpPr>
          <p:cNvPr id="35" name="Sensibilidade 2"/>
          <p:cNvSpPr txBox="1"/>
          <p:nvPr/>
        </p:nvSpPr>
        <p:spPr>
          <a:xfrm>
            <a:off x="566928" y="5413248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09F41"/>
                </a:solidFill>
              </a:rPr>
              <a:t>R$45 mi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</a:rPr>
              <a:t>de EBITDA por 1 p.p. de margem bruta</a:t>
            </a:r>
          </a:p>
        </p:txBody>
      </p:sp>
      <p:sp>
        <p:nvSpPr>
          <p:cNvPr id="36" name="Sensibilidade 3"/>
          <p:cNvSpPr txBox="1"/>
          <p:nvPr/>
        </p:nvSpPr>
        <p:spPr>
          <a:xfrm>
            <a:off x="3401568" y="5413248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595959"/>
                </a:solidFill>
              </a:rPr>
              <a:t>∓R$26 mi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</a:rPr>
              <a:t>no resultado financeiro: o hedge cobre ~50%</a:t>
            </a:r>
          </a:p>
        </p:txBody>
      </p:sp>
      <p:graphicFrame>
        <p:nvGraphicFramePr>
          <p:cNvPr id="37" name="Grafico margem por segmento"/>
          <p:cNvGraphicFramePr>
            <a:graphicFrameLocks noGrp="1"/>
          </p:cNvGraphicFramePr>
          <p:nvPr/>
        </p:nvGraphicFramePr>
        <p:xfrm>
          <a:off x="6428232" y="4407408"/>
          <a:ext cx="5532120" cy="1984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Incentivos fiscais: paridade, não margem extra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Sem incentivos o EBIT de 2025 seria negativo, mas com eles o retorno só empata com a Selic; o risco econômico está fora de Manaus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O EBIT de 2025 só existe por causa dos incentivos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Do EBIT sem incentivos ao EBIT reportado, 2025 (R$ mi)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O incentivo mais valioso é o mais durável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Valor em 2025 (R$ mi) e prazo de cada incentivo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III. Perda contábil é diferente de perda econômica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Variação do lucro líquido de 2025 por cenário e por grau de repasse ao preço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IV. A competição consome o incentivo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Incentivos ÷ receita e margem EBIT sem incentivos, 2021–2025 (%)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DFPs 2021–25 (NE 23, 24 e conciliação do IR); FRE 2026 (1.6, 2.11); EC 132/2023, LC 214/2025; BCB (Selic). Cenários: cálculo próprio (perda econômica = incentivo × (1 − repasse) − custos vinculados evitados).</a:t>
            </a:r>
          </a:p>
        </p:txBody>
      </p:sp>
      <p:cxnSp>
        <p:nvCxnSpPr>
          <p:cNvPr id="17" name="Waterfall zero"/>
          <p:cNvCxnSpPr/>
          <p:nvPr/>
        </p:nvCxnSpPr>
        <p:spPr>
          <a:xfrm>
            <a:off x="612648" y="3101541"/>
            <a:ext cx="388620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Waterfall 0"/>
          <p:cNvSpPr/>
          <p:nvPr/>
        </p:nvSpPr>
        <p:spPr>
          <a:xfrm>
            <a:off x="612648" y="3101541"/>
            <a:ext cx="566928" cy="104163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sp>
        <p:nvSpPr>
          <p:cNvPr id="19" name="Waterfall valor 0"/>
          <p:cNvSpPr txBox="1"/>
          <p:nvPr/>
        </p:nvSpPr>
        <p:spPr>
          <a:xfrm>
            <a:off x="429768" y="322399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</a:rPr>
              <a:t>−34,5</a:t>
            </a:r>
          </a:p>
        </p:txBody>
      </p:sp>
      <p:sp>
        <p:nvSpPr>
          <p:cNvPr id="20" name="Waterfall rotulo 0"/>
          <p:cNvSpPr txBox="1"/>
          <p:nvPr/>
        </p:nvSpPr>
        <p:spPr>
          <a:xfrm>
            <a:off x="429768" y="3328415"/>
            <a:ext cx="9326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EBIT sem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incentivos</a:t>
            </a:r>
          </a:p>
        </p:txBody>
      </p:sp>
      <p:sp>
        <p:nvSpPr>
          <p:cNvPr id="21" name="Waterfall 1"/>
          <p:cNvSpPr/>
          <p:nvPr/>
        </p:nvSpPr>
        <p:spPr>
          <a:xfrm>
            <a:off x="1442466" y="2662241"/>
            <a:ext cx="566928" cy="543464"/>
          </a:xfrm>
          <a:prstGeom prst="rect">
            <a:avLst/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sp>
        <p:nvSpPr>
          <p:cNvPr id="22" name="Waterfall valor 1"/>
          <p:cNvSpPr txBox="1"/>
          <p:nvPr/>
        </p:nvSpPr>
        <p:spPr>
          <a:xfrm>
            <a:off x="1259586" y="24610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006B35"/>
                </a:solidFill>
              </a:rPr>
              <a:t>+180,0</a:t>
            </a:r>
          </a:p>
        </p:txBody>
      </p:sp>
      <p:sp>
        <p:nvSpPr>
          <p:cNvPr id="23" name="Waterfall rotulo 1"/>
          <p:cNvSpPr txBox="1"/>
          <p:nvPr/>
        </p:nvSpPr>
        <p:spPr>
          <a:xfrm>
            <a:off x="1259586" y="3328415"/>
            <a:ext cx="9326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ICMS-AM</a:t>
            </a:r>
          </a:p>
        </p:txBody>
      </p:sp>
      <p:cxnSp>
        <p:nvCxnSpPr>
          <p:cNvPr id="24" name="Waterfall conector 1"/>
          <p:cNvCxnSpPr/>
          <p:nvPr/>
        </p:nvCxnSpPr>
        <p:spPr>
          <a:xfrm>
            <a:off x="1179576" y="3205705"/>
            <a:ext cx="262890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Waterfall 2"/>
          <p:cNvSpPr/>
          <p:nvPr/>
        </p:nvSpPr>
        <p:spPr>
          <a:xfrm>
            <a:off x="2272284" y="2190031"/>
            <a:ext cx="566928" cy="472209"/>
          </a:xfrm>
          <a:prstGeom prst="rect">
            <a:avLst/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sp>
        <p:nvSpPr>
          <p:cNvPr id="26" name="Waterfall valor 2"/>
          <p:cNvSpPr txBox="1"/>
          <p:nvPr/>
        </p:nvSpPr>
        <p:spPr>
          <a:xfrm>
            <a:off x="2089403" y="198886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006B35"/>
                </a:solidFill>
              </a:rPr>
              <a:t>+156,4</a:t>
            </a:r>
          </a:p>
        </p:txBody>
      </p:sp>
      <p:sp>
        <p:nvSpPr>
          <p:cNvPr id="27" name="Waterfall rotulo 2"/>
          <p:cNvSpPr txBox="1"/>
          <p:nvPr/>
        </p:nvSpPr>
        <p:spPr>
          <a:xfrm>
            <a:off x="2089403" y="3328415"/>
            <a:ext cx="9326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ICMS SC,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MG e PE</a:t>
            </a:r>
          </a:p>
        </p:txBody>
      </p:sp>
      <p:cxnSp>
        <p:nvCxnSpPr>
          <p:cNvPr id="28" name="Waterfall conector 2"/>
          <p:cNvCxnSpPr/>
          <p:nvPr/>
        </p:nvCxnSpPr>
        <p:spPr>
          <a:xfrm>
            <a:off x="2009393" y="2662241"/>
            <a:ext cx="262891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Waterfall 3"/>
          <p:cNvSpPr/>
          <p:nvPr/>
        </p:nvSpPr>
        <p:spPr>
          <a:xfrm>
            <a:off x="3102102" y="1817758"/>
            <a:ext cx="566928" cy="372272"/>
          </a:xfrm>
          <a:prstGeom prst="rect">
            <a:avLst/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sp>
        <p:nvSpPr>
          <p:cNvPr id="30" name="Waterfall valor 3"/>
          <p:cNvSpPr txBox="1"/>
          <p:nvPr/>
        </p:nvSpPr>
        <p:spPr>
          <a:xfrm>
            <a:off x="2919222" y="161659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006B35"/>
                </a:solidFill>
              </a:rPr>
              <a:t>+123,3</a:t>
            </a:r>
          </a:p>
        </p:txBody>
      </p:sp>
      <p:sp>
        <p:nvSpPr>
          <p:cNvPr id="31" name="Waterfall rotulo 3"/>
          <p:cNvSpPr txBox="1"/>
          <p:nvPr/>
        </p:nvSpPr>
        <p:spPr>
          <a:xfrm>
            <a:off x="2919222" y="3328415"/>
            <a:ext cx="9326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Lei de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TICs</a:t>
            </a:r>
          </a:p>
        </p:txBody>
      </p:sp>
      <p:cxnSp>
        <p:nvCxnSpPr>
          <p:cNvPr id="32" name="Waterfall conector 3"/>
          <p:cNvCxnSpPr/>
          <p:nvPr/>
        </p:nvCxnSpPr>
        <p:spPr>
          <a:xfrm>
            <a:off x="2839212" y="2190031"/>
            <a:ext cx="262890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Waterfall 4"/>
          <p:cNvSpPr/>
          <p:nvPr/>
        </p:nvSpPr>
        <p:spPr>
          <a:xfrm>
            <a:off x="3931920" y="1817758"/>
            <a:ext cx="566928" cy="1283783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sp>
        <p:nvSpPr>
          <p:cNvPr id="34" name="Waterfall valor 4"/>
          <p:cNvSpPr txBox="1"/>
          <p:nvPr/>
        </p:nvSpPr>
        <p:spPr>
          <a:xfrm>
            <a:off x="3749039" y="161659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</a:rPr>
              <a:t>425,2</a:t>
            </a:r>
          </a:p>
        </p:txBody>
      </p:sp>
      <p:sp>
        <p:nvSpPr>
          <p:cNvPr id="35" name="Waterfall rotulo 4"/>
          <p:cNvSpPr txBox="1"/>
          <p:nvPr/>
        </p:nvSpPr>
        <p:spPr>
          <a:xfrm>
            <a:off x="3749039" y="3328415"/>
            <a:ext cx="9326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EBIT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reportado</a:t>
            </a:r>
          </a:p>
        </p:txBody>
      </p:sp>
      <p:sp>
        <p:nvSpPr>
          <p:cNvPr id="36" name="Destaque incentivo 0"/>
          <p:cNvSpPr txBox="1"/>
          <p:nvPr/>
        </p:nvSpPr>
        <p:spPr>
          <a:xfrm>
            <a:off x="4636008" y="1591056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009F41"/>
                </a:solidFill>
              </a:rPr>
              <a:t>95%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do lucro líquido</a:t>
            </a:r>
          </a:p>
        </p:txBody>
      </p:sp>
      <p:sp>
        <p:nvSpPr>
          <p:cNvPr id="37" name="Destaque incentivo 1"/>
          <p:cNvSpPr txBox="1"/>
          <p:nvPr/>
        </p:nvSpPr>
        <p:spPr>
          <a:xfrm>
            <a:off x="4636008" y="2231136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</a:rPr>
              <a:t>85%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do EBITDA</a:t>
            </a:r>
          </a:p>
        </p:txBody>
      </p:sp>
      <p:sp>
        <p:nvSpPr>
          <p:cNvPr id="38" name="Destaque incentivo 2"/>
          <p:cNvSpPr txBox="1"/>
          <p:nvPr/>
        </p:nvSpPr>
        <p:spPr>
          <a:xfrm>
            <a:off x="4636008" y="2871215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</a:rPr>
              <a:t>10%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da receita</a:t>
            </a:r>
          </a:p>
        </p:txBody>
      </p:sp>
      <p:sp>
        <p:nvSpPr>
          <p:cNvPr id="39" name="Gantt rotulo 0"/>
          <p:cNvSpPr txBox="1"/>
          <p:nvPr/>
        </p:nvSpPr>
        <p:spPr>
          <a:xfrm>
            <a:off x="6428232" y="17099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ICMS-AM · 180</a:t>
            </a:r>
          </a:p>
        </p:txBody>
      </p:sp>
      <p:sp>
        <p:nvSpPr>
          <p:cNvPr id="40" name="Gantt barra 0"/>
          <p:cNvSpPr/>
          <p:nvPr/>
        </p:nvSpPr>
        <p:spPr>
          <a:xfrm>
            <a:off x="7845552" y="1764792"/>
            <a:ext cx="3232988" cy="182880"/>
          </a:xfrm>
          <a:prstGeom prst="rect">
            <a:avLst/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cxnSp>
        <p:nvCxnSpPr>
          <p:cNvPr id="41" name="Gantt ZFM"/>
          <p:cNvCxnSpPr/>
          <p:nvPr/>
        </p:nvCxnSpPr>
        <p:spPr>
          <a:xfrm>
            <a:off x="11078540" y="1856231"/>
            <a:ext cx="744652" cy="0"/>
          </a:xfrm>
          <a:prstGeom prst="line">
            <a:avLst/>
          </a:prstGeom>
          <a:ln w="25400">
            <a:solidFill>
              <a:srgbClr val="009F4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tulo ZFM"/>
          <p:cNvSpPr txBox="1"/>
          <p:nvPr/>
        </p:nvSpPr>
        <p:spPr>
          <a:xfrm>
            <a:off x="9994392" y="1527048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006B35"/>
                </a:solidFill>
              </a:rPr>
              <a:t>→ regime ZFM até 2073</a:t>
            </a:r>
          </a:p>
        </p:txBody>
      </p:sp>
      <p:sp>
        <p:nvSpPr>
          <p:cNvPr id="43" name="Gantt rotulo 1"/>
          <p:cNvSpPr txBox="1"/>
          <p:nvPr/>
        </p:nvSpPr>
        <p:spPr>
          <a:xfrm>
            <a:off x="6428232" y="209397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ICMS SC, MG, PE · 156</a:t>
            </a:r>
          </a:p>
        </p:txBody>
      </p:sp>
      <p:sp>
        <p:nvSpPr>
          <p:cNvPr id="44" name="Gantt barra 1"/>
          <p:cNvSpPr/>
          <p:nvPr/>
        </p:nvSpPr>
        <p:spPr>
          <a:xfrm>
            <a:off x="7845552" y="2148840"/>
            <a:ext cx="3232988" cy="1828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sp>
        <p:nvSpPr>
          <p:cNvPr id="45" name="Gantt transicao"/>
          <p:cNvSpPr/>
          <p:nvPr/>
        </p:nvSpPr>
        <p:spPr>
          <a:xfrm>
            <a:off x="9233100" y="2148840"/>
            <a:ext cx="1845439" cy="18288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750" b="0">
                <a:solidFill>
                  <a:srgbClr val="1A1A1A"/>
                </a:solidFill>
              </a:rPr>
              <a:t>transição com Fundo</a:t>
            </a:r>
          </a:p>
        </p:txBody>
      </p:sp>
      <p:sp>
        <p:nvSpPr>
          <p:cNvPr id="46" name="Gantt rotulo 2"/>
          <p:cNvSpPr txBox="1"/>
          <p:nvPr/>
        </p:nvSpPr>
        <p:spPr>
          <a:xfrm>
            <a:off x="6428232" y="247802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Lei de TICs · 123</a:t>
            </a:r>
          </a:p>
        </p:txBody>
      </p:sp>
      <p:sp>
        <p:nvSpPr>
          <p:cNvPr id="47" name="Gantt barra 2"/>
          <p:cNvSpPr/>
          <p:nvPr/>
        </p:nvSpPr>
        <p:spPr>
          <a:xfrm>
            <a:off x="7845552" y="2532888"/>
            <a:ext cx="1845439" cy="1828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sp>
        <p:nvSpPr>
          <p:cNvPr id="48" name="Gantt rotulo 3"/>
          <p:cNvSpPr txBox="1"/>
          <p:nvPr/>
        </p:nvSpPr>
        <p:spPr>
          <a:xfrm>
            <a:off x="6428232" y="28620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SUDAM (−75% IRPJ)</a:t>
            </a:r>
          </a:p>
        </p:txBody>
      </p:sp>
      <p:sp>
        <p:nvSpPr>
          <p:cNvPr id="49" name="Gantt barra 3"/>
          <p:cNvSpPr/>
          <p:nvPr/>
        </p:nvSpPr>
        <p:spPr>
          <a:xfrm>
            <a:off x="7845552" y="2916936"/>
            <a:ext cx="3695505" cy="18288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sp>
        <p:nvSpPr>
          <p:cNvPr id="50" name="Gantt ano 2026"/>
          <p:cNvSpPr txBox="1"/>
          <p:nvPr/>
        </p:nvSpPr>
        <p:spPr>
          <a:xfrm>
            <a:off x="7571231" y="33009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2026</a:t>
            </a:r>
          </a:p>
        </p:txBody>
      </p:sp>
      <p:cxnSp>
        <p:nvCxnSpPr>
          <p:cNvPr id="51" name="Gantt guia 2026"/>
          <p:cNvCxnSpPr/>
          <p:nvPr/>
        </p:nvCxnSpPr>
        <p:spPr>
          <a:xfrm>
            <a:off x="7845552" y="1682495"/>
            <a:ext cx="0" cy="1600201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Gantt ano 2029"/>
          <p:cNvSpPr txBox="1"/>
          <p:nvPr/>
        </p:nvSpPr>
        <p:spPr>
          <a:xfrm>
            <a:off x="8958780" y="33009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2029</a:t>
            </a:r>
          </a:p>
        </p:txBody>
      </p:sp>
      <p:cxnSp>
        <p:nvCxnSpPr>
          <p:cNvPr id="53" name="Gantt guia 2029"/>
          <p:cNvCxnSpPr/>
          <p:nvPr/>
        </p:nvCxnSpPr>
        <p:spPr>
          <a:xfrm>
            <a:off x="9233100" y="1682495"/>
            <a:ext cx="0" cy="1600201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Gantt ano 2032"/>
          <p:cNvSpPr txBox="1"/>
          <p:nvPr/>
        </p:nvSpPr>
        <p:spPr>
          <a:xfrm>
            <a:off x="10346329" y="33009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2032</a:t>
            </a:r>
          </a:p>
        </p:txBody>
      </p:sp>
      <p:cxnSp>
        <p:nvCxnSpPr>
          <p:cNvPr id="55" name="Gantt guia 2032"/>
          <p:cNvCxnSpPr/>
          <p:nvPr/>
        </p:nvCxnSpPr>
        <p:spPr>
          <a:xfrm>
            <a:off x="10620649" y="1682495"/>
            <a:ext cx="0" cy="1600201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Gantt 2073"/>
          <p:cNvSpPr txBox="1"/>
          <p:nvPr/>
        </p:nvSpPr>
        <p:spPr>
          <a:xfrm>
            <a:off x="11274552" y="3300984"/>
            <a:ext cx="685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006B35"/>
                </a:solidFill>
              </a:rPr>
              <a:t>2073</a:t>
            </a:r>
          </a:p>
        </p:txBody>
      </p:sp>
      <p:sp>
        <p:nvSpPr>
          <p:cNvPr id="57" name="Tabela cenarios cab 0"/>
          <p:cNvSpPr txBox="1"/>
          <p:nvPr/>
        </p:nvSpPr>
        <p:spPr>
          <a:xfrm>
            <a:off x="566928" y="4425696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595959"/>
                </a:solidFill>
              </a:rPr>
              <a:t>Cenário</a:t>
            </a:r>
          </a:p>
        </p:txBody>
      </p:sp>
      <p:sp>
        <p:nvSpPr>
          <p:cNvPr id="58" name="Tabela cenarios cab 1"/>
          <p:cNvSpPr txBox="1"/>
          <p:nvPr/>
        </p:nvSpPr>
        <p:spPr>
          <a:xfrm>
            <a:off x="2761488" y="4425696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595959"/>
                </a:solidFill>
              </a:rPr>
              <a:t>Perde</a:t>
            </a:r>
          </a:p>
        </p:txBody>
      </p:sp>
      <p:sp>
        <p:nvSpPr>
          <p:cNvPr id="59" name="Tabela cenarios cab 2"/>
          <p:cNvSpPr txBox="1"/>
          <p:nvPr/>
        </p:nvSpPr>
        <p:spPr>
          <a:xfrm>
            <a:off x="3630168" y="4425696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595959"/>
                </a:solidFill>
              </a:rPr>
              <a:t>Repasse 0%</a:t>
            </a:r>
          </a:p>
        </p:txBody>
      </p:sp>
      <p:sp>
        <p:nvSpPr>
          <p:cNvPr id="60" name="Tabela cenarios cab 3"/>
          <p:cNvSpPr txBox="1"/>
          <p:nvPr/>
        </p:nvSpPr>
        <p:spPr>
          <a:xfrm>
            <a:off x="4453128" y="4425696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595959"/>
                </a:solidFill>
              </a:rPr>
              <a:t>50%</a:t>
            </a:r>
          </a:p>
        </p:txBody>
      </p:sp>
      <p:sp>
        <p:nvSpPr>
          <p:cNvPr id="61" name="Tabela cenarios cab 4"/>
          <p:cNvSpPr txBox="1"/>
          <p:nvPr/>
        </p:nvSpPr>
        <p:spPr>
          <a:xfrm>
            <a:off x="5276088" y="4425696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595959"/>
                </a:solidFill>
              </a:rPr>
              <a:t>75%</a:t>
            </a:r>
          </a:p>
        </p:txBody>
      </p:sp>
      <p:cxnSp>
        <p:nvCxnSpPr>
          <p:cNvPr id="62" name="Tabela cenarios linha"/>
          <p:cNvCxnSpPr/>
          <p:nvPr/>
        </p:nvCxnSpPr>
        <p:spPr>
          <a:xfrm>
            <a:off x="566928" y="4654296"/>
            <a:ext cx="5532120" cy="0"/>
          </a:xfrm>
          <a:prstGeom prst="line">
            <a:avLst/>
          </a:prstGeom>
          <a:ln w="12700">
            <a:solidFill>
              <a:srgbClr val="009F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abela cenarios faixa 0"/>
          <p:cNvSpPr/>
          <p:nvPr/>
        </p:nvSpPr>
        <p:spPr>
          <a:xfrm>
            <a:off x="566928" y="4681728"/>
            <a:ext cx="553212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sp>
        <p:nvSpPr>
          <p:cNvPr id="64" name="Tabela cenarios 0-0"/>
          <p:cNvSpPr txBox="1"/>
          <p:nvPr/>
        </p:nvSpPr>
        <p:spPr>
          <a:xfrm>
            <a:off x="566928" y="4700016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</a:rPr>
              <a:t>Parcial: só o que está fora da ZFM</a:t>
            </a:r>
          </a:p>
        </p:txBody>
      </p:sp>
      <p:sp>
        <p:nvSpPr>
          <p:cNvPr id="65" name="Tabela cenarios 0-1"/>
          <p:cNvSpPr txBox="1"/>
          <p:nvPr/>
        </p:nvSpPr>
        <p:spPr>
          <a:xfrm>
            <a:off x="2761488" y="4700016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i="0">
                <a:solidFill>
                  <a:srgbClr val="1A1A1A"/>
                </a:solidFill>
              </a:rPr>
              <a:t>R$280 mi</a:t>
            </a:r>
          </a:p>
        </p:txBody>
      </p:sp>
      <p:sp>
        <p:nvSpPr>
          <p:cNvPr id="66" name="Tabela cenarios 0-2"/>
          <p:cNvSpPr txBox="1"/>
          <p:nvPr/>
        </p:nvSpPr>
        <p:spPr>
          <a:xfrm>
            <a:off x="3630168" y="4700016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i="0">
                <a:solidFill>
                  <a:srgbClr val="1A1A1A"/>
                </a:solidFill>
              </a:rPr>
              <a:t>−58%</a:t>
            </a:r>
          </a:p>
        </p:txBody>
      </p:sp>
      <p:sp>
        <p:nvSpPr>
          <p:cNvPr id="67" name="Tabela cenarios 0-3"/>
          <p:cNvSpPr txBox="1"/>
          <p:nvPr/>
        </p:nvSpPr>
        <p:spPr>
          <a:xfrm>
            <a:off x="4453128" y="4700016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i="0">
                <a:solidFill>
                  <a:srgbClr val="1A1A1A"/>
                </a:solidFill>
              </a:rPr>
              <a:t>−29%</a:t>
            </a:r>
          </a:p>
        </p:txBody>
      </p:sp>
      <p:sp>
        <p:nvSpPr>
          <p:cNvPr id="68" name="Tabela cenarios 0-4"/>
          <p:cNvSpPr txBox="1"/>
          <p:nvPr/>
        </p:nvSpPr>
        <p:spPr>
          <a:xfrm>
            <a:off x="5276088" y="4700016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i="0">
                <a:solidFill>
                  <a:srgbClr val="1A1A1A"/>
                </a:solidFill>
              </a:rPr>
              <a:t>−14%</a:t>
            </a:r>
          </a:p>
        </p:txBody>
      </p:sp>
      <p:sp>
        <p:nvSpPr>
          <p:cNvPr id="69" name="Tabela cenarios 1-0"/>
          <p:cNvSpPr txBox="1"/>
          <p:nvPr/>
        </p:nvSpPr>
        <p:spPr>
          <a:xfrm>
            <a:off x="566928" y="5084064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</a:rPr>
              <a:t>Eliminado: perde tudo</a:t>
            </a:r>
          </a:p>
        </p:txBody>
      </p:sp>
      <p:sp>
        <p:nvSpPr>
          <p:cNvPr id="70" name="Tabela cenarios 1-1"/>
          <p:cNvSpPr txBox="1"/>
          <p:nvPr/>
        </p:nvSpPr>
        <p:spPr>
          <a:xfrm>
            <a:off x="2761488" y="5084064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i="0">
                <a:solidFill>
                  <a:srgbClr val="1A1A1A"/>
                </a:solidFill>
              </a:rPr>
              <a:t>R$460 mi</a:t>
            </a:r>
          </a:p>
        </p:txBody>
      </p:sp>
      <p:sp>
        <p:nvSpPr>
          <p:cNvPr id="71" name="Tabela cenarios 1-2"/>
          <p:cNvSpPr txBox="1"/>
          <p:nvPr/>
        </p:nvSpPr>
        <p:spPr>
          <a:xfrm>
            <a:off x="3630168" y="5084064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i="0">
                <a:solidFill>
                  <a:srgbClr val="1A1A1A"/>
                </a:solidFill>
              </a:rPr>
              <a:t>−95%</a:t>
            </a:r>
          </a:p>
        </p:txBody>
      </p:sp>
      <p:sp>
        <p:nvSpPr>
          <p:cNvPr id="72" name="Tabela cenarios 1-3"/>
          <p:cNvSpPr txBox="1"/>
          <p:nvPr/>
        </p:nvSpPr>
        <p:spPr>
          <a:xfrm>
            <a:off x="4453128" y="5084064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i="0">
                <a:solidFill>
                  <a:srgbClr val="1A1A1A"/>
                </a:solidFill>
              </a:rPr>
              <a:t>−48%</a:t>
            </a:r>
          </a:p>
        </p:txBody>
      </p:sp>
      <p:sp>
        <p:nvSpPr>
          <p:cNvPr id="73" name="Tabela cenarios 1-4"/>
          <p:cNvSpPr txBox="1"/>
          <p:nvPr/>
        </p:nvSpPr>
        <p:spPr>
          <a:xfrm>
            <a:off x="5276088" y="5084064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i="0">
                <a:solidFill>
                  <a:srgbClr val="1A1A1A"/>
                </a:solidFill>
              </a:rPr>
              <a:t>−24%</a:t>
            </a:r>
          </a:p>
        </p:txBody>
      </p:sp>
      <p:sp>
        <p:nvSpPr>
          <p:cNvPr id="74" name="Caso central"/>
          <p:cNvSpPr/>
          <p:nvPr/>
        </p:nvSpPr>
        <p:spPr>
          <a:xfrm>
            <a:off x="566928" y="5550408"/>
            <a:ext cx="5532120" cy="50292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l"/>
            <a:r>
              <a:rPr sz="900" b="1">
                <a:solidFill>
                  <a:srgbClr val="1A1A1A"/>
                </a:solidFill>
              </a:rPr>
              <a:t>Caso central (parcial, repasse por instrumento): lucro −21%</a:t>
            </a:r>
          </a:p>
          <a:p>
            <a:pPr algn="l"/>
            <a:r>
              <a:rPr sz="900" b="0">
                <a:solidFill>
                  <a:srgbClr val="1A1A1A"/>
                </a:solidFill>
              </a:rPr>
              <a:t>ICMS: rivais também perdem → repasse alto; Lei de TICs: só fabricantes têm → repasse baixo</a:t>
            </a:r>
          </a:p>
        </p:txBody>
      </p:sp>
      <p:sp>
        <p:nvSpPr>
          <p:cNvPr id="75" name="Nota cenarios"/>
          <p:cNvSpPr txBox="1"/>
          <p:nvPr/>
        </p:nvSpPr>
        <p:spPr>
          <a:xfrm>
            <a:off x="566928" y="6099048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1">
                <a:solidFill>
                  <a:srgbClr val="6B6B6B"/>
                </a:solidFill>
              </a:rPr>
              <a:t>Exemplo de leitura: perder R$280 mi sem repassar nada ao preço tira 58% do lucro; repassando 75%, tira 14%.</a:t>
            </a:r>
          </a:p>
        </p:txBody>
      </p:sp>
      <p:graphicFrame>
        <p:nvGraphicFramePr>
          <p:cNvPr id="76" name="Grafico paridade"/>
          <p:cNvGraphicFramePr>
            <a:graphicFrameLocks noGrp="1"/>
          </p:cNvGraphicFramePr>
          <p:nvPr/>
        </p:nvGraphicFramePr>
        <p:xfrm>
          <a:off x="6428232" y="4407408"/>
          <a:ext cx="3931920" cy="1984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7" name="Destaque ROIC"/>
          <p:cNvSpPr txBox="1"/>
          <p:nvPr/>
        </p:nvSpPr>
        <p:spPr>
          <a:xfrm>
            <a:off x="10451592" y="4681728"/>
            <a:ext cx="1508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09F41"/>
                </a:solidFill>
              </a:rPr>
              <a:t>15,1%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</a:rPr>
              <a:t>ROIC pré-IR de 2025, com incentivos, contra Selic de 13,75%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Importação: protege cabos, expõe o varejo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Antidumping e Anatel são barreiras úteis; o fim da taxa das blusinhas devolve ao importado direto o preço mais baixo nos itens simples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Antidumping: preço de cabo protegido até ~2030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Sobretaxa sobre fibra e cabos ópticos da China (Gecex 829 e 837, dez/2025)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A Anatel tira o irregular do mercado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Fiscalização de produtos sem homologação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III. Cross-border: o imposto de importação voltou a zero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Imposto de importação sobre compras internacionais de até US$50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IV. Mapa de exposição por categoria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Categoria, canal e efeito líquido das regras de importação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Gecex 829 e 837/2025; Teletime; Anatel (via Teletime, Olhar Digital); MP de 13/05/2026 e aprovação no Congresso (03/09/2026); Receita Federal; Release 2T26 (p.8); FRE 2026 (1.4.b).</a:t>
            </a:r>
          </a:p>
        </p:txBody>
      </p:sp>
      <p:sp>
        <p:nvSpPr>
          <p:cNvPr id="17" name="Barra antidumping"/>
          <p:cNvSpPr/>
          <p:nvPr/>
        </p:nvSpPr>
        <p:spPr>
          <a:xfrm>
            <a:off x="749808" y="1773936"/>
            <a:ext cx="5166359" cy="292608"/>
          </a:xfrm>
          <a:prstGeom prst="rect">
            <a:avLst/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dez/2025  →  até 5 anos (~2030)</a:t>
            </a:r>
          </a:p>
        </p:txBody>
      </p:sp>
      <p:sp>
        <p:nvSpPr>
          <p:cNvPr id="18" name="Destaque fibra"/>
          <p:cNvSpPr txBox="1"/>
          <p:nvPr/>
        </p:nvSpPr>
        <p:spPr>
          <a:xfrm>
            <a:off x="749808" y="2231136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</a:rPr>
              <a:t>US$47,46/kg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</a:rPr>
              <a:t>sobre fibra monomodo</a:t>
            </a:r>
          </a:p>
        </p:txBody>
      </p:sp>
      <p:sp>
        <p:nvSpPr>
          <p:cNvPr id="19" name="Destaque cabos"/>
          <p:cNvSpPr txBox="1"/>
          <p:nvPr/>
        </p:nvSpPr>
        <p:spPr>
          <a:xfrm>
            <a:off x="3401568" y="2231136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</a:rPr>
              <a:t>US$2,42/kg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</a:rPr>
              <a:t>sobre cabos ópticos</a:t>
            </a:r>
          </a:p>
        </p:txBody>
      </p:sp>
      <p:sp>
        <p:nvSpPr>
          <p:cNvPr id="20" name="Nota Tubarao"/>
          <p:cNvSpPr txBox="1"/>
          <p:nvPr/>
        </p:nvSpPr>
        <p:spPr>
          <a:xfrm>
            <a:off x="749808" y="3054096"/>
            <a:ext cx="5166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1">
                <a:solidFill>
                  <a:srgbClr val="595959"/>
                </a:solidFill>
              </a:rPr>
              <a:t>A fábrica de Tubarão está perto da capacidade máxima: preço protegido, volume limitado.</a:t>
            </a:r>
          </a:p>
        </p:txBody>
      </p:sp>
      <p:sp>
        <p:nvSpPr>
          <p:cNvPr id="21" name="Destaque Anatel 1"/>
          <p:cNvSpPr txBox="1"/>
          <p:nvPr/>
        </p:nvSpPr>
        <p:spPr>
          <a:xfrm>
            <a:off x="6428232" y="1682495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</a:rPr>
              <a:t>8,02 mi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</a:rPr>
              <a:t>de produtos irregulares retirados do mercado desde 2018</a:t>
            </a:r>
          </a:p>
        </p:txBody>
      </p:sp>
      <p:sp>
        <p:nvSpPr>
          <p:cNvPr id="22" name="Destaque Anatel 2"/>
          <p:cNvSpPr txBox="1"/>
          <p:nvPr/>
        </p:nvSpPr>
        <p:spPr>
          <a:xfrm>
            <a:off x="9308592" y="1682495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</a:rPr>
              <a:t>4.226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</a:rPr>
              <a:t>apreensões em centros de distribuição de marketplaces (Black Friday 2024)</a:t>
            </a:r>
          </a:p>
        </p:txBody>
      </p:sp>
      <p:sp>
        <p:nvSpPr>
          <p:cNvPr id="23" name="Nota Anatel"/>
          <p:cNvSpPr txBox="1"/>
          <p:nvPr/>
        </p:nvSpPr>
        <p:spPr>
          <a:xfrm>
            <a:off x="6428232" y="2916936"/>
            <a:ext cx="5532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1">
                <a:solidFill>
                  <a:srgbClr val="595959"/>
                </a:solidFill>
              </a:rPr>
              <a:t>A Anatel usa IA (Regulatron) para varrer anúncios: protege marcas homologadas, mas a fiscalização é parcial.</a:t>
            </a:r>
          </a:p>
        </p:txBody>
      </p:sp>
      <p:sp>
        <p:nvSpPr>
          <p:cNvPr id="24" name="Cross-border 0"/>
          <p:cNvSpPr/>
          <p:nvPr/>
        </p:nvSpPr>
        <p:spPr>
          <a:xfrm>
            <a:off x="566928" y="4544568"/>
            <a:ext cx="1752600" cy="6858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2000" b="1">
                <a:solidFill>
                  <a:srgbClr val="1A1A1A"/>
                </a:solidFill>
              </a:rPr>
              <a:t>0%</a:t>
            </a:r>
          </a:p>
          <a:p>
            <a:pPr algn="ctr"/>
            <a:r>
              <a:rPr sz="1000" b="0">
                <a:solidFill>
                  <a:srgbClr val="1A1A1A"/>
                </a:solidFill>
              </a:rPr>
              <a:t>ago/23 a jul/24</a:t>
            </a:r>
          </a:p>
        </p:txBody>
      </p:sp>
      <p:sp>
        <p:nvSpPr>
          <p:cNvPr id="25" name="Cross-border 1"/>
          <p:cNvSpPr/>
          <p:nvPr/>
        </p:nvSpPr>
        <p:spPr>
          <a:xfrm>
            <a:off x="2456688" y="4544568"/>
            <a:ext cx="1752600" cy="685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20%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ago/24 a mai/26</a:t>
            </a:r>
          </a:p>
        </p:txBody>
      </p:sp>
      <p:sp>
        <p:nvSpPr>
          <p:cNvPr id="26" name="Cross-border 2"/>
          <p:cNvSpPr/>
          <p:nvPr/>
        </p:nvSpPr>
        <p:spPr>
          <a:xfrm>
            <a:off x="4346448" y="4544568"/>
            <a:ext cx="1752600" cy="6858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2000" b="1">
                <a:solidFill>
                  <a:srgbClr val="1A1A1A"/>
                </a:solidFill>
              </a:rPr>
              <a:t>0%</a:t>
            </a:r>
          </a:p>
          <a:p>
            <a:pPr algn="ctr"/>
            <a:r>
              <a:rPr sz="1000" b="0">
                <a:solidFill>
                  <a:srgbClr val="1A1A1A"/>
                </a:solidFill>
              </a:rPr>
              <a:t>desde 13/05/26</a:t>
            </a:r>
          </a:p>
        </p:txBody>
      </p:sp>
      <p:sp>
        <p:nvSpPr>
          <p:cNvPr id="27" name="Nota ICMS"/>
          <p:cNvSpPr txBox="1"/>
          <p:nvPr/>
        </p:nvSpPr>
        <p:spPr>
          <a:xfrm>
            <a:off x="566928" y="5321808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Mais ICMS de 17–20% nos três períodos. Sem IPI e sem PIS/COFINS na remessa.</a:t>
            </a:r>
          </a:p>
        </p:txBody>
      </p:sp>
      <p:sp>
        <p:nvSpPr>
          <p:cNvPr id="28" name="Destaque encomendas"/>
          <p:cNvSpPr txBox="1"/>
          <p:nvPr/>
        </p:nvSpPr>
        <p:spPr>
          <a:xfrm>
            <a:off x="566928" y="5596128"/>
            <a:ext cx="5532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595959"/>
                </a:solidFill>
              </a:rPr>
              <a:t>−11%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</a:rPr>
              <a:t>nas encomendas internacionais em 2024, quando a taxa de 20% entrou: o imposto mudava o comportamento</a:t>
            </a:r>
          </a:p>
        </p:txBody>
      </p:sp>
      <p:sp>
        <p:nvSpPr>
          <p:cNvPr id="29" name="Exposicao cat 0"/>
          <p:cNvSpPr txBox="1"/>
          <p:nvPr/>
        </p:nvSpPr>
        <p:spPr>
          <a:xfrm>
            <a:off x="6428232" y="449884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Cabos ópticos</a:t>
            </a:r>
          </a:p>
        </p:txBody>
      </p:sp>
      <p:sp>
        <p:nvSpPr>
          <p:cNvPr id="30" name="Exposicao canal 0"/>
          <p:cNvSpPr txBox="1"/>
          <p:nvPr/>
        </p:nvSpPr>
        <p:spPr>
          <a:xfrm>
            <a:off x="8805672" y="449884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distribuidor e integrador</a:t>
            </a:r>
          </a:p>
        </p:txBody>
      </p:sp>
      <p:sp>
        <p:nvSpPr>
          <p:cNvPr id="31" name="Exposicao selo 0"/>
          <p:cNvSpPr/>
          <p:nvPr/>
        </p:nvSpPr>
        <p:spPr>
          <a:xfrm>
            <a:off x="10405872" y="4562856"/>
            <a:ext cx="1554480" cy="237744"/>
          </a:xfrm>
          <a:prstGeom prst="roundRect">
            <a:avLst>
              <a:gd name="adj" fmla="val 15000"/>
            </a:avLst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FFFFFF"/>
                </a:solidFill>
              </a:rPr>
              <a:t>PROTEGIDO</a:t>
            </a:r>
          </a:p>
        </p:txBody>
      </p:sp>
      <p:sp>
        <p:nvSpPr>
          <p:cNvPr id="32" name="Exposicao cat 1"/>
          <p:cNvSpPr txBox="1"/>
          <p:nvPr/>
        </p:nvSpPr>
        <p:spPr>
          <a:xfrm>
            <a:off x="6428232" y="495604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CFTV e alarmes profissionais</a:t>
            </a:r>
          </a:p>
        </p:txBody>
      </p:sp>
      <p:sp>
        <p:nvSpPr>
          <p:cNvPr id="33" name="Exposicao canal 1"/>
          <p:cNvSpPr txBox="1"/>
          <p:nvPr/>
        </p:nvSpPr>
        <p:spPr>
          <a:xfrm>
            <a:off x="8805672" y="495604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instalador</a:t>
            </a:r>
          </a:p>
        </p:txBody>
      </p:sp>
      <p:sp>
        <p:nvSpPr>
          <p:cNvPr id="34" name="Exposicao selo 1"/>
          <p:cNvSpPr/>
          <p:nvPr/>
        </p:nvSpPr>
        <p:spPr>
          <a:xfrm>
            <a:off x="10405872" y="5020056"/>
            <a:ext cx="1554480" cy="237744"/>
          </a:xfrm>
          <a:prstGeom prst="roundRect">
            <a:avLst>
              <a:gd name="adj" fmla="val 15000"/>
            </a:avLst>
          </a:prstGeom>
          <a:solidFill>
            <a:srgbClr val="7C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1A1A1A"/>
                </a:solidFill>
              </a:rPr>
              <a:t>PROTEGIDO PELO CANAL</a:t>
            </a:r>
          </a:p>
        </p:txBody>
      </p:sp>
      <p:sp>
        <p:nvSpPr>
          <p:cNvPr id="35" name="Exposicao cat 2"/>
          <p:cNvSpPr txBox="1"/>
          <p:nvPr/>
        </p:nvSpPr>
        <p:spPr>
          <a:xfrm>
            <a:off x="6428232" y="541324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Redes e GPON</a:t>
            </a:r>
          </a:p>
        </p:txBody>
      </p:sp>
      <p:sp>
        <p:nvSpPr>
          <p:cNvPr id="36" name="Exposicao canal 2"/>
          <p:cNvSpPr txBox="1"/>
          <p:nvPr/>
        </p:nvSpPr>
        <p:spPr>
          <a:xfrm>
            <a:off x="8805672" y="541324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integrador e provedor</a:t>
            </a:r>
          </a:p>
        </p:txBody>
      </p:sp>
      <p:sp>
        <p:nvSpPr>
          <p:cNvPr id="37" name="Exposicao selo 2"/>
          <p:cNvSpPr/>
          <p:nvPr/>
        </p:nvSpPr>
        <p:spPr>
          <a:xfrm>
            <a:off x="10405872" y="5477256"/>
            <a:ext cx="1554480" cy="237744"/>
          </a:xfrm>
          <a:prstGeom prst="roundRect">
            <a:avLst>
              <a:gd name="adj" fmla="val 15000"/>
            </a:avLst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1A1A1A"/>
                </a:solidFill>
              </a:rPr>
              <a:t>NEUTRO</a:t>
            </a:r>
          </a:p>
        </p:txBody>
      </p:sp>
      <p:sp>
        <p:nvSpPr>
          <p:cNvPr id="38" name="Exposicao cat 3"/>
          <p:cNvSpPr txBox="1"/>
          <p:nvPr/>
        </p:nvSpPr>
        <p:spPr>
          <a:xfrm>
            <a:off x="6428232" y="587044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Câmeras Wi-Fi e roteadores</a:t>
            </a:r>
          </a:p>
        </p:txBody>
      </p:sp>
      <p:sp>
        <p:nvSpPr>
          <p:cNvPr id="39" name="Exposicao canal 3"/>
          <p:cNvSpPr txBox="1"/>
          <p:nvPr/>
        </p:nvSpPr>
        <p:spPr>
          <a:xfrm>
            <a:off x="8805672" y="587044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varejo (16% das vendas)</a:t>
            </a:r>
          </a:p>
        </p:txBody>
      </p:sp>
      <p:sp>
        <p:nvSpPr>
          <p:cNvPr id="40" name="Exposicao selo 3"/>
          <p:cNvSpPr/>
          <p:nvPr/>
        </p:nvSpPr>
        <p:spPr>
          <a:xfrm>
            <a:off x="10405872" y="5934456"/>
            <a:ext cx="1554480" cy="237744"/>
          </a:xfrm>
          <a:prstGeom prst="roundRect">
            <a:avLst>
              <a:gd name="adj" fmla="val 15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FFFFFF"/>
                </a:solidFill>
              </a:rPr>
              <a:t>EXPOSTO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Demanda: percepção, obra e juros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A demanda de Segurança segue a percepção de risco e a obra, não o crime medido; juros altos pesam mais em TIC e Energia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O crime cai, o medo sobe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Mortes violentas por 100 mil habitantes e % que cita a segurança como maior problema do país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A obra de 2025 vira instalação em 2027–28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Lançamentos imobiliários e estoque de condomínios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III. Juros: Energia e TIC sentem mais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Intensidade de cada canal de transmissão por segmento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IV. O que chegou à receita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Crescimento da receita por segmento (%)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Anuário FBSP (via CNN Brasil); Quaest (nov/25, jun/26); Abrainc/Fipe; CNEFE; Abese; SíndicoNet; BCB; Planilha interativa 2T26. MVI de 2012 estimado a partir da queda de 31% até 2025.</a:t>
            </a:r>
          </a:p>
        </p:txBody>
      </p:sp>
      <p:graphicFrame>
        <p:nvGraphicFramePr>
          <p:cNvPr id="17" name="Grafico MVI"/>
          <p:cNvGraphicFramePr>
            <a:graphicFrameLocks noGrp="1"/>
          </p:cNvGraphicFramePr>
          <p:nvPr/>
        </p:nvGraphicFramePr>
        <p:xfrm>
          <a:off x="566928" y="1545336"/>
          <a:ext cx="2468880" cy="1984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8" name="Grafico percepcao"/>
          <p:cNvGraphicFramePr>
            <a:graphicFrameLocks noGrp="1"/>
          </p:cNvGraphicFramePr>
          <p:nvPr/>
        </p:nvGraphicFramePr>
        <p:xfrm>
          <a:off x="3310128" y="1545336"/>
          <a:ext cx="2788920" cy="1984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otulo MVI"/>
          <p:cNvSpPr txBox="1"/>
          <p:nvPr/>
        </p:nvSpPr>
        <p:spPr>
          <a:xfrm>
            <a:off x="566928" y="152704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1">
                <a:solidFill>
                  <a:srgbClr val="595959"/>
                </a:solidFill>
              </a:rPr>
              <a:t>mortes violentas (por 100 mil)</a:t>
            </a:r>
          </a:p>
        </p:txBody>
      </p:sp>
      <p:sp>
        <p:nvSpPr>
          <p:cNvPr id="20" name="Rotulo percepcao"/>
          <p:cNvSpPr txBox="1"/>
          <p:nvPr/>
        </p:nvSpPr>
        <p:spPr>
          <a:xfrm>
            <a:off x="3310128" y="1527048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1">
                <a:solidFill>
                  <a:srgbClr val="595959"/>
                </a:solidFill>
              </a:rPr>
              <a:t>segurança é o maior problema (%)</a:t>
            </a:r>
          </a:p>
        </p:txBody>
      </p:sp>
      <p:sp>
        <p:nvSpPr>
          <p:cNvPr id="21" name="Obra lancamentos"/>
          <p:cNvSpPr/>
          <p:nvPr/>
        </p:nvSpPr>
        <p:spPr>
          <a:xfrm>
            <a:off x="6428232" y="1636776"/>
            <a:ext cx="1600200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+30%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lançamentos em 2025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(86% MCMV)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074152" y="2066543"/>
            <a:ext cx="685800" cy="0"/>
          </a:xfrm>
          <a:prstGeom prst="line">
            <a:avLst/>
          </a:prstGeom>
          <a:ln w="2540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tulo defasagem"/>
          <p:cNvSpPr txBox="1"/>
          <p:nvPr/>
        </p:nvSpPr>
        <p:spPr>
          <a:xfrm>
            <a:off x="8028432" y="181965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1">
                <a:solidFill>
                  <a:srgbClr val="595959"/>
                </a:solidFill>
              </a:rPr>
              <a:t>24–36 meses</a:t>
            </a:r>
          </a:p>
        </p:txBody>
      </p:sp>
      <p:sp>
        <p:nvSpPr>
          <p:cNvPr id="24" name="Obra instalacao"/>
          <p:cNvSpPr/>
          <p:nvPr/>
        </p:nvSpPr>
        <p:spPr>
          <a:xfrm>
            <a:off x="8805672" y="1636776"/>
            <a:ext cx="1417320" cy="868680"/>
          </a:xfrm>
          <a:prstGeom prst="rect">
            <a:avLst/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2027–28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instalação no fim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da obra</a:t>
            </a:r>
          </a:p>
        </p:txBody>
      </p:sp>
      <p:sp>
        <p:nvSpPr>
          <p:cNvPr id="25" name="Obra retrofit"/>
          <p:cNvSpPr/>
          <p:nvPr/>
        </p:nvSpPr>
        <p:spPr>
          <a:xfrm>
            <a:off x="10360152" y="1636776"/>
            <a:ext cx="1600200" cy="868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13,3 mi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unidades em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condomínio (retrofit)</a:t>
            </a:r>
          </a:p>
        </p:txBody>
      </p:sp>
      <p:sp>
        <p:nvSpPr>
          <p:cNvPr id="26" name="Nota retrofit"/>
          <p:cNvSpPr txBox="1"/>
          <p:nvPr/>
        </p:nvSpPr>
        <p:spPr>
          <a:xfrm>
            <a:off x="6428232" y="2596896"/>
            <a:ext cx="5532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</a:rPr>
              <a:t>Retrofit (portaria remota, reconhecimento facial) é o driver maior e menos cíclico: mais de 14 mil condomínios já usam portaria remota, serviço que cresceu 24% em 2024.</a:t>
            </a:r>
          </a:p>
        </p:txBody>
      </p:sp>
      <p:sp>
        <p:nvSpPr>
          <p:cNvPr id="27" name="Matriz col 0"/>
          <p:cNvSpPr txBox="1"/>
          <p:nvPr/>
        </p:nvSpPr>
        <p:spPr>
          <a:xfrm>
            <a:off x="2167128" y="440740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595959"/>
                </a:solidFill>
              </a:rPr>
              <a:t>Segurança</a:t>
            </a:r>
          </a:p>
        </p:txBody>
      </p:sp>
      <p:sp>
        <p:nvSpPr>
          <p:cNvPr id="28" name="Matriz col 1"/>
          <p:cNvSpPr txBox="1"/>
          <p:nvPr/>
        </p:nvSpPr>
        <p:spPr>
          <a:xfrm>
            <a:off x="3493008" y="440740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595959"/>
                </a:solidFill>
              </a:rPr>
              <a:t>TIC</a:t>
            </a:r>
          </a:p>
        </p:txBody>
      </p:sp>
      <p:sp>
        <p:nvSpPr>
          <p:cNvPr id="29" name="Matriz col 2"/>
          <p:cNvSpPr txBox="1"/>
          <p:nvPr/>
        </p:nvSpPr>
        <p:spPr>
          <a:xfrm>
            <a:off x="4818888" y="440740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595959"/>
                </a:solidFill>
              </a:rPr>
              <a:t>Energia</a:t>
            </a:r>
          </a:p>
        </p:txBody>
      </p:sp>
      <p:sp>
        <p:nvSpPr>
          <p:cNvPr id="30" name="Matriz linha 0"/>
          <p:cNvSpPr txBox="1"/>
          <p:nvPr/>
        </p:nvSpPr>
        <p:spPr>
          <a:xfrm>
            <a:off x="566928" y="4626864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Selic e crédito</a:t>
            </a:r>
          </a:p>
        </p:txBody>
      </p:sp>
      <p:sp>
        <p:nvSpPr>
          <p:cNvPr id="31" name="Matriz 0-0"/>
          <p:cNvSpPr/>
          <p:nvPr/>
        </p:nvSpPr>
        <p:spPr>
          <a:xfrm>
            <a:off x="2167128" y="4636008"/>
            <a:ext cx="1280160" cy="210312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0">
                <a:solidFill>
                  <a:srgbClr val="1A1A1A"/>
                </a:solidFill>
              </a:rPr>
              <a:t>baixa</a:t>
            </a:r>
          </a:p>
        </p:txBody>
      </p:sp>
      <p:sp>
        <p:nvSpPr>
          <p:cNvPr id="32" name="Matriz 0-1"/>
          <p:cNvSpPr/>
          <p:nvPr/>
        </p:nvSpPr>
        <p:spPr>
          <a:xfrm>
            <a:off x="3493008" y="4636008"/>
            <a:ext cx="1280160" cy="210312"/>
          </a:xfrm>
          <a:prstGeom prst="rect">
            <a:avLst/>
          </a:prstGeom>
          <a:solidFill>
            <a:srgbClr val="7C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0">
                <a:solidFill>
                  <a:srgbClr val="1A1A1A"/>
                </a:solidFill>
              </a:rPr>
              <a:t>média</a:t>
            </a:r>
          </a:p>
        </p:txBody>
      </p:sp>
      <p:sp>
        <p:nvSpPr>
          <p:cNvPr id="33" name="Matriz 0-2"/>
          <p:cNvSpPr/>
          <p:nvPr/>
        </p:nvSpPr>
        <p:spPr>
          <a:xfrm>
            <a:off x="4818888" y="4636008"/>
            <a:ext cx="1280160" cy="210312"/>
          </a:xfrm>
          <a:prstGeom prst="rect">
            <a:avLst/>
          </a:prstGeom>
          <a:solidFill>
            <a:srgbClr val="00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0">
                <a:solidFill>
                  <a:srgbClr val="FFFFFF"/>
                </a:solidFill>
              </a:rPr>
              <a:t>alta</a:t>
            </a:r>
          </a:p>
        </p:txBody>
      </p:sp>
      <p:sp>
        <p:nvSpPr>
          <p:cNvPr id="34" name="Matriz linha 1"/>
          <p:cNvSpPr txBox="1"/>
          <p:nvPr/>
        </p:nvSpPr>
        <p:spPr>
          <a:xfrm>
            <a:off x="566928" y="487375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Renda real</a:t>
            </a:r>
          </a:p>
        </p:txBody>
      </p:sp>
      <p:sp>
        <p:nvSpPr>
          <p:cNvPr id="35" name="Matriz 1-0"/>
          <p:cNvSpPr/>
          <p:nvPr/>
        </p:nvSpPr>
        <p:spPr>
          <a:xfrm>
            <a:off x="2167128" y="4882896"/>
            <a:ext cx="1280160" cy="210312"/>
          </a:xfrm>
          <a:prstGeom prst="rect">
            <a:avLst/>
          </a:prstGeom>
          <a:solidFill>
            <a:srgbClr val="7C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0">
                <a:solidFill>
                  <a:srgbClr val="1A1A1A"/>
                </a:solidFill>
              </a:rPr>
              <a:t>média</a:t>
            </a:r>
          </a:p>
        </p:txBody>
      </p:sp>
      <p:sp>
        <p:nvSpPr>
          <p:cNvPr id="36" name="Matriz 1-1"/>
          <p:cNvSpPr/>
          <p:nvPr/>
        </p:nvSpPr>
        <p:spPr>
          <a:xfrm>
            <a:off x="3493008" y="4882896"/>
            <a:ext cx="1280160" cy="210312"/>
          </a:xfrm>
          <a:prstGeom prst="rect">
            <a:avLst/>
          </a:prstGeom>
          <a:solidFill>
            <a:srgbClr val="7C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0">
                <a:solidFill>
                  <a:srgbClr val="1A1A1A"/>
                </a:solidFill>
              </a:rPr>
              <a:t>média</a:t>
            </a:r>
          </a:p>
        </p:txBody>
      </p:sp>
      <p:sp>
        <p:nvSpPr>
          <p:cNvPr id="37" name="Matriz 1-2"/>
          <p:cNvSpPr/>
          <p:nvPr/>
        </p:nvSpPr>
        <p:spPr>
          <a:xfrm>
            <a:off x="4818888" y="4882896"/>
            <a:ext cx="1280160" cy="210312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0">
                <a:solidFill>
                  <a:srgbClr val="1A1A1A"/>
                </a:solidFill>
              </a:rPr>
              <a:t>baixa</a:t>
            </a:r>
          </a:p>
        </p:txBody>
      </p:sp>
      <p:sp>
        <p:nvSpPr>
          <p:cNvPr id="38" name="Matriz linha 2"/>
          <p:cNvSpPr txBox="1"/>
          <p:nvPr/>
        </p:nvSpPr>
        <p:spPr>
          <a:xfrm>
            <a:off x="566928" y="512064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Construção civil</a:t>
            </a:r>
          </a:p>
        </p:txBody>
      </p:sp>
      <p:sp>
        <p:nvSpPr>
          <p:cNvPr id="39" name="Matriz 2-0"/>
          <p:cNvSpPr/>
          <p:nvPr/>
        </p:nvSpPr>
        <p:spPr>
          <a:xfrm>
            <a:off x="2167128" y="5129784"/>
            <a:ext cx="1280160" cy="210312"/>
          </a:xfrm>
          <a:prstGeom prst="rect">
            <a:avLst/>
          </a:prstGeom>
          <a:solidFill>
            <a:srgbClr val="7C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0">
                <a:solidFill>
                  <a:srgbClr val="1A1A1A"/>
                </a:solidFill>
              </a:rPr>
              <a:t>média</a:t>
            </a:r>
          </a:p>
        </p:txBody>
      </p:sp>
      <p:sp>
        <p:nvSpPr>
          <p:cNvPr id="40" name="Matriz 2-1"/>
          <p:cNvSpPr/>
          <p:nvPr/>
        </p:nvSpPr>
        <p:spPr>
          <a:xfrm>
            <a:off x="3493008" y="5129784"/>
            <a:ext cx="1280160" cy="210312"/>
          </a:xfrm>
          <a:prstGeom prst="rect">
            <a:avLst/>
          </a:prstGeom>
          <a:solidFill>
            <a:srgbClr val="7C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0">
                <a:solidFill>
                  <a:srgbClr val="1A1A1A"/>
                </a:solidFill>
              </a:rPr>
              <a:t>média</a:t>
            </a:r>
          </a:p>
        </p:txBody>
      </p:sp>
      <p:sp>
        <p:nvSpPr>
          <p:cNvPr id="41" name="Matriz 2-2"/>
          <p:cNvSpPr/>
          <p:nvPr/>
        </p:nvSpPr>
        <p:spPr>
          <a:xfrm>
            <a:off x="4818888" y="5129784"/>
            <a:ext cx="1280160" cy="210312"/>
          </a:xfrm>
          <a:prstGeom prst="rect">
            <a:avLst/>
          </a:prstGeom>
          <a:solidFill>
            <a:srgbClr val="7C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0">
                <a:solidFill>
                  <a:srgbClr val="1A1A1A"/>
                </a:solidFill>
              </a:rPr>
              <a:t>média</a:t>
            </a:r>
          </a:p>
        </p:txBody>
      </p:sp>
      <p:sp>
        <p:nvSpPr>
          <p:cNvPr id="42" name="Matriz linha 3"/>
          <p:cNvSpPr txBox="1"/>
          <p:nvPr/>
        </p:nvSpPr>
        <p:spPr>
          <a:xfrm>
            <a:off x="566928" y="5367528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Capex de empresas</a:t>
            </a:r>
          </a:p>
        </p:txBody>
      </p:sp>
      <p:sp>
        <p:nvSpPr>
          <p:cNvPr id="43" name="Matriz 3-0"/>
          <p:cNvSpPr/>
          <p:nvPr/>
        </p:nvSpPr>
        <p:spPr>
          <a:xfrm>
            <a:off x="2167128" y="5376672"/>
            <a:ext cx="1280160" cy="210312"/>
          </a:xfrm>
          <a:prstGeom prst="rect">
            <a:avLst/>
          </a:prstGeom>
          <a:solidFill>
            <a:srgbClr val="7C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0">
                <a:solidFill>
                  <a:srgbClr val="1A1A1A"/>
                </a:solidFill>
              </a:rPr>
              <a:t>média</a:t>
            </a:r>
          </a:p>
        </p:txBody>
      </p:sp>
      <p:sp>
        <p:nvSpPr>
          <p:cNvPr id="44" name="Matriz 3-1"/>
          <p:cNvSpPr/>
          <p:nvPr/>
        </p:nvSpPr>
        <p:spPr>
          <a:xfrm>
            <a:off x="3493008" y="5376672"/>
            <a:ext cx="1280160" cy="210312"/>
          </a:xfrm>
          <a:prstGeom prst="rect">
            <a:avLst/>
          </a:prstGeom>
          <a:solidFill>
            <a:srgbClr val="7C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0">
                <a:solidFill>
                  <a:srgbClr val="1A1A1A"/>
                </a:solidFill>
              </a:rPr>
              <a:t>média</a:t>
            </a:r>
          </a:p>
        </p:txBody>
      </p:sp>
      <p:sp>
        <p:nvSpPr>
          <p:cNvPr id="45" name="Matriz 3-2"/>
          <p:cNvSpPr/>
          <p:nvPr/>
        </p:nvSpPr>
        <p:spPr>
          <a:xfrm>
            <a:off x="4818888" y="5376672"/>
            <a:ext cx="1280160" cy="210312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0">
                <a:solidFill>
                  <a:srgbClr val="1A1A1A"/>
                </a:solidFill>
              </a:rPr>
              <a:t>baixa</a:t>
            </a:r>
          </a:p>
        </p:txBody>
      </p:sp>
      <p:sp>
        <p:nvSpPr>
          <p:cNvPr id="46" name="Matriz linha 4"/>
          <p:cNvSpPr txBox="1"/>
          <p:nvPr/>
        </p:nvSpPr>
        <p:spPr>
          <a:xfrm>
            <a:off x="566928" y="5614416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Câmbio</a:t>
            </a:r>
          </a:p>
        </p:txBody>
      </p:sp>
      <p:sp>
        <p:nvSpPr>
          <p:cNvPr id="47" name="Matriz 4-0"/>
          <p:cNvSpPr/>
          <p:nvPr/>
        </p:nvSpPr>
        <p:spPr>
          <a:xfrm>
            <a:off x="2167128" y="5623560"/>
            <a:ext cx="1280160" cy="210312"/>
          </a:xfrm>
          <a:prstGeom prst="rect">
            <a:avLst/>
          </a:prstGeom>
          <a:solidFill>
            <a:srgbClr val="00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0">
                <a:solidFill>
                  <a:srgbClr val="FFFFFF"/>
                </a:solidFill>
              </a:rPr>
              <a:t>alta</a:t>
            </a:r>
          </a:p>
        </p:txBody>
      </p:sp>
      <p:sp>
        <p:nvSpPr>
          <p:cNvPr id="48" name="Matriz 4-1"/>
          <p:cNvSpPr/>
          <p:nvPr/>
        </p:nvSpPr>
        <p:spPr>
          <a:xfrm>
            <a:off x="3493008" y="5623560"/>
            <a:ext cx="1280160" cy="210312"/>
          </a:xfrm>
          <a:prstGeom prst="rect">
            <a:avLst/>
          </a:prstGeom>
          <a:solidFill>
            <a:srgbClr val="00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0">
                <a:solidFill>
                  <a:srgbClr val="FFFFFF"/>
                </a:solidFill>
              </a:rPr>
              <a:t>alta</a:t>
            </a:r>
          </a:p>
        </p:txBody>
      </p:sp>
      <p:sp>
        <p:nvSpPr>
          <p:cNvPr id="49" name="Matriz 4-2"/>
          <p:cNvSpPr/>
          <p:nvPr/>
        </p:nvSpPr>
        <p:spPr>
          <a:xfrm>
            <a:off x="4818888" y="5623560"/>
            <a:ext cx="1280160" cy="210312"/>
          </a:xfrm>
          <a:prstGeom prst="rect">
            <a:avLst/>
          </a:prstGeom>
          <a:solidFill>
            <a:srgbClr val="00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0">
                <a:solidFill>
                  <a:srgbClr val="FFFFFF"/>
                </a:solidFill>
              </a:rPr>
              <a:t>alta</a:t>
            </a:r>
          </a:p>
        </p:txBody>
      </p:sp>
      <p:sp>
        <p:nvSpPr>
          <p:cNvPr id="50" name="Matriz linha 5"/>
          <p:cNvSpPr txBox="1"/>
          <p:nvPr/>
        </p:nvSpPr>
        <p:spPr>
          <a:xfrm>
            <a:off x="566928" y="5861304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Capex de telecom</a:t>
            </a:r>
          </a:p>
        </p:txBody>
      </p:sp>
      <p:sp>
        <p:nvSpPr>
          <p:cNvPr id="51" name="Matriz 5-0"/>
          <p:cNvSpPr/>
          <p:nvPr/>
        </p:nvSpPr>
        <p:spPr>
          <a:xfrm>
            <a:off x="2167128" y="5870448"/>
            <a:ext cx="1280160" cy="210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0">
                <a:solidFill>
                  <a:srgbClr val="8C8C8C"/>
                </a:solidFill>
              </a:rPr>
              <a:t>—</a:t>
            </a:r>
          </a:p>
        </p:txBody>
      </p:sp>
      <p:sp>
        <p:nvSpPr>
          <p:cNvPr id="52" name="Matriz 5-1"/>
          <p:cNvSpPr/>
          <p:nvPr/>
        </p:nvSpPr>
        <p:spPr>
          <a:xfrm>
            <a:off x="3493008" y="5870448"/>
            <a:ext cx="1280160" cy="210312"/>
          </a:xfrm>
          <a:prstGeom prst="rect">
            <a:avLst/>
          </a:prstGeom>
          <a:solidFill>
            <a:srgbClr val="00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0">
                <a:solidFill>
                  <a:srgbClr val="FFFFFF"/>
                </a:solidFill>
              </a:rPr>
              <a:t>alta</a:t>
            </a:r>
          </a:p>
        </p:txBody>
      </p:sp>
      <p:sp>
        <p:nvSpPr>
          <p:cNvPr id="53" name="Matriz 5-2"/>
          <p:cNvSpPr/>
          <p:nvPr/>
        </p:nvSpPr>
        <p:spPr>
          <a:xfrm>
            <a:off x="4818888" y="5870448"/>
            <a:ext cx="1280160" cy="210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0">
                <a:solidFill>
                  <a:srgbClr val="8C8C8C"/>
                </a:solidFill>
              </a:rPr>
              <a:t>—</a:t>
            </a:r>
          </a:p>
        </p:txBody>
      </p:sp>
      <p:sp>
        <p:nvSpPr>
          <p:cNvPr id="54" name="Matriz linha 6"/>
          <p:cNvSpPr txBox="1"/>
          <p:nvPr/>
        </p:nvSpPr>
        <p:spPr>
          <a:xfrm>
            <a:off x="566928" y="610819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Investimento solar</a:t>
            </a:r>
          </a:p>
        </p:txBody>
      </p:sp>
      <p:sp>
        <p:nvSpPr>
          <p:cNvPr id="55" name="Matriz 6-0"/>
          <p:cNvSpPr/>
          <p:nvPr/>
        </p:nvSpPr>
        <p:spPr>
          <a:xfrm>
            <a:off x="2167128" y="6117336"/>
            <a:ext cx="1280160" cy="210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0">
                <a:solidFill>
                  <a:srgbClr val="8C8C8C"/>
                </a:solidFill>
              </a:rPr>
              <a:t>—</a:t>
            </a:r>
          </a:p>
        </p:txBody>
      </p:sp>
      <p:sp>
        <p:nvSpPr>
          <p:cNvPr id="56" name="Matriz 6-1"/>
          <p:cNvSpPr/>
          <p:nvPr/>
        </p:nvSpPr>
        <p:spPr>
          <a:xfrm>
            <a:off x="3493008" y="6117336"/>
            <a:ext cx="1280160" cy="210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0">
                <a:solidFill>
                  <a:srgbClr val="8C8C8C"/>
                </a:solidFill>
              </a:rPr>
              <a:t>—</a:t>
            </a:r>
          </a:p>
        </p:txBody>
      </p:sp>
      <p:sp>
        <p:nvSpPr>
          <p:cNvPr id="57" name="Matriz 6-2"/>
          <p:cNvSpPr/>
          <p:nvPr/>
        </p:nvSpPr>
        <p:spPr>
          <a:xfrm>
            <a:off x="4818888" y="6117336"/>
            <a:ext cx="1280160" cy="210312"/>
          </a:xfrm>
          <a:prstGeom prst="rect">
            <a:avLst/>
          </a:prstGeom>
          <a:solidFill>
            <a:srgbClr val="00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0">
                <a:solidFill>
                  <a:srgbClr val="FFFFFF"/>
                </a:solidFill>
              </a:rPr>
              <a:t>alta</a:t>
            </a:r>
          </a:p>
        </p:txBody>
      </p:sp>
      <p:graphicFrame>
        <p:nvGraphicFramePr>
          <p:cNvPr id="58" name="Grafico crescimento por segmento"/>
          <p:cNvGraphicFramePr>
            <a:graphicFrameLocks noGrp="1"/>
          </p:cNvGraphicFramePr>
          <p:nvPr/>
        </p:nvGraphicFramePr>
        <p:xfrm>
          <a:off x="6428232" y="4407408"/>
          <a:ext cx="3931920" cy="1984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9" name="Destaque PCLD"/>
          <p:cNvSpPr txBox="1"/>
          <p:nvPr/>
        </p:nvSpPr>
        <p:spPr>
          <a:xfrm>
            <a:off x="10451592" y="4681728"/>
            <a:ext cx="1508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</a:rPr>
              <a:t>R$29 mi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de provisão para perda de crédito em 2025, contra R$7 mi em 2024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TIC: escala global, comprador técnico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Com 9% de share e rivais globais, TIC rende abaixo da Selic; o espaço real está em cabeamento e redes de PMEs, não em GPON nem 5G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A receita está parada desde 2021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Receita líquida de TIC (R$ mi)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Onde vale disputar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Submercados de TIC: proteção e encaixe no canal da Intelbras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III. Os drivers são fracos, exceto cabos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Indicadores do mercado de telecom no Brasil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IV. A margem cai e o retorno fica abaixo da Selic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Margem bruta de TIC (%), 2020–2025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Planilha interativa 2T26; DFPs 2020–25 (NE 31); Release 2T26 (p.7–8); Anatel (via TI Inside); Agência Gov (5G); Gecex 829/837; comunicado Intelbras–FiberHome (12/01/2026).</a:t>
            </a:r>
          </a:p>
        </p:txBody>
      </p:sp>
      <p:graphicFrame>
        <p:nvGraphicFramePr>
          <p:cNvPr id="17" name="Grafico receita TIC"/>
          <p:cNvGraphicFramePr>
            <a:graphicFrameLocks noGrp="1"/>
          </p:cNvGraphicFramePr>
          <p:nvPr/>
        </p:nvGraphicFramePr>
        <p:xfrm>
          <a:off x="566928" y="1545336"/>
          <a:ext cx="3931920" cy="1984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Destaque CAGR TIC"/>
          <p:cNvSpPr txBox="1"/>
          <p:nvPr/>
        </p:nvSpPr>
        <p:spPr>
          <a:xfrm>
            <a:off x="4590288" y="1728216"/>
            <a:ext cx="1508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</a:rPr>
              <a:t>1,6% a.a.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</a:rPr>
              <a:t>de crescimento em 2021–25</a:t>
            </a:r>
          </a:p>
        </p:txBody>
      </p:sp>
      <p:sp>
        <p:nvSpPr>
          <p:cNvPr id="19" name="Destaque 1S26 TIC"/>
          <p:cNvSpPr txBox="1"/>
          <p:nvPr/>
        </p:nvSpPr>
        <p:spPr>
          <a:xfrm>
            <a:off x="4590288" y="2551176"/>
            <a:ext cx="1508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9F41"/>
                </a:solidFill>
              </a:rPr>
              <a:t>+13,7%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</a:rPr>
              <a:t>no 1S26, sobre base fraca</a:t>
            </a:r>
          </a:p>
        </p:txBody>
      </p:sp>
      <p:sp>
        <p:nvSpPr>
          <p:cNvPr id="20" name="TIC cat 0"/>
          <p:cNvSpPr txBox="1"/>
          <p:nvPr/>
        </p:nvSpPr>
        <p:spPr>
          <a:xfrm>
            <a:off x="6428232" y="161848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Cabeamento óptico</a:t>
            </a:r>
          </a:p>
        </p:txBody>
      </p:sp>
      <p:sp>
        <p:nvSpPr>
          <p:cNvPr id="21" name="TIC por que 0"/>
          <p:cNvSpPr txBox="1"/>
          <p:nvPr/>
        </p:nvSpPr>
        <p:spPr>
          <a:xfrm>
            <a:off x="8028432" y="161848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antidumping até ~2030; Tubarão quase cheia</a:t>
            </a:r>
          </a:p>
        </p:txBody>
      </p:sp>
      <p:sp>
        <p:nvSpPr>
          <p:cNvPr id="22" name="TIC selo 0"/>
          <p:cNvSpPr/>
          <p:nvPr/>
        </p:nvSpPr>
        <p:spPr>
          <a:xfrm>
            <a:off x="10680192" y="1682496"/>
            <a:ext cx="1280160" cy="237744"/>
          </a:xfrm>
          <a:prstGeom prst="roundRect">
            <a:avLst>
              <a:gd name="adj" fmla="val 15000"/>
            </a:avLst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FFFFFF"/>
                </a:solidFill>
              </a:rPr>
              <a:t>PROTEGIDO</a:t>
            </a:r>
          </a:p>
        </p:txBody>
      </p:sp>
      <p:sp>
        <p:nvSpPr>
          <p:cNvPr id="23" name="TIC cat 1"/>
          <p:cNvSpPr txBox="1"/>
          <p:nvPr/>
        </p:nvSpPr>
        <p:spPr>
          <a:xfrm>
            <a:off x="6428232" y="207568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Redes de PMEs</a:t>
            </a:r>
          </a:p>
        </p:txBody>
      </p:sp>
      <p:sp>
        <p:nvSpPr>
          <p:cNvPr id="24" name="TIC por que 1"/>
          <p:cNvSpPr txBox="1"/>
          <p:nvPr/>
        </p:nvSpPr>
        <p:spPr>
          <a:xfrm>
            <a:off x="8028432" y="207568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o mesmo instalador de Segurança vende</a:t>
            </a:r>
          </a:p>
        </p:txBody>
      </p:sp>
      <p:sp>
        <p:nvSpPr>
          <p:cNvPr id="25" name="TIC selo 1"/>
          <p:cNvSpPr/>
          <p:nvPr/>
        </p:nvSpPr>
        <p:spPr>
          <a:xfrm>
            <a:off x="10680192" y="2139696"/>
            <a:ext cx="1280160" cy="237744"/>
          </a:xfrm>
          <a:prstGeom prst="roundRect">
            <a:avLst>
              <a:gd name="adj" fmla="val 15000"/>
            </a:avLst>
          </a:prstGeom>
          <a:solidFill>
            <a:srgbClr val="7C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1A1A1A"/>
                </a:solidFill>
              </a:rPr>
              <a:t>FAVORÁVEL</a:t>
            </a:r>
          </a:p>
        </p:txBody>
      </p:sp>
      <p:sp>
        <p:nvSpPr>
          <p:cNvPr id="26" name="TIC cat 2"/>
          <p:cNvSpPr txBox="1"/>
          <p:nvPr/>
        </p:nvSpPr>
        <p:spPr>
          <a:xfrm>
            <a:off x="6428232" y="253288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GPON para provedores</a:t>
            </a:r>
          </a:p>
        </p:txBody>
      </p:sp>
      <p:sp>
        <p:nvSpPr>
          <p:cNvPr id="27" name="TIC por que 2"/>
          <p:cNvSpPr txBox="1"/>
          <p:nvPr/>
        </p:nvSpPr>
        <p:spPr>
          <a:xfrm>
            <a:off x="8028432" y="253288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FiberHome sem exclusividade; risco de crédito</a:t>
            </a:r>
          </a:p>
        </p:txBody>
      </p:sp>
      <p:sp>
        <p:nvSpPr>
          <p:cNvPr id="28" name="TIC selo 2"/>
          <p:cNvSpPr/>
          <p:nvPr/>
        </p:nvSpPr>
        <p:spPr>
          <a:xfrm>
            <a:off x="10680192" y="2596896"/>
            <a:ext cx="1280160" cy="237744"/>
          </a:xfrm>
          <a:prstGeom prst="roundRect">
            <a:avLst>
              <a:gd name="adj" fmla="val 15000"/>
            </a:avLst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1A1A1A"/>
                </a:solidFill>
              </a:rPr>
              <a:t>FRACO</a:t>
            </a:r>
          </a:p>
        </p:txBody>
      </p:sp>
      <p:sp>
        <p:nvSpPr>
          <p:cNvPr id="29" name="TIC cat 3"/>
          <p:cNvSpPr txBox="1"/>
          <p:nvPr/>
        </p:nvSpPr>
        <p:spPr>
          <a:xfrm>
            <a:off x="6428232" y="299008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CPE 5G</a:t>
            </a:r>
          </a:p>
        </p:txBody>
      </p:sp>
      <p:sp>
        <p:nvSpPr>
          <p:cNvPr id="30" name="TIC por que 3"/>
          <p:cNvSpPr txBox="1"/>
          <p:nvPr/>
        </p:nvSpPr>
        <p:spPr>
          <a:xfrm>
            <a:off x="8028432" y="299008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quem compra é a operadora; FWA concorre com a fibra</a:t>
            </a:r>
          </a:p>
        </p:txBody>
      </p:sp>
      <p:sp>
        <p:nvSpPr>
          <p:cNvPr id="31" name="TIC selo 3"/>
          <p:cNvSpPr/>
          <p:nvPr/>
        </p:nvSpPr>
        <p:spPr>
          <a:xfrm>
            <a:off x="10680192" y="3054096"/>
            <a:ext cx="1280160" cy="237744"/>
          </a:xfrm>
          <a:prstGeom prst="roundRect">
            <a:avLst>
              <a:gd name="adj" fmla="val 15000"/>
            </a:avLst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1A1A1A"/>
                </a:solidFill>
              </a:rPr>
              <a:t>FRACO</a:t>
            </a:r>
          </a:p>
        </p:txBody>
      </p:sp>
      <p:sp>
        <p:nvSpPr>
          <p:cNvPr id="32" name="Driver TIC 0"/>
          <p:cNvSpPr txBox="1"/>
          <p:nvPr/>
        </p:nvSpPr>
        <p:spPr>
          <a:xfrm>
            <a:off x="566928" y="4453128"/>
            <a:ext cx="1783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</a:rPr>
              <a:t>+2,7%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banda larga fixa em 2025</a:t>
            </a:r>
          </a:p>
        </p:txBody>
      </p:sp>
      <p:sp>
        <p:nvSpPr>
          <p:cNvPr id="33" name="Driver TIC 1"/>
          <p:cNvSpPr txBox="1"/>
          <p:nvPr/>
        </p:nvSpPr>
        <p:spPr>
          <a:xfrm>
            <a:off x="2441448" y="4453128"/>
            <a:ext cx="1783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</a:rPr>
              <a:t>79%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dos acessos já em fibra</a:t>
            </a:r>
          </a:p>
        </p:txBody>
      </p:sp>
      <p:sp>
        <p:nvSpPr>
          <p:cNvPr id="34" name="Driver TIC 2"/>
          <p:cNvSpPr txBox="1"/>
          <p:nvPr/>
        </p:nvSpPr>
        <p:spPr>
          <a:xfrm>
            <a:off x="4315968" y="4453128"/>
            <a:ext cx="1783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</a:rPr>
              <a:t>63%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nas pequenas prestadoras</a:t>
            </a:r>
          </a:p>
        </p:txBody>
      </p:sp>
      <p:sp>
        <p:nvSpPr>
          <p:cNvPr id="35" name="Driver TIC 3"/>
          <p:cNvSpPr txBox="1"/>
          <p:nvPr/>
        </p:nvSpPr>
        <p:spPr>
          <a:xfrm>
            <a:off x="566928" y="5413248"/>
            <a:ext cx="1783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</a:rPr>
              <a:t>80%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da população com 5G até 2026</a:t>
            </a:r>
          </a:p>
        </p:txBody>
      </p:sp>
      <p:sp>
        <p:nvSpPr>
          <p:cNvPr id="36" name="Driver TIC 4"/>
          <p:cNvSpPr txBox="1"/>
          <p:nvPr/>
        </p:nvSpPr>
        <p:spPr>
          <a:xfrm>
            <a:off x="2441448" y="5413248"/>
            <a:ext cx="1783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9F41"/>
                </a:solidFill>
              </a:rPr>
              <a:t>5 anos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de antidumping em fibra</a:t>
            </a:r>
          </a:p>
        </p:txBody>
      </p:sp>
      <p:sp>
        <p:nvSpPr>
          <p:cNvPr id="37" name="Driver TIC 5"/>
          <p:cNvSpPr txBox="1"/>
          <p:nvPr/>
        </p:nvSpPr>
        <p:spPr>
          <a:xfrm>
            <a:off x="4315968" y="5413248"/>
            <a:ext cx="1783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</a:rPr>
              <a:t>jan/26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fim da exclusividade FiberHome</a:t>
            </a:r>
          </a:p>
        </p:txBody>
      </p:sp>
      <p:graphicFrame>
        <p:nvGraphicFramePr>
          <p:cNvPr id="38" name="Grafico margem TIC"/>
          <p:cNvGraphicFramePr>
            <a:graphicFrameLocks noGrp="1"/>
          </p:cNvGraphicFramePr>
          <p:nvPr/>
        </p:nvGraphicFramePr>
        <p:xfrm>
          <a:off x="6428232" y="4407408"/>
          <a:ext cx="3931920" cy="1984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9" name="Destaque ROIC TIC"/>
          <p:cNvSpPr txBox="1"/>
          <p:nvPr/>
        </p:nvSpPr>
        <p:spPr>
          <a:xfrm>
            <a:off x="10451592" y="4681728"/>
            <a:ext cx="1508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595959"/>
                </a:solidFill>
              </a:rPr>
              <a:t>~7,5%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</a:rPr>
              <a:t>ROIC estimado de TIC, contra Selic de 13,75%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Energia: o problema é solar, não o núcleo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O mercado solar encolheu 29% e a Intelbras recuou por rentabilidade; sem solar, Energia é um satélite de Segurança com margem melhor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A receita seguiu o ciclo solar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Receita líquida de Energia (R$ mi)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O mercado solar encolheu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Potência solar adicionada no Brasil (GW) e Fio B cobrado do gerador (%)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III. Desafiante sem solar; irrelevante em solar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Share da Intelbras no Brasil, 2025 (%, MIDI)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IV. Sem solar, a margem melhora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Margem bruta de Energia (%), 2020–2025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Planilha interativa 2T26; DFPs 2020–25 (NE 31); Absolar (via eixos); Lei 14.300/2022 (Fio B); FRE 2026 (1.4); DCD (SMS/Legrand); Release 2T26 (p.8).</a:t>
            </a:r>
          </a:p>
        </p:txBody>
      </p:sp>
      <p:graphicFrame>
        <p:nvGraphicFramePr>
          <p:cNvPr id="17" name="Grafico receita Energia"/>
          <p:cNvGraphicFramePr>
            <a:graphicFrameLocks noGrp="1"/>
          </p:cNvGraphicFramePr>
          <p:nvPr/>
        </p:nvGraphicFramePr>
        <p:xfrm>
          <a:off x="566928" y="1545336"/>
          <a:ext cx="3931920" cy="1984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Destaque Energia 2025"/>
          <p:cNvSpPr txBox="1"/>
          <p:nvPr/>
        </p:nvSpPr>
        <p:spPr>
          <a:xfrm>
            <a:off x="4590288" y="1728216"/>
            <a:ext cx="1508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</a:rPr>
              <a:t>−31%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</a:rPr>
              <a:t>em 2025, puxado por solar</a:t>
            </a:r>
          </a:p>
        </p:txBody>
      </p:sp>
      <p:sp>
        <p:nvSpPr>
          <p:cNvPr id="19" name="Destaque pico"/>
          <p:cNvSpPr txBox="1"/>
          <p:nvPr/>
        </p:nvSpPr>
        <p:spPr>
          <a:xfrm>
            <a:off x="4590288" y="2551176"/>
            <a:ext cx="1508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595959"/>
                </a:solidFill>
              </a:rPr>
              <a:t>R$1,4 bi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</a:rPr>
              <a:t>pico de 2022, no boom solar</a:t>
            </a:r>
          </a:p>
        </p:txBody>
      </p:sp>
      <p:graphicFrame>
        <p:nvGraphicFramePr>
          <p:cNvPr id="20" name="Grafico solar GW"/>
          <p:cNvGraphicFramePr>
            <a:graphicFrameLocks noGrp="1"/>
          </p:cNvGraphicFramePr>
          <p:nvPr/>
        </p:nvGraphicFramePr>
        <p:xfrm>
          <a:off x="6428232" y="1545336"/>
          <a:ext cx="2377440" cy="1984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1" name="Grafico Fio B"/>
          <p:cNvGraphicFramePr>
            <a:graphicFrameLocks noGrp="1"/>
          </p:cNvGraphicFramePr>
          <p:nvPr/>
        </p:nvGraphicFramePr>
        <p:xfrm>
          <a:off x="9079992" y="1545336"/>
          <a:ext cx="2880360" cy="1984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2" name="Rotulo GW"/>
          <p:cNvSpPr txBox="1"/>
          <p:nvPr/>
        </p:nvSpPr>
        <p:spPr>
          <a:xfrm>
            <a:off x="6428232" y="1527048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1">
                <a:solidFill>
                  <a:srgbClr val="595959"/>
                </a:solidFill>
              </a:rPr>
              <a:t>potência adicionada (GW)</a:t>
            </a:r>
          </a:p>
        </p:txBody>
      </p:sp>
      <p:sp>
        <p:nvSpPr>
          <p:cNvPr id="23" name="Rotulo Fio B"/>
          <p:cNvSpPr txBox="1"/>
          <p:nvPr/>
        </p:nvSpPr>
        <p:spPr>
          <a:xfrm>
            <a:off x="9079992" y="1527048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1">
                <a:solidFill>
                  <a:srgbClr val="595959"/>
                </a:solidFill>
              </a:rPr>
              <a:t>Fio B: encargo de rede cobrado (%)</a:t>
            </a:r>
          </a:p>
        </p:txBody>
      </p:sp>
      <p:graphicFrame>
        <p:nvGraphicFramePr>
          <p:cNvPr id="24" name="Grafico share Energia"/>
          <p:cNvGraphicFramePr>
            <a:graphicFrameLocks noGrp="1"/>
          </p:cNvGraphicFramePr>
          <p:nvPr/>
        </p:nvGraphicFramePr>
        <p:xfrm>
          <a:off x="566928" y="4407408"/>
          <a:ext cx="5532120" cy="1984248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5" name="Grafico margem Energia"/>
          <p:cNvGraphicFramePr>
            <a:graphicFrameLocks noGrp="1"/>
          </p:cNvGraphicFramePr>
          <p:nvPr/>
        </p:nvGraphicFramePr>
        <p:xfrm>
          <a:off x="6428232" y="4407408"/>
          <a:ext cx="3931920" cy="1984248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6" name="Destaque 2T26 Energia"/>
          <p:cNvSpPr txBox="1"/>
          <p:nvPr/>
        </p:nvSpPr>
        <p:spPr>
          <a:xfrm>
            <a:off x="10451592" y="4590288"/>
            <a:ext cx="1508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09F41"/>
                </a:solidFill>
              </a:rPr>
              <a:t>+12%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</a:rPr>
              <a:t>de lucro bruto no 2T26, com receita −13,5%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Síntese: onde está o valor e o risco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O valor da INTB3 depende menos do crescimento dos mercados e mais de três variáveis: incentivos fora da ZFM, Dahua em 2028 e o capital do canal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Matriz setorial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Nota de 1 a 5; verde = favorável à Intelbras, cinza escuro = desfavorável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Três variáveis movem o EBIT em 3–5 anos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Impacto estimado sobre a base de 2025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III. O que o mercado pode estar subestimando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Leitura nossa, a favor e contra a tese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análise setorial (Partes I a V); DFPs 2021–25; FRE 2026; Release 2T26; BTG e JPMorgan (relatórios citados na imprensa). Notas e impactos são estimativas próprias.</a:t>
            </a:r>
          </a:p>
        </p:txBody>
      </p:sp>
      <p:sp>
        <p:nvSpPr>
          <p:cNvPr id="13" name="Matriz setorial col 0"/>
          <p:cNvSpPr txBox="1"/>
          <p:nvPr/>
        </p:nvSpPr>
        <p:spPr>
          <a:xfrm>
            <a:off x="2670048" y="156362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595959"/>
                </a:solidFill>
              </a:rPr>
              <a:t>Segurança</a:t>
            </a:r>
          </a:p>
        </p:txBody>
      </p:sp>
      <p:sp>
        <p:nvSpPr>
          <p:cNvPr id="14" name="Matriz setorial col 1"/>
          <p:cNvSpPr txBox="1"/>
          <p:nvPr/>
        </p:nvSpPr>
        <p:spPr>
          <a:xfrm>
            <a:off x="3840480" y="156362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595959"/>
                </a:solidFill>
              </a:rPr>
              <a:t>TIC</a:t>
            </a:r>
          </a:p>
        </p:txBody>
      </p:sp>
      <p:sp>
        <p:nvSpPr>
          <p:cNvPr id="15" name="Matriz setorial col 2"/>
          <p:cNvSpPr txBox="1"/>
          <p:nvPr/>
        </p:nvSpPr>
        <p:spPr>
          <a:xfrm>
            <a:off x="5010912" y="156362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595959"/>
                </a:solidFill>
              </a:rPr>
              <a:t>Energia</a:t>
            </a:r>
          </a:p>
        </p:txBody>
      </p:sp>
      <p:sp>
        <p:nvSpPr>
          <p:cNvPr id="16" name="Matriz setorial linha 0"/>
          <p:cNvSpPr txBox="1"/>
          <p:nvPr/>
        </p:nvSpPr>
        <p:spPr>
          <a:xfrm>
            <a:off x="566928" y="1819656"/>
            <a:ext cx="2057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Crescimento</a:t>
            </a:r>
          </a:p>
        </p:txBody>
      </p:sp>
      <p:sp>
        <p:nvSpPr>
          <p:cNvPr id="17" name="Matriz setorial 0-0"/>
          <p:cNvSpPr/>
          <p:nvPr/>
        </p:nvSpPr>
        <p:spPr>
          <a:xfrm>
            <a:off x="2670048" y="1837943"/>
            <a:ext cx="1097280" cy="292608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1A1A1A"/>
                </a:solidFill>
              </a:rPr>
              <a:t>3</a:t>
            </a:r>
          </a:p>
        </p:txBody>
      </p:sp>
      <p:sp>
        <p:nvSpPr>
          <p:cNvPr id="18" name="Matriz setorial 0-1"/>
          <p:cNvSpPr/>
          <p:nvPr/>
        </p:nvSpPr>
        <p:spPr>
          <a:xfrm>
            <a:off x="3840480" y="1837943"/>
            <a:ext cx="1097280" cy="2926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Matriz setorial 0-2"/>
          <p:cNvSpPr/>
          <p:nvPr/>
        </p:nvSpPr>
        <p:spPr>
          <a:xfrm>
            <a:off x="5010912" y="1837943"/>
            <a:ext cx="1097280" cy="2926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Matriz setorial linha 1"/>
          <p:cNvSpPr txBox="1"/>
          <p:nvPr/>
        </p:nvSpPr>
        <p:spPr>
          <a:xfrm>
            <a:off x="566928" y="2185416"/>
            <a:ext cx="2057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Market share</a:t>
            </a:r>
          </a:p>
        </p:txBody>
      </p:sp>
      <p:sp>
        <p:nvSpPr>
          <p:cNvPr id="21" name="Matriz setorial 1-0"/>
          <p:cNvSpPr/>
          <p:nvPr/>
        </p:nvSpPr>
        <p:spPr>
          <a:xfrm>
            <a:off x="2670048" y="2203704"/>
            <a:ext cx="1097280" cy="292608"/>
          </a:xfrm>
          <a:prstGeom prst="rect">
            <a:avLst/>
          </a:prstGeom>
          <a:solidFill>
            <a:srgbClr val="00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Matriz setorial 1-1"/>
          <p:cNvSpPr/>
          <p:nvPr/>
        </p:nvSpPr>
        <p:spPr>
          <a:xfrm>
            <a:off x="3840480" y="2203704"/>
            <a:ext cx="1097280" cy="2926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3" name="Matriz setorial 1-2"/>
          <p:cNvSpPr/>
          <p:nvPr/>
        </p:nvSpPr>
        <p:spPr>
          <a:xfrm>
            <a:off x="5010912" y="2203704"/>
            <a:ext cx="1097280" cy="292608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1A1A1A"/>
                </a:solidFill>
              </a:rPr>
              <a:t>3</a:t>
            </a:r>
          </a:p>
        </p:txBody>
      </p:sp>
      <p:sp>
        <p:nvSpPr>
          <p:cNvPr id="24" name="Matriz setorial linha 2"/>
          <p:cNvSpPr txBox="1"/>
          <p:nvPr/>
        </p:nvSpPr>
        <p:spPr>
          <a:xfrm>
            <a:off x="566928" y="2551176"/>
            <a:ext cx="2057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Poder de preço</a:t>
            </a:r>
          </a:p>
        </p:txBody>
      </p:sp>
      <p:sp>
        <p:nvSpPr>
          <p:cNvPr id="25" name="Matriz setorial 2-0"/>
          <p:cNvSpPr/>
          <p:nvPr/>
        </p:nvSpPr>
        <p:spPr>
          <a:xfrm>
            <a:off x="2670048" y="2569464"/>
            <a:ext cx="1097280" cy="292608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1A1A1A"/>
                </a:solidFill>
              </a:rPr>
              <a:t>3</a:t>
            </a:r>
          </a:p>
        </p:txBody>
      </p:sp>
      <p:sp>
        <p:nvSpPr>
          <p:cNvPr id="26" name="Matriz setorial 2-1"/>
          <p:cNvSpPr/>
          <p:nvPr/>
        </p:nvSpPr>
        <p:spPr>
          <a:xfrm>
            <a:off x="3840480" y="2569464"/>
            <a:ext cx="1097280" cy="2926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7" name="Matriz setorial 2-2"/>
          <p:cNvSpPr/>
          <p:nvPr/>
        </p:nvSpPr>
        <p:spPr>
          <a:xfrm>
            <a:off x="5010912" y="2569464"/>
            <a:ext cx="1097280" cy="2926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8" name="Matriz setorial linha 3"/>
          <p:cNvSpPr txBox="1"/>
          <p:nvPr/>
        </p:nvSpPr>
        <p:spPr>
          <a:xfrm>
            <a:off x="566928" y="2916936"/>
            <a:ext cx="2057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Intensidade competitiva ↑</a:t>
            </a:r>
          </a:p>
        </p:txBody>
      </p:sp>
      <p:sp>
        <p:nvSpPr>
          <p:cNvPr id="29" name="Matriz setorial 3-0"/>
          <p:cNvSpPr/>
          <p:nvPr/>
        </p:nvSpPr>
        <p:spPr>
          <a:xfrm>
            <a:off x="2670048" y="2935224"/>
            <a:ext cx="1097280" cy="292608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1A1A1A"/>
                </a:solidFill>
              </a:rPr>
              <a:t>3</a:t>
            </a:r>
          </a:p>
        </p:txBody>
      </p:sp>
      <p:sp>
        <p:nvSpPr>
          <p:cNvPr id="30" name="Matriz setorial 3-1"/>
          <p:cNvSpPr/>
          <p:nvPr/>
        </p:nvSpPr>
        <p:spPr>
          <a:xfrm>
            <a:off x="3840480" y="2935224"/>
            <a:ext cx="1097280" cy="29260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1" name="Matriz setorial 3-2"/>
          <p:cNvSpPr/>
          <p:nvPr/>
        </p:nvSpPr>
        <p:spPr>
          <a:xfrm>
            <a:off x="5010912" y="2935224"/>
            <a:ext cx="1097280" cy="2926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2" name="Matriz setorial linha 4"/>
          <p:cNvSpPr txBox="1"/>
          <p:nvPr/>
        </p:nvSpPr>
        <p:spPr>
          <a:xfrm>
            <a:off x="566928" y="3282696"/>
            <a:ext cx="2057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Barreira de entrada</a:t>
            </a:r>
          </a:p>
        </p:txBody>
      </p:sp>
      <p:sp>
        <p:nvSpPr>
          <p:cNvPr id="33" name="Matriz setorial 4-0"/>
          <p:cNvSpPr/>
          <p:nvPr/>
        </p:nvSpPr>
        <p:spPr>
          <a:xfrm>
            <a:off x="2670048" y="3300984"/>
            <a:ext cx="1097280" cy="292608"/>
          </a:xfrm>
          <a:prstGeom prst="rect">
            <a:avLst/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4" name="Matriz setorial 4-1"/>
          <p:cNvSpPr/>
          <p:nvPr/>
        </p:nvSpPr>
        <p:spPr>
          <a:xfrm>
            <a:off x="3840480" y="3300984"/>
            <a:ext cx="1097280" cy="2926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5" name="Matriz setorial 4-2"/>
          <p:cNvSpPr/>
          <p:nvPr/>
        </p:nvSpPr>
        <p:spPr>
          <a:xfrm>
            <a:off x="5010912" y="3300984"/>
            <a:ext cx="1097280" cy="2926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6" name="Matriz setorial linha 5"/>
          <p:cNvSpPr txBox="1"/>
          <p:nvPr/>
        </p:nvSpPr>
        <p:spPr>
          <a:xfrm>
            <a:off x="566928" y="3648456"/>
            <a:ext cx="2057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Moat de distribuição</a:t>
            </a:r>
          </a:p>
        </p:txBody>
      </p:sp>
      <p:sp>
        <p:nvSpPr>
          <p:cNvPr id="37" name="Matriz setorial 5-0"/>
          <p:cNvSpPr/>
          <p:nvPr/>
        </p:nvSpPr>
        <p:spPr>
          <a:xfrm>
            <a:off x="2670048" y="3666744"/>
            <a:ext cx="1097280" cy="292608"/>
          </a:xfrm>
          <a:prstGeom prst="rect">
            <a:avLst/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8" name="Matriz setorial 5-1"/>
          <p:cNvSpPr/>
          <p:nvPr/>
        </p:nvSpPr>
        <p:spPr>
          <a:xfrm>
            <a:off x="3840480" y="3666744"/>
            <a:ext cx="1097280" cy="2926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9" name="Matriz setorial 5-2"/>
          <p:cNvSpPr/>
          <p:nvPr/>
        </p:nvSpPr>
        <p:spPr>
          <a:xfrm>
            <a:off x="5010912" y="3666744"/>
            <a:ext cx="1097280" cy="292608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1A1A1A"/>
                </a:solidFill>
              </a:rPr>
              <a:t>3</a:t>
            </a:r>
          </a:p>
        </p:txBody>
      </p:sp>
      <p:sp>
        <p:nvSpPr>
          <p:cNvPr id="40" name="Matriz setorial linha 6"/>
          <p:cNvSpPr txBox="1"/>
          <p:nvPr/>
        </p:nvSpPr>
        <p:spPr>
          <a:xfrm>
            <a:off x="566928" y="4014216"/>
            <a:ext cx="2057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Risco regulatório ↑</a:t>
            </a:r>
          </a:p>
        </p:txBody>
      </p:sp>
      <p:sp>
        <p:nvSpPr>
          <p:cNvPr id="41" name="Matriz setorial 6-0"/>
          <p:cNvSpPr/>
          <p:nvPr/>
        </p:nvSpPr>
        <p:spPr>
          <a:xfrm>
            <a:off x="2670048" y="4032504"/>
            <a:ext cx="1097280" cy="292608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1A1A1A"/>
                </a:solidFill>
              </a:rPr>
              <a:t>3</a:t>
            </a:r>
          </a:p>
        </p:txBody>
      </p:sp>
      <p:sp>
        <p:nvSpPr>
          <p:cNvPr id="42" name="Matriz setorial 6-1"/>
          <p:cNvSpPr/>
          <p:nvPr/>
        </p:nvSpPr>
        <p:spPr>
          <a:xfrm>
            <a:off x="3840480" y="4032504"/>
            <a:ext cx="1097280" cy="2926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3" name="Matriz setorial 6-2"/>
          <p:cNvSpPr/>
          <p:nvPr/>
        </p:nvSpPr>
        <p:spPr>
          <a:xfrm>
            <a:off x="5010912" y="4032504"/>
            <a:ext cx="1097280" cy="2926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" name="Matriz setorial linha 7"/>
          <p:cNvSpPr txBox="1"/>
          <p:nvPr/>
        </p:nvSpPr>
        <p:spPr>
          <a:xfrm>
            <a:off x="566928" y="4379976"/>
            <a:ext cx="2057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Risco cambial ↑</a:t>
            </a:r>
          </a:p>
        </p:txBody>
      </p:sp>
      <p:sp>
        <p:nvSpPr>
          <p:cNvPr id="45" name="Matriz setorial 7-0"/>
          <p:cNvSpPr/>
          <p:nvPr/>
        </p:nvSpPr>
        <p:spPr>
          <a:xfrm>
            <a:off x="2670048" y="4398264"/>
            <a:ext cx="1097280" cy="2926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6" name="Matriz setorial 7-1"/>
          <p:cNvSpPr/>
          <p:nvPr/>
        </p:nvSpPr>
        <p:spPr>
          <a:xfrm>
            <a:off x="3840480" y="4398264"/>
            <a:ext cx="1097280" cy="2926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7" name="Matriz setorial 7-2"/>
          <p:cNvSpPr/>
          <p:nvPr/>
        </p:nvSpPr>
        <p:spPr>
          <a:xfrm>
            <a:off x="5010912" y="4398264"/>
            <a:ext cx="1097280" cy="29260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8" name="Matriz setorial linha 8"/>
          <p:cNvSpPr txBox="1"/>
          <p:nvPr/>
        </p:nvSpPr>
        <p:spPr>
          <a:xfrm>
            <a:off x="566928" y="4745736"/>
            <a:ext cx="2057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Rentabilidade</a:t>
            </a:r>
          </a:p>
        </p:txBody>
      </p:sp>
      <p:sp>
        <p:nvSpPr>
          <p:cNvPr id="49" name="Matriz setorial 8-0"/>
          <p:cNvSpPr/>
          <p:nvPr/>
        </p:nvSpPr>
        <p:spPr>
          <a:xfrm>
            <a:off x="2670048" y="4764024"/>
            <a:ext cx="1097280" cy="292608"/>
          </a:xfrm>
          <a:prstGeom prst="rect">
            <a:avLst/>
          </a:prstGeom>
          <a:solidFill>
            <a:srgbClr val="00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0" name="Matriz setorial 8-1"/>
          <p:cNvSpPr/>
          <p:nvPr/>
        </p:nvSpPr>
        <p:spPr>
          <a:xfrm>
            <a:off x="3840480" y="4764024"/>
            <a:ext cx="1097280" cy="2926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51" name="Matriz setorial 8-2"/>
          <p:cNvSpPr/>
          <p:nvPr/>
        </p:nvSpPr>
        <p:spPr>
          <a:xfrm>
            <a:off x="5010912" y="4764024"/>
            <a:ext cx="1097280" cy="2926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52" name="Matriz setorial linha 9"/>
          <p:cNvSpPr txBox="1"/>
          <p:nvPr/>
        </p:nvSpPr>
        <p:spPr>
          <a:xfrm>
            <a:off x="566928" y="5111496"/>
            <a:ext cx="2057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Perspectiva estrutural</a:t>
            </a:r>
          </a:p>
        </p:txBody>
      </p:sp>
      <p:sp>
        <p:nvSpPr>
          <p:cNvPr id="53" name="Matriz setorial 9-0"/>
          <p:cNvSpPr/>
          <p:nvPr/>
        </p:nvSpPr>
        <p:spPr>
          <a:xfrm>
            <a:off x="2670048" y="5129783"/>
            <a:ext cx="1097280" cy="292608"/>
          </a:xfrm>
          <a:prstGeom prst="rect">
            <a:avLst/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54" name="Matriz setorial 9-1"/>
          <p:cNvSpPr/>
          <p:nvPr/>
        </p:nvSpPr>
        <p:spPr>
          <a:xfrm>
            <a:off x="3840480" y="5129783"/>
            <a:ext cx="1097280" cy="2926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55" name="Matriz setorial 9-2"/>
          <p:cNvSpPr/>
          <p:nvPr/>
        </p:nvSpPr>
        <p:spPr>
          <a:xfrm>
            <a:off x="5010912" y="5129783"/>
            <a:ext cx="1097280" cy="2926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56" name="Nota matriz"/>
          <p:cNvSpPr txBox="1"/>
          <p:nvPr/>
        </p:nvSpPr>
        <p:spPr>
          <a:xfrm>
            <a:off x="566928" y="5522975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1">
                <a:solidFill>
                  <a:srgbClr val="6B6B6B"/>
                </a:solidFill>
              </a:rPr>
              <a:t>↑ Nota alta é ruim (intensidade e risco): a cor já considera isso.</a:t>
            </a:r>
          </a:p>
        </p:txBody>
      </p:sp>
      <p:sp>
        <p:nvSpPr>
          <p:cNvPr id="57" name="Variavel numero 0"/>
          <p:cNvSpPr txBox="1"/>
          <p:nvPr/>
        </p:nvSpPr>
        <p:spPr>
          <a:xfrm>
            <a:off x="6428232" y="1591056"/>
            <a:ext cx="1600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</a:rPr>
              <a:t>R$280 mi</a:t>
            </a:r>
          </a:p>
        </p:txBody>
      </p:sp>
      <p:sp>
        <p:nvSpPr>
          <p:cNvPr id="58" name="Variavel texto 0"/>
          <p:cNvSpPr txBox="1"/>
          <p:nvPr/>
        </p:nvSpPr>
        <p:spPr>
          <a:xfrm>
            <a:off x="8074152" y="1591056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</a:rPr>
              <a:t>incentivos fora da ZFM (2029–33); ~R$100 mi no caso econômico central</a:t>
            </a:r>
          </a:p>
        </p:txBody>
      </p:sp>
      <p:sp>
        <p:nvSpPr>
          <p:cNvPr id="59" name="Variavel numero 1"/>
          <p:cNvSpPr txBox="1"/>
          <p:nvPr/>
        </p:nvSpPr>
        <p:spPr>
          <a:xfrm>
            <a:off x="6428232" y="2231136"/>
            <a:ext cx="1600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</a:rPr>
              <a:t>R$7 mi</a:t>
            </a:r>
          </a:p>
        </p:txBody>
      </p:sp>
      <p:sp>
        <p:nvSpPr>
          <p:cNvPr id="60" name="Variavel texto 1"/>
          <p:cNvSpPr txBox="1"/>
          <p:nvPr/>
        </p:nvSpPr>
        <p:spPr>
          <a:xfrm>
            <a:off x="8074152" y="2231136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</a:rPr>
              <a:t>de lucro bruto por +1% no preço da Dahua; contrato vence em dez/28</a:t>
            </a:r>
          </a:p>
        </p:txBody>
      </p:sp>
      <p:sp>
        <p:nvSpPr>
          <p:cNvPr id="61" name="Variavel numero 2"/>
          <p:cNvSpPr txBox="1"/>
          <p:nvPr/>
        </p:nvSpPr>
        <p:spPr>
          <a:xfrm>
            <a:off x="6428232" y="2871215"/>
            <a:ext cx="1600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9F41"/>
                </a:solidFill>
              </a:rPr>
              <a:t>R$45 mi</a:t>
            </a:r>
          </a:p>
        </p:txBody>
      </p:sp>
      <p:sp>
        <p:nvSpPr>
          <p:cNvPr id="62" name="Variavel texto 2"/>
          <p:cNvSpPr txBox="1"/>
          <p:nvPr/>
        </p:nvSpPr>
        <p:spPr>
          <a:xfrm>
            <a:off x="8074152" y="2871215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</a:rPr>
              <a:t>de EBITDA por 1 p.p. de margem bruta (câmbio e repasse)</a:t>
            </a:r>
          </a:p>
        </p:txBody>
      </p:sp>
      <p:sp>
        <p:nvSpPr>
          <p:cNvPr id="63" name="Subestimado A favor"/>
          <p:cNvSpPr/>
          <p:nvPr/>
        </p:nvSpPr>
        <p:spPr>
          <a:xfrm>
            <a:off x="6428232" y="4453128"/>
            <a:ext cx="2697480" cy="292608"/>
          </a:xfrm>
          <a:prstGeom prst="roundRect">
            <a:avLst>
              <a:gd name="adj" fmla="val 15000"/>
            </a:avLst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 favor</a:t>
            </a:r>
          </a:p>
        </p:txBody>
      </p:sp>
      <p:sp>
        <p:nvSpPr>
          <p:cNvPr id="64" name="Subestimado itens 0"/>
          <p:cNvSpPr txBox="1"/>
          <p:nvPr/>
        </p:nvSpPr>
        <p:spPr>
          <a:xfrm>
            <a:off x="6473952" y="4818888"/>
            <a:ext cx="2606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A1A1A"/>
                </a:solidFill>
              </a:rPr>
              <a:t>Manaus (R$180 mi) é o incentivo mais durável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A1A1A"/>
                </a:solidFill>
              </a:rPr>
              <a:t>Capital de giro: 145 → 132 dias (LTM)</a:t>
            </a:r>
          </a:p>
        </p:txBody>
      </p:sp>
      <p:sp>
        <p:nvSpPr>
          <p:cNvPr id="65" name="Subestimado Contra"/>
          <p:cNvSpPr/>
          <p:nvPr/>
        </p:nvSpPr>
        <p:spPr>
          <a:xfrm>
            <a:off x="9262872" y="4453128"/>
            <a:ext cx="2697480" cy="292608"/>
          </a:xfrm>
          <a:prstGeom prst="roundRect">
            <a:avLst>
              <a:gd name="adj" fmla="val 15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Contra</a:t>
            </a:r>
          </a:p>
        </p:txBody>
      </p:sp>
      <p:sp>
        <p:nvSpPr>
          <p:cNvPr id="66" name="Subestimado itens 1"/>
          <p:cNvSpPr txBox="1"/>
          <p:nvPr/>
        </p:nvSpPr>
        <p:spPr>
          <a:xfrm>
            <a:off x="9308592" y="4818888"/>
            <a:ext cx="2606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A1A1A"/>
                </a:solidFill>
              </a:rPr>
              <a:t>Dahua 2028, com venda das ações autorizada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A1A1A"/>
                </a:solidFill>
              </a:rPr>
              <a:t>Cross-border sem imposto no varejo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A1A1A"/>
                </a:solidFill>
              </a:rPr>
              <a:t>Margem do 2T26 é transitória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Um_fabricante_de_hardware_movido_por_Segurança</Template>
  <TotalTime>78</TotalTime>
  <Words>1073</Words>
  <Application>Microsoft Office PowerPoint</Application>
  <PresentationFormat>Widescreen</PresentationFormat>
  <Paragraphs>147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1_Office Theme</vt:lpstr>
      <vt:lpstr>Baixo poder de barganha com os fornecedores</vt:lpstr>
      <vt:lpstr>Dahua</vt:lpstr>
      <vt:lpstr>Vantagem em fabricar no Brasil o que vem depois dos chips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Gabriel Marques</dc:creator>
  <cp:lastModifiedBy>Gabriel Marques</cp:lastModifiedBy>
  <cp:revision>3</cp:revision>
  <dcterms:created xsi:type="dcterms:W3CDTF">2026-10-04T13:03:30Z</dcterms:created>
  <dcterms:modified xsi:type="dcterms:W3CDTF">2026-10-04T16:12:34Z</dcterms:modified>
</cp:coreProperties>
</file>