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6"/>
  </p:notesMasterIdLst>
  <p:sldIdLst>
    <p:sldId id="256" r:id="rId5"/>
    <p:sldId id="257" r:id="rId4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58672B-220E-4724-AF36-31A7AEC243DC}" v="1" dt="2026-10-04T16:11:59.9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 showGuides="1">
      <p:cViewPr varScale="1">
        <p:scale>
          <a:sx n="79" d="100"/>
          <a:sy n="79" d="100"/>
        </p:scale>
        <p:origin x="114" y="149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Marques" userId="1d9ea02e7d99515e" providerId="LiveId" clId="{7D7F225A-F182-4246-BCF5-AE16DC506AED}"/>
    <pc:docChg chg="addSld delSld modSld">
      <pc:chgData name="Gabriel Marques" userId="1d9ea02e7d99515e" providerId="LiveId" clId="{7D7F225A-F182-4246-BCF5-AE16DC506AED}" dt="2026-10-04T16:11:59.972" v="1"/>
      <pc:docMkLst>
        <pc:docMk/>
      </pc:docMkLst>
      <pc:sldChg chg="add">
        <pc:chgData name="Gabriel Marques" userId="1d9ea02e7d99515e" providerId="LiveId" clId="{7D7F225A-F182-4246-BCF5-AE16DC506AED}" dt="2026-10-04T16:11:59.972" v="1"/>
        <pc:sldMkLst>
          <pc:docMk/>
          <pc:sldMk cId="1076457472" sldId="259"/>
        </pc:sldMkLst>
      </pc:sldChg>
      <pc:sldChg chg="add">
        <pc:chgData name="Gabriel Marques" userId="1d9ea02e7d99515e" providerId="LiveId" clId="{7D7F225A-F182-4246-BCF5-AE16DC506AED}" dt="2026-10-04T16:11:59.972" v="1"/>
        <pc:sldMkLst>
          <pc:docMk/>
          <pc:sldMk cId="3949088512" sldId="262"/>
        </pc:sldMkLst>
      </pc:sldChg>
      <pc:sldChg chg="add">
        <pc:chgData name="Gabriel Marques" userId="1d9ea02e7d99515e" providerId="LiveId" clId="{7D7F225A-F182-4246-BCF5-AE16DC506AED}" dt="2026-10-04T16:11:59.972" v="1"/>
        <pc:sldMkLst>
          <pc:docMk/>
          <pc:sldMk cId="3611808962" sldId="278"/>
        </pc:sldMkLst>
      </pc:sldChg>
      <pc:sldChg chg="add">
        <pc:chgData name="Gabriel Marques" userId="1d9ea02e7d99515e" providerId="LiveId" clId="{7D7F225A-F182-4246-BCF5-AE16DC506AED}" dt="2026-10-04T16:11:59.972" v="1"/>
        <pc:sldMkLst>
          <pc:docMk/>
          <pc:sldMk cId="2098809387" sldId="279"/>
        </pc:sldMkLst>
      </pc:sldChg>
      <pc:sldChg chg="del">
        <pc:chgData name="Gabriel Marques" userId="1d9ea02e7d99515e" providerId="LiveId" clId="{7D7F225A-F182-4246-BCF5-AE16DC506AED}" dt="2026-10-04T16:11:58.979" v="0" actId="47"/>
        <pc:sldMkLst>
          <pc:docMk/>
          <pc:sldMk cId="0" sldId="280"/>
        </pc:sldMkLst>
      </pc:sldChg>
      <pc:sldChg chg="del">
        <pc:chgData name="Gabriel Marques" userId="1d9ea02e7d99515e" providerId="LiveId" clId="{7D7F225A-F182-4246-BCF5-AE16DC506AED}" dt="2026-10-04T16:11:58.979" v="0" actId="47"/>
        <pc:sldMkLst>
          <pc:docMk/>
          <pc:sldMk cId="0" sldId="281"/>
        </pc:sldMkLst>
      </pc:sldChg>
      <pc:sldChg chg="del">
        <pc:chgData name="Gabriel Marques" userId="1d9ea02e7d99515e" providerId="LiveId" clId="{7D7F225A-F182-4246-BCF5-AE16DC506AED}" dt="2026-10-04T16:11:58.979" v="0" actId="47"/>
        <pc:sldMkLst>
          <pc:docMk/>
          <pc:sldMk cId="0" sldId="282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Segurança</c:v>
                </c:pt>
              </c:strCache>
            </c:strRef>
          </c:tx>
          <c:spPr>
            <a:solidFill>
              <a:srgbClr val="009F41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1.007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1.148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1.620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1.982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2.225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2.703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2.730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1007</c:v>
                </c:pt>
                <c:pt idx="1">
                  <c:v>1148</c:v>
                </c:pt>
                <c:pt idx="2">
                  <c:v>1620</c:v>
                </c:pt>
                <c:pt idx="3">
                  <c:v>1982</c:v>
                </c:pt>
                <c:pt idx="4">
                  <c:v>2225</c:v>
                </c:pt>
                <c:pt idx="5">
                  <c:v>2703</c:v>
                </c:pt>
                <c:pt idx="6">
                  <c:v>2730</c:v>
                </c:pt>
              </c:numCache>
            </c:numRef>
          </c:val>
        </c:ser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A1A1A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Pt>
            <c:idx val="2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</a:rPr>
                      <a:t>12,95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</a:rPr>
                      <a:t>~4,5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009F41"/>
                        </a:solidFill>
                      </a:rPr>
                      <a:t>0,80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Hikvision</c:v>
                </c:pt>
                <c:pt idx="1">
                  <c:v>Dahua</c:v>
                </c:pt>
                <c:pt idx="2">
                  <c:v>Intelbras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12.95</c:v>
                </c:pt>
                <c:pt idx="1">
                  <c:v>4.5</c:v>
                </c:pt>
                <c:pt idx="2">
                  <c:v>0.8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Maior problema</c:v>
                </c:pt>
              </c:strCache>
            </c:strRef>
          </c:tx>
          <c:spPr>
            <a:solidFill>
              <a:srgbClr val="009F41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38%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30%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out/24</c:v>
                </c:pt>
                <c:pt idx="1">
                  <c:v>nov/25</c:v>
                </c:pt>
                <c:pt idx="2">
                  <c:v>jun/26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</c:v>
                </c:pt>
                <c:pt idx="1">
                  <c:v>38</c:v>
                </c:pt>
                <c:pt idx="2">
                  <c:v>30</c:v>
                </c:pt>
              </c:numCache>
            </c:numRef>
          </c:val>
        </c:ser>
        <c:gapWidth val="5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009F41"/>
            </a:solidFill>
          </c:spPr>
          <c:invertIfNegative val="0"/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43%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54%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43%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44%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2020
CFTV</c:v>
                </c:pt>
                <c:pt idx="1">
                  <c:v>c.2022
CFTV</c:v>
                </c:pt>
                <c:pt idx="2">
                  <c:v>2024
segmento</c:v>
                </c:pt>
                <c:pt idx="3">
                  <c:v>2025
segmento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</c:v>
                </c:pt>
                <c:pt idx="1">
                  <c:v>54</c:v>
                </c:pt>
                <c:pt idx="2">
                  <c:v>43</c:v>
                </c:pt>
                <c:pt idx="3">
                  <c:v>44</c:v>
                </c:pt>
              </c:numCache>
            </c:numRef>
          </c:val>
        </c:ser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8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Margem bruta</c:v>
                </c:pt>
              </c:strCache>
            </c:strRef>
          </c:tx>
          <c:spPr>
            <a:ln w="28575">
              <a:solidFill>
                <a:srgbClr val="1A1A1A"/>
              </a:solidFill>
            </a:ln>
          </c:spPr>
          <c:marker>
            <c:symbol val="circle"/>
            <c:size val="6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36,5%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37,4%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33,2%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36.5</c:v>
                </c:pt>
                <c:pt idx="1">
                  <c:v>34.1</c:v>
                </c:pt>
                <c:pt idx="2">
                  <c:v>34.5</c:v>
                </c:pt>
                <c:pt idx="3">
                  <c:v>37.4</c:v>
                </c:pt>
                <c:pt idx="4">
                  <c:v>34.8</c:v>
                </c:pt>
                <c:pt idx="5">
                  <c:v>33.2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0.0"/>
          <c:min val="28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8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TIC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dPt>
            <c:idx val="6"/>
            <c:spPr>
              <a:solidFill>
                <a:srgbClr val="1A1A1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576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771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918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843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908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1.062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977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576</c:v>
                </c:pt>
                <c:pt idx="1">
                  <c:v>771</c:v>
                </c:pt>
                <c:pt idx="2">
                  <c:v>918</c:v>
                </c:pt>
                <c:pt idx="3">
                  <c:v>843</c:v>
                </c:pt>
                <c:pt idx="4">
                  <c:v>908</c:v>
                </c:pt>
                <c:pt idx="5">
                  <c:v>1062</c:v>
                </c:pt>
                <c:pt idx="6">
                  <c:v>977</c:v>
                </c:pt>
              </c:numCache>
            </c:numRef>
          </c:val>
        </c:ser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5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Margem bruta de TIC</c:v>
                </c:pt>
              </c:strCache>
            </c:strRef>
          </c:tx>
          <c:spPr>
            <a:ln w="28575">
              <a:solidFill>
                <a:srgbClr val="1A1A1A"/>
              </a:solidFill>
            </a:ln>
          </c:spPr>
          <c:marker>
            <c:symbol val="circle"/>
            <c:size val="6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29,8%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26,1%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28,8%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30,3%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27,2%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25,7%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29.8</c:v>
                </c:pt>
                <c:pt idx="1">
                  <c:v>26.1</c:v>
                </c:pt>
                <c:pt idx="2">
                  <c:v>28.8</c:v>
                </c:pt>
                <c:pt idx="3">
                  <c:v>30.3</c:v>
                </c:pt>
                <c:pt idx="4">
                  <c:v>27.2</c:v>
                </c:pt>
                <c:pt idx="5">
                  <c:v>25.7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4.0"/>
          <c:min val="2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Energia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dPt>
            <c:idx val="3"/>
            <c:spPr>
              <a:solidFill>
                <a:srgbClr val="1A1A1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115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215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549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1.408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971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1.091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753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115</c:v>
                </c:pt>
                <c:pt idx="1">
                  <c:v>215</c:v>
                </c:pt>
                <c:pt idx="2">
                  <c:v>549</c:v>
                </c:pt>
                <c:pt idx="3">
                  <c:v>1408</c:v>
                </c:pt>
                <c:pt idx="4">
                  <c:v>971</c:v>
                </c:pt>
                <c:pt idx="5">
                  <c:v>1091</c:v>
                </c:pt>
                <c:pt idx="6">
                  <c:v>753</c:v>
                </c:pt>
              </c:numCache>
            </c:numRef>
          </c:val>
        </c:ser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5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009F41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9F41"/>
                        </a:solidFill>
                      </a:rPr>
                      <a:t>19%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595959"/>
                        </a:solidFill>
                      </a:rPr>
                      <a:t>1,9%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Sem solar</c:v>
                </c:pt>
                <c:pt idx="1">
                  <c:v>Solar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</c:v>
                </c:pt>
                <c:pt idx="1">
                  <c:v>1.9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7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GW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15,0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595959"/>
                        </a:solidFill>
                      </a:rPr>
                      <a:t>10,6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15.0</c:v>
                </c:pt>
                <c:pt idx="1">
                  <c:v>10.6</c:v>
                </c:pt>
              </c:numCache>
            </c:numRef>
          </c:val>
        </c:ser>
        <c:gapWidth val="5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Fio B</c:v>
                </c:pt>
              </c:strCache>
            </c:strRef>
          </c:tx>
          <c:spPr>
            <a:solidFill>
              <a:srgbClr val="1A1A1A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45%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60%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75%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1A1A1A"/>
                        </a:solidFill>
                      </a:rPr>
                      <a:t>90%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60</c:v>
                </c:pt>
                <c:pt idx="2">
                  <c:v>75</c:v>
                </c:pt>
                <c:pt idx="3">
                  <c:v>90</c:v>
                </c:pt>
              </c:numCache>
            </c:numRef>
          </c:val>
        </c:ser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Margem bruta de Energia</c:v>
                </c:pt>
              </c:strCache>
            </c:strRef>
          </c:tx>
          <c:spPr>
            <a:ln w="28575">
              <a:solidFill>
                <a:srgbClr val="009F41"/>
              </a:solidFill>
            </a:ln>
          </c:spPr>
          <c:marker>
            <c:symbol val="circle"/>
            <c:size val="6"/>
            <c:spPr>
              <a:solidFill>
                <a:srgbClr val="009F41"/>
              </a:solidFill>
              <a:ln>
                <a:solidFill>
                  <a:srgbClr val="009F41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24,3%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21,5%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19,6%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17,5%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24,7%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50" b="1">
                        <a:solidFill>
                          <a:srgbClr val="009F41"/>
                        </a:solidFill>
                      </a:rPr>
                      <a:t>24,6%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24.3</c:v>
                </c:pt>
                <c:pt idx="1">
                  <c:v>21.5</c:v>
                </c:pt>
                <c:pt idx="2">
                  <c:v>19.6</c:v>
                </c:pt>
                <c:pt idx="3">
                  <c:v>17.5</c:v>
                </c:pt>
                <c:pt idx="4">
                  <c:v>24.7</c:v>
                </c:pt>
                <c:pt idx="5">
                  <c:v>24.6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5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12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128835-0813-47C1-8179-7B192D0834C9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638EA8-CAB9-4394-A5EA-6EE33784B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00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 15s) — Segurança</a:t>
            </a:r>
          </a:p>
          <a:p/>
          <a:p>
            <a:r>
              <a:t>ABERTURA: "Segurança é o coração da Intelbras e o único negócio que cria valor."</a:t>
            </a:r>
          </a:p>
          <a:p>
            <a:r>
              <a:t>I. (colunas, depois os números) "A receita quase triplicou desde 2019: 18% ao ano. É 61% da receita e dois terços do lucro bruto, com retorno de ~28% sobre o capital, o dobro da Selic. Mas metade desse retorno é o incentivo de ICMS de Manaus: sem ele, cai para ~15%."</a:t>
            </a:r>
          </a:p>
          <a:p>
            <a:r>
              <a:t>II. (barras, depois a lista) "Os rivais são gigantes: a Hikvision fatura 16 vezes mais e já monta em Manaus, pela Multilaser, com o mesmo regime fiscal. Em cada nicho há um rival diferente: Control iD em controle de acesso, JFL em alarmes, PPA e Garen em portões, e no varejo a TP-Link, a Xiaomi e até a Imou, marca da Dahua, chegando sem imposto pelo cross-border."</a:t>
            </a:r>
          </a:p>
          <a:p>
            <a:r>
              <a:t>III. (percepção, depois as caixas) "A demanda segue a percepção de risco, não o crime: as mortes violentas caem, mas a segurança virou a maior preocupação do país. O motor de verdade é a obra, que vira instalação em 2027–28, e o retrofit dos 13 milhões de unidades em condomínio."</a:t>
            </a:r>
          </a:p>
          <a:p>
            <a:r>
              <a:t>IV. (share, depois margem) "E a posição: o share está estável, em 43–44%. A série antiga media só CFTV, então não dá para dizer que ela ganhou share. A receita cresceu com o mercado, e a margem caiu: o share foi defendido com preço."</a:t>
            </a:r>
          </a:p>
          <a:p>
            <a:r>
              <a:t>FECHO: "Segurança vale pelo canal e por Manaus, não por crescer mais que o mercado."</a:t>
            </a:r>
          </a:p>
          <a:p/>
          <a:p>
            <a:r>
              <a:t>DETALHES (se perguntarem)</a:t>
            </a:r>
          </a:p>
          <a:p>
            <a:r>
              <a:t>• Por que o instalador escolhe Intelbras: o custo total do serviço (achar o produto, saber instalar, suporte, não voltar ao cliente). ~500 distribuidores, 68% das vendas, 95% exclusivos por opção; &gt;90 mil instaladores; 370 mil qualificações em 2025.</a:t>
            </a:r>
          </a:p>
          <a:p>
            <a:r>
              <a:t>• Preço: a Intelbras é tomadora de preço ("o mercado define os preços", FRE 2.2). A margem de Segurança oscila 33–37% desde 2020, sem tendência de alta.</a:t>
            </a:r>
          </a:p>
          <a:p>
            <a:r>
              <a:t>• Dahua: ~50% do custo de Segurança (média 2021–25); contrato vence em dez/2028; venda das ações autorizada desde 2023, nada vendido.</a:t>
            </a:r>
          </a:p>
          <a:p>
            <a:r>
              <a:t>• Mercado implícito em 2025: 1,049 × 43/44 − 1 ≈ +2,5%. A Abese fala em +16%, mas inclui serviços (monitoramento, portaria).</a:t>
            </a:r>
          </a:p>
          <a:p>
            <a:r>
              <a:t>• Mecanismo de compra: risco percebido + queda do preço por câmera + troca de mão de obra (portaria remota reduz a taxa condominial em 15–50%).</a:t>
            </a:r>
          </a:p>
          <a:p/>
          <a:p>
            <a:r>
              <a:t>FONTES E CONTAS</a:t>
            </a:r>
          </a:p>
          <a:p>
            <a:r>
              <a:t>I: Planilha 2T26 e DFP NE 31. ROIC = (906,7 − 19,3% × 2.730,3) ÷ 1.357,1 = 28,0%. Sem ICMS-AM (R$180,0 mi): 14,7%. Lucro bruto 906,7 ÷ 1.342,5 = 67,5%.</a:t>
            </a:r>
          </a:p>
          <a:p>
            <a:r>
              <a:t>II: Hikvision US$12,95 bi; Dahua ≈US$4,5 bi; Intelbras R$4.460 mi ÷ 5,58 ≈ US$0,80 bi. Multilaser/HiLook em Manaus desde 2022 (Forbes). Rivais: FRE 1.4 p.26; Control iD (datasheet); Imou via AliExpress.</a:t>
            </a:r>
          </a:p>
          <a:p>
            <a:r>
              <a:t>III: Quaest (17% out/24, 38% nov/25, 30% jun/26); Anuário FBSP (MVI −8,2% em 2025); Abrainc/Fipe (+30,1%; 85,9% MCMV jan–out); CNEFE (13,3 mi); SíndicoNet/Abese (14 mil condomínios; +24%).</a:t>
            </a:r>
          </a:p>
          <a:p>
            <a:r>
              <a:t>IV: BTG CEO Conference 2021 (43% CFTV, 2020); Genial (54% CFTV, c.2022); FRE 2026 (43% e 44% do segmento). Margem bruta de Segurança: DFPs 2021–25.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min) — TIC</a:t>
            </a:r>
          </a:p>
          <a:p/>
          <a:p>
            <a:r>
              <a:t>ABERTURA: "TIC é um mercado grande, mas é o pior negócio da Intelbras."</a:t>
            </a:r>
          </a:p>
          <a:p>
            <a:r>
              <a:t>I. "A receita está parada desde 2021: 1,6% ao ano. O share é de 9%, e o retorno, ~7,5%, fica abaixo da Selic."</a:t>
            </a:r>
          </a:p>
          <a:p>
            <a:r>
              <a:t>II. (percorra a tabela) "Aqui a escala é global e quem compra é técnico. O instalador de Segurança pesa pouco. Onde vale disputar:</a:t>
            </a:r>
          </a:p>
          <a:p>
            <a:r>
              <a:t>• cabeamento óptico, protegido pelo antidumping;</a:t>
            </a:r>
          </a:p>
          <a:p>
            <a:r>
              <a:t>• redes de pequenas empresas, que o mesmo instalador vende.</a:t>
            </a:r>
          </a:p>
          <a:p>
            <a:r>
              <a:t>No varejo, a TP-Link lidera e o cross-border voltou sem imposto. Em GPON, a FiberHome ficou livre em janeiro. O 5G quem compra é a operadora."</a:t>
            </a:r>
          </a:p>
          <a:p>
            <a:r>
              <a:t>III. "Os drivers confirmam: a banda larga cresce 2,7%, já 79% em fibra, nas mãos de pequenos provedores. O 5G cobre 80% da população, mas não vira receita relevante. Só cabos têm vento a favor."</a:t>
            </a:r>
          </a:p>
          <a:p>
            <a:r>
              <a:t>IV. "E a margem caiu quase 5 pontos desde 2023: o comprador técnico compara preço."</a:t>
            </a:r>
          </a:p>
          <a:p>
            <a:r>
              <a:t>FECHO: "TIC não deve ser modelada como história de ganho de share; vale pelo cabeamento e pelas PMEs."</a:t>
            </a:r>
          </a:p>
          <a:p/>
          <a:p>
            <a:r>
              <a:t>DETALHES (se perguntarem)</a:t>
            </a:r>
          </a:p>
          <a:p>
            <a:r>
              <a:t>• Por que o share é menor que em Segurança: o instalador não especifica rede de provedor; não há parceiro com exclusividade como a Dahua (a da FiberHome acabou); o universo do MIDI inclui segmentos de Huawei e Cisco.</a:t>
            </a:r>
          </a:p>
          <a:p>
            <a:r>
              <a:t>• Em 2023 a Intelbras esperava que o FWA chegasse a 20% da banda larga; a fibra tem 79%. O FWA concorre com a fibra dos provedores, que são clientes de GPON.</a:t>
            </a:r>
          </a:p>
          <a:p>
            <a:r>
              <a:t>• Antidumping: US$47,46/kg sobre fibra e US$2,42/kg sobre cabos da China, por até 5 anos. Tubarão perto da capacidade máxima: preço protegido, volume limitado.</a:t>
            </a:r>
          </a:p>
          <a:p>
            <a:r>
              <a:t>• Cross-border: II zerado desde 13/05/2026 para compras de até US$50. Roteadores e câmeras Wi-Fi de varejo voltam a vir direto do exterior.</a:t>
            </a:r>
          </a:p>
          <a:p>
            <a:r>
              <a:t>• Juros: provedores e PMEs dependem de crédito; TIC sente mais que Segurança.</a:t>
            </a:r>
          </a:p>
          <a:p/>
          <a:p>
            <a:r>
              <a:t>FONTES E CONTAS</a:t>
            </a:r>
          </a:p>
          <a:p>
            <a:r>
              <a:t>I: Planilha 2T26; DFP NE 31. ROIC = (250,7 − 188,7) ÷ 821,2 = 7,5%. CAGR 2021–25 = (977 ÷ 918)^(1/4) − 1 = 1,6%.</a:t>
            </a:r>
          </a:p>
          <a:p>
            <a:r>
              <a:t>II: FRE 1.4 p.26 (Cisco, Huawei, TP-Link, Furukawa, Logitech, Motorola, Multilaser); Teletime 2020 (TP-Link 21% dos roteadores na A. Latina); Gecex 829/837 (autoras: Prysmian e Lightera); comunicado FiberHome (12/01/2026); Canaltech (CPE 5G com Qualcomm).</a:t>
            </a:r>
          </a:p>
          <a:p>
            <a:r>
              <a:t>III: Anatel via TI Inside (+2,7%; 79%; PPPs 63%); Agência Gov (5G 80%); Gecex.</a:t>
            </a:r>
          </a:p>
          <a:p>
            <a:r>
              <a:t>IV: margem bruta de TIC 29,8/26,1/28,8/30,3/27,2/25,7% (DFPs 2021–25).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min) — Energia</a:t>
            </a:r>
          </a:p>
          <a:p/>
          <a:p>
            <a:r>
              <a:t>ABERTURA: "Energia caiu 31% em 2025, mas o problema é uma linha só: solar."</a:t>
            </a:r>
          </a:p>
          <a:p>
            <a:r>
              <a:t>I. "A receita foi a R$1,4 bilhão no boom solar de 2022 e voltou a R$753 milhões. Margem de ~25% e retorno de ~6%, abaixo da Selic."</a:t>
            </a:r>
          </a:p>
          <a:p>
            <a:r>
              <a:t>II. "Na concorrência, são dois negócios. Sem solar (nobreaks, fontes, baterias, carregadores), a Intelbras é a desafiante, com 19%, atrás da SMS, da Legrand, e de Schneider e WEG. Em solar, tem 1,9%: os módulos são commodity chinesa e quem vende kit é distribuidor pulverizado."</a:t>
            </a:r>
          </a:p>
          <a:p>
            <a:r>
              <a:t>III. "Os drivers explicam: a potência solar instalada caiu de 15 para 10,6 gigawatts, e a cobrança do Fio B sobe até 90% em 2028, o que alonga o retorno do painel. Já o núcleo tem vento a favor: obras e carros elétricos, frota de 613 mil, +64%."</a:t>
            </a:r>
          </a:p>
          <a:p>
            <a:r>
              <a:t>IV. "Sem solar, a margem melhora: voltou a ~25%, e no 2T26 o lucro bruto subiu 12% com a receita caindo 13,5%."</a:t>
            </a:r>
          </a:p>
          <a:p>
            <a:r>
              <a:t>FECHO: "Energia sem solar é um satélite de Segurança (mesmo canal e cliente); solar é opção de baixo valor."</a:t>
            </a:r>
          </a:p>
          <a:p/>
          <a:p>
            <a:r>
              <a:t>DETALHES (se perguntarem)</a:t>
            </a:r>
          </a:p>
          <a:p>
            <a:r>
              <a:t>• Problema setorial (volume e preço por watt: R$3,66 → 3,10 bi/GW, −15%) e de execução (a entrada via Renovigi exigiu canal próprio, fora do loop do instalador). Em 3T25 a empresa priorizou rentabilidade.</a:t>
            </a:r>
          </a:p>
          <a:p>
            <a:r>
              <a:t>• Juros: solar depende de financiamento; é o negócio mais sensível à Selic. II sobre módulos subiu (Absolar).</a:t>
            </a:r>
          </a:p>
          <a:p>
            <a:r>
              <a:t>• Câmbio: módulos e inversores em dólar, com deflação global; risco cambial mais alto entre os segmentos.</a:t>
            </a:r>
          </a:p>
          <a:p>
            <a:r>
              <a:t>• Concentração dos módulos: China 86% da produção mundial; Jinko, LONGi, JA e Trina ~11–13% cada (InfoLink, IEA-PVPS).</a:t>
            </a:r>
          </a:p>
          <a:p/>
          <a:p>
            <a:r>
              <a:t>FONTES E CONTAS</a:t>
            </a:r>
          </a:p>
          <a:p>
            <a:r>
              <a:t>I: Planilha 2T26; DFP NE 31. ROIC = (185,1 − 145,4) ÷ 669,6 = 5,9%.</a:t>
            </a:r>
          </a:p>
          <a:p>
            <a:r>
              <a:t>II: FRE 1.4 (19% sem solar; 1,9% solar; Legrand, Schneider, TS Shara, WEG); DCD (SMS como líder de UPS no Brasil); InfoLink/IEA-PVPS (módulos).</a:t>
            </a:r>
          </a:p>
          <a:p>
            <a:r>
              <a:t>III: Absolar via eixos (15 → 10,6 GW; investimento −40%); Lei 14.300/2022 (Fio B 45/60/75/90%); FRE 2026 p.26 (613 mil eletrificados, +64%).</a:t>
            </a:r>
          </a:p>
          <a:p>
            <a:r>
              <a:t>IV: margem bruta de Energia 24,3/21,5/19,6/17,5/24,7/24,6% (DFPs 2021–25); Release 2T26 p.8.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8643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">
            <a:extLst>
              <a:ext uri="{FF2B5EF4-FFF2-40B4-BE49-F238E27FC236}">
                <a16:creationId xmlns:a16="http://schemas.microsoft.com/office/drawing/2014/main" id="{08A86C5D-B5F1-A201-A803-FC2B06BC1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4" name="Subtítulo">
            <a:extLst>
              <a:ext uri="{FF2B5EF4-FFF2-40B4-BE49-F238E27FC236}">
                <a16:creationId xmlns:a16="http://schemas.microsoft.com/office/drawing/2014/main" id="{BE673581-4171-765D-CF42-A03B1335C0E5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abeçalho L1">
            <a:extLst>
              <a:ext uri="{FF2B5EF4-FFF2-40B4-BE49-F238E27FC236}">
                <a16:creationId xmlns:a16="http://schemas.microsoft.com/office/drawing/2014/main" id="{2CF8C16A-D844-F260-4E96-4A7088F8DC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6" name="Linha L1">
            <a:extLst>
              <a:ext uri="{FF2B5EF4-FFF2-40B4-BE49-F238E27FC236}">
                <a16:creationId xmlns:a16="http://schemas.microsoft.com/office/drawing/2014/main" id="{6B2BDA49-2D8C-8E92-98C5-4AF723A23CF4}"/>
              </a:ext>
            </a:extLst>
          </p:cNvPr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7" name="Descrição L1">
            <a:extLst>
              <a:ext uri="{FF2B5EF4-FFF2-40B4-BE49-F238E27FC236}">
                <a16:creationId xmlns:a16="http://schemas.microsoft.com/office/drawing/2014/main" id="{DBA64B7F-D991-F80B-632A-A6F008F382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abeçalho R1">
            <a:extLst>
              <a:ext uri="{FF2B5EF4-FFF2-40B4-BE49-F238E27FC236}">
                <a16:creationId xmlns:a16="http://schemas.microsoft.com/office/drawing/2014/main" id="{63E473F4-0BD6-077F-9932-938AFBF13B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Linha R1">
            <a:extLst>
              <a:ext uri="{FF2B5EF4-FFF2-40B4-BE49-F238E27FC236}">
                <a16:creationId xmlns:a16="http://schemas.microsoft.com/office/drawing/2014/main" id="{C5D0D066-5B11-0856-4073-CD7F2F043381}"/>
              </a:ext>
            </a:extLst>
          </p:cNvPr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1" name="Descrição R1">
            <a:extLst>
              <a:ext uri="{FF2B5EF4-FFF2-40B4-BE49-F238E27FC236}">
                <a16:creationId xmlns:a16="http://schemas.microsoft.com/office/drawing/2014/main" id="{5656BE59-0847-8CB6-5BA7-687DF8FE150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údo R1">
            <a:extLst>
              <a:ext uri="{FF2B5EF4-FFF2-40B4-BE49-F238E27FC236}">
                <a16:creationId xmlns:a16="http://schemas.microsoft.com/office/drawing/2014/main" id="{275C8C39-0130-44B2-B522-AB8447F3755A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abeçalho R2">
            <a:extLst>
              <a:ext uri="{FF2B5EF4-FFF2-40B4-BE49-F238E27FC236}">
                <a16:creationId xmlns:a16="http://schemas.microsoft.com/office/drawing/2014/main" id="{DFA8ED1C-70D9-555F-0951-A17E938658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8" name="Linha R2">
            <a:extLst>
              <a:ext uri="{FF2B5EF4-FFF2-40B4-BE49-F238E27FC236}">
                <a16:creationId xmlns:a16="http://schemas.microsoft.com/office/drawing/2014/main" id="{23E53C43-0A06-3841-43EA-8CBBC05E38E4}"/>
              </a:ext>
            </a:extLst>
          </p:cNvPr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9" name="Descrição R2">
            <a:extLst>
              <a:ext uri="{FF2B5EF4-FFF2-40B4-BE49-F238E27FC236}">
                <a16:creationId xmlns:a16="http://schemas.microsoft.com/office/drawing/2014/main" id="{17B70730-704D-1A43-8FBA-BD7FE18348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Conteúdo R2">
            <a:extLst>
              <a:ext uri="{FF2B5EF4-FFF2-40B4-BE49-F238E27FC236}">
                <a16:creationId xmlns:a16="http://schemas.microsoft.com/office/drawing/2014/main" id="{9E63C622-421B-6FEC-8987-607A26EFBA37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Fontes">
            <a:extLst>
              <a:ext uri="{FF2B5EF4-FFF2-40B4-BE49-F238E27FC236}">
                <a16:creationId xmlns:a16="http://schemas.microsoft.com/office/drawing/2014/main" id="{F667FDC0-0538-49ED-735B-F8FA537E3E1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95433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>
            <a:cxnSpLocks/>
          </p:cNvCxnSpPr>
          <p:nvPr userDrawn="1"/>
        </p:nvCxnSpPr>
        <p:spPr>
          <a:xfrm>
            <a:off x="566928" y="4119372"/>
            <a:ext cx="11396472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71500" y="4168392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571500" y="377656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7564229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7600805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571500" y="4421704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údo R2">
            <a:extLst>
              <a:ext uri="{FF2B5EF4-FFF2-40B4-BE49-F238E27FC236}">
                <a16:creationId xmlns:a16="http://schemas.microsoft.com/office/drawing/2014/main" id="{C20F45A2-CC70-86CA-D254-970E22AF066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4383678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údo R2">
            <a:extLst>
              <a:ext uri="{FF2B5EF4-FFF2-40B4-BE49-F238E27FC236}">
                <a16:creationId xmlns:a16="http://schemas.microsoft.com/office/drawing/2014/main" id="{626C2B49-63EF-6B3E-66FE-3A88E630EBA1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199737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1480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2 blo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9144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66928" y="502920"/>
            <a:ext cx="11393424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F1"/>
          <p:cNvSpPr>
            <a:spLocks noGrp="1"/>
          </p:cNvSpPr>
          <p:nvPr>
            <p:ph type="body" sz="quarter" idx="10"/>
          </p:nvPr>
        </p:nvSpPr>
        <p:spPr>
          <a:xfrm>
            <a:off x="566928" y="8686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F1"/>
          <p:cNvCxnSpPr/>
          <p:nvPr userDrawn="1"/>
        </p:nvCxnSpPr>
        <p:spPr>
          <a:xfrm>
            <a:off x="566928" y="12618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F1"/>
          <p:cNvSpPr>
            <a:spLocks noGrp="1"/>
          </p:cNvSpPr>
          <p:nvPr>
            <p:ph type="body" sz="quarter" idx="14" hasCustomPrompt="1"/>
          </p:nvPr>
        </p:nvSpPr>
        <p:spPr>
          <a:xfrm>
            <a:off x="566928" y="12984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7" name="Conteúdo F1"/>
          <p:cNvSpPr>
            <a:spLocks noGrp="1"/>
          </p:cNvSpPr>
          <p:nvPr>
            <p:ph sz="quarter" idx="30"/>
          </p:nvPr>
        </p:nvSpPr>
        <p:spPr>
          <a:xfrm>
            <a:off x="566928" y="15453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F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F2"/>
          <p:cNvCxnSpPr/>
          <p:nvPr userDrawn="1"/>
        </p:nvCxnSpPr>
        <p:spPr>
          <a:xfrm>
            <a:off x="566928" y="41193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F2"/>
          <p:cNvSpPr>
            <a:spLocks noGrp="1"/>
          </p:cNvSpPr>
          <p:nvPr>
            <p:ph type="body" sz="quarter" idx="16" hasCustomPrompt="1"/>
          </p:nvPr>
        </p:nvSpPr>
        <p:spPr>
          <a:xfrm>
            <a:off x="566928" y="41559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11" name="Conteúdo F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616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31626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FEAF86BB-950D-C028-EE25-EAF6B2091A5D}"/>
              </a:ext>
            </a:extLst>
          </p:cNvPr>
          <p:cNvSpPr/>
          <p:nvPr userDrawn="1"/>
        </p:nvSpPr>
        <p:spPr>
          <a:xfrm rot="10800000" flipH="1">
            <a:off x="0" y="2431"/>
            <a:ext cx="346464" cy="6858000"/>
          </a:xfrm>
          <a:prstGeom prst="rect">
            <a:avLst/>
          </a:prstGeom>
          <a:gradFill>
            <a:gsLst>
              <a:gs pos="19000">
                <a:srgbClr val="035144"/>
              </a:gs>
              <a:gs pos="95000">
                <a:srgbClr val="00D054"/>
              </a:gs>
              <a:gs pos="76000">
                <a:srgbClr val="009F4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Connector 43">
            <a:extLst>
              <a:ext uri="{FF2B5EF4-FFF2-40B4-BE49-F238E27FC236}">
                <a16:creationId xmlns:a16="http://schemas.microsoft.com/office/drawing/2014/main" id="{0C1F9473-D70C-D468-BBA5-C37F5F700542}"/>
              </a:ext>
            </a:extLst>
          </p:cNvPr>
          <p:cNvCxnSpPr>
            <a:cxnSpLocks/>
          </p:cNvCxnSpPr>
          <p:nvPr userDrawn="1"/>
        </p:nvCxnSpPr>
        <p:spPr>
          <a:xfrm>
            <a:off x="566928" y="6515100"/>
            <a:ext cx="11393424" cy="0"/>
          </a:xfrm>
          <a:prstGeom prst="line">
            <a:avLst/>
          </a:prstGeom>
          <a:ln w="12700">
            <a:solidFill>
              <a:srgbClr val="76B900"/>
            </a:solidFill>
          </a:ln>
        </p:spPr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9DE3E556-E840-AC70-8618-F06E954425C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17266" y1="39861" x2="17266" y2="39861"/>
                        <a14:foregroundMark x1="17266" y1="45000" x2="17266" y2="45000"/>
                        <a14:foregroundMark x1="20391" y1="55694" x2="20391" y2="55694"/>
                        <a14:foregroundMark x1="30391" y1="49306" x2="30391" y2="49306"/>
                        <a14:foregroundMark x1="41250" y1="51111" x2="41250" y2="51111"/>
                        <a14:foregroundMark x1="46797" y1="53194" x2="46797" y2="53194"/>
                        <a14:foregroundMark x1="62266" y1="53194" x2="62266" y2="53194"/>
                        <a14:foregroundMark x1="72734" y1="58056" x2="72734" y2="58056"/>
                        <a14:foregroundMark x1="81719" y1="59167" x2="81719" y2="59167"/>
                        <a14:backgroundMark x1="38984" y1="50278" x2="38984" y2="50278"/>
                      </a14:backgroundRemoval>
                    </a14:imgEffect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8894" y="-373028"/>
            <a:ext cx="1919326" cy="107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568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0" r:id="rId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3" pos="216">
          <p15:clr>
            <a:srgbClr val="F26B43"/>
          </p15:clr>
        </p15:guide>
        <p15:guide id="4" pos="7536">
          <p15:clr>
            <a:srgbClr val="F26B43"/>
          </p15:clr>
        </p15:guide>
        <p15:guide id="5" orient="horz" pos="480">
          <p15:clr>
            <a:srgbClr val="F26B43"/>
          </p15:clr>
        </p15:guide>
        <p15:guide id="6" orient="horz" pos="4104">
          <p15:clr>
            <a:srgbClr val="F26B43"/>
          </p15:clr>
        </p15:guide>
        <p15:guide id="8" pos="3840">
          <p15:clr>
            <a:srgbClr val="F26B43"/>
          </p15:clr>
        </p15:guide>
        <p15:guide id="9" pos="360">
          <p15:clr>
            <a:srgbClr val="F26B43"/>
          </p15:clr>
        </p15:guide>
        <p15:guide id="10" pos="4032">
          <p15:clr>
            <a:srgbClr val="F26B43"/>
          </p15:clr>
        </p15:guide>
        <p15:guide id="11" orient="horz" pos="2232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chart" Target="../charts/chart5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Relationship Id="rId6" Type="http://schemas.openxmlformats.org/officeDocument/2006/relationships/chart" Target="../charts/chart12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Segurança: o único negócio que cria valor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Líder com 44% de share e retorno de ~28%, mas cresce com o mercado e sem poder de preço; a demanda vem da obra e do retrofit, não do medo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Análise: 61% da receita, 2/3 do lucro bruto e retorno acima da Selic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Receita líquida de Segurança (R$ mi) e indicadores de 2025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Concorrência: rivais 5 a 16 vezes maiores, um deles já em Manaus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Receita total em 2025 (US$ bi) e principal rival por submercado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Drivers: a obra e o retrofit sustentam; o medo não acelera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Percepção de insegurança, lançamentos imobiliários e estoque de condomínios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Posição: share estável e margem em queda; cresce com o mercado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Share da Intelbras em Segurança (%) e margem bruta do segmento (%)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DFPs 2021–25 (NE 31); Planilha 2T26; FRE 2026 (1.4); Hikvision e Dahua (2025); Forbes (Multilaser); Quaest; Anuário FBSP; Abrainc/Fipe; CNEFE; Abese; BTG CEO Conference 2021; Genial. ROIC: cálculo próprio.</a:t>
            </a:r>
          </a:p>
        </p:txBody>
      </p:sp>
      <p:graphicFrame>
        <p:nvGraphicFramePr>
          <p:cNvPr id="17" name="Grafico receita Seguranca"/>
          <p:cNvGraphicFramePr>
            <a:graphicFrameLocks noGrp="1"/>
          </p:cNvGraphicFramePr>
          <p:nvPr/>
        </p:nvGraphicFramePr>
        <p:xfrm>
          <a:off x="566928" y="1545336"/>
          <a:ext cx="379476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KPI ROIC estimad"/>
          <p:cNvSpPr txBox="1"/>
          <p:nvPr/>
        </p:nvSpPr>
        <p:spPr>
          <a:xfrm>
            <a:off x="4498848" y="1563624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09F41"/>
                </a:solidFill>
              </a:rPr>
              <a:t>~28%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ROIC estimado (~15% sem o ICMS de Manaus)</a:t>
            </a:r>
          </a:p>
        </p:txBody>
      </p:sp>
      <p:sp>
        <p:nvSpPr>
          <p:cNvPr id="19" name="KPI do lucro bru"/>
          <p:cNvSpPr txBox="1"/>
          <p:nvPr/>
        </p:nvSpPr>
        <p:spPr>
          <a:xfrm>
            <a:off x="4498848" y="2221991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</a:rPr>
              <a:t>67,5%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do lucro bruto da Intelbras</a:t>
            </a:r>
          </a:p>
        </p:txBody>
      </p:sp>
      <p:sp>
        <p:nvSpPr>
          <p:cNvPr id="20" name="KPI de crescimen"/>
          <p:cNvSpPr txBox="1"/>
          <p:nvPr/>
        </p:nvSpPr>
        <p:spPr>
          <a:xfrm>
            <a:off x="4498848" y="2880360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</a:rPr>
              <a:t>+18% a.a.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de crescimento em 2019–25</a:t>
            </a:r>
          </a:p>
        </p:txBody>
      </p:sp>
      <p:graphicFrame>
        <p:nvGraphicFramePr>
          <p:cNvPr id="21" name="Grafico escala Seguranca"/>
          <p:cNvGraphicFramePr>
            <a:graphicFrameLocks noGrp="1"/>
          </p:cNvGraphicFramePr>
          <p:nvPr/>
        </p:nvGraphicFramePr>
        <p:xfrm>
          <a:off x="6428232" y="1591056"/>
          <a:ext cx="224028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2" name="Rivais Seguranca faixa 0"/>
          <p:cNvSpPr/>
          <p:nvPr/>
        </p:nvSpPr>
        <p:spPr>
          <a:xfrm>
            <a:off x="8759952" y="1563624"/>
            <a:ext cx="3200400" cy="3566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23" name="Rivais Seguranca sub 0"/>
          <p:cNvSpPr txBox="1"/>
          <p:nvPr/>
        </p:nvSpPr>
        <p:spPr>
          <a:xfrm>
            <a:off x="8805672" y="1563624"/>
            <a:ext cx="1234439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A1A1A"/>
                </a:solidFill>
              </a:rPr>
              <a:t>CFTV profissional</a:t>
            </a:r>
          </a:p>
        </p:txBody>
      </p:sp>
      <p:sp>
        <p:nvSpPr>
          <p:cNvPr id="24" name="Rivais Seguranca rivais 0"/>
          <p:cNvSpPr txBox="1"/>
          <p:nvPr/>
        </p:nvSpPr>
        <p:spPr>
          <a:xfrm>
            <a:off x="10040112" y="1563624"/>
            <a:ext cx="19202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Hikvision, montada em Manaus pela Multilaser</a:t>
            </a:r>
          </a:p>
        </p:txBody>
      </p:sp>
      <p:sp>
        <p:nvSpPr>
          <p:cNvPr id="25" name="Rivais Seguranca sub 1"/>
          <p:cNvSpPr txBox="1"/>
          <p:nvPr/>
        </p:nvSpPr>
        <p:spPr>
          <a:xfrm>
            <a:off x="8805672" y="1947672"/>
            <a:ext cx="1234439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A1A1A"/>
                </a:solidFill>
              </a:rPr>
              <a:t>Controle de acesso</a:t>
            </a:r>
          </a:p>
        </p:txBody>
      </p:sp>
      <p:sp>
        <p:nvSpPr>
          <p:cNvPr id="26" name="Rivais Seguranca rivais 1"/>
          <p:cNvSpPr txBox="1"/>
          <p:nvPr/>
        </p:nvSpPr>
        <p:spPr>
          <a:xfrm>
            <a:off x="10040112" y="1947672"/>
            <a:ext cx="19202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Control iD (BR), Hikvision</a:t>
            </a:r>
          </a:p>
        </p:txBody>
      </p:sp>
      <p:sp>
        <p:nvSpPr>
          <p:cNvPr id="27" name="Rivais Seguranca faixa 2"/>
          <p:cNvSpPr/>
          <p:nvPr/>
        </p:nvSpPr>
        <p:spPr>
          <a:xfrm>
            <a:off x="8759952" y="2331720"/>
            <a:ext cx="3200400" cy="3566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28" name="Rivais Seguranca sub 2"/>
          <p:cNvSpPr txBox="1"/>
          <p:nvPr/>
        </p:nvSpPr>
        <p:spPr>
          <a:xfrm>
            <a:off x="8805672" y="2331720"/>
            <a:ext cx="1234439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A1A1A"/>
                </a:solidFill>
              </a:rPr>
              <a:t>Alarmes</a:t>
            </a:r>
          </a:p>
        </p:txBody>
      </p:sp>
      <p:sp>
        <p:nvSpPr>
          <p:cNvPr id="29" name="Rivais Seguranca rivais 2"/>
          <p:cNvSpPr txBox="1"/>
          <p:nvPr/>
        </p:nvSpPr>
        <p:spPr>
          <a:xfrm>
            <a:off x="10040112" y="2331720"/>
            <a:ext cx="19202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JFL (BR)</a:t>
            </a:r>
          </a:p>
        </p:txBody>
      </p:sp>
      <p:sp>
        <p:nvSpPr>
          <p:cNvPr id="30" name="Rivais Seguranca sub 3"/>
          <p:cNvSpPr txBox="1"/>
          <p:nvPr/>
        </p:nvSpPr>
        <p:spPr>
          <a:xfrm>
            <a:off x="8805672" y="2715768"/>
            <a:ext cx="1234439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A1A1A"/>
                </a:solidFill>
              </a:rPr>
              <a:t>Portões e interfonia</a:t>
            </a:r>
          </a:p>
        </p:txBody>
      </p:sp>
      <p:sp>
        <p:nvSpPr>
          <p:cNvPr id="31" name="Rivais Seguranca rivais 3"/>
          <p:cNvSpPr txBox="1"/>
          <p:nvPr/>
        </p:nvSpPr>
        <p:spPr>
          <a:xfrm>
            <a:off x="10040112" y="2715768"/>
            <a:ext cx="19202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PPA, Garen (BR)</a:t>
            </a:r>
          </a:p>
        </p:txBody>
      </p:sp>
      <p:sp>
        <p:nvSpPr>
          <p:cNvPr id="32" name="Rivais Seguranca faixa 4"/>
          <p:cNvSpPr/>
          <p:nvPr/>
        </p:nvSpPr>
        <p:spPr>
          <a:xfrm>
            <a:off x="8759952" y="3099815"/>
            <a:ext cx="3200400" cy="3566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33" name="Rivais Seguranca sub 4"/>
          <p:cNvSpPr txBox="1"/>
          <p:nvPr/>
        </p:nvSpPr>
        <p:spPr>
          <a:xfrm>
            <a:off x="8805672" y="3099815"/>
            <a:ext cx="1234439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A1A1A"/>
                </a:solidFill>
              </a:rPr>
              <a:t>Câmeras Wi-Fi (varejo)</a:t>
            </a:r>
          </a:p>
        </p:txBody>
      </p:sp>
      <p:sp>
        <p:nvSpPr>
          <p:cNvPr id="34" name="Rivais Seguranca rivais 4"/>
          <p:cNvSpPr txBox="1"/>
          <p:nvPr/>
        </p:nvSpPr>
        <p:spPr>
          <a:xfrm>
            <a:off x="10040112" y="3099815"/>
            <a:ext cx="19202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TP-Link, Xiaomi, Imou (Dahua) via cross-border</a:t>
            </a:r>
          </a:p>
        </p:txBody>
      </p:sp>
      <p:graphicFrame>
        <p:nvGraphicFramePr>
          <p:cNvPr id="35" name="Grafico percepcao"/>
          <p:cNvGraphicFramePr>
            <a:graphicFrameLocks noGrp="1"/>
          </p:cNvGraphicFramePr>
          <p:nvPr/>
        </p:nvGraphicFramePr>
        <p:xfrm>
          <a:off x="566928" y="4407408"/>
          <a:ext cx="2286000" cy="17099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6" name="Rotulo percepcao"/>
          <p:cNvSpPr txBox="1"/>
          <p:nvPr/>
        </p:nvSpPr>
        <p:spPr>
          <a:xfrm>
            <a:off x="566928" y="438912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595959"/>
                </a:solidFill>
              </a:rPr>
              <a:t>segurança é o maior problema (%)</a:t>
            </a:r>
          </a:p>
        </p:txBody>
      </p:sp>
      <p:sp>
        <p:nvSpPr>
          <p:cNvPr id="37" name="Nota MVI"/>
          <p:cNvSpPr txBox="1"/>
          <p:nvPr/>
        </p:nvSpPr>
        <p:spPr>
          <a:xfrm>
            <a:off x="566928" y="617220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1">
                <a:solidFill>
                  <a:srgbClr val="6B6B6B"/>
                </a:solidFill>
              </a:rPr>
              <a:t>enquanto as mortes violentas caíram 8% em 2025</a:t>
            </a:r>
          </a:p>
        </p:txBody>
      </p:sp>
      <p:sp>
        <p:nvSpPr>
          <p:cNvPr id="38" name="Driver lancamentos"/>
          <p:cNvSpPr/>
          <p:nvPr/>
        </p:nvSpPr>
        <p:spPr>
          <a:xfrm>
            <a:off x="3035808" y="4453128"/>
            <a:ext cx="1371600" cy="7772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+30%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lançamentos em 2025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434840" y="4837176"/>
            <a:ext cx="246888" cy="0"/>
          </a:xfrm>
          <a:prstGeom prst="line">
            <a:avLst/>
          </a:prstGeom>
          <a:ln w="22225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Driver instalacao"/>
          <p:cNvSpPr/>
          <p:nvPr/>
        </p:nvSpPr>
        <p:spPr>
          <a:xfrm>
            <a:off x="4727448" y="4453128"/>
            <a:ext cx="1371600" cy="777240"/>
          </a:xfrm>
          <a:prstGeom prst="rect">
            <a:avLst/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2027–28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instalação no fim da obra</a:t>
            </a:r>
          </a:p>
        </p:txBody>
      </p:sp>
      <p:sp>
        <p:nvSpPr>
          <p:cNvPr id="41" name="Driver retrofit"/>
          <p:cNvSpPr/>
          <p:nvPr/>
        </p:nvSpPr>
        <p:spPr>
          <a:xfrm>
            <a:off x="3035808" y="5367528"/>
            <a:ext cx="3063240" cy="7772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13,3 mi de unidades em condomínio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retrofit: portaria remota em 14 mil condomínios, +24% em 2024</a:t>
            </a:r>
          </a:p>
        </p:txBody>
      </p:sp>
      <p:graphicFrame>
        <p:nvGraphicFramePr>
          <p:cNvPr id="42" name="Grafico share Seguranca"/>
          <p:cNvGraphicFramePr>
            <a:graphicFrameLocks noGrp="1"/>
          </p:cNvGraphicFramePr>
          <p:nvPr/>
        </p:nvGraphicFramePr>
        <p:xfrm>
          <a:off x="6428232" y="4407408"/>
          <a:ext cx="2651760" cy="198424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cxnSp>
        <p:nvCxnSpPr>
          <p:cNvPr id="43" name="Quebra de serie"/>
          <p:cNvCxnSpPr/>
          <p:nvPr/>
        </p:nvCxnSpPr>
        <p:spPr>
          <a:xfrm>
            <a:off x="7754112" y="4544568"/>
            <a:ext cx="0" cy="1508760"/>
          </a:xfrm>
          <a:prstGeom prst="line">
            <a:avLst/>
          </a:prstGeom>
          <a:ln w="12700">
            <a:solidFill>
              <a:srgbClr val="8C8C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otulo quebra"/>
          <p:cNvSpPr txBox="1"/>
          <p:nvPr/>
        </p:nvSpPr>
        <p:spPr>
          <a:xfrm>
            <a:off x="7205472" y="438912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1">
                <a:solidFill>
                  <a:srgbClr val="6B6B6B"/>
                </a:solidFill>
              </a:rPr>
              <a:t>quebra de série</a:t>
            </a:r>
          </a:p>
        </p:txBody>
      </p:sp>
      <p:graphicFrame>
        <p:nvGraphicFramePr>
          <p:cNvPr id="45" name="Grafico margem Seguranca"/>
          <p:cNvGraphicFramePr>
            <a:graphicFrameLocks noGrp="1"/>
          </p:cNvGraphicFramePr>
          <p:nvPr/>
        </p:nvGraphicFramePr>
        <p:xfrm>
          <a:off x="9262872" y="4407408"/>
          <a:ext cx="2697480" cy="198424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6" name="Rotulo margem"/>
          <p:cNvSpPr txBox="1"/>
          <p:nvPr/>
        </p:nvSpPr>
        <p:spPr>
          <a:xfrm>
            <a:off x="9262872" y="4389120"/>
            <a:ext cx="2697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595959"/>
                </a:solidFill>
              </a:rPr>
              <a:t>margem bruta (%)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TIC: escala global, comprador técnico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Com 9% de share contra rivais globais, TIC rende abaixo da Selic; o espaço está em cabeamento e redes de PMEs, não em GPON nem 5G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Análise: receita parada desde 2021 e retorno abaixo da Selic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Receita líquida de TIC (R$ mi) e indicadores de 2025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Concorrência: onde a escala é global, o canal pesa menos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Rivais por submercado e chance da Intelbras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Drivers: telecom madura; só cabos têm vento a favor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Indicadores do mercado de telecom no Brasil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A margem cai: o comprador técnico compara preço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Margem bruta de TIC (%), 2020–2025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DFPs 2021–25 (NE 31); Planilha 2T26; FRE 2026 (1.4); Teletime (TP-Link, 2020); Gecex 829/837; comunicado Intelbras–FiberHome (12/01/2026); Anatel (via TI Inside); Agência Gov (5G). ROIC: cálculo próprio.</a:t>
            </a:r>
          </a:p>
        </p:txBody>
      </p:sp>
      <p:graphicFrame>
        <p:nvGraphicFramePr>
          <p:cNvPr id="17" name="Grafico receita TIC"/>
          <p:cNvGraphicFramePr>
            <a:graphicFrameLocks noGrp="1"/>
          </p:cNvGraphicFramePr>
          <p:nvPr/>
        </p:nvGraphicFramePr>
        <p:xfrm>
          <a:off x="566928" y="1545336"/>
          <a:ext cx="379476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KPI de share no "/>
          <p:cNvSpPr txBox="1"/>
          <p:nvPr/>
        </p:nvSpPr>
        <p:spPr>
          <a:xfrm>
            <a:off x="4498848" y="1563624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</a:rPr>
              <a:t>9%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de share no Brasil</a:t>
            </a:r>
          </a:p>
        </p:txBody>
      </p:sp>
      <p:sp>
        <p:nvSpPr>
          <p:cNvPr id="19" name="KPI de crescimen"/>
          <p:cNvSpPr txBox="1"/>
          <p:nvPr/>
        </p:nvSpPr>
        <p:spPr>
          <a:xfrm>
            <a:off x="4498848" y="2221991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</a:rPr>
              <a:t>1,6% a.a.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de crescimento em 2021–25</a:t>
            </a:r>
          </a:p>
        </p:txBody>
      </p:sp>
      <p:sp>
        <p:nvSpPr>
          <p:cNvPr id="20" name="KPI ROIC estimad"/>
          <p:cNvSpPr txBox="1"/>
          <p:nvPr/>
        </p:nvSpPr>
        <p:spPr>
          <a:xfrm>
            <a:off x="4498848" y="2880360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595959"/>
                </a:solidFill>
              </a:rPr>
              <a:t>~7,5%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ROIC estimado, contra Selic de 13,75%</a:t>
            </a:r>
          </a:p>
        </p:txBody>
      </p:sp>
      <p:sp>
        <p:nvSpPr>
          <p:cNvPr id="21" name="Rivais TIC faixa 0"/>
          <p:cNvSpPr/>
          <p:nvPr/>
        </p:nvSpPr>
        <p:spPr>
          <a:xfrm>
            <a:off x="6428232" y="1563624"/>
            <a:ext cx="5532120" cy="3566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22" name="Rivais TIC sub 0"/>
          <p:cNvSpPr txBox="1"/>
          <p:nvPr/>
        </p:nvSpPr>
        <p:spPr>
          <a:xfrm>
            <a:off x="6473952" y="1563624"/>
            <a:ext cx="137160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Cabeamento óptico</a:t>
            </a:r>
          </a:p>
        </p:txBody>
      </p:sp>
      <p:sp>
        <p:nvSpPr>
          <p:cNvPr id="23" name="Rivais TIC rivais 0"/>
          <p:cNvSpPr txBox="1"/>
          <p:nvPr/>
        </p:nvSpPr>
        <p:spPr>
          <a:xfrm>
            <a:off x="7845552" y="1563624"/>
            <a:ext cx="2697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Furukawa, Prysmian, Lightera; antidumping</a:t>
            </a:r>
          </a:p>
        </p:txBody>
      </p:sp>
      <p:sp>
        <p:nvSpPr>
          <p:cNvPr id="24" name="Rivais TIC selo 0"/>
          <p:cNvSpPr/>
          <p:nvPr/>
        </p:nvSpPr>
        <p:spPr>
          <a:xfrm>
            <a:off x="10588752" y="1632204"/>
            <a:ext cx="1325880" cy="219456"/>
          </a:xfrm>
          <a:prstGeom prst="roundRect">
            <a:avLst>
              <a:gd name="adj" fmla="val 15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FFFFFF"/>
                </a:solidFill>
              </a:rPr>
              <a:t>PROTEGIDO</a:t>
            </a:r>
          </a:p>
        </p:txBody>
      </p:sp>
      <p:sp>
        <p:nvSpPr>
          <p:cNvPr id="25" name="Rivais TIC sub 1"/>
          <p:cNvSpPr txBox="1"/>
          <p:nvPr/>
        </p:nvSpPr>
        <p:spPr>
          <a:xfrm>
            <a:off x="6473952" y="1947672"/>
            <a:ext cx="137160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Redes de PMEs</a:t>
            </a:r>
          </a:p>
        </p:txBody>
      </p:sp>
      <p:sp>
        <p:nvSpPr>
          <p:cNvPr id="26" name="Rivais TIC rivais 1"/>
          <p:cNvSpPr txBox="1"/>
          <p:nvPr/>
        </p:nvSpPr>
        <p:spPr>
          <a:xfrm>
            <a:off x="7845552" y="1947672"/>
            <a:ext cx="2697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Cisco, Huawei, TP-Link; mesmo instalador</a:t>
            </a:r>
          </a:p>
        </p:txBody>
      </p:sp>
      <p:sp>
        <p:nvSpPr>
          <p:cNvPr id="27" name="Rivais TIC selo 1"/>
          <p:cNvSpPr/>
          <p:nvPr/>
        </p:nvSpPr>
        <p:spPr>
          <a:xfrm>
            <a:off x="10588752" y="2016252"/>
            <a:ext cx="1325880" cy="219456"/>
          </a:xfrm>
          <a:prstGeom prst="roundRect">
            <a:avLst>
              <a:gd name="adj" fmla="val 15000"/>
            </a:avLst>
          </a:prstGeom>
          <a:solidFill>
            <a:srgbClr val="7C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FAVORÁVEL</a:t>
            </a:r>
          </a:p>
        </p:txBody>
      </p:sp>
      <p:sp>
        <p:nvSpPr>
          <p:cNvPr id="28" name="Rivais TIC faixa 2"/>
          <p:cNvSpPr/>
          <p:nvPr/>
        </p:nvSpPr>
        <p:spPr>
          <a:xfrm>
            <a:off x="6428232" y="2331720"/>
            <a:ext cx="5532120" cy="3566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29" name="Rivais TIC sub 2"/>
          <p:cNvSpPr txBox="1"/>
          <p:nvPr/>
        </p:nvSpPr>
        <p:spPr>
          <a:xfrm>
            <a:off x="6473952" y="2331720"/>
            <a:ext cx="137160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Roteadores (varejo)</a:t>
            </a:r>
          </a:p>
        </p:txBody>
      </p:sp>
      <p:sp>
        <p:nvSpPr>
          <p:cNvPr id="30" name="Rivais TIC rivais 2"/>
          <p:cNvSpPr txBox="1"/>
          <p:nvPr/>
        </p:nvSpPr>
        <p:spPr>
          <a:xfrm>
            <a:off x="7845552" y="2331720"/>
            <a:ext cx="2697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TP-Link (21% na A. Latina); cross-border</a:t>
            </a:r>
          </a:p>
        </p:txBody>
      </p:sp>
      <p:sp>
        <p:nvSpPr>
          <p:cNvPr id="31" name="Rivais TIC selo 2"/>
          <p:cNvSpPr/>
          <p:nvPr/>
        </p:nvSpPr>
        <p:spPr>
          <a:xfrm>
            <a:off x="10588752" y="2400300"/>
            <a:ext cx="1325880" cy="219456"/>
          </a:xfrm>
          <a:prstGeom prst="roundRect">
            <a:avLst>
              <a:gd name="adj" fmla="val 1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FFFFFF"/>
                </a:solidFill>
              </a:rPr>
              <a:t>EXPOSTO</a:t>
            </a:r>
          </a:p>
        </p:txBody>
      </p:sp>
      <p:sp>
        <p:nvSpPr>
          <p:cNvPr id="32" name="Rivais TIC sub 3"/>
          <p:cNvSpPr txBox="1"/>
          <p:nvPr/>
        </p:nvSpPr>
        <p:spPr>
          <a:xfrm>
            <a:off x="6473952" y="2715768"/>
            <a:ext cx="137160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GPON (provedores)</a:t>
            </a:r>
          </a:p>
        </p:txBody>
      </p:sp>
      <p:sp>
        <p:nvSpPr>
          <p:cNvPr id="33" name="Rivais TIC rivais 3"/>
          <p:cNvSpPr txBox="1"/>
          <p:nvPr/>
        </p:nvSpPr>
        <p:spPr>
          <a:xfrm>
            <a:off x="7845552" y="2715768"/>
            <a:ext cx="2697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Huawei; FiberHome livre desde jan/26</a:t>
            </a:r>
          </a:p>
        </p:txBody>
      </p:sp>
      <p:sp>
        <p:nvSpPr>
          <p:cNvPr id="34" name="Rivais TIC selo 3"/>
          <p:cNvSpPr/>
          <p:nvPr/>
        </p:nvSpPr>
        <p:spPr>
          <a:xfrm>
            <a:off x="10588752" y="2784348"/>
            <a:ext cx="1325880" cy="219456"/>
          </a:xfrm>
          <a:prstGeom prst="roundRect">
            <a:avLst>
              <a:gd name="adj" fmla="val 15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FRACO</a:t>
            </a:r>
          </a:p>
        </p:txBody>
      </p:sp>
      <p:sp>
        <p:nvSpPr>
          <p:cNvPr id="35" name="Rivais TIC faixa 4"/>
          <p:cNvSpPr/>
          <p:nvPr/>
        </p:nvSpPr>
        <p:spPr>
          <a:xfrm>
            <a:off x="6428232" y="3099815"/>
            <a:ext cx="5532120" cy="3566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36" name="Rivais TIC sub 4"/>
          <p:cNvSpPr txBox="1"/>
          <p:nvPr/>
        </p:nvSpPr>
        <p:spPr>
          <a:xfrm>
            <a:off x="6473952" y="3099815"/>
            <a:ext cx="137160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CPE 5G</a:t>
            </a:r>
          </a:p>
        </p:txBody>
      </p:sp>
      <p:sp>
        <p:nvSpPr>
          <p:cNvPr id="37" name="Rivais TIC rivais 4"/>
          <p:cNvSpPr txBox="1"/>
          <p:nvPr/>
        </p:nvSpPr>
        <p:spPr>
          <a:xfrm>
            <a:off x="7845552" y="3099815"/>
            <a:ext cx="2697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fabricantes globais; quem compra é a operadora</a:t>
            </a:r>
          </a:p>
        </p:txBody>
      </p:sp>
      <p:sp>
        <p:nvSpPr>
          <p:cNvPr id="38" name="Rivais TIC selo 4"/>
          <p:cNvSpPr/>
          <p:nvPr/>
        </p:nvSpPr>
        <p:spPr>
          <a:xfrm>
            <a:off x="10588752" y="3168396"/>
            <a:ext cx="1325880" cy="219456"/>
          </a:xfrm>
          <a:prstGeom prst="roundRect">
            <a:avLst>
              <a:gd name="adj" fmla="val 15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  <a:r>
              <a:rPr sz="850" b="1">
                <a:solidFill>
                  <a:srgbClr val="1A1A1A"/>
                </a:solidFill>
              </a:rPr>
              <a:t>FRACO</a:t>
            </a:r>
          </a:p>
        </p:txBody>
      </p:sp>
      <p:sp>
        <p:nvSpPr>
          <p:cNvPr id="39" name="Driver TIC 0"/>
          <p:cNvSpPr txBox="1"/>
          <p:nvPr/>
        </p:nvSpPr>
        <p:spPr>
          <a:xfrm>
            <a:off x="566928" y="445312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+2,7%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banda larga fixa em 2025</a:t>
            </a:r>
          </a:p>
        </p:txBody>
      </p:sp>
      <p:sp>
        <p:nvSpPr>
          <p:cNvPr id="40" name="Driver TIC 1"/>
          <p:cNvSpPr txBox="1"/>
          <p:nvPr/>
        </p:nvSpPr>
        <p:spPr>
          <a:xfrm>
            <a:off x="2441448" y="445312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79%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dos acessos já em fibra</a:t>
            </a:r>
          </a:p>
        </p:txBody>
      </p:sp>
      <p:sp>
        <p:nvSpPr>
          <p:cNvPr id="41" name="Driver TIC 2"/>
          <p:cNvSpPr txBox="1"/>
          <p:nvPr/>
        </p:nvSpPr>
        <p:spPr>
          <a:xfrm>
            <a:off x="4315968" y="445312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63%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nas pequenas prestadoras</a:t>
            </a:r>
          </a:p>
        </p:txBody>
      </p:sp>
      <p:sp>
        <p:nvSpPr>
          <p:cNvPr id="42" name="Driver TIC 3"/>
          <p:cNvSpPr txBox="1"/>
          <p:nvPr/>
        </p:nvSpPr>
        <p:spPr>
          <a:xfrm>
            <a:off x="566928" y="541324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da população com 5G até 2026</a:t>
            </a:r>
          </a:p>
        </p:txBody>
      </p:sp>
      <p:sp>
        <p:nvSpPr>
          <p:cNvPr id="43" name="Driver TIC 4"/>
          <p:cNvSpPr txBox="1"/>
          <p:nvPr/>
        </p:nvSpPr>
        <p:spPr>
          <a:xfrm>
            <a:off x="2441448" y="541324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9F41"/>
                </a:solidFill>
              </a:rPr>
              <a:t>5 anos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de antidumping em fibra e cabos</a:t>
            </a:r>
          </a:p>
        </p:txBody>
      </p:sp>
      <p:sp>
        <p:nvSpPr>
          <p:cNvPr id="44" name="Driver TIC 5"/>
          <p:cNvSpPr txBox="1"/>
          <p:nvPr/>
        </p:nvSpPr>
        <p:spPr>
          <a:xfrm>
            <a:off x="4315968" y="541324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595959"/>
                </a:solidFill>
              </a:rPr>
              <a:t>jan/26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fim da exclusividade FiberHome</a:t>
            </a:r>
          </a:p>
        </p:txBody>
      </p:sp>
      <p:graphicFrame>
        <p:nvGraphicFramePr>
          <p:cNvPr id="45" name="Grafico margem TIC"/>
          <p:cNvGraphicFramePr>
            <a:graphicFrameLocks noGrp="1"/>
          </p:cNvGraphicFramePr>
          <p:nvPr/>
        </p:nvGraphicFramePr>
        <p:xfrm>
          <a:off x="6428232" y="4407408"/>
          <a:ext cx="379476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6" name="Destaque margem TIC"/>
          <p:cNvSpPr txBox="1"/>
          <p:nvPr/>
        </p:nvSpPr>
        <p:spPr>
          <a:xfrm>
            <a:off x="10360152" y="4681728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−4,6 p.p.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de margem bruta de 2023 a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Energia: o problema é solar, não o núcleo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O mercado solar encolheu 29% e a Intelbras recuou por rentabilidade; sem solar, Energia é um satélite de Segurança com margem melhor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Análise: a receita seguiu o ciclo solar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Receita líquida de Energia (R$ mi) e indicadores de 2025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Concorrência: desafiante no núcleo, irrelevante em solar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Share no Brasil, 2025 (%, MIDI), e principais rivais por submercado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Drivers: solar encolhe; obras e carros elétricos sustentam o núcleo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Potência solar adicionada (GW), Fio B cobrado do gerador (%) e frota eletrificada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Sem solar, a margem melhora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Margem bruta de Energia (%), 2020–2025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DFPs 2021–25 (NE 31); Planilha 2T26; FRE 2026 (1.4); DCD (SMS/Legrand); InfoLink e IEA-PVPS (módulos); Absolar (via eixos); Lei 14.300/2022; Release 2T26 (p.8). ROIC: cálculo próprio.</a:t>
            </a:r>
          </a:p>
        </p:txBody>
      </p:sp>
      <p:graphicFrame>
        <p:nvGraphicFramePr>
          <p:cNvPr id="17" name="Grafico receita Energia"/>
          <p:cNvGraphicFramePr>
            <a:graphicFrameLocks noGrp="1"/>
          </p:cNvGraphicFramePr>
          <p:nvPr/>
        </p:nvGraphicFramePr>
        <p:xfrm>
          <a:off x="566928" y="1545336"/>
          <a:ext cx="379476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KPI de receita e"/>
          <p:cNvSpPr txBox="1"/>
          <p:nvPr/>
        </p:nvSpPr>
        <p:spPr>
          <a:xfrm>
            <a:off x="4498848" y="1563624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</a:rPr>
              <a:t>−31%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de receita em 2025, puxada por solar</a:t>
            </a:r>
          </a:p>
        </p:txBody>
      </p:sp>
      <p:sp>
        <p:nvSpPr>
          <p:cNvPr id="19" name="KPI de margem br"/>
          <p:cNvSpPr txBox="1"/>
          <p:nvPr/>
        </p:nvSpPr>
        <p:spPr>
          <a:xfrm>
            <a:off x="4498848" y="2221991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</a:rPr>
              <a:t>24,6%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de margem bruta</a:t>
            </a:r>
          </a:p>
        </p:txBody>
      </p:sp>
      <p:sp>
        <p:nvSpPr>
          <p:cNvPr id="20" name="KPI ROIC estimad"/>
          <p:cNvSpPr txBox="1"/>
          <p:nvPr/>
        </p:nvSpPr>
        <p:spPr>
          <a:xfrm>
            <a:off x="4498848" y="2880360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595959"/>
                </a:solidFill>
              </a:rPr>
              <a:t>~6%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ROIC estimado, contra Selic de 13,75%</a:t>
            </a:r>
          </a:p>
        </p:txBody>
      </p:sp>
      <p:graphicFrame>
        <p:nvGraphicFramePr>
          <p:cNvPr id="21" name="Grafico share Energia"/>
          <p:cNvGraphicFramePr>
            <a:graphicFrameLocks noGrp="1"/>
          </p:cNvGraphicFramePr>
          <p:nvPr/>
        </p:nvGraphicFramePr>
        <p:xfrm>
          <a:off x="6428232" y="1591056"/>
          <a:ext cx="182880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2" name="Rivais Energia faixa 0"/>
          <p:cNvSpPr/>
          <p:nvPr/>
        </p:nvSpPr>
        <p:spPr>
          <a:xfrm>
            <a:off x="8348472" y="1563624"/>
            <a:ext cx="3611880" cy="3566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23" name="Rivais Energia sub 0"/>
          <p:cNvSpPr txBox="1"/>
          <p:nvPr/>
        </p:nvSpPr>
        <p:spPr>
          <a:xfrm>
            <a:off x="8394192" y="1563624"/>
            <a:ext cx="12801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A1A1A"/>
                </a:solidFill>
              </a:rPr>
              <a:t>Nobreaks</a:t>
            </a:r>
          </a:p>
        </p:txBody>
      </p:sp>
      <p:sp>
        <p:nvSpPr>
          <p:cNvPr id="24" name="Rivais Energia rivais 0"/>
          <p:cNvSpPr txBox="1"/>
          <p:nvPr/>
        </p:nvSpPr>
        <p:spPr>
          <a:xfrm>
            <a:off x="9674352" y="1563624"/>
            <a:ext cx="228600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SMS (Legrand), líder; TS Shara; Schneider</a:t>
            </a:r>
          </a:p>
        </p:txBody>
      </p:sp>
      <p:sp>
        <p:nvSpPr>
          <p:cNvPr id="25" name="Rivais Energia sub 1"/>
          <p:cNvSpPr txBox="1"/>
          <p:nvPr/>
        </p:nvSpPr>
        <p:spPr>
          <a:xfrm>
            <a:off x="8394192" y="1947672"/>
            <a:ext cx="12801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A1A1A"/>
                </a:solidFill>
              </a:rPr>
              <a:t>Fontes e proteção</a:t>
            </a:r>
          </a:p>
        </p:txBody>
      </p:sp>
      <p:sp>
        <p:nvSpPr>
          <p:cNvPr id="26" name="Rivais Energia rivais 1"/>
          <p:cNvSpPr txBox="1"/>
          <p:nvPr/>
        </p:nvSpPr>
        <p:spPr>
          <a:xfrm>
            <a:off x="9674352" y="1947672"/>
            <a:ext cx="228600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Schneider, WEG</a:t>
            </a:r>
          </a:p>
        </p:txBody>
      </p:sp>
      <p:sp>
        <p:nvSpPr>
          <p:cNvPr id="27" name="Rivais Energia faixa 2"/>
          <p:cNvSpPr/>
          <p:nvPr/>
        </p:nvSpPr>
        <p:spPr>
          <a:xfrm>
            <a:off x="8348472" y="2331720"/>
            <a:ext cx="3611880" cy="3566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28" name="Rivais Energia sub 2"/>
          <p:cNvSpPr txBox="1"/>
          <p:nvPr/>
        </p:nvSpPr>
        <p:spPr>
          <a:xfrm>
            <a:off x="8394192" y="2331720"/>
            <a:ext cx="12801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A1A1A"/>
                </a:solidFill>
              </a:rPr>
              <a:t>Carregadores de VE</a:t>
            </a:r>
          </a:p>
        </p:txBody>
      </p:sp>
      <p:sp>
        <p:nvSpPr>
          <p:cNvPr id="29" name="Rivais Energia rivais 2"/>
          <p:cNvSpPr txBox="1"/>
          <p:nvPr/>
        </p:nvSpPr>
        <p:spPr>
          <a:xfrm>
            <a:off x="9674352" y="2331720"/>
            <a:ext cx="228600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WEG, Schneider</a:t>
            </a:r>
          </a:p>
        </p:txBody>
      </p:sp>
      <p:sp>
        <p:nvSpPr>
          <p:cNvPr id="30" name="Rivais Energia sub 3"/>
          <p:cNvSpPr txBox="1"/>
          <p:nvPr/>
        </p:nvSpPr>
        <p:spPr>
          <a:xfrm>
            <a:off x="8394192" y="2715768"/>
            <a:ext cx="12801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A1A1A"/>
                </a:solidFill>
              </a:rPr>
              <a:t>Módulos solares</a:t>
            </a:r>
          </a:p>
        </p:txBody>
      </p:sp>
      <p:sp>
        <p:nvSpPr>
          <p:cNvPr id="31" name="Rivais Energia rivais 3"/>
          <p:cNvSpPr txBox="1"/>
          <p:nvPr/>
        </p:nvSpPr>
        <p:spPr>
          <a:xfrm>
            <a:off x="9674352" y="2715768"/>
            <a:ext cx="228600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Jinko, LONGi, JA, Trina (China: 86%)</a:t>
            </a:r>
          </a:p>
        </p:txBody>
      </p:sp>
      <p:sp>
        <p:nvSpPr>
          <p:cNvPr id="32" name="Rivais Energia faixa 4"/>
          <p:cNvSpPr/>
          <p:nvPr/>
        </p:nvSpPr>
        <p:spPr>
          <a:xfrm>
            <a:off x="8348472" y="3099815"/>
            <a:ext cx="3611880" cy="3566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square"/>
          <a:lstStyle/>
          <a:p>
            <a:pPr algn="ctr"/>
          </a:p>
        </p:txBody>
      </p:sp>
      <p:sp>
        <p:nvSpPr>
          <p:cNvPr id="33" name="Rivais Energia sub 4"/>
          <p:cNvSpPr txBox="1"/>
          <p:nvPr/>
        </p:nvSpPr>
        <p:spPr>
          <a:xfrm>
            <a:off x="8394192" y="3099815"/>
            <a:ext cx="12801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A1A1A"/>
                </a:solidFill>
              </a:rPr>
              <a:t>Kits solares</a:t>
            </a:r>
          </a:p>
        </p:txBody>
      </p:sp>
      <p:sp>
        <p:nvSpPr>
          <p:cNvPr id="34" name="Rivais Energia rivais 4"/>
          <p:cNvSpPr txBox="1"/>
          <p:nvPr/>
        </p:nvSpPr>
        <p:spPr>
          <a:xfrm>
            <a:off x="9674352" y="3099815"/>
            <a:ext cx="228600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distribuidores pulverizados</a:t>
            </a:r>
          </a:p>
        </p:txBody>
      </p:sp>
      <p:graphicFrame>
        <p:nvGraphicFramePr>
          <p:cNvPr id="35" name="Grafico solar GW"/>
          <p:cNvGraphicFramePr>
            <a:graphicFrameLocks noGrp="1"/>
          </p:cNvGraphicFramePr>
          <p:nvPr/>
        </p:nvGraphicFramePr>
        <p:xfrm>
          <a:off x="566928" y="4407408"/>
          <a:ext cx="1691640" cy="1984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36" name="Grafico Fio B"/>
          <p:cNvGraphicFramePr>
            <a:graphicFrameLocks noGrp="1"/>
          </p:cNvGraphicFramePr>
          <p:nvPr/>
        </p:nvGraphicFramePr>
        <p:xfrm>
          <a:off x="2395728" y="4407408"/>
          <a:ext cx="2240280" cy="198424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7" name="Rotulo GW"/>
          <p:cNvSpPr txBox="1"/>
          <p:nvPr/>
        </p:nvSpPr>
        <p:spPr>
          <a:xfrm>
            <a:off x="566928" y="4389120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595959"/>
                </a:solidFill>
              </a:rPr>
              <a:t>solar adicionado (GW)</a:t>
            </a:r>
          </a:p>
        </p:txBody>
      </p:sp>
      <p:sp>
        <p:nvSpPr>
          <p:cNvPr id="38" name="Rotulo Fio B"/>
          <p:cNvSpPr txBox="1"/>
          <p:nvPr/>
        </p:nvSpPr>
        <p:spPr>
          <a:xfrm>
            <a:off x="2395728" y="4389120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595959"/>
                </a:solidFill>
              </a:rPr>
              <a:t>Fio B cobrado (%)</a:t>
            </a:r>
          </a:p>
        </p:txBody>
      </p:sp>
      <p:sp>
        <p:nvSpPr>
          <p:cNvPr id="39" name="Destaque VE"/>
          <p:cNvSpPr txBox="1"/>
          <p:nvPr/>
        </p:nvSpPr>
        <p:spPr>
          <a:xfrm>
            <a:off x="4727448" y="4681728"/>
            <a:ext cx="1371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09F41"/>
                </a:solidFill>
              </a:rPr>
              <a:t>613 mil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veículos eletrificados (+64%): demanda por carregadores</a:t>
            </a:r>
          </a:p>
        </p:txBody>
      </p:sp>
      <p:graphicFrame>
        <p:nvGraphicFramePr>
          <p:cNvPr id="40" name="Grafico margem Energia"/>
          <p:cNvGraphicFramePr>
            <a:graphicFrameLocks noGrp="1"/>
          </p:cNvGraphicFramePr>
          <p:nvPr/>
        </p:nvGraphicFramePr>
        <p:xfrm>
          <a:off x="6428232" y="4407408"/>
          <a:ext cx="3794760" cy="198424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1" name="Destaque 2T26 Energia"/>
          <p:cNvSpPr txBox="1"/>
          <p:nvPr/>
        </p:nvSpPr>
        <p:spPr>
          <a:xfrm>
            <a:off x="10360152" y="4590288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09F41"/>
                </a:solidFill>
              </a:rPr>
              <a:t>+12%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de lucro bruto no 2T26, com receita −13,5%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Um_fabricante_de_hardware_movido_por_Segurança</Template>
  <TotalTime>78</TotalTime>
  <Words>1073</Words>
  <Application>Microsoft Office PowerPoint</Application>
  <PresentationFormat>Widescreen</PresentationFormat>
  <Paragraphs>147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1_Office Theme</vt:lpstr>
      <vt:lpstr>Baixo poder de barganha com os fornecedores</vt:lpstr>
      <vt:lpstr>Dahua</vt:lpstr>
      <vt:lpstr>Vantagem em fabricar no Brasil o que vem depois dos chips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 Marques</dc:creator>
  <cp:lastModifiedBy>Gabriel Marques</cp:lastModifiedBy>
  <cp:revision>3</cp:revision>
  <dcterms:created xsi:type="dcterms:W3CDTF">2026-10-04T13:03:30Z</dcterms:created>
  <dcterms:modified xsi:type="dcterms:W3CDTF">2026-10-04T16:12:34Z</dcterms:modified>
</cp:coreProperties>
</file>