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6"/>
  </p:notesMasterIdLst>
  <p:sldIdLst>
    <p:sldId id="256" r:id="rId5"/>
    <p:sldId id="257" r:id="rId4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58672B-220E-4724-AF36-31A7AEC243DC}" v="1" dt="2026-10-04T16:11:59.9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 showGuides="1">
      <p:cViewPr varScale="1">
        <p:scale>
          <a:sx n="79" d="100"/>
          <a:sy n="79" d="100"/>
        </p:scale>
        <p:origin x="114" y="14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Marques" userId="1d9ea02e7d99515e" providerId="LiveId" clId="{7D7F225A-F182-4246-BCF5-AE16DC506AED}"/>
    <pc:docChg chg="addSld delSld modSld">
      <pc:chgData name="Gabriel Marques" userId="1d9ea02e7d99515e" providerId="LiveId" clId="{7D7F225A-F182-4246-BCF5-AE16DC506AED}" dt="2026-10-04T16:11:59.972" v="1"/>
      <pc:docMkLst>
        <pc:docMk/>
      </pc:docMkLst>
      <pc:sldChg chg="add">
        <pc:chgData name="Gabriel Marques" userId="1d9ea02e7d99515e" providerId="LiveId" clId="{7D7F225A-F182-4246-BCF5-AE16DC506AED}" dt="2026-10-04T16:11:59.972" v="1"/>
        <pc:sldMkLst>
          <pc:docMk/>
          <pc:sldMk cId="1076457472" sldId="259"/>
        </pc:sldMkLst>
      </pc:sldChg>
      <pc:sldChg chg="add">
        <pc:chgData name="Gabriel Marques" userId="1d9ea02e7d99515e" providerId="LiveId" clId="{7D7F225A-F182-4246-BCF5-AE16DC506AED}" dt="2026-10-04T16:11:59.972" v="1"/>
        <pc:sldMkLst>
          <pc:docMk/>
          <pc:sldMk cId="3949088512" sldId="262"/>
        </pc:sldMkLst>
      </pc:sldChg>
      <pc:sldChg chg="add">
        <pc:chgData name="Gabriel Marques" userId="1d9ea02e7d99515e" providerId="LiveId" clId="{7D7F225A-F182-4246-BCF5-AE16DC506AED}" dt="2026-10-04T16:11:59.972" v="1"/>
        <pc:sldMkLst>
          <pc:docMk/>
          <pc:sldMk cId="3611808962" sldId="278"/>
        </pc:sldMkLst>
      </pc:sldChg>
      <pc:sldChg chg="add">
        <pc:chgData name="Gabriel Marques" userId="1d9ea02e7d99515e" providerId="LiveId" clId="{7D7F225A-F182-4246-BCF5-AE16DC506AED}" dt="2026-10-04T16:11:59.972" v="1"/>
        <pc:sldMkLst>
          <pc:docMk/>
          <pc:sldMk cId="2098809387" sldId="279"/>
        </pc:sldMkLst>
      </pc:sldChg>
      <pc:sldChg chg="del">
        <pc:chgData name="Gabriel Marques" userId="1d9ea02e7d99515e" providerId="LiveId" clId="{7D7F225A-F182-4246-BCF5-AE16DC506AED}" dt="2026-10-04T16:11:58.979" v="0" actId="47"/>
        <pc:sldMkLst>
          <pc:docMk/>
          <pc:sldMk cId="0" sldId="280"/>
        </pc:sldMkLst>
      </pc:sldChg>
      <pc:sldChg chg="del">
        <pc:chgData name="Gabriel Marques" userId="1d9ea02e7d99515e" providerId="LiveId" clId="{7D7F225A-F182-4246-BCF5-AE16DC506AED}" dt="2026-10-04T16:11:58.979" v="0" actId="47"/>
        <pc:sldMkLst>
          <pc:docMk/>
          <pc:sldMk cId="0" sldId="281"/>
        </pc:sldMkLst>
      </pc:sldChg>
      <pc:sldChg chg="del">
        <pc:chgData name="Gabriel Marques" userId="1d9ea02e7d99515e" providerId="LiveId" clId="{7D7F225A-F182-4246-BCF5-AE16DC506AED}" dt="2026-10-04T16:11:58.979" v="0" actId="47"/>
        <pc:sldMkLst>
          <pc:docMk/>
          <pc:sldMk cId="0" sldId="282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Segurança</c:v>
                </c:pt>
              </c:strCache>
            </c:strRef>
          </c:tx>
          <c:spPr>
            <a:solidFill>
              <a:srgbClr val="009F41"/>
            </a:solidFill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009F41"/>
                        </a:solidFill>
                      </a:rPr>
                      <a:t>1.007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009F41"/>
                        </a:solidFill>
                      </a:rPr>
                      <a:t>1.148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009F41"/>
                        </a:solidFill>
                      </a:rPr>
                      <a:t>1.620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009F41"/>
                        </a:solidFill>
                      </a:rPr>
                      <a:t>1.982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009F41"/>
                        </a:solidFill>
                      </a:rPr>
                      <a:t>2.225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009F41"/>
                        </a:solidFill>
                      </a:rPr>
                      <a:t>2.703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009F41"/>
                        </a:solidFill>
                      </a:rPr>
                      <a:t>2.730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1007</c:v>
                </c:pt>
                <c:pt idx="1">
                  <c:v>1148</c:v>
                </c:pt>
                <c:pt idx="2">
                  <c:v>1620</c:v>
                </c:pt>
                <c:pt idx="3">
                  <c:v>1982</c:v>
                </c:pt>
                <c:pt idx="4">
                  <c:v>2225</c:v>
                </c:pt>
                <c:pt idx="5">
                  <c:v>2703</c:v>
                </c:pt>
                <c:pt idx="6">
                  <c:v>2730</c:v>
                </c:pt>
              </c:numCache>
            </c:numRef>
          </c:val>
        </c:ser>
        <c:gapWidth val="4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50">
                <a:solidFill>
                  <a:srgbClr val="59595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2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950">
          <a:solidFill>
            <a:srgbClr val="59595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1A1A1A"/>
              </a:solidFill>
            </c:spPr>
          </c:dPt>
          <c:dPt>
            <c:idx val="1"/>
            <c:spPr>
              <a:solidFill>
                <a:srgbClr val="1A1A1A"/>
              </a:solidFill>
            </c:spPr>
          </c:dPt>
          <c:dPt>
            <c:idx val="2"/>
            <c:spPr>
              <a:solidFill>
                <a:srgbClr val="009F41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1A1A1A"/>
                        </a:solidFill>
                      </a:rPr>
                      <a:t>R$9,1 bi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1A1A1A"/>
                        </a:solidFill>
                      </a:rPr>
                      <a:t>R$3,4 bi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009F41"/>
                        </a:solidFill>
                      </a:rPr>
                      <a:t>R$0,18 bi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Hikvision · 12,7% da receita</c:v>
                </c:pt>
                <c:pt idx="1">
                  <c:v>Dahua · 13,2%</c:v>
                </c:pt>
                <c:pt idx="2">
                  <c:v>Intelbras · 4,0%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9.12</c:v>
                </c:pt>
                <c:pt idx="1">
                  <c:v>3.36</c:v>
                </c:pt>
                <c:pt idx="2">
                  <c:v>0.18</c:v>
                </c:pt>
              </c:numCache>
            </c:numRef>
          </c:val>
        </c:ser>
        <c:gapWidth val="3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.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59595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1A1A1A"/>
              </a:solidFill>
            </c:spPr>
          </c:dPt>
          <c:dPt>
            <c:idx val="1"/>
            <c:spPr>
              <a:solidFill>
                <a:srgbClr val="009F41"/>
              </a:solidFill>
            </c:spPr>
          </c:dPt>
          <c:dPt>
            <c:idx val="2"/>
            <c:spPr>
              <a:solidFill>
                <a:srgbClr val="BFBFBF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1A1A1A"/>
                        </a:solidFill>
                      </a:rPr>
                      <a:t>~12% a.a.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009F41"/>
                        </a:solidFill>
                      </a:rPr>
                      <a:t>+4,9%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595959"/>
                        </a:solidFill>
                      </a:rPr>
                      <a:t>3,4% a.a.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Cidades inteligentes</c:v>
                </c:pt>
                <c:pt idx="1">
                  <c:v>Segurança Intelbras (2025)</c:v>
                </c:pt>
                <c:pt idx="2">
                  <c:v>Videomonitoramento total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4.9</c:v>
                </c:pt>
                <c:pt idx="2">
                  <c:v>3.4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59595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TIC</c:v>
                </c:pt>
              </c:strCache>
            </c:strRef>
          </c:tx>
          <c:spPr>
            <a:solidFill>
              <a:srgbClr val="595959"/>
            </a:solidFill>
          </c:spPr>
          <c:invertIfNegative val="0"/>
          <c:dPt>
            <c:idx val="6"/>
            <c:spPr>
              <a:solidFill>
                <a:srgbClr val="1A1A1A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595959"/>
                        </a:solidFill>
                      </a:rPr>
                      <a:t>576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595959"/>
                        </a:solidFill>
                      </a:rPr>
                      <a:t>771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595959"/>
                        </a:solidFill>
                      </a:rPr>
                      <a:t>918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595959"/>
                        </a:solidFill>
                      </a:rPr>
                      <a:t>843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595959"/>
                        </a:solidFill>
                      </a:rPr>
                      <a:t>908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595959"/>
                        </a:solidFill>
                      </a:rPr>
                      <a:t>1.062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595959"/>
                        </a:solidFill>
                      </a:rPr>
                      <a:t>977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576</c:v>
                </c:pt>
                <c:pt idx="1">
                  <c:v>771</c:v>
                </c:pt>
                <c:pt idx="2">
                  <c:v>918</c:v>
                </c:pt>
                <c:pt idx="3">
                  <c:v>843</c:v>
                </c:pt>
                <c:pt idx="4">
                  <c:v>908</c:v>
                </c:pt>
                <c:pt idx="5">
                  <c:v>1062</c:v>
                </c:pt>
                <c:pt idx="6">
                  <c:v>977</c:v>
                </c:pt>
              </c:numCache>
            </c:numRef>
          </c:val>
        </c:ser>
        <c:gapWidth val="4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50">
                <a:solidFill>
                  <a:srgbClr val="59595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5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950">
          <a:solidFill>
            <a:srgbClr val="59595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Margem bruta de TIC</c:v>
                </c:pt>
              </c:strCache>
            </c:strRef>
          </c:tx>
          <c:spPr>
            <a:ln w="28575">
              <a:solidFill>
                <a:srgbClr val="1A1A1A"/>
              </a:solidFill>
            </a:ln>
          </c:spPr>
          <c:marker>
            <c:symbol val="circle"/>
            <c:size val="6"/>
            <c:spPr>
              <a:solidFill>
                <a:srgbClr val="1A1A1A"/>
              </a:solidFill>
              <a:ln>
                <a:solidFill>
                  <a:srgbClr val="1A1A1A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1A1A1A"/>
                        </a:solidFill>
                      </a:rPr>
                      <a:t>29,8%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1A1A1A"/>
                        </a:solidFill>
                      </a:rPr>
                      <a:t>26,1%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1A1A1A"/>
                        </a:solidFill>
                      </a:rPr>
                      <a:t>28,8%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1A1A1A"/>
                        </a:solidFill>
                      </a:rPr>
                      <a:t>30,3%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1A1A1A"/>
                        </a:solidFill>
                      </a:rPr>
                      <a:t>27,2%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1A1A1A"/>
                        </a:solidFill>
                      </a:rPr>
                      <a:t>25,7%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29.8</c:v>
                </c:pt>
                <c:pt idx="1">
                  <c:v>26.1</c:v>
                </c:pt>
                <c:pt idx="2">
                  <c:v>28.8</c:v>
                </c:pt>
                <c:pt idx="3">
                  <c:v>30.3</c:v>
                </c:pt>
                <c:pt idx="4">
                  <c:v>27.2</c:v>
                </c:pt>
                <c:pt idx="5">
                  <c:v>25.7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50">
                <a:solidFill>
                  <a:srgbClr val="59595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34.0"/>
          <c:min val="20.0"/>
        </c:scaling>
        <c:delete/>
        <c:axPos val="l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50">
          <a:solidFill>
            <a:srgbClr val="59595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Energia</c:v>
                </c:pt>
              </c:strCache>
            </c:strRef>
          </c:tx>
          <c:spPr>
            <a:solidFill>
              <a:srgbClr val="595959"/>
            </a:solidFill>
          </c:spPr>
          <c:invertIfNegative val="0"/>
          <c:dPt>
            <c:idx val="3"/>
            <c:spPr>
              <a:solidFill>
                <a:srgbClr val="1A1A1A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595959"/>
                        </a:solidFill>
                      </a:rPr>
                      <a:t>115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595959"/>
                        </a:solidFill>
                      </a:rPr>
                      <a:t>215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595959"/>
                        </a:solidFill>
                      </a:rPr>
                      <a:t>549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595959"/>
                        </a:solidFill>
                      </a:rPr>
                      <a:t>1.408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595959"/>
                        </a:solidFill>
                      </a:rPr>
                      <a:t>971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595959"/>
                        </a:solidFill>
                      </a:rPr>
                      <a:t>1.091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595959"/>
                        </a:solidFill>
                      </a:rPr>
                      <a:t>753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115</c:v>
                </c:pt>
                <c:pt idx="1">
                  <c:v>215</c:v>
                </c:pt>
                <c:pt idx="2">
                  <c:v>549</c:v>
                </c:pt>
                <c:pt idx="3">
                  <c:v>1408</c:v>
                </c:pt>
                <c:pt idx="4">
                  <c:v>971</c:v>
                </c:pt>
                <c:pt idx="5">
                  <c:v>1091</c:v>
                </c:pt>
                <c:pt idx="6">
                  <c:v>753</c:v>
                </c:pt>
              </c:numCache>
            </c:numRef>
          </c:val>
        </c:ser>
        <c:gapWidth val="4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50">
                <a:solidFill>
                  <a:srgbClr val="59595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5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950">
          <a:solidFill>
            <a:srgbClr val="59595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009F41"/>
              </a:solidFill>
            </c:spPr>
          </c:dPt>
          <c:dPt>
            <c:idx val="1"/>
            <c:spPr>
              <a:solidFill>
                <a:srgbClr val="BFBFBF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009F41"/>
                        </a:solidFill>
                      </a:rPr>
                      <a:t>19%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595959"/>
                        </a:solidFill>
                      </a:rPr>
                      <a:t>1,9%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Sem solar</c:v>
                </c:pt>
                <c:pt idx="1">
                  <c:v>Solar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</c:v>
                </c:pt>
                <c:pt idx="1">
                  <c:v>1.9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7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59595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GW</c:v>
                </c:pt>
              </c:strCache>
            </c:strRef>
          </c:tx>
          <c:spPr>
            <a:solidFill>
              <a:srgbClr val="595959"/>
            </a:solidFill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595959"/>
                        </a:solidFill>
                      </a:rPr>
                      <a:t>15,0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595959"/>
                        </a:solidFill>
                      </a:rPr>
                      <a:t>10,6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15.0</c:v>
                </c:pt>
                <c:pt idx="1">
                  <c:v>10.6</c:v>
                </c:pt>
              </c:numCache>
            </c:numRef>
          </c:val>
        </c:ser>
        <c:gapWidth val="5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8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59595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Fio B</c:v>
                </c:pt>
              </c:strCache>
            </c:strRef>
          </c:tx>
          <c:spPr>
            <a:solidFill>
              <a:srgbClr val="1A1A1A"/>
            </a:solidFill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1A1A1A"/>
                        </a:solidFill>
                      </a:rPr>
                      <a:t>45%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1A1A1A"/>
                        </a:solidFill>
                      </a:rPr>
                      <a:t>60%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1A1A1A"/>
                        </a:solidFill>
                      </a:rPr>
                      <a:t>75%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1A1A1A"/>
                        </a:solidFill>
                      </a:rPr>
                      <a:t>90%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60</c:v>
                </c:pt>
                <c:pt idx="2">
                  <c:v>75</c:v>
                </c:pt>
                <c:pt idx="3">
                  <c:v>90</c:v>
                </c:pt>
              </c:numCache>
            </c:numRef>
          </c:val>
        </c:ser>
        <c:gapWidth val="4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59595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Margem bruta de Energia</c:v>
                </c:pt>
              </c:strCache>
            </c:strRef>
          </c:tx>
          <c:spPr>
            <a:ln w="28575">
              <a:solidFill>
                <a:srgbClr val="009F41"/>
              </a:solidFill>
            </a:ln>
          </c:spPr>
          <c:marker>
            <c:symbol val="circle"/>
            <c:size val="6"/>
            <c:spPr>
              <a:solidFill>
                <a:srgbClr val="009F41"/>
              </a:solidFill>
              <a:ln>
                <a:solidFill>
                  <a:srgbClr val="009F41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009F41"/>
                        </a:solidFill>
                      </a:rPr>
                      <a:t>24,3%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009F41"/>
                        </a:solidFill>
                      </a:rPr>
                      <a:t>21,5%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009F41"/>
                        </a:solidFill>
                      </a:rPr>
                      <a:t>19,6%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009F41"/>
                        </a:solidFill>
                      </a:rPr>
                      <a:t>17,5%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009F41"/>
                        </a:solidFill>
                      </a:rPr>
                      <a:t>24,7%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009F41"/>
                        </a:solidFill>
                      </a:rPr>
                      <a:t>24,6%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24.3</c:v>
                </c:pt>
                <c:pt idx="1">
                  <c:v>21.5</c:v>
                </c:pt>
                <c:pt idx="2">
                  <c:v>19.6</c:v>
                </c:pt>
                <c:pt idx="3">
                  <c:v>17.5</c:v>
                </c:pt>
                <c:pt idx="4">
                  <c:v>24.7</c:v>
                </c:pt>
                <c:pt idx="5">
                  <c:v>24.6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50">
                <a:solidFill>
                  <a:srgbClr val="59595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30.0"/>
          <c:min val="12.0"/>
        </c:scaling>
        <c:delete/>
        <c:axPos val="l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50">
          <a:solidFill>
            <a:srgbClr val="59595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128835-0813-47C1-8179-7B192D0834C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638EA8-CAB9-4394-A5EA-6EE33784BC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000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(≈1 min 15s) — Segurança</a:t>
            </a:r>
          </a:p>
          <a:p/>
          <a:p>
            <a:r>
              <a:t>ABERTURA: "Em Segurança, a Intelbras é líder num mercado e coadjuvante em outro."</a:t>
            </a:r>
          </a:p>
          <a:p>
            <a:r>
              <a:t>I. (colunas, depois os números) "Onde ela é forte: o mercado do instalador. A receita quase triplicou desde 2019, o share é de 44% e o retorno de ~28%. Dois terços das vendas passam por distribuidores e instaladores: é aí que o canal dela vence."</a:t>
            </a:r>
          </a:p>
          <a:p>
            <a:r>
              <a:t>II. (barras) "Mas os rivais jogam outro jogo. A Hikvision gastou R$9 bilhões em P&amp;D em 2025, 51 vezes a Intelbras; a Dahua, R$3,4 bilhões, 19 vezes. As duas reinvestem ~13% da receita; a Intelbras, 4%. E juntas têm um terço do mercado mundial de vídeo."</a:t>
            </a:r>
          </a:p>
          <a:p>
            <a:r>
              <a:t>III. (barras, depois os números) "E o driver que mais cresce é justamente o que exige esse P&amp;D: cidades inteligentes, ~12% ao ano, contra 3% do videomonitoramento total. São programas enormes: 94 mil câmeras no Muralha Paulista, 40 mil no Smart Sampa, 92 municípios no plano do Rio. O que se compra ali é reconhecimento facial, leitura de placas, inteligência artificial e centrais de comando."</a:t>
            </a:r>
          </a:p>
          <a:p>
            <a:r>
              <a:t>IV. (percorra a tabela) "Quem ganha esses projetos são Hikvision, Dahua e Huawei. A Intelbras chega às cidades pelos integradores, um canal de no máximo 16% das vendas, com 'avanço gradual', nas palavras dela. E o detalhe: o acordo de acionistas deixa a Dahua livre para competir em projetos. Nas cidades, a fornecedora é a rival."</a:t>
            </a:r>
          </a:p>
          <a:p>
            <a:r>
              <a:t>FECHO: "Resumo: a Intelbras é dona do mercado do instalador; no mercado que mais cresce, ela é pequena e enfrenta quem tem 20 a 50 vezes mais P&amp;D."</a:t>
            </a:r>
          </a:p>
          <a:p/>
          <a:p>
            <a:r>
              <a:t>DETALHES (se perguntarem)</a:t>
            </a:r>
          </a:p>
          <a:p>
            <a:r>
              <a:t>• Por que o canal não ajuda nas cidades: quem especifica é o engenheiro do integrador ou da prefeitura, por licitação. Comparam especificação técnica (IA, analíticos, integração com bases públicas) e preço, não disponibilidade no distribuidor. É o oposto do residencial e das PMEs.</a:t>
            </a:r>
          </a:p>
          <a:p>
            <a:r>
              <a:t>• Por que o P&amp;D importa ali: reconhecimento facial e de placas, análise de vídeo com IA e softwares de comando exigem P&amp;D de núcleo (chips, algoritmos, nuvem). A Intelbras usa a tecnologia da Dahua nas câmeras e tem o software Seventh (VMS), mas não tem escala de P&amp;D própria.</a:t>
            </a:r>
          </a:p>
          <a:p>
            <a:r>
              <a:t>• A Intelbras está nas cidades? Sim, mas pequena e sem dado de share. O FRE diz que Segurança mira "cidades inteligentes" e que os integradores atendem esses projetos. Há cases (UEL; bairro Pedra Branca, em Palhoça) e câmeras de leitura de placa em municípios menores (cercamento eletrônico).</a:t>
            </a:r>
          </a:p>
          <a:p>
            <a:r>
              <a:t>• Geopolítica: EUA e Reino Unido restringem câmeras chinesas em órgãos públicos; no Brasil não há restrição em vigor. Como as câmeras da Intelbras são feitas pela Dahua, uma eventual restrição não necessariamente a favoreceria.</a:t>
            </a:r>
          </a:p>
          <a:p>
            <a:r>
              <a:t>• Drivers do núcleo (instalador), que continuam valendo:</a:t>
            </a:r>
          </a:p>
          <a:p>
            <a:r>
              <a:t>  – percepção de insegurança (17% → 38% → 30%) com crime em queda;</a:t>
            </a:r>
          </a:p>
          <a:p>
            <a:r>
              <a:t>  – lançamentos imobiliários +30% em 2025 (instalação em 2027–28);</a:t>
            </a:r>
          </a:p>
          <a:p>
            <a:r>
              <a:t>  – retrofit de 13,3 mi de unidades em condomínio.</a:t>
            </a:r>
          </a:p>
          <a:p>
            <a:r>
              <a:t>• Posição no núcleo: share estável (43–44%) e margem bruta de Segurança caindo de 37,4% (2023) para 33,2% (2025); cresce com o mercado.</a:t>
            </a:r>
          </a:p>
          <a:p/>
          <a:p>
            <a:r>
              <a:t>FONTES E CONTAS</a:t>
            </a:r>
          </a:p>
          <a:p>
            <a:r>
              <a:t>I: Planilha 2T26; DFP NE 31; FRE 1.4 (44%; 68% distribuição). ROIC = (906,7 − 19,3% × 2.730,3) ÷ 1.357,1 = 28,0%; sem ICMS-AM 14,7%.</a:t>
            </a:r>
          </a:p>
          <a:p>
            <a:r>
              <a:t>II:</a:t>
            </a:r>
          </a:p>
          <a:p>
            <a:r>
              <a:t>• Hikvision: RMB 11,75 bi em P&amp;D (12,70% da receita, relatório 2025) × 0,776 ≈ R$9,1 bi.</a:t>
            </a:r>
          </a:p>
          <a:p>
            <a:r>
              <a:t>• Dahua: RMB 4,34 bi (13,24%) ≈ R$3,4 bi.</a:t>
            </a:r>
          </a:p>
          <a:p>
            <a:r>
              <a:t>• Intelbras: R$179,3 mi (DFP NE 13) = 4,0% da receita.</a:t>
            </a:r>
          </a:p>
          <a:p>
            <a:r>
              <a:t>• 9,1 ÷ 0,18 ≈ 51x; 3,4 ÷ 0,18 ≈ 19x.</a:t>
            </a:r>
          </a:p>
          <a:p>
            <a:r>
              <a:t>• Memoori: Hikvision e Dahua ≈ 1/3 da receita global; Omdia: Hikvision 25% (2023).</a:t>
            </a:r>
          </a:p>
          <a:p>
            <a:r>
              <a:t>III:</a:t>
            </a:r>
          </a:p>
          <a:p>
            <a:r>
              <a:t>• Statista via Plataforma CSC: investimento em cidades inteligentes no Brasil de US$1,35 bi (2025) para &gt;US$2 bi (2029), quase 12% a.a.</a:t>
            </a:r>
          </a:p>
          <a:p>
            <a:r>
              <a:t>• MarketsandMarkets: videomonitoramento no Brasil de US$495,6 mi (2025) para US$606,3 mi (2030), 3,4% a.a.</a:t>
            </a:r>
          </a:p>
          <a:p>
            <a:r>
              <a:t>• Fontes diferentes: comparar como ordem de grandeza.</a:t>
            </a:r>
          </a:p>
          <a:p>
            <a:r>
              <a:t>• SSP-SP (Muralha Paulista, 94 mil câmeras, 300+ municípios); Prefeitura de SP (Smart Sampa, 40 mil câmeras em set/25: 20 mil públicas + 20 mil privadas); Diário do Rio (21/04/2025).</a:t>
            </a:r>
          </a:p>
          <a:p>
            <a:r>
              <a:t>IV:</a:t>
            </a:r>
          </a:p>
          <a:p>
            <a:r>
              <a:t>• Diário do Rio (acordos com Hikvision e Dahua; 21,6 mil câmeras corporais Hikvision);</a:t>
            </a:r>
          </a:p>
          <a:p>
            <a:r>
              <a:t>• Prefeitura de SP (visita à Hikvision, 24/04/2025);</a:t>
            </a:r>
          </a:p>
          <a:p>
            <a:r>
              <a:t>• Prefeitura de SJC (CSI com sistema Hikvision);</a:t>
            </a:r>
          </a:p>
          <a:p>
            <a:r>
              <a:t>• Baguete (Metrô do Recife, 1.380 câmeras Dahua, R$61,5 mi; Limeira com Dahua);</a:t>
            </a:r>
          </a:p>
          <a:p>
            <a:r>
              <a:t>• DCD (Campinas, Huawei e CPqD);</a:t>
            </a:r>
          </a:p>
          <a:p>
            <a:r>
              <a:t>• FRE 1.4 (integradores e contas nomeadas; "avanço gradual em projetos de maior porte");</a:t>
            </a:r>
          </a:p>
          <a:p>
            <a:r>
              <a:t>• Acordo de Acionistas, cl. 12.1.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(≈1 min) — TIC</a:t>
            </a:r>
          </a:p>
          <a:p/>
          <a:p>
            <a:r>
              <a:t>ABERTURA: "TIC é um mercado grande, mas é o pior negócio da Intelbras."</a:t>
            </a:r>
          </a:p>
          <a:p>
            <a:r>
              <a:t>I. "A receita está parada desde 2021: 1,6% ao ano. O share é de 9%, e o retorno, ~7,5%, fica abaixo da Selic."</a:t>
            </a:r>
          </a:p>
          <a:p>
            <a:r>
              <a:t>II. (percorra a tabela) "Aqui a escala é global e quem compra é técnico. O instalador de Segurança pesa pouco. Onde vale disputar:</a:t>
            </a:r>
          </a:p>
          <a:p>
            <a:r>
              <a:t>• cabeamento óptico, protegido pelo antidumping;</a:t>
            </a:r>
          </a:p>
          <a:p>
            <a:r>
              <a:t>• redes de pequenas empresas, que o mesmo instalador vende.</a:t>
            </a:r>
          </a:p>
          <a:p>
            <a:r>
              <a:t>No varejo, a TP-Link lidera e o cross-border voltou sem imposto. Em GPON, a FiberHome ficou livre em janeiro. O 5G quem compra é a operadora."</a:t>
            </a:r>
          </a:p>
          <a:p>
            <a:r>
              <a:t>III. "Os drivers confirmam: a banda larga cresce 2,7%, já 79% em fibra, nas mãos de pequenos provedores. O 5G cobre 80% da população, mas não vira receita relevante. Só cabos têm vento a favor."</a:t>
            </a:r>
          </a:p>
          <a:p>
            <a:r>
              <a:t>IV. "E a margem caiu quase 5 pontos desde 2023: o comprador técnico compara preço."</a:t>
            </a:r>
          </a:p>
          <a:p>
            <a:r>
              <a:t>FECHO: "TIC não deve ser modelada como história de ganho de share; vale pelo cabeamento e pelas PMEs."</a:t>
            </a:r>
          </a:p>
          <a:p/>
          <a:p>
            <a:r>
              <a:t>DETALHES (se perguntarem)</a:t>
            </a:r>
          </a:p>
          <a:p>
            <a:r>
              <a:t>• Por que o share é menor que em Segurança: o instalador não especifica rede de provedor; não há parceiro com exclusividade como a Dahua (a da FiberHome acabou); o universo do MIDI inclui segmentos de Huawei e Cisco.</a:t>
            </a:r>
          </a:p>
          <a:p>
            <a:r>
              <a:t>• Em 2023 a Intelbras esperava que o FWA chegasse a 20% da banda larga; a fibra tem 79%. O FWA concorre com a fibra dos provedores, que são clientes de GPON.</a:t>
            </a:r>
          </a:p>
          <a:p>
            <a:r>
              <a:t>• Antidumping: US$47,46/kg sobre fibra e US$2,42/kg sobre cabos da China, por até 5 anos. Tubarão perto da capacidade máxima: preço protegido, volume limitado.</a:t>
            </a:r>
          </a:p>
          <a:p>
            <a:r>
              <a:t>• Cross-border: II zerado desde 13/05/2026 para compras de até US$50. Roteadores e câmeras Wi-Fi de varejo voltam a vir direto do exterior.</a:t>
            </a:r>
          </a:p>
          <a:p>
            <a:r>
              <a:t>• Juros: provedores e PMEs dependem de crédito; TIC sente mais que Segurança.</a:t>
            </a:r>
          </a:p>
          <a:p/>
          <a:p>
            <a:r>
              <a:t>FONTES E CONTAS</a:t>
            </a:r>
          </a:p>
          <a:p>
            <a:r>
              <a:t>I: Planilha 2T26; DFP NE 31. ROIC = (250,7 − 188,7) ÷ 821,2 = 7,5%. CAGR 2021–25 = (977 ÷ 918)^(1/4) − 1 = 1,6%.</a:t>
            </a:r>
          </a:p>
          <a:p>
            <a:r>
              <a:t>II: FRE 1.4 p.26 (Cisco, Huawei, TP-Link, Furukawa, Logitech, Motorola, Multilaser); Teletime 2020 (TP-Link 21% dos roteadores na A. Latina); Gecex 829/837 (autoras: Prysmian e Lightera); comunicado FiberHome (12/01/2026); Canaltech (CPE 5G com Qualcomm).</a:t>
            </a:r>
          </a:p>
          <a:p>
            <a:r>
              <a:t>III: Anatel via TI Inside (+2,7%; 79%; PPPs 63%); Agência Gov (5G 80%); Gecex.</a:t>
            </a:r>
          </a:p>
          <a:p>
            <a:r>
              <a:t>IV: margem bruta de TIC 29,8/26,1/28,8/30,3/27,2/25,7% (DFPs 2021–25).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(≈1 min) — Energia</a:t>
            </a:r>
          </a:p>
          <a:p/>
          <a:p>
            <a:r>
              <a:t>ABERTURA: "Energia caiu 31% em 2025, mas o problema é uma linha só: solar."</a:t>
            </a:r>
          </a:p>
          <a:p>
            <a:r>
              <a:t>I. "A receita foi a R$1,4 bilhão no boom solar de 2022 e voltou a R$753 milhões. Margem de ~25% e retorno de ~6%, abaixo da Selic."</a:t>
            </a:r>
          </a:p>
          <a:p>
            <a:r>
              <a:t>II. "Na concorrência, são dois negócios. Sem solar (nobreaks, fontes, baterias, carregadores), a Intelbras é a desafiante, com 19%, atrás da SMS, da Legrand, e de Schneider e WEG. Em solar, tem 1,9%: os módulos são commodity chinesa e quem vende kit é distribuidor pulverizado."</a:t>
            </a:r>
          </a:p>
          <a:p>
            <a:r>
              <a:t>III. "Os drivers explicam: a potência solar instalada caiu de 15 para 10,6 gigawatts, e a cobrança do Fio B sobe até 90% em 2028, o que alonga o retorno do painel. Já o núcleo tem vento a favor: obras e carros elétricos, frota de 613 mil, +64%."</a:t>
            </a:r>
          </a:p>
          <a:p>
            <a:r>
              <a:t>IV. "Sem solar, a margem melhora: voltou a ~25%, e no 2T26 o lucro bruto subiu 12% com a receita caindo 13,5%."</a:t>
            </a:r>
          </a:p>
          <a:p>
            <a:r>
              <a:t>FECHO: "Energia sem solar é um satélite de Segurança (mesmo canal e cliente); solar é opção de baixo valor."</a:t>
            </a:r>
          </a:p>
          <a:p/>
          <a:p>
            <a:r>
              <a:t>DETALHES (se perguntarem)</a:t>
            </a:r>
          </a:p>
          <a:p>
            <a:r>
              <a:t>• Problema setorial (volume e preço por watt: R$3,66 → 3,10 bi/GW, −15%) e de execução (a entrada via Renovigi exigiu canal próprio, fora do loop do instalador). Em 3T25 a empresa priorizou rentabilidade.</a:t>
            </a:r>
          </a:p>
          <a:p>
            <a:r>
              <a:t>• Juros: solar depende de financiamento; é o negócio mais sensível à Selic. II sobre módulos subiu (Absolar).</a:t>
            </a:r>
          </a:p>
          <a:p>
            <a:r>
              <a:t>• Câmbio: módulos e inversores em dólar, com deflação global; risco cambial mais alto entre os segmentos.</a:t>
            </a:r>
          </a:p>
          <a:p>
            <a:r>
              <a:t>• Concentração dos módulos: China 86% da produção mundial; Jinko, LONGi, JA e Trina ~11–13% cada (InfoLink, IEA-PVPS).</a:t>
            </a:r>
          </a:p>
          <a:p/>
          <a:p>
            <a:r>
              <a:t>FONTES E CONTAS</a:t>
            </a:r>
          </a:p>
          <a:p>
            <a:r>
              <a:t>I: Planilha 2T26; DFP NE 31. ROIC = (185,1 − 145,4) ÷ 669,6 = 5,9%.</a:t>
            </a:r>
          </a:p>
          <a:p>
            <a:r>
              <a:t>II: FRE 1.4 (19% sem solar; 1,9% solar; Legrand, Schneider, TS Shara, WEG); DCD (SMS como líder de UPS no Brasil); InfoLink/IEA-PVPS (módulos).</a:t>
            </a:r>
          </a:p>
          <a:p>
            <a:r>
              <a:t>III: Absolar via eixos (15 → 10,6 GW; investimento −40%); Lei 14.300/2022 (Fio B 45/60/75/90%); FRE 2026 p.26 (613 mil eletrificados, +64%).</a:t>
            </a:r>
          </a:p>
          <a:p>
            <a:r>
              <a:t>IV: margem bruta de Energia 24,3/21,5/19,6/17,5/24,7/24,6% (DFPs 2021–25); Release 2T26 p.8.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lbras | 4 quadran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566928" y="10160"/>
            <a:ext cx="964692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>
                <a:solidFill>
                  <a:srgbClr val="009F4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pt-BR" dirty="0"/>
          </a:p>
        </p:txBody>
      </p:sp>
      <p:sp>
        <p:nvSpPr>
          <p:cNvPr id="3" name="Subtítulo"/>
          <p:cNvSpPr>
            <a:spLocks noGrp="1"/>
          </p:cNvSpPr>
          <p:nvPr>
            <p:ph type="body" sz="quarter" idx="1"/>
          </p:nvPr>
        </p:nvSpPr>
        <p:spPr>
          <a:xfrm>
            <a:off x="571500" y="502920"/>
            <a:ext cx="1138885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rgbClr val="7F7F7F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abeçalho L1"/>
          <p:cNvSpPr>
            <a:spLocks noGrp="1"/>
          </p:cNvSpPr>
          <p:nvPr>
            <p:ph type="body" sz="quarter" idx="10"/>
          </p:nvPr>
        </p:nvSpPr>
        <p:spPr>
          <a:xfrm>
            <a:off x="571500" y="868680"/>
            <a:ext cx="5527548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Linha L1"/>
          <p:cNvCxnSpPr/>
          <p:nvPr userDrawn="1"/>
        </p:nvCxnSpPr>
        <p:spPr>
          <a:xfrm>
            <a:off x="566928" y="12618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6" name="Descrição L1"/>
          <p:cNvSpPr>
            <a:spLocks noGrp="1"/>
          </p:cNvSpPr>
          <p:nvPr>
            <p:ph type="body" sz="quarter" idx="14"/>
          </p:nvPr>
        </p:nvSpPr>
        <p:spPr>
          <a:xfrm>
            <a:off x="571500" y="1298448"/>
            <a:ext cx="5527548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údo L1"/>
          <p:cNvSpPr>
            <a:spLocks noGrp="1"/>
          </p:cNvSpPr>
          <p:nvPr>
            <p:ph sz="quarter" idx="30"/>
          </p:nvPr>
        </p:nvSpPr>
        <p:spPr>
          <a:xfrm>
            <a:off x="571500" y="1545336"/>
            <a:ext cx="552450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abeçalho R1"/>
          <p:cNvSpPr>
            <a:spLocks noGrp="1"/>
          </p:cNvSpPr>
          <p:nvPr>
            <p:ph type="body" sz="quarter" idx="11"/>
          </p:nvPr>
        </p:nvSpPr>
        <p:spPr>
          <a:xfrm>
            <a:off x="6428232" y="86868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Linha R1"/>
          <p:cNvCxnSpPr/>
          <p:nvPr userDrawn="1"/>
        </p:nvCxnSpPr>
        <p:spPr>
          <a:xfrm>
            <a:off x="6428232" y="12618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0" name="Descrição R1"/>
          <p:cNvSpPr>
            <a:spLocks noGrp="1"/>
          </p:cNvSpPr>
          <p:nvPr>
            <p:ph type="body" sz="quarter" idx="15"/>
          </p:nvPr>
        </p:nvSpPr>
        <p:spPr>
          <a:xfrm>
            <a:off x="6428232" y="1298448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údo R1"/>
          <p:cNvSpPr>
            <a:spLocks noGrp="1"/>
          </p:cNvSpPr>
          <p:nvPr>
            <p:ph sz="quarter" idx="31"/>
          </p:nvPr>
        </p:nvSpPr>
        <p:spPr>
          <a:xfrm>
            <a:off x="6428232" y="1545336"/>
            <a:ext cx="553212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abeçalho L2"/>
          <p:cNvSpPr>
            <a:spLocks noGrp="1"/>
          </p:cNvSpPr>
          <p:nvPr>
            <p:ph type="body" sz="quarter" idx="12"/>
          </p:nvPr>
        </p:nvSpPr>
        <p:spPr>
          <a:xfrm>
            <a:off x="566928" y="372618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Linha L2"/>
          <p:cNvCxnSpPr/>
          <p:nvPr userDrawn="1"/>
        </p:nvCxnSpPr>
        <p:spPr>
          <a:xfrm>
            <a:off x="566928" y="41193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4" name="Descrição L2"/>
          <p:cNvSpPr>
            <a:spLocks noGrp="1"/>
          </p:cNvSpPr>
          <p:nvPr>
            <p:ph type="body" sz="quarter" idx="16"/>
          </p:nvPr>
        </p:nvSpPr>
        <p:spPr>
          <a:xfrm>
            <a:off x="566928" y="4155948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údo L2"/>
          <p:cNvSpPr>
            <a:spLocks noGrp="1"/>
          </p:cNvSpPr>
          <p:nvPr>
            <p:ph sz="quarter" idx="32"/>
          </p:nvPr>
        </p:nvSpPr>
        <p:spPr>
          <a:xfrm>
            <a:off x="566928" y="4402836"/>
            <a:ext cx="553212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abeçalho R2"/>
          <p:cNvSpPr>
            <a:spLocks noGrp="1"/>
          </p:cNvSpPr>
          <p:nvPr>
            <p:ph type="body" sz="quarter" idx="13"/>
          </p:nvPr>
        </p:nvSpPr>
        <p:spPr>
          <a:xfrm>
            <a:off x="6428232" y="372618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Linha R2"/>
          <p:cNvCxnSpPr/>
          <p:nvPr userDrawn="1"/>
        </p:nvCxnSpPr>
        <p:spPr>
          <a:xfrm>
            <a:off x="6428232" y="41193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8" name="Descrição R2"/>
          <p:cNvSpPr>
            <a:spLocks noGrp="1"/>
          </p:cNvSpPr>
          <p:nvPr>
            <p:ph type="body" sz="quarter" idx="17"/>
          </p:nvPr>
        </p:nvSpPr>
        <p:spPr>
          <a:xfrm>
            <a:off x="6428232" y="4155948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údo R2"/>
          <p:cNvSpPr>
            <a:spLocks noGrp="1"/>
          </p:cNvSpPr>
          <p:nvPr>
            <p:ph sz="quarter" idx="33"/>
          </p:nvPr>
        </p:nvSpPr>
        <p:spPr>
          <a:xfrm>
            <a:off x="6428232" y="4402836"/>
            <a:ext cx="553212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Fontes"/>
          <p:cNvSpPr>
            <a:spLocks noGrp="1"/>
          </p:cNvSpPr>
          <p:nvPr>
            <p:ph type="body" sz="quarter" idx="20"/>
          </p:nvPr>
        </p:nvSpPr>
        <p:spPr>
          <a:xfrm>
            <a:off x="566928" y="6556248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>
                <a:solidFill>
                  <a:srgbClr val="A6A6A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8643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>
            <a:extLst>
              <a:ext uri="{FF2B5EF4-FFF2-40B4-BE49-F238E27FC236}">
                <a16:creationId xmlns:a16="http://schemas.microsoft.com/office/drawing/2014/main" id="{08A86C5D-B5F1-A201-A803-FC2B06BC1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0160"/>
            <a:ext cx="964692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>
                <a:solidFill>
                  <a:srgbClr val="009F4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pt-BR" dirty="0"/>
          </a:p>
        </p:txBody>
      </p:sp>
      <p:sp>
        <p:nvSpPr>
          <p:cNvPr id="4" name="Subtítulo">
            <a:extLst>
              <a:ext uri="{FF2B5EF4-FFF2-40B4-BE49-F238E27FC236}">
                <a16:creationId xmlns:a16="http://schemas.microsoft.com/office/drawing/2014/main" id="{BE673581-4171-765D-CF42-A03B1335C0E5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571500" y="502920"/>
            <a:ext cx="1138885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rgbClr val="7F7F7F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abeçalho L1">
            <a:extLst>
              <a:ext uri="{FF2B5EF4-FFF2-40B4-BE49-F238E27FC236}">
                <a16:creationId xmlns:a16="http://schemas.microsoft.com/office/drawing/2014/main" id="{2CF8C16A-D844-F260-4E96-4A7088F8DC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868680"/>
            <a:ext cx="5527548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" name="Linha L1">
            <a:extLst>
              <a:ext uri="{FF2B5EF4-FFF2-40B4-BE49-F238E27FC236}">
                <a16:creationId xmlns:a16="http://schemas.microsoft.com/office/drawing/2014/main" id="{6B2BDA49-2D8C-8E92-98C5-4AF723A23CF4}"/>
              </a:ext>
            </a:extLst>
          </p:cNvPr>
          <p:cNvCxnSpPr/>
          <p:nvPr userDrawn="1"/>
        </p:nvCxnSpPr>
        <p:spPr>
          <a:xfrm>
            <a:off x="566928" y="12618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7" name="Descrição L1">
            <a:extLst>
              <a:ext uri="{FF2B5EF4-FFF2-40B4-BE49-F238E27FC236}">
                <a16:creationId xmlns:a16="http://schemas.microsoft.com/office/drawing/2014/main" id="{DBA64B7F-D991-F80B-632A-A6F008F382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1500" y="1298448"/>
            <a:ext cx="5527548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abeçalho R1">
            <a:extLst>
              <a:ext uri="{FF2B5EF4-FFF2-40B4-BE49-F238E27FC236}">
                <a16:creationId xmlns:a16="http://schemas.microsoft.com/office/drawing/2014/main" id="{63E473F4-0BD6-077F-9932-938AFBF13B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28232" y="86868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Linha R1">
            <a:extLst>
              <a:ext uri="{FF2B5EF4-FFF2-40B4-BE49-F238E27FC236}">
                <a16:creationId xmlns:a16="http://schemas.microsoft.com/office/drawing/2014/main" id="{C5D0D066-5B11-0856-4073-CD7F2F043381}"/>
              </a:ext>
            </a:extLst>
          </p:cNvPr>
          <p:cNvCxnSpPr/>
          <p:nvPr userDrawn="1"/>
        </p:nvCxnSpPr>
        <p:spPr>
          <a:xfrm>
            <a:off x="6428232" y="12618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1" name="Descrição R1">
            <a:extLst>
              <a:ext uri="{FF2B5EF4-FFF2-40B4-BE49-F238E27FC236}">
                <a16:creationId xmlns:a16="http://schemas.microsoft.com/office/drawing/2014/main" id="{5656BE59-0847-8CB6-5BA7-687DF8FE15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28232" y="1298448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údo R1">
            <a:extLst>
              <a:ext uri="{FF2B5EF4-FFF2-40B4-BE49-F238E27FC236}">
                <a16:creationId xmlns:a16="http://schemas.microsoft.com/office/drawing/2014/main" id="{275C8C39-0130-44B2-B522-AB8447F3755A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428232" y="1545336"/>
            <a:ext cx="553212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abeçalho R2">
            <a:extLst>
              <a:ext uri="{FF2B5EF4-FFF2-40B4-BE49-F238E27FC236}">
                <a16:creationId xmlns:a16="http://schemas.microsoft.com/office/drawing/2014/main" id="{DFA8ED1C-70D9-555F-0951-A17E938658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28232" y="372618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8" name="Linha R2">
            <a:extLst>
              <a:ext uri="{FF2B5EF4-FFF2-40B4-BE49-F238E27FC236}">
                <a16:creationId xmlns:a16="http://schemas.microsoft.com/office/drawing/2014/main" id="{23E53C43-0A06-3841-43EA-8CBBC05E38E4}"/>
              </a:ext>
            </a:extLst>
          </p:cNvPr>
          <p:cNvCxnSpPr/>
          <p:nvPr userDrawn="1"/>
        </p:nvCxnSpPr>
        <p:spPr>
          <a:xfrm>
            <a:off x="6428232" y="41193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9" name="Descrição R2">
            <a:extLst>
              <a:ext uri="{FF2B5EF4-FFF2-40B4-BE49-F238E27FC236}">
                <a16:creationId xmlns:a16="http://schemas.microsoft.com/office/drawing/2014/main" id="{17B70730-704D-1A43-8FBA-BD7FE18348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28232" y="4155948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údo R2">
            <a:extLst>
              <a:ext uri="{FF2B5EF4-FFF2-40B4-BE49-F238E27FC236}">
                <a16:creationId xmlns:a16="http://schemas.microsoft.com/office/drawing/2014/main" id="{9E63C622-421B-6FEC-8987-607A26EFBA37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428232" y="4402836"/>
            <a:ext cx="553212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Fontes">
            <a:extLst>
              <a:ext uri="{FF2B5EF4-FFF2-40B4-BE49-F238E27FC236}">
                <a16:creationId xmlns:a16="http://schemas.microsoft.com/office/drawing/2014/main" id="{F667FDC0-0538-49ED-735B-F8FA537E3E1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66928" y="6556248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>
                <a:solidFill>
                  <a:srgbClr val="A6A6A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5433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lbras | 4 quadran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566928" y="10160"/>
            <a:ext cx="964692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>
                <a:solidFill>
                  <a:srgbClr val="009F4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pt-BR" dirty="0"/>
          </a:p>
        </p:txBody>
      </p:sp>
      <p:sp>
        <p:nvSpPr>
          <p:cNvPr id="3" name="Subtítulo"/>
          <p:cNvSpPr>
            <a:spLocks noGrp="1"/>
          </p:cNvSpPr>
          <p:nvPr>
            <p:ph type="body" sz="quarter" idx="1"/>
          </p:nvPr>
        </p:nvSpPr>
        <p:spPr>
          <a:xfrm>
            <a:off x="571500" y="502920"/>
            <a:ext cx="1138885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rgbClr val="7F7F7F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abeçalho L1"/>
          <p:cNvSpPr>
            <a:spLocks noGrp="1"/>
          </p:cNvSpPr>
          <p:nvPr>
            <p:ph type="body" sz="quarter" idx="10"/>
          </p:nvPr>
        </p:nvSpPr>
        <p:spPr>
          <a:xfrm>
            <a:off x="571500" y="868680"/>
            <a:ext cx="5527548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Linha L1"/>
          <p:cNvCxnSpPr/>
          <p:nvPr userDrawn="1"/>
        </p:nvCxnSpPr>
        <p:spPr>
          <a:xfrm>
            <a:off x="566928" y="12618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6" name="Descrição L1"/>
          <p:cNvSpPr>
            <a:spLocks noGrp="1"/>
          </p:cNvSpPr>
          <p:nvPr>
            <p:ph type="body" sz="quarter" idx="14"/>
          </p:nvPr>
        </p:nvSpPr>
        <p:spPr>
          <a:xfrm>
            <a:off x="571500" y="1298448"/>
            <a:ext cx="5527548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údo L1"/>
          <p:cNvSpPr>
            <a:spLocks noGrp="1"/>
          </p:cNvSpPr>
          <p:nvPr>
            <p:ph sz="quarter" idx="30"/>
          </p:nvPr>
        </p:nvSpPr>
        <p:spPr>
          <a:xfrm>
            <a:off x="571500" y="1545336"/>
            <a:ext cx="552450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abeçalho R1"/>
          <p:cNvSpPr>
            <a:spLocks noGrp="1"/>
          </p:cNvSpPr>
          <p:nvPr>
            <p:ph type="body" sz="quarter" idx="11"/>
          </p:nvPr>
        </p:nvSpPr>
        <p:spPr>
          <a:xfrm>
            <a:off x="6428232" y="86868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Linha R1"/>
          <p:cNvCxnSpPr/>
          <p:nvPr userDrawn="1"/>
        </p:nvCxnSpPr>
        <p:spPr>
          <a:xfrm>
            <a:off x="6428232" y="12618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0" name="Descrição R1"/>
          <p:cNvSpPr>
            <a:spLocks noGrp="1"/>
          </p:cNvSpPr>
          <p:nvPr>
            <p:ph type="body" sz="quarter" idx="15"/>
          </p:nvPr>
        </p:nvSpPr>
        <p:spPr>
          <a:xfrm>
            <a:off x="6428232" y="1298448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údo R1"/>
          <p:cNvSpPr>
            <a:spLocks noGrp="1"/>
          </p:cNvSpPr>
          <p:nvPr>
            <p:ph sz="quarter" idx="31"/>
          </p:nvPr>
        </p:nvSpPr>
        <p:spPr>
          <a:xfrm>
            <a:off x="6428232" y="1545336"/>
            <a:ext cx="553212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Linha L2"/>
          <p:cNvCxnSpPr>
            <a:cxnSpLocks/>
          </p:cNvCxnSpPr>
          <p:nvPr userDrawn="1"/>
        </p:nvCxnSpPr>
        <p:spPr>
          <a:xfrm>
            <a:off x="566928" y="4119372"/>
            <a:ext cx="11396472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4" name="Descrição L2"/>
          <p:cNvSpPr>
            <a:spLocks noGrp="1"/>
          </p:cNvSpPr>
          <p:nvPr>
            <p:ph type="body" sz="quarter" idx="16"/>
          </p:nvPr>
        </p:nvSpPr>
        <p:spPr>
          <a:xfrm>
            <a:off x="571500" y="4168392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abeçalho R2"/>
          <p:cNvSpPr>
            <a:spLocks noGrp="1"/>
          </p:cNvSpPr>
          <p:nvPr>
            <p:ph type="body" sz="quarter" idx="13"/>
          </p:nvPr>
        </p:nvSpPr>
        <p:spPr>
          <a:xfrm>
            <a:off x="571500" y="377656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Linha R2"/>
          <p:cNvCxnSpPr/>
          <p:nvPr userDrawn="1"/>
        </p:nvCxnSpPr>
        <p:spPr>
          <a:xfrm>
            <a:off x="6428232" y="7564229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8" name="Descrição R2"/>
          <p:cNvSpPr>
            <a:spLocks noGrp="1"/>
          </p:cNvSpPr>
          <p:nvPr>
            <p:ph type="body" sz="quarter" idx="17"/>
          </p:nvPr>
        </p:nvSpPr>
        <p:spPr>
          <a:xfrm>
            <a:off x="6428232" y="7600805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údo R2"/>
          <p:cNvSpPr>
            <a:spLocks noGrp="1"/>
          </p:cNvSpPr>
          <p:nvPr>
            <p:ph sz="quarter" idx="33"/>
          </p:nvPr>
        </p:nvSpPr>
        <p:spPr>
          <a:xfrm>
            <a:off x="571500" y="4421704"/>
            <a:ext cx="374904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Fontes"/>
          <p:cNvSpPr>
            <a:spLocks noGrp="1"/>
          </p:cNvSpPr>
          <p:nvPr>
            <p:ph type="body" sz="quarter" idx="20"/>
          </p:nvPr>
        </p:nvSpPr>
        <p:spPr>
          <a:xfrm>
            <a:off x="566928" y="6556248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>
                <a:solidFill>
                  <a:srgbClr val="A6A6A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údo R2">
            <a:extLst>
              <a:ext uri="{FF2B5EF4-FFF2-40B4-BE49-F238E27FC236}">
                <a16:creationId xmlns:a16="http://schemas.microsoft.com/office/drawing/2014/main" id="{C20F45A2-CC70-86CA-D254-970E22AF0660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4383678" y="4418693"/>
            <a:ext cx="374904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údo R2">
            <a:extLst>
              <a:ext uri="{FF2B5EF4-FFF2-40B4-BE49-F238E27FC236}">
                <a16:creationId xmlns:a16="http://schemas.microsoft.com/office/drawing/2014/main" id="{626C2B49-63EF-6B3E-66FE-3A88E630EBA1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199737" y="4418693"/>
            <a:ext cx="374904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1480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lbras | 2 blo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566928" y="91440"/>
            <a:ext cx="964692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>
                <a:solidFill>
                  <a:srgbClr val="009F4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pt-BR" dirty="0"/>
          </a:p>
        </p:txBody>
      </p:sp>
      <p:sp>
        <p:nvSpPr>
          <p:cNvPr id="3" name="Subtítulo"/>
          <p:cNvSpPr>
            <a:spLocks noGrp="1"/>
          </p:cNvSpPr>
          <p:nvPr>
            <p:ph type="body" sz="quarter" idx="1"/>
          </p:nvPr>
        </p:nvSpPr>
        <p:spPr>
          <a:xfrm>
            <a:off x="566928" y="502920"/>
            <a:ext cx="11393424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rgbClr val="7F7F7F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abeçalho F1"/>
          <p:cNvSpPr>
            <a:spLocks noGrp="1"/>
          </p:cNvSpPr>
          <p:nvPr>
            <p:ph type="body" sz="quarter" idx="10"/>
          </p:nvPr>
        </p:nvSpPr>
        <p:spPr>
          <a:xfrm>
            <a:off x="566928" y="868680"/>
            <a:ext cx="11393424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Linha F1"/>
          <p:cNvCxnSpPr/>
          <p:nvPr userDrawn="1"/>
        </p:nvCxnSpPr>
        <p:spPr>
          <a:xfrm>
            <a:off x="566928" y="1261872"/>
            <a:ext cx="11393424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6" name="Descrição F1"/>
          <p:cNvSpPr>
            <a:spLocks noGrp="1"/>
          </p:cNvSpPr>
          <p:nvPr>
            <p:ph type="body" sz="quarter" idx="14" hasCustomPrompt="1"/>
          </p:nvPr>
        </p:nvSpPr>
        <p:spPr>
          <a:xfrm>
            <a:off x="566928" y="1298448"/>
            <a:ext cx="11393424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r>
              <a:rPr lang="pt-BR" dirty="0"/>
              <a:t>Descrição do gráfico (métrica, período, unidade)</a:t>
            </a:r>
          </a:p>
        </p:txBody>
      </p:sp>
      <p:sp>
        <p:nvSpPr>
          <p:cNvPr id="7" name="Conteúdo F1"/>
          <p:cNvSpPr>
            <a:spLocks noGrp="1"/>
          </p:cNvSpPr>
          <p:nvPr>
            <p:ph sz="quarter" idx="30"/>
          </p:nvPr>
        </p:nvSpPr>
        <p:spPr>
          <a:xfrm>
            <a:off x="566928" y="1545336"/>
            <a:ext cx="11393424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abeçalho F2"/>
          <p:cNvSpPr>
            <a:spLocks noGrp="1"/>
          </p:cNvSpPr>
          <p:nvPr>
            <p:ph type="body" sz="quarter" idx="12"/>
          </p:nvPr>
        </p:nvSpPr>
        <p:spPr>
          <a:xfrm>
            <a:off x="566928" y="3726180"/>
            <a:ext cx="11393424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Linha F2"/>
          <p:cNvCxnSpPr/>
          <p:nvPr userDrawn="1"/>
        </p:nvCxnSpPr>
        <p:spPr>
          <a:xfrm>
            <a:off x="566928" y="4119372"/>
            <a:ext cx="11393424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0" name="Descrição F2"/>
          <p:cNvSpPr>
            <a:spLocks noGrp="1"/>
          </p:cNvSpPr>
          <p:nvPr>
            <p:ph type="body" sz="quarter" idx="16" hasCustomPrompt="1"/>
          </p:nvPr>
        </p:nvSpPr>
        <p:spPr>
          <a:xfrm>
            <a:off x="566928" y="4155948"/>
            <a:ext cx="11393424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r>
              <a:rPr lang="pt-BR" dirty="0"/>
              <a:t>Descrição do gráfico (métrica, período, unidade)</a:t>
            </a:r>
          </a:p>
        </p:txBody>
      </p:sp>
      <p:sp>
        <p:nvSpPr>
          <p:cNvPr id="11" name="Conteúdo F2"/>
          <p:cNvSpPr>
            <a:spLocks noGrp="1"/>
          </p:cNvSpPr>
          <p:nvPr>
            <p:ph sz="quarter" idx="32"/>
          </p:nvPr>
        </p:nvSpPr>
        <p:spPr>
          <a:xfrm>
            <a:off x="566928" y="4402836"/>
            <a:ext cx="11393424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Fontes"/>
          <p:cNvSpPr>
            <a:spLocks noGrp="1"/>
          </p:cNvSpPr>
          <p:nvPr>
            <p:ph type="body" sz="quarter" idx="20"/>
          </p:nvPr>
        </p:nvSpPr>
        <p:spPr>
          <a:xfrm>
            <a:off x="566928" y="6556248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>
                <a:solidFill>
                  <a:srgbClr val="A6A6A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3616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Intelbras | 4 quadran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566928" y="10160"/>
            <a:ext cx="964692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>
                <a:solidFill>
                  <a:srgbClr val="009F4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pt-BR" dirty="0"/>
          </a:p>
        </p:txBody>
      </p:sp>
      <p:sp>
        <p:nvSpPr>
          <p:cNvPr id="3" name="Subtítulo"/>
          <p:cNvSpPr>
            <a:spLocks noGrp="1"/>
          </p:cNvSpPr>
          <p:nvPr>
            <p:ph type="body" sz="quarter" idx="1"/>
          </p:nvPr>
        </p:nvSpPr>
        <p:spPr>
          <a:xfrm>
            <a:off x="571500" y="502920"/>
            <a:ext cx="1138885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rgbClr val="7F7F7F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abeçalho L1"/>
          <p:cNvSpPr>
            <a:spLocks noGrp="1"/>
          </p:cNvSpPr>
          <p:nvPr>
            <p:ph type="body" sz="quarter" idx="10"/>
          </p:nvPr>
        </p:nvSpPr>
        <p:spPr>
          <a:xfrm>
            <a:off x="571500" y="868680"/>
            <a:ext cx="5527548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Linha L1"/>
          <p:cNvCxnSpPr/>
          <p:nvPr userDrawn="1"/>
        </p:nvCxnSpPr>
        <p:spPr>
          <a:xfrm>
            <a:off x="566928" y="12618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6" name="Descrição L1"/>
          <p:cNvSpPr>
            <a:spLocks noGrp="1"/>
          </p:cNvSpPr>
          <p:nvPr>
            <p:ph type="body" sz="quarter" idx="14"/>
          </p:nvPr>
        </p:nvSpPr>
        <p:spPr>
          <a:xfrm>
            <a:off x="571500" y="1298448"/>
            <a:ext cx="5527548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údo L1"/>
          <p:cNvSpPr>
            <a:spLocks noGrp="1"/>
          </p:cNvSpPr>
          <p:nvPr>
            <p:ph sz="quarter" idx="30"/>
          </p:nvPr>
        </p:nvSpPr>
        <p:spPr>
          <a:xfrm>
            <a:off x="571500" y="1545336"/>
            <a:ext cx="552450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abeçalho R1"/>
          <p:cNvSpPr>
            <a:spLocks noGrp="1"/>
          </p:cNvSpPr>
          <p:nvPr>
            <p:ph type="body" sz="quarter" idx="11"/>
          </p:nvPr>
        </p:nvSpPr>
        <p:spPr>
          <a:xfrm>
            <a:off x="6428232" y="86868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Linha R1"/>
          <p:cNvCxnSpPr/>
          <p:nvPr userDrawn="1"/>
        </p:nvCxnSpPr>
        <p:spPr>
          <a:xfrm>
            <a:off x="6428232" y="12618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0" name="Descrição R1"/>
          <p:cNvSpPr>
            <a:spLocks noGrp="1"/>
          </p:cNvSpPr>
          <p:nvPr>
            <p:ph type="body" sz="quarter" idx="15"/>
          </p:nvPr>
        </p:nvSpPr>
        <p:spPr>
          <a:xfrm>
            <a:off x="6428232" y="1298448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údo R1"/>
          <p:cNvSpPr>
            <a:spLocks noGrp="1"/>
          </p:cNvSpPr>
          <p:nvPr>
            <p:ph sz="quarter" idx="31"/>
          </p:nvPr>
        </p:nvSpPr>
        <p:spPr>
          <a:xfrm>
            <a:off x="6428232" y="1545336"/>
            <a:ext cx="553212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abeçalho L2"/>
          <p:cNvSpPr>
            <a:spLocks noGrp="1"/>
          </p:cNvSpPr>
          <p:nvPr>
            <p:ph type="body" sz="quarter" idx="12"/>
          </p:nvPr>
        </p:nvSpPr>
        <p:spPr>
          <a:xfrm>
            <a:off x="566928" y="372618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Linha L2"/>
          <p:cNvCxnSpPr/>
          <p:nvPr userDrawn="1"/>
        </p:nvCxnSpPr>
        <p:spPr>
          <a:xfrm>
            <a:off x="566928" y="41193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4" name="Descrição L2"/>
          <p:cNvSpPr>
            <a:spLocks noGrp="1"/>
          </p:cNvSpPr>
          <p:nvPr>
            <p:ph type="body" sz="quarter" idx="16"/>
          </p:nvPr>
        </p:nvSpPr>
        <p:spPr>
          <a:xfrm>
            <a:off x="566928" y="4155948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údo L2"/>
          <p:cNvSpPr>
            <a:spLocks noGrp="1"/>
          </p:cNvSpPr>
          <p:nvPr>
            <p:ph sz="quarter" idx="32"/>
          </p:nvPr>
        </p:nvSpPr>
        <p:spPr>
          <a:xfrm>
            <a:off x="566928" y="4402836"/>
            <a:ext cx="553212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abeçalho R2"/>
          <p:cNvSpPr>
            <a:spLocks noGrp="1"/>
          </p:cNvSpPr>
          <p:nvPr>
            <p:ph type="body" sz="quarter" idx="13"/>
          </p:nvPr>
        </p:nvSpPr>
        <p:spPr>
          <a:xfrm>
            <a:off x="6428232" y="372618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Linha R2"/>
          <p:cNvCxnSpPr/>
          <p:nvPr userDrawn="1"/>
        </p:nvCxnSpPr>
        <p:spPr>
          <a:xfrm>
            <a:off x="6428232" y="41193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8" name="Descrição R2"/>
          <p:cNvSpPr>
            <a:spLocks noGrp="1"/>
          </p:cNvSpPr>
          <p:nvPr>
            <p:ph type="body" sz="quarter" idx="17"/>
          </p:nvPr>
        </p:nvSpPr>
        <p:spPr>
          <a:xfrm>
            <a:off x="6428232" y="4155948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údo R2"/>
          <p:cNvSpPr>
            <a:spLocks noGrp="1"/>
          </p:cNvSpPr>
          <p:nvPr>
            <p:ph sz="quarter" idx="33"/>
          </p:nvPr>
        </p:nvSpPr>
        <p:spPr>
          <a:xfrm>
            <a:off x="6428232" y="4402836"/>
            <a:ext cx="553212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Fontes"/>
          <p:cNvSpPr>
            <a:spLocks noGrp="1"/>
          </p:cNvSpPr>
          <p:nvPr>
            <p:ph type="body" sz="quarter" idx="20"/>
          </p:nvPr>
        </p:nvSpPr>
        <p:spPr>
          <a:xfrm>
            <a:off x="566928" y="6556248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>
                <a:solidFill>
                  <a:srgbClr val="A6A6A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16264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FEAF86BB-950D-C028-EE25-EAF6B2091A5D}"/>
              </a:ext>
            </a:extLst>
          </p:cNvPr>
          <p:cNvSpPr/>
          <p:nvPr userDrawn="1"/>
        </p:nvSpPr>
        <p:spPr>
          <a:xfrm rot="10800000" flipH="1">
            <a:off x="0" y="2431"/>
            <a:ext cx="346464" cy="6858000"/>
          </a:xfrm>
          <a:prstGeom prst="rect">
            <a:avLst/>
          </a:prstGeom>
          <a:gradFill>
            <a:gsLst>
              <a:gs pos="19000">
                <a:srgbClr val="035144"/>
              </a:gs>
              <a:gs pos="95000">
                <a:srgbClr val="00D054"/>
              </a:gs>
              <a:gs pos="76000">
                <a:srgbClr val="009F4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" name="Connector 43">
            <a:extLst>
              <a:ext uri="{FF2B5EF4-FFF2-40B4-BE49-F238E27FC236}">
                <a16:creationId xmlns:a16="http://schemas.microsoft.com/office/drawing/2014/main" id="{0C1F9473-D70C-D468-BBA5-C37F5F700542}"/>
              </a:ext>
            </a:extLst>
          </p:cNvPr>
          <p:cNvCxnSpPr>
            <a:cxnSpLocks/>
          </p:cNvCxnSpPr>
          <p:nvPr userDrawn="1"/>
        </p:nvCxnSpPr>
        <p:spPr>
          <a:xfrm>
            <a:off x="566928" y="6515100"/>
            <a:ext cx="11393424" cy="0"/>
          </a:xfrm>
          <a:prstGeom prst="line">
            <a:avLst/>
          </a:prstGeom>
          <a:ln w="12700">
            <a:solidFill>
              <a:srgbClr val="76B900"/>
            </a:solidFill>
          </a:ln>
        </p:spPr>
      </p:cxnSp>
      <p:pic>
        <p:nvPicPr>
          <p:cNvPr id="52" name="Picture 51">
            <a:extLst>
              <a:ext uri="{FF2B5EF4-FFF2-40B4-BE49-F238E27FC236}">
                <a16:creationId xmlns:a16="http://schemas.microsoft.com/office/drawing/2014/main" id="{9DE3E556-E840-AC70-8618-F06E954425CA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17266" y1="39861" x2="17266" y2="39861"/>
                        <a14:foregroundMark x1="17266" y1="45000" x2="17266" y2="45000"/>
                        <a14:foregroundMark x1="20391" y1="55694" x2="20391" y2="55694"/>
                        <a14:foregroundMark x1="30391" y1="49306" x2="30391" y2="49306"/>
                        <a14:foregroundMark x1="41250" y1="51111" x2="41250" y2="51111"/>
                        <a14:foregroundMark x1="46797" y1="53194" x2="46797" y2="53194"/>
                        <a14:foregroundMark x1="62266" y1="53194" x2="62266" y2="53194"/>
                        <a14:foregroundMark x1="72734" y1="58056" x2="72734" y2="58056"/>
                        <a14:foregroundMark x1="81719" y1="59167" x2="81719" y2="59167"/>
                        <a14:backgroundMark x1="38984" y1="50278" x2="38984" y2="50278"/>
                      </a14:backgroundRemoval>
                    </a14:imgEffect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894" y="-373028"/>
            <a:ext cx="1919326" cy="107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568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0" r:id="rId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>
          <p15:clr>
            <a:srgbClr val="F26B43"/>
          </p15:clr>
        </p15:guide>
        <p15:guide id="3" pos="216">
          <p15:clr>
            <a:srgbClr val="F26B43"/>
          </p15:clr>
        </p15:guide>
        <p15:guide id="4" pos="7536">
          <p15:clr>
            <a:srgbClr val="F26B43"/>
          </p15:clr>
        </p15:guide>
        <p15:guide id="5" orient="horz" pos="480">
          <p15:clr>
            <a:srgbClr val="F26B43"/>
          </p15:clr>
        </p15:guide>
        <p15:guide id="6" orient="horz" pos="4104">
          <p15:clr>
            <a:srgbClr val="F26B43"/>
          </p15:clr>
        </p15:guide>
        <p15:guide id="8" pos="3840">
          <p15:clr>
            <a:srgbClr val="F26B43"/>
          </p15:clr>
        </p15:guide>
        <p15:guide id="9" pos="360">
          <p15:clr>
            <a:srgbClr val="F26B43"/>
          </p15:clr>
        </p15:guide>
        <p15:guide id="10" pos="4032">
          <p15:clr>
            <a:srgbClr val="F26B43"/>
          </p15:clr>
        </p15:guide>
        <p15:guide id="11" orient="horz" pos="2232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chart" Target="../charts/chart9.xml"/><Relationship Id="rId6" Type="http://schemas.openxmlformats.org/officeDocument/2006/relationships/chart" Target="../charts/chart10.xml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Segurança: líder no instalador, coadjuvante nas cidades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Domina o mercado do instalador; nas cidades inteligentes, o driver que mais cresce, enfrenta rivais com até 51x mais P&amp;D, inclusive a fornecedora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I. Análise: a força está no mercado do instalador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Receita líquida de Segurança (R$ mi) e indicadores de 2025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II. Concorrência: os rivais investem 19 a 51 vezes mais em P&amp;D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Gasto com P&amp;D em 2025 (R$ bi) e % da receita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III. Driver: cidades inteligentes crescem 3 vezes mais que o vídeo total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Crescimento anual esperado no Brasil (%) e escala dos programas públicos de câmeras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IV. Nas cidades, quem ganha são Hikvision, Dahua e Huawei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Grandes projetos públicos de videomonitoramento no Brasil e o fornecedor citado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Fontes: DFP 2025 (NE 13, 31); FRE 2026 (1.2, 1.4); Hikvision e Dahua, relatórios 2025; Memoori; Statista (via Plataforma CSC); MarketsandMarkets; SSP-SP; Prefeitura de SP; Diário do Rio; Prefeitura de SJC; Baguete; DCD. ROIC: cálculo próprio.</a:t>
            </a:r>
          </a:p>
        </p:txBody>
      </p:sp>
      <p:graphicFrame>
        <p:nvGraphicFramePr>
          <p:cNvPr id="17" name="Grafico receita Seguranca"/>
          <p:cNvGraphicFramePr>
            <a:graphicFrameLocks noGrp="1"/>
          </p:cNvGraphicFramePr>
          <p:nvPr/>
        </p:nvGraphicFramePr>
        <p:xfrm>
          <a:off x="566928" y="1545336"/>
          <a:ext cx="3794760" cy="19842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KPI de share no "/>
          <p:cNvSpPr txBox="1"/>
          <p:nvPr/>
        </p:nvSpPr>
        <p:spPr>
          <a:xfrm>
            <a:off x="4498848" y="1563624"/>
            <a:ext cx="1600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9F41"/>
                </a:solidFill>
              </a:rPr>
              <a:t>44%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</a:rPr>
              <a:t>de share no Brasil, estável</a:t>
            </a:r>
          </a:p>
        </p:txBody>
      </p:sp>
      <p:sp>
        <p:nvSpPr>
          <p:cNvPr id="19" name="KPI ROIC estimad"/>
          <p:cNvSpPr txBox="1"/>
          <p:nvPr/>
        </p:nvSpPr>
        <p:spPr>
          <a:xfrm>
            <a:off x="4498848" y="2221991"/>
            <a:ext cx="1600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</a:rPr>
              <a:t>~28%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</a:rPr>
              <a:t>ROIC estimado (~15% sem o ICMS de Manaus)</a:t>
            </a:r>
          </a:p>
        </p:txBody>
      </p:sp>
      <p:sp>
        <p:nvSpPr>
          <p:cNvPr id="20" name="KPI das vendas v"/>
          <p:cNvSpPr txBox="1"/>
          <p:nvPr/>
        </p:nvSpPr>
        <p:spPr>
          <a:xfrm>
            <a:off x="4498848" y="2880360"/>
            <a:ext cx="1600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</a:rPr>
              <a:t>68%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</a:rPr>
              <a:t>das vendas via distribuidor e instalador</a:t>
            </a:r>
          </a:p>
        </p:txBody>
      </p:sp>
      <p:graphicFrame>
        <p:nvGraphicFramePr>
          <p:cNvPr id="21" name="Grafico P&amp;D"/>
          <p:cNvGraphicFramePr>
            <a:graphicFrameLocks noGrp="1"/>
          </p:cNvGraphicFramePr>
          <p:nvPr/>
        </p:nvGraphicFramePr>
        <p:xfrm>
          <a:off x="6428232" y="1563624"/>
          <a:ext cx="3840480" cy="1920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2" name="Destaque 51x"/>
          <p:cNvSpPr txBox="1"/>
          <p:nvPr/>
        </p:nvSpPr>
        <p:spPr>
          <a:xfrm>
            <a:off x="10360152" y="1591056"/>
            <a:ext cx="1600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</a:rPr>
              <a:t>51x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</a:rPr>
              <a:t>o P&amp;D da Hikvision</a:t>
            </a:r>
          </a:p>
        </p:txBody>
      </p:sp>
      <p:sp>
        <p:nvSpPr>
          <p:cNvPr id="23" name="Destaque um terco"/>
          <p:cNvSpPr txBox="1"/>
          <p:nvPr/>
        </p:nvSpPr>
        <p:spPr>
          <a:xfrm>
            <a:off x="10360152" y="2276856"/>
            <a:ext cx="1600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</a:rPr>
              <a:t>≈1/3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</a:rPr>
              <a:t>do mercado mundial de vídeo é de Hikvision + Dahua</a:t>
            </a:r>
          </a:p>
        </p:txBody>
      </p:sp>
      <p:graphicFrame>
        <p:nvGraphicFramePr>
          <p:cNvPr id="24" name="Grafico crescimento cidades"/>
          <p:cNvGraphicFramePr>
            <a:graphicFrameLocks noGrp="1"/>
          </p:cNvGraphicFramePr>
          <p:nvPr/>
        </p:nvGraphicFramePr>
        <p:xfrm>
          <a:off x="566928" y="4425696"/>
          <a:ext cx="3246120" cy="19202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5" name="Destaque Muralha"/>
          <p:cNvSpPr txBox="1"/>
          <p:nvPr/>
        </p:nvSpPr>
        <p:spPr>
          <a:xfrm>
            <a:off x="3950208" y="4407408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</a:rPr>
              <a:t>94 mil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</a:rPr>
              <a:t>câmeras no Muralha Paulista, em 300+ municípios</a:t>
            </a:r>
          </a:p>
        </p:txBody>
      </p:sp>
      <p:sp>
        <p:nvSpPr>
          <p:cNvPr id="26" name="Destaque Smart Sampa"/>
          <p:cNvSpPr txBox="1"/>
          <p:nvPr/>
        </p:nvSpPr>
        <p:spPr>
          <a:xfrm>
            <a:off x="3950208" y="5065776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</a:rPr>
              <a:t>40 mil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</a:rPr>
              <a:t>câmeras no Smart Sampa (SP)</a:t>
            </a:r>
          </a:p>
        </p:txBody>
      </p:sp>
      <p:sp>
        <p:nvSpPr>
          <p:cNvPr id="27" name="Destaque Rio"/>
          <p:cNvSpPr txBox="1"/>
          <p:nvPr/>
        </p:nvSpPr>
        <p:spPr>
          <a:xfrm>
            <a:off x="3950208" y="5724144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</a:rPr>
              <a:t>92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</a:rPr>
              <a:t>municípios no plano do Rio com Hikvision e Dahua</a:t>
            </a:r>
          </a:p>
        </p:txBody>
      </p:sp>
      <p:sp>
        <p:nvSpPr>
          <p:cNvPr id="28" name="Projetos faixa 0"/>
          <p:cNvSpPr/>
          <p:nvPr/>
        </p:nvSpPr>
        <p:spPr>
          <a:xfrm>
            <a:off x="6428232" y="4425696"/>
            <a:ext cx="5532120" cy="25603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 wrap="square"/>
          <a:lstStyle/>
          <a:p>
            <a:pPr algn="ctr"/>
          </a:p>
        </p:txBody>
      </p:sp>
      <p:sp>
        <p:nvSpPr>
          <p:cNvPr id="29" name="Projeto 0"/>
          <p:cNvSpPr txBox="1"/>
          <p:nvPr/>
        </p:nvSpPr>
        <p:spPr>
          <a:xfrm>
            <a:off x="6473952" y="4425696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</a:rPr>
              <a:t>Rio de Janeiro (estado)</a:t>
            </a:r>
          </a:p>
        </p:txBody>
      </p:sp>
      <p:sp>
        <p:nvSpPr>
          <p:cNvPr id="30" name="Projeto det 0"/>
          <p:cNvSpPr txBox="1"/>
          <p:nvPr/>
        </p:nvSpPr>
        <p:spPr>
          <a:xfrm>
            <a:off x="8302752" y="4425696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</a:rPr>
              <a:t>acordo de 2025 para 92 municípios</a:t>
            </a:r>
          </a:p>
        </p:txBody>
      </p:sp>
      <p:sp>
        <p:nvSpPr>
          <p:cNvPr id="31" name="Projeto selo 0"/>
          <p:cNvSpPr/>
          <p:nvPr/>
        </p:nvSpPr>
        <p:spPr>
          <a:xfrm>
            <a:off x="10680192" y="4453128"/>
            <a:ext cx="1261872" cy="201168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Hikvision e Dahua</a:t>
            </a:r>
          </a:p>
        </p:txBody>
      </p:sp>
      <p:sp>
        <p:nvSpPr>
          <p:cNvPr id="32" name="Projeto 1"/>
          <p:cNvSpPr txBox="1"/>
          <p:nvPr/>
        </p:nvSpPr>
        <p:spPr>
          <a:xfrm>
            <a:off x="6473952" y="4700016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</a:rPr>
              <a:t>São Paulo (Smart Sampa)</a:t>
            </a:r>
          </a:p>
        </p:txBody>
      </p:sp>
      <p:sp>
        <p:nvSpPr>
          <p:cNvPr id="33" name="Projeto det 1"/>
          <p:cNvSpPr txBox="1"/>
          <p:nvPr/>
        </p:nvSpPr>
        <p:spPr>
          <a:xfrm>
            <a:off x="8302752" y="4700016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</a:rPr>
              <a:t>prefeito foi à Hikvision para ampliar (abr/25)</a:t>
            </a:r>
          </a:p>
        </p:txBody>
      </p:sp>
      <p:sp>
        <p:nvSpPr>
          <p:cNvPr id="34" name="Projeto selo 1"/>
          <p:cNvSpPr/>
          <p:nvPr/>
        </p:nvSpPr>
        <p:spPr>
          <a:xfrm>
            <a:off x="10680192" y="4727448"/>
            <a:ext cx="1261872" cy="201168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Hikvision</a:t>
            </a:r>
          </a:p>
        </p:txBody>
      </p:sp>
      <p:sp>
        <p:nvSpPr>
          <p:cNvPr id="35" name="Projetos faixa 2"/>
          <p:cNvSpPr/>
          <p:nvPr/>
        </p:nvSpPr>
        <p:spPr>
          <a:xfrm>
            <a:off x="6428232" y="4974336"/>
            <a:ext cx="5532120" cy="25603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 wrap="square"/>
          <a:lstStyle/>
          <a:p>
            <a:pPr algn="ctr"/>
          </a:p>
        </p:txBody>
      </p:sp>
      <p:sp>
        <p:nvSpPr>
          <p:cNvPr id="36" name="Projeto 2"/>
          <p:cNvSpPr txBox="1"/>
          <p:nvPr/>
        </p:nvSpPr>
        <p:spPr>
          <a:xfrm>
            <a:off x="6473952" y="4974336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</a:rPr>
              <a:t>São José dos Campos (CSI)</a:t>
            </a:r>
          </a:p>
        </p:txBody>
      </p:sp>
      <p:sp>
        <p:nvSpPr>
          <p:cNvPr id="37" name="Projeto det 2"/>
          <p:cNvSpPr txBox="1"/>
          <p:nvPr/>
        </p:nvSpPr>
        <p:spPr>
          <a:xfrm>
            <a:off x="8302752" y="4974336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</a:rPr>
              <a:t>centro de monitoramento de referência</a:t>
            </a:r>
          </a:p>
        </p:txBody>
      </p:sp>
      <p:sp>
        <p:nvSpPr>
          <p:cNvPr id="38" name="Projeto selo 2"/>
          <p:cNvSpPr/>
          <p:nvPr/>
        </p:nvSpPr>
        <p:spPr>
          <a:xfrm>
            <a:off x="10680192" y="5001768"/>
            <a:ext cx="1261872" cy="201168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Hikvision</a:t>
            </a:r>
          </a:p>
        </p:txBody>
      </p:sp>
      <p:sp>
        <p:nvSpPr>
          <p:cNvPr id="39" name="Projeto 3"/>
          <p:cNvSpPr txBox="1"/>
          <p:nvPr/>
        </p:nvSpPr>
        <p:spPr>
          <a:xfrm>
            <a:off x="6473952" y="5248656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</a:rPr>
              <a:t>Metrô do Recife</a:t>
            </a:r>
          </a:p>
        </p:txBody>
      </p:sp>
      <p:sp>
        <p:nvSpPr>
          <p:cNvPr id="40" name="Projeto det 3"/>
          <p:cNvSpPr txBox="1"/>
          <p:nvPr/>
        </p:nvSpPr>
        <p:spPr>
          <a:xfrm>
            <a:off x="8302752" y="5248656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</a:rPr>
              <a:t>1.380 câmeras, R$61,5 mi</a:t>
            </a:r>
          </a:p>
        </p:txBody>
      </p:sp>
      <p:sp>
        <p:nvSpPr>
          <p:cNvPr id="41" name="Projeto selo 3"/>
          <p:cNvSpPr/>
          <p:nvPr/>
        </p:nvSpPr>
        <p:spPr>
          <a:xfrm>
            <a:off x="10680192" y="5276088"/>
            <a:ext cx="1261872" cy="201168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Dahua</a:t>
            </a:r>
          </a:p>
        </p:txBody>
      </p:sp>
      <p:sp>
        <p:nvSpPr>
          <p:cNvPr id="42" name="Projetos faixa 4"/>
          <p:cNvSpPr/>
          <p:nvPr/>
        </p:nvSpPr>
        <p:spPr>
          <a:xfrm>
            <a:off x="6428232" y="5522976"/>
            <a:ext cx="5532120" cy="25603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 wrap="square"/>
          <a:lstStyle/>
          <a:p>
            <a:pPr algn="ctr"/>
          </a:p>
        </p:txBody>
      </p:sp>
      <p:sp>
        <p:nvSpPr>
          <p:cNvPr id="43" name="Projeto 4"/>
          <p:cNvSpPr txBox="1"/>
          <p:nvPr/>
        </p:nvSpPr>
        <p:spPr>
          <a:xfrm>
            <a:off x="6473952" y="5522976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</a:rPr>
              <a:t>Campinas (cidade segura)</a:t>
            </a:r>
          </a:p>
        </p:txBody>
      </p:sp>
      <p:sp>
        <p:nvSpPr>
          <p:cNvPr id="44" name="Projeto det 4"/>
          <p:cNvSpPr txBox="1"/>
          <p:nvPr/>
        </p:nvSpPr>
        <p:spPr>
          <a:xfrm>
            <a:off x="8302752" y="5522976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</a:rPr>
              <a:t>parceria com o CPqD</a:t>
            </a:r>
          </a:p>
        </p:txBody>
      </p:sp>
      <p:sp>
        <p:nvSpPr>
          <p:cNvPr id="45" name="Projeto selo 4"/>
          <p:cNvSpPr/>
          <p:nvPr/>
        </p:nvSpPr>
        <p:spPr>
          <a:xfrm>
            <a:off x="10680192" y="5550408"/>
            <a:ext cx="1261872" cy="201168"/>
          </a:xfrm>
          <a:prstGeom prst="roundRect">
            <a:avLst>
              <a:gd name="adj" fmla="val 15000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 wrap="square"/>
          <a:lstStyle/>
          <a:p>
            <a:pPr algn="ctr"/>
            <a:r>
              <a:rPr sz="850" b="1">
                <a:solidFill>
                  <a:srgbClr val="1A1A1A"/>
                </a:solidFill>
              </a:rPr>
              <a:t>Huawei</a:t>
            </a:r>
          </a:p>
        </p:txBody>
      </p:sp>
      <p:sp>
        <p:nvSpPr>
          <p:cNvPr id="46" name="Projeto 5"/>
          <p:cNvSpPr txBox="1"/>
          <p:nvPr/>
        </p:nvSpPr>
        <p:spPr>
          <a:xfrm>
            <a:off x="6473952" y="5797296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9F41"/>
                </a:solidFill>
              </a:rPr>
              <a:t>Intelbras</a:t>
            </a:r>
          </a:p>
        </p:txBody>
      </p:sp>
      <p:sp>
        <p:nvSpPr>
          <p:cNvPr id="47" name="Projeto det 5"/>
          <p:cNvSpPr txBox="1"/>
          <p:nvPr/>
        </p:nvSpPr>
        <p:spPr>
          <a:xfrm>
            <a:off x="8302752" y="5797296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</a:rPr>
              <a:t>via integradores (≤16% das vendas); "avanço gradual"</a:t>
            </a:r>
          </a:p>
        </p:txBody>
      </p:sp>
      <p:sp>
        <p:nvSpPr>
          <p:cNvPr id="48" name="Projeto selo 5"/>
          <p:cNvSpPr/>
          <p:nvPr/>
        </p:nvSpPr>
        <p:spPr>
          <a:xfrm>
            <a:off x="10680192" y="5824728"/>
            <a:ext cx="1261872" cy="201168"/>
          </a:xfrm>
          <a:prstGeom prst="roundRect">
            <a:avLst>
              <a:gd name="adj" fmla="val 15000"/>
            </a:avLst>
          </a:prstGeom>
          <a:solidFill>
            <a:srgbClr val="009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cases pontuais</a:t>
            </a:r>
          </a:p>
        </p:txBody>
      </p:sp>
      <p:sp>
        <p:nvSpPr>
          <p:cNvPr id="49" name="Nota Dahua projetos"/>
          <p:cNvSpPr txBox="1"/>
          <p:nvPr/>
        </p:nvSpPr>
        <p:spPr>
          <a:xfrm>
            <a:off x="6428232" y="6099048"/>
            <a:ext cx="5532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1">
                <a:solidFill>
                  <a:srgbClr val="1A1A1A"/>
                </a:solidFill>
              </a:rPr>
              <a:t>O acordo de acionistas deixa a Dahua livre para competir em projetos (cl. 12.1): nas cidades, a fornecedora é a rival.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TIC: escala global, comprador técnico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Com 9% de share contra rivais globais, TIC rende abaixo da Selic; o espaço está em cabeamento e redes de PMEs, não em GPON nem 5G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I. Análise: receita parada desde 2021 e retorno abaixo da Selic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Receita líquida de TIC (R$ mi) e indicadores de 2025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II. Concorrência: onde a escala é global, o canal pesa menos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Rivais por submercado e chance da Intelbras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III. Drivers: telecom madura; só cabos têm vento a favor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Indicadores do mercado de telecom no Brasil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IV. A margem cai: o comprador técnico compara preço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Margem bruta de TIC (%), 2020–2025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Fontes: DFPs 2021–25 (NE 31); Planilha 2T26; FRE 2026 (1.4); Teletime (TP-Link, 2020); Gecex 829/837; comunicado Intelbras–FiberHome (12/01/2026); Anatel (via TI Inside); Agência Gov (5G). ROIC: cálculo próprio.</a:t>
            </a:r>
          </a:p>
        </p:txBody>
      </p:sp>
      <p:graphicFrame>
        <p:nvGraphicFramePr>
          <p:cNvPr id="17" name="Grafico receita TIC"/>
          <p:cNvGraphicFramePr>
            <a:graphicFrameLocks noGrp="1"/>
          </p:cNvGraphicFramePr>
          <p:nvPr/>
        </p:nvGraphicFramePr>
        <p:xfrm>
          <a:off x="566928" y="1545336"/>
          <a:ext cx="3794760" cy="19842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KPI de share no "/>
          <p:cNvSpPr txBox="1"/>
          <p:nvPr/>
        </p:nvSpPr>
        <p:spPr>
          <a:xfrm>
            <a:off x="4498848" y="1563624"/>
            <a:ext cx="1600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</a:rPr>
              <a:t>9%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</a:rPr>
              <a:t>de share no Brasil</a:t>
            </a:r>
          </a:p>
        </p:txBody>
      </p:sp>
      <p:sp>
        <p:nvSpPr>
          <p:cNvPr id="19" name="KPI de crescimen"/>
          <p:cNvSpPr txBox="1"/>
          <p:nvPr/>
        </p:nvSpPr>
        <p:spPr>
          <a:xfrm>
            <a:off x="4498848" y="2221991"/>
            <a:ext cx="1600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</a:rPr>
              <a:t>1,6% a.a.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</a:rPr>
              <a:t>de crescimento em 2021–25</a:t>
            </a:r>
          </a:p>
        </p:txBody>
      </p:sp>
      <p:sp>
        <p:nvSpPr>
          <p:cNvPr id="20" name="KPI ROIC estimad"/>
          <p:cNvSpPr txBox="1"/>
          <p:nvPr/>
        </p:nvSpPr>
        <p:spPr>
          <a:xfrm>
            <a:off x="4498848" y="2880360"/>
            <a:ext cx="1600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595959"/>
                </a:solidFill>
              </a:rPr>
              <a:t>~7,5%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</a:rPr>
              <a:t>ROIC estimado, contra Selic de 13,75%</a:t>
            </a:r>
          </a:p>
        </p:txBody>
      </p:sp>
      <p:sp>
        <p:nvSpPr>
          <p:cNvPr id="21" name="Rivais TIC faixa 0"/>
          <p:cNvSpPr/>
          <p:nvPr/>
        </p:nvSpPr>
        <p:spPr>
          <a:xfrm>
            <a:off x="6428232" y="1563624"/>
            <a:ext cx="5532120" cy="35661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 wrap="square"/>
          <a:lstStyle/>
          <a:p>
            <a:pPr algn="ctr"/>
          </a:p>
        </p:txBody>
      </p:sp>
      <p:sp>
        <p:nvSpPr>
          <p:cNvPr id="22" name="Rivais TIC sub 0"/>
          <p:cNvSpPr txBox="1"/>
          <p:nvPr/>
        </p:nvSpPr>
        <p:spPr>
          <a:xfrm>
            <a:off x="6473952" y="1563624"/>
            <a:ext cx="137160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</a:rPr>
              <a:t>Cabeamento óptico</a:t>
            </a:r>
          </a:p>
        </p:txBody>
      </p:sp>
      <p:sp>
        <p:nvSpPr>
          <p:cNvPr id="23" name="Rivais TIC rivais 0"/>
          <p:cNvSpPr txBox="1"/>
          <p:nvPr/>
        </p:nvSpPr>
        <p:spPr>
          <a:xfrm>
            <a:off x="7845552" y="1563624"/>
            <a:ext cx="26974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</a:rPr>
              <a:t>Furukawa, Prysmian, Lightera; antidumping</a:t>
            </a:r>
          </a:p>
        </p:txBody>
      </p:sp>
      <p:sp>
        <p:nvSpPr>
          <p:cNvPr id="24" name="Rivais TIC selo 0"/>
          <p:cNvSpPr/>
          <p:nvPr/>
        </p:nvSpPr>
        <p:spPr>
          <a:xfrm>
            <a:off x="10588752" y="1632204"/>
            <a:ext cx="1325880" cy="219456"/>
          </a:xfrm>
          <a:prstGeom prst="roundRect">
            <a:avLst>
              <a:gd name="adj" fmla="val 15000"/>
            </a:avLst>
          </a:prstGeom>
          <a:solidFill>
            <a:srgbClr val="009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PROTEGIDO</a:t>
            </a:r>
          </a:p>
        </p:txBody>
      </p:sp>
      <p:sp>
        <p:nvSpPr>
          <p:cNvPr id="25" name="Rivais TIC sub 1"/>
          <p:cNvSpPr txBox="1"/>
          <p:nvPr/>
        </p:nvSpPr>
        <p:spPr>
          <a:xfrm>
            <a:off x="6473952" y="1947672"/>
            <a:ext cx="137160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</a:rPr>
              <a:t>Redes de PMEs</a:t>
            </a:r>
          </a:p>
        </p:txBody>
      </p:sp>
      <p:sp>
        <p:nvSpPr>
          <p:cNvPr id="26" name="Rivais TIC rivais 1"/>
          <p:cNvSpPr txBox="1"/>
          <p:nvPr/>
        </p:nvSpPr>
        <p:spPr>
          <a:xfrm>
            <a:off x="7845552" y="1947672"/>
            <a:ext cx="26974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</a:rPr>
              <a:t>Cisco, Huawei, TP-Link; mesmo instalador</a:t>
            </a:r>
          </a:p>
        </p:txBody>
      </p:sp>
      <p:sp>
        <p:nvSpPr>
          <p:cNvPr id="27" name="Rivais TIC selo 1"/>
          <p:cNvSpPr/>
          <p:nvPr/>
        </p:nvSpPr>
        <p:spPr>
          <a:xfrm>
            <a:off x="10588752" y="2016252"/>
            <a:ext cx="1325880" cy="219456"/>
          </a:xfrm>
          <a:prstGeom prst="roundRect">
            <a:avLst>
              <a:gd name="adj" fmla="val 15000"/>
            </a:avLst>
          </a:prstGeom>
          <a:solidFill>
            <a:srgbClr val="7C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 wrap="square"/>
          <a:lstStyle/>
          <a:p>
            <a:pPr algn="ctr"/>
            <a:r>
              <a:rPr sz="850" b="1">
                <a:solidFill>
                  <a:srgbClr val="1A1A1A"/>
                </a:solidFill>
              </a:rPr>
              <a:t>FAVORÁVEL</a:t>
            </a:r>
          </a:p>
        </p:txBody>
      </p:sp>
      <p:sp>
        <p:nvSpPr>
          <p:cNvPr id="28" name="Rivais TIC faixa 2"/>
          <p:cNvSpPr/>
          <p:nvPr/>
        </p:nvSpPr>
        <p:spPr>
          <a:xfrm>
            <a:off x="6428232" y="2331720"/>
            <a:ext cx="5532120" cy="35661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 wrap="square"/>
          <a:lstStyle/>
          <a:p>
            <a:pPr algn="ctr"/>
          </a:p>
        </p:txBody>
      </p:sp>
      <p:sp>
        <p:nvSpPr>
          <p:cNvPr id="29" name="Rivais TIC sub 2"/>
          <p:cNvSpPr txBox="1"/>
          <p:nvPr/>
        </p:nvSpPr>
        <p:spPr>
          <a:xfrm>
            <a:off x="6473952" y="2331720"/>
            <a:ext cx="137160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</a:rPr>
              <a:t>Roteadores (varejo)</a:t>
            </a:r>
          </a:p>
        </p:txBody>
      </p:sp>
      <p:sp>
        <p:nvSpPr>
          <p:cNvPr id="30" name="Rivais TIC rivais 2"/>
          <p:cNvSpPr txBox="1"/>
          <p:nvPr/>
        </p:nvSpPr>
        <p:spPr>
          <a:xfrm>
            <a:off x="7845552" y="2331720"/>
            <a:ext cx="26974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</a:rPr>
              <a:t>TP-Link (21% na A. Latina); cross-border</a:t>
            </a:r>
          </a:p>
        </p:txBody>
      </p:sp>
      <p:sp>
        <p:nvSpPr>
          <p:cNvPr id="31" name="Rivais TIC selo 2"/>
          <p:cNvSpPr/>
          <p:nvPr/>
        </p:nvSpPr>
        <p:spPr>
          <a:xfrm>
            <a:off x="10588752" y="2400300"/>
            <a:ext cx="1325880" cy="219456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EXPOSTO</a:t>
            </a:r>
          </a:p>
        </p:txBody>
      </p:sp>
      <p:sp>
        <p:nvSpPr>
          <p:cNvPr id="32" name="Rivais TIC sub 3"/>
          <p:cNvSpPr txBox="1"/>
          <p:nvPr/>
        </p:nvSpPr>
        <p:spPr>
          <a:xfrm>
            <a:off x="6473952" y="2715768"/>
            <a:ext cx="137160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</a:rPr>
              <a:t>GPON (provedores)</a:t>
            </a:r>
          </a:p>
        </p:txBody>
      </p:sp>
      <p:sp>
        <p:nvSpPr>
          <p:cNvPr id="33" name="Rivais TIC rivais 3"/>
          <p:cNvSpPr txBox="1"/>
          <p:nvPr/>
        </p:nvSpPr>
        <p:spPr>
          <a:xfrm>
            <a:off x="7845552" y="2715768"/>
            <a:ext cx="26974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</a:rPr>
              <a:t>Huawei; FiberHome livre desde jan/26</a:t>
            </a:r>
          </a:p>
        </p:txBody>
      </p:sp>
      <p:sp>
        <p:nvSpPr>
          <p:cNvPr id="34" name="Rivais TIC selo 3"/>
          <p:cNvSpPr/>
          <p:nvPr/>
        </p:nvSpPr>
        <p:spPr>
          <a:xfrm>
            <a:off x="10588752" y="2784348"/>
            <a:ext cx="1325880" cy="219456"/>
          </a:xfrm>
          <a:prstGeom prst="roundRect">
            <a:avLst>
              <a:gd name="adj" fmla="val 15000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 wrap="square"/>
          <a:lstStyle/>
          <a:p>
            <a:pPr algn="ctr"/>
            <a:r>
              <a:rPr sz="850" b="1">
                <a:solidFill>
                  <a:srgbClr val="1A1A1A"/>
                </a:solidFill>
              </a:rPr>
              <a:t>FRACO</a:t>
            </a:r>
          </a:p>
        </p:txBody>
      </p:sp>
      <p:sp>
        <p:nvSpPr>
          <p:cNvPr id="35" name="Rivais TIC faixa 4"/>
          <p:cNvSpPr/>
          <p:nvPr/>
        </p:nvSpPr>
        <p:spPr>
          <a:xfrm>
            <a:off x="6428232" y="3099815"/>
            <a:ext cx="5532120" cy="35661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 wrap="square"/>
          <a:lstStyle/>
          <a:p>
            <a:pPr algn="ctr"/>
          </a:p>
        </p:txBody>
      </p:sp>
      <p:sp>
        <p:nvSpPr>
          <p:cNvPr id="36" name="Rivais TIC sub 4"/>
          <p:cNvSpPr txBox="1"/>
          <p:nvPr/>
        </p:nvSpPr>
        <p:spPr>
          <a:xfrm>
            <a:off x="6473952" y="3099815"/>
            <a:ext cx="137160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</a:rPr>
              <a:t>CPE 5G</a:t>
            </a:r>
          </a:p>
        </p:txBody>
      </p:sp>
      <p:sp>
        <p:nvSpPr>
          <p:cNvPr id="37" name="Rivais TIC rivais 4"/>
          <p:cNvSpPr txBox="1"/>
          <p:nvPr/>
        </p:nvSpPr>
        <p:spPr>
          <a:xfrm>
            <a:off x="7845552" y="3099815"/>
            <a:ext cx="26974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</a:rPr>
              <a:t>fabricantes globais; quem compra é a operadora</a:t>
            </a:r>
          </a:p>
        </p:txBody>
      </p:sp>
      <p:sp>
        <p:nvSpPr>
          <p:cNvPr id="38" name="Rivais TIC selo 4"/>
          <p:cNvSpPr/>
          <p:nvPr/>
        </p:nvSpPr>
        <p:spPr>
          <a:xfrm>
            <a:off x="10588752" y="3168396"/>
            <a:ext cx="1325880" cy="219456"/>
          </a:xfrm>
          <a:prstGeom prst="roundRect">
            <a:avLst>
              <a:gd name="adj" fmla="val 15000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 wrap="square"/>
          <a:lstStyle/>
          <a:p>
            <a:pPr algn="ctr"/>
            <a:r>
              <a:rPr sz="850" b="1">
                <a:solidFill>
                  <a:srgbClr val="1A1A1A"/>
                </a:solidFill>
              </a:rPr>
              <a:t>FRACO</a:t>
            </a:r>
          </a:p>
        </p:txBody>
      </p:sp>
      <p:sp>
        <p:nvSpPr>
          <p:cNvPr id="39" name="Driver TIC 0"/>
          <p:cNvSpPr txBox="1"/>
          <p:nvPr/>
        </p:nvSpPr>
        <p:spPr>
          <a:xfrm>
            <a:off x="566928" y="4453128"/>
            <a:ext cx="1783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</a:rPr>
              <a:t>+2,7%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</a:rPr>
              <a:t>banda larga fixa em 2025</a:t>
            </a:r>
          </a:p>
        </p:txBody>
      </p:sp>
      <p:sp>
        <p:nvSpPr>
          <p:cNvPr id="40" name="Driver TIC 1"/>
          <p:cNvSpPr txBox="1"/>
          <p:nvPr/>
        </p:nvSpPr>
        <p:spPr>
          <a:xfrm>
            <a:off x="2441448" y="4453128"/>
            <a:ext cx="1783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</a:rPr>
              <a:t>79%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</a:rPr>
              <a:t>dos acessos já em fibra</a:t>
            </a:r>
          </a:p>
        </p:txBody>
      </p:sp>
      <p:sp>
        <p:nvSpPr>
          <p:cNvPr id="41" name="Driver TIC 2"/>
          <p:cNvSpPr txBox="1"/>
          <p:nvPr/>
        </p:nvSpPr>
        <p:spPr>
          <a:xfrm>
            <a:off x="4315968" y="4453128"/>
            <a:ext cx="1783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</a:rPr>
              <a:t>63%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</a:rPr>
              <a:t>nas pequenas prestadoras</a:t>
            </a:r>
          </a:p>
        </p:txBody>
      </p:sp>
      <p:sp>
        <p:nvSpPr>
          <p:cNvPr id="42" name="Driver TIC 3"/>
          <p:cNvSpPr txBox="1"/>
          <p:nvPr/>
        </p:nvSpPr>
        <p:spPr>
          <a:xfrm>
            <a:off x="566928" y="5413248"/>
            <a:ext cx="1783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</a:rPr>
              <a:t>80%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</a:rPr>
              <a:t>da população com 5G até 2026</a:t>
            </a:r>
          </a:p>
        </p:txBody>
      </p:sp>
      <p:sp>
        <p:nvSpPr>
          <p:cNvPr id="43" name="Driver TIC 4"/>
          <p:cNvSpPr txBox="1"/>
          <p:nvPr/>
        </p:nvSpPr>
        <p:spPr>
          <a:xfrm>
            <a:off x="2441448" y="5413248"/>
            <a:ext cx="1783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09F41"/>
                </a:solidFill>
              </a:rPr>
              <a:t>5 anos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</a:rPr>
              <a:t>de antidumping em fibra e cabos</a:t>
            </a:r>
          </a:p>
        </p:txBody>
      </p:sp>
      <p:sp>
        <p:nvSpPr>
          <p:cNvPr id="44" name="Driver TIC 5"/>
          <p:cNvSpPr txBox="1"/>
          <p:nvPr/>
        </p:nvSpPr>
        <p:spPr>
          <a:xfrm>
            <a:off x="4315968" y="5413248"/>
            <a:ext cx="1783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595959"/>
                </a:solidFill>
              </a:rPr>
              <a:t>jan/26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</a:rPr>
              <a:t>fim da exclusividade FiberHome</a:t>
            </a:r>
          </a:p>
        </p:txBody>
      </p:sp>
      <p:graphicFrame>
        <p:nvGraphicFramePr>
          <p:cNvPr id="45" name="Grafico margem TIC"/>
          <p:cNvGraphicFramePr>
            <a:graphicFrameLocks noGrp="1"/>
          </p:cNvGraphicFramePr>
          <p:nvPr/>
        </p:nvGraphicFramePr>
        <p:xfrm>
          <a:off x="6428232" y="4407408"/>
          <a:ext cx="3794760" cy="198424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6" name="Destaque margem TIC"/>
          <p:cNvSpPr txBox="1"/>
          <p:nvPr/>
        </p:nvSpPr>
        <p:spPr>
          <a:xfrm>
            <a:off x="10360152" y="4681728"/>
            <a:ext cx="1600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</a:rPr>
              <a:t>−4,6 p.p.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</a:rPr>
              <a:t>de margem bruta de 2023 a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Energia: o problema é solar, não o núcleo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O mercado solar encolheu 29% e a Intelbras recuou por rentabilidade; sem solar, Energia é um satélite de Segurança com margem melhor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I. Análise: a receita seguiu o ciclo solar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Receita líquida de Energia (R$ mi) e indicadores de 2025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II. Concorrência: desafiante no núcleo, irrelevante em solar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Share no Brasil, 2025 (%, MIDI), e principais rivais por submercado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III. Drivers: solar encolhe; obras e carros elétricos sustentam o núcleo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Potência solar adicionada (GW), Fio B cobrado do gerador (%) e frota eletrificada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IV. Sem solar, a margem melhora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Margem bruta de Energia (%), 2020–2025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Fontes: DFPs 2021–25 (NE 31); Planilha 2T26; FRE 2026 (1.4); DCD (SMS/Legrand); InfoLink e IEA-PVPS (módulos); Absolar (via eixos); Lei 14.300/2022; Release 2T26 (p.8). ROIC: cálculo próprio.</a:t>
            </a:r>
          </a:p>
        </p:txBody>
      </p:sp>
      <p:graphicFrame>
        <p:nvGraphicFramePr>
          <p:cNvPr id="17" name="Grafico receita Energia"/>
          <p:cNvGraphicFramePr>
            <a:graphicFrameLocks noGrp="1"/>
          </p:cNvGraphicFramePr>
          <p:nvPr/>
        </p:nvGraphicFramePr>
        <p:xfrm>
          <a:off x="566928" y="1545336"/>
          <a:ext cx="3794760" cy="19842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KPI de receita e"/>
          <p:cNvSpPr txBox="1"/>
          <p:nvPr/>
        </p:nvSpPr>
        <p:spPr>
          <a:xfrm>
            <a:off x="4498848" y="1563624"/>
            <a:ext cx="1600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</a:rPr>
              <a:t>−31%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</a:rPr>
              <a:t>de receita em 2025, puxada por solar</a:t>
            </a:r>
          </a:p>
        </p:txBody>
      </p:sp>
      <p:sp>
        <p:nvSpPr>
          <p:cNvPr id="19" name="KPI de margem br"/>
          <p:cNvSpPr txBox="1"/>
          <p:nvPr/>
        </p:nvSpPr>
        <p:spPr>
          <a:xfrm>
            <a:off x="4498848" y="2221991"/>
            <a:ext cx="1600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</a:rPr>
              <a:t>24,6%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</a:rPr>
              <a:t>de margem bruta</a:t>
            </a:r>
          </a:p>
        </p:txBody>
      </p:sp>
      <p:sp>
        <p:nvSpPr>
          <p:cNvPr id="20" name="KPI ROIC estimad"/>
          <p:cNvSpPr txBox="1"/>
          <p:nvPr/>
        </p:nvSpPr>
        <p:spPr>
          <a:xfrm>
            <a:off x="4498848" y="2880360"/>
            <a:ext cx="1600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595959"/>
                </a:solidFill>
              </a:rPr>
              <a:t>~6%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</a:rPr>
              <a:t>ROIC estimado, contra Selic de 13,75%</a:t>
            </a:r>
          </a:p>
        </p:txBody>
      </p:sp>
      <p:graphicFrame>
        <p:nvGraphicFramePr>
          <p:cNvPr id="21" name="Grafico share Energia"/>
          <p:cNvGraphicFramePr>
            <a:graphicFrameLocks noGrp="1"/>
          </p:cNvGraphicFramePr>
          <p:nvPr/>
        </p:nvGraphicFramePr>
        <p:xfrm>
          <a:off x="6428232" y="1591056"/>
          <a:ext cx="1828800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2" name="Rivais Energia faixa 0"/>
          <p:cNvSpPr/>
          <p:nvPr/>
        </p:nvSpPr>
        <p:spPr>
          <a:xfrm>
            <a:off x="8348472" y="1563624"/>
            <a:ext cx="3611880" cy="35661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 wrap="square"/>
          <a:lstStyle/>
          <a:p>
            <a:pPr algn="ctr"/>
          </a:p>
        </p:txBody>
      </p:sp>
      <p:sp>
        <p:nvSpPr>
          <p:cNvPr id="23" name="Rivais Energia sub 0"/>
          <p:cNvSpPr txBox="1"/>
          <p:nvPr/>
        </p:nvSpPr>
        <p:spPr>
          <a:xfrm>
            <a:off x="8394192" y="1563624"/>
            <a:ext cx="128016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A1A1A"/>
                </a:solidFill>
              </a:rPr>
              <a:t>Nobreaks</a:t>
            </a:r>
          </a:p>
        </p:txBody>
      </p:sp>
      <p:sp>
        <p:nvSpPr>
          <p:cNvPr id="24" name="Rivais Energia rivais 0"/>
          <p:cNvSpPr txBox="1"/>
          <p:nvPr/>
        </p:nvSpPr>
        <p:spPr>
          <a:xfrm>
            <a:off x="9674352" y="1563624"/>
            <a:ext cx="228600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95959"/>
                </a:solidFill>
              </a:rPr>
              <a:t>SMS (Legrand), líder; TS Shara; Schneider</a:t>
            </a:r>
          </a:p>
        </p:txBody>
      </p:sp>
      <p:sp>
        <p:nvSpPr>
          <p:cNvPr id="25" name="Rivais Energia sub 1"/>
          <p:cNvSpPr txBox="1"/>
          <p:nvPr/>
        </p:nvSpPr>
        <p:spPr>
          <a:xfrm>
            <a:off x="8394192" y="1947672"/>
            <a:ext cx="128016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A1A1A"/>
                </a:solidFill>
              </a:rPr>
              <a:t>Fontes e proteção</a:t>
            </a:r>
          </a:p>
        </p:txBody>
      </p:sp>
      <p:sp>
        <p:nvSpPr>
          <p:cNvPr id="26" name="Rivais Energia rivais 1"/>
          <p:cNvSpPr txBox="1"/>
          <p:nvPr/>
        </p:nvSpPr>
        <p:spPr>
          <a:xfrm>
            <a:off x="9674352" y="1947672"/>
            <a:ext cx="228600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95959"/>
                </a:solidFill>
              </a:rPr>
              <a:t>Schneider, WEG</a:t>
            </a:r>
          </a:p>
        </p:txBody>
      </p:sp>
      <p:sp>
        <p:nvSpPr>
          <p:cNvPr id="27" name="Rivais Energia faixa 2"/>
          <p:cNvSpPr/>
          <p:nvPr/>
        </p:nvSpPr>
        <p:spPr>
          <a:xfrm>
            <a:off x="8348472" y="2331720"/>
            <a:ext cx="3611880" cy="35661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 wrap="square"/>
          <a:lstStyle/>
          <a:p>
            <a:pPr algn="ctr"/>
          </a:p>
        </p:txBody>
      </p:sp>
      <p:sp>
        <p:nvSpPr>
          <p:cNvPr id="28" name="Rivais Energia sub 2"/>
          <p:cNvSpPr txBox="1"/>
          <p:nvPr/>
        </p:nvSpPr>
        <p:spPr>
          <a:xfrm>
            <a:off x="8394192" y="2331720"/>
            <a:ext cx="128016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A1A1A"/>
                </a:solidFill>
              </a:rPr>
              <a:t>Carregadores de VE</a:t>
            </a:r>
          </a:p>
        </p:txBody>
      </p:sp>
      <p:sp>
        <p:nvSpPr>
          <p:cNvPr id="29" name="Rivais Energia rivais 2"/>
          <p:cNvSpPr txBox="1"/>
          <p:nvPr/>
        </p:nvSpPr>
        <p:spPr>
          <a:xfrm>
            <a:off x="9674352" y="2331720"/>
            <a:ext cx="228600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95959"/>
                </a:solidFill>
              </a:rPr>
              <a:t>WEG, Schneider</a:t>
            </a:r>
          </a:p>
        </p:txBody>
      </p:sp>
      <p:sp>
        <p:nvSpPr>
          <p:cNvPr id="30" name="Rivais Energia sub 3"/>
          <p:cNvSpPr txBox="1"/>
          <p:nvPr/>
        </p:nvSpPr>
        <p:spPr>
          <a:xfrm>
            <a:off x="8394192" y="2715768"/>
            <a:ext cx="128016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A1A1A"/>
                </a:solidFill>
              </a:rPr>
              <a:t>Módulos solares</a:t>
            </a:r>
          </a:p>
        </p:txBody>
      </p:sp>
      <p:sp>
        <p:nvSpPr>
          <p:cNvPr id="31" name="Rivais Energia rivais 3"/>
          <p:cNvSpPr txBox="1"/>
          <p:nvPr/>
        </p:nvSpPr>
        <p:spPr>
          <a:xfrm>
            <a:off x="9674352" y="2715768"/>
            <a:ext cx="228600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95959"/>
                </a:solidFill>
              </a:rPr>
              <a:t>Jinko, LONGi, JA, Trina (China: 86%)</a:t>
            </a:r>
          </a:p>
        </p:txBody>
      </p:sp>
      <p:sp>
        <p:nvSpPr>
          <p:cNvPr id="32" name="Rivais Energia faixa 4"/>
          <p:cNvSpPr/>
          <p:nvPr/>
        </p:nvSpPr>
        <p:spPr>
          <a:xfrm>
            <a:off x="8348472" y="3099815"/>
            <a:ext cx="3611880" cy="35661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 wrap="square"/>
          <a:lstStyle/>
          <a:p>
            <a:pPr algn="ctr"/>
          </a:p>
        </p:txBody>
      </p:sp>
      <p:sp>
        <p:nvSpPr>
          <p:cNvPr id="33" name="Rivais Energia sub 4"/>
          <p:cNvSpPr txBox="1"/>
          <p:nvPr/>
        </p:nvSpPr>
        <p:spPr>
          <a:xfrm>
            <a:off x="8394192" y="3099815"/>
            <a:ext cx="128016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A1A1A"/>
                </a:solidFill>
              </a:rPr>
              <a:t>Kits solares</a:t>
            </a:r>
          </a:p>
        </p:txBody>
      </p:sp>
      <p:sp>
        <p:nvSpPr>
          <p:cNvPr id="34" name="Rivais Energia rivais 4"/>
          <p:cNvSpPr txBox="1"/>
          <p:nvPr/>
        </p:nvSpPr>
        <p:spPr>
          <a:xfrm>
            <a:off x="9674352" y="3099815"/>
            <a:ext cx="228600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95959"/>
                </a:solidFill>
              </a:rPr>
              <a:t>distribuidores pulverizados</a:t>
            </a:r>
          </a:p>
        </p:txBody>
      </p:sp>
      <p:graphicFrame>
        <p:nvGraphicFramePr>
          <p:cNvPr id="35" name="Grafico solar GW"/>
          <p:cNvGraphicFramePr>
            <a:graphicFrameLocks noGrp="1"/>
          </p:cNvGraphicFramePr>
          <p:nvPr/>
        </p:nvGraphicFramePr>
        <p:xfrm>
          <a:off x="566928" y="4407408"/>
          <a:ext cx="1691640" cy="1984248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36" name="Grafico Fio B"/>
          <p:cNvGraphicFramePr>
            <a:graphicFrameLocks noGrp="1"/>
          </p:cNvGraphicFramePr>
          <p:nvPr/>
        </p:nvGraphicFramePr>
        <p:xfrm>
          <a:off x="2395728" y="4407408"/>
          <a:ext cx="2240280" cy="1984248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7" name="Rotulo GW"/>
          <p:cNvSpPr txBox="1"/>
          <p:nvPr/>
        </p:nvSpPr>
        <p:spPr>
          <a:xfrm>
            <a:off x="566928" y="4389120"/>
            <a:ext cx="1691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1">
                <a:solidFill>
                  <a:srgbClr val="595959"/>
                </a:solidFill>
              </a:rPr>
              <a:t>solar adicionado (GW)</a:t>
            </a:r>
          </a:p>
        </p:txBody>
      </p:sp>
      <p:sp>
        <p:nvSpPr>
          <p:cNvPr id="38" name="Rotulo Fio B"/>
          <p:cNvSpPr txBox="1"/>
          <p:nvPr/>
        </p:nvSpPr>
        <p:spPr>
          <a:xfrm>
            <a:off x="2395728" y="4389120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1">
                <a:solidFill>
                  <a:srgbClr val="595959"/>
                </a:solidFill>
              </a:rPr>
              <a:t>Fio B cobrado (%)</a:t>
            </a:r>
          </a:p>
        </p:txBody>
      </p:sp>
      <p:sp>
        <p:nvSpPr>
          <p:cNvPr id="39" name="Destaque VE"/>
          <p:cNvSpPr txBox="1"/>
          <p:nvPr/>
        </p:nvSpPr>
        <p:spPr>
          <a:xfrm>
            <a:off x="4727448" y="4681728"/>
            <a:ext cx="1371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9F41"/>
                </a:solidFill>
              </a:rPr>
              <a:t>613 mil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</a:rPr>
              <a:t>veículos eletrificados (+64%): demanda por carregadores</a:t>
            </a:r>
          </a:p>
        </p:txBody>
      </p:sp>
      <p:graphicFrame>
        <p:nvGraphicFramePr>
          <p:cNvPr id="40" name="Grafico margem Energia"/>
          <p:cNvGraphicFramePr>
            <a:graphicFrameLocks noGrp="1"/>
          </p:cNvGraphicFramePr>
          <p:nvPr/>
        </p:nvGraphicFramePr>
        <p:xfrm>
          <a:off x="6428232" y="4407408"/>
          <a:ext cx="3794760" cy="1984248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41" name="Destaque 2T26 Energia"/>
          <p:cNvSpPr txBox="1"/>
          <p:nvPr/>
        </p:nvSpPr>
        <p:spPr>
          <a:xfrm>
            <a:off x="10360152" y="4590288"/>
            <a:ext cx="1600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09F41"/>
                </a:solidFill>
              </a:rPr>
              <a:t>+12%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</a:rPr>
              <a:t>de lucro bruto no 2T26, com receita −13,5%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Um_fabricante_de_hardware_movido_por_Segurança</Template>
  <TotalTime>78</TotalTime>
  <Words>1073</Words>
  <Application>Microsoft Office PowerPoint</Application>
  <PresentationFormat>Widescreen</PresentationFormat>
  <Paragraphs>147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Calibri</vt:lpstr>
      <vt:lpstr>1_Office Theme</vt:lpstr>
      <vt:lpstr>Baixo poder de barganha com os fornecedores</vt:lpstr>
      <vt:lpstr>Dahua</vt:lpstr>
      <vt:lpstr>Vantagem em fabricar no Brasil o que vem depois dos chips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Marques</dc:creator>
  <cp:lastModifiedBy>Gabriel Marques</cp:lastModifiedBy>
  <cp:revision>3</cp:revision>
  <dcterms:created xsi:type="dcterms:W3CDTF">2026-10-04T13:03:30Z</dcterms:created>
  <dcterms:modified xsi:type="dcterms:W3CDTF">2026-10-04T16:12:34Z</dcterms:modified>
</cp:coreProperties>
</file>