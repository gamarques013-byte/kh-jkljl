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58672B-220E-4724-AF36-31A7AEC243DC}" v="1" dt="2026-10-04T16:11:59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114" y="14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Marques" userId="1d9ea02e7d99515e" providerId="LiveId" clId="{7D7F225A-F182-4246-BCF5-AE16DC506AED}"/>
    <pc:docChg chg="addSld delSld modSld">
      <pc:chgData name="Gabriel Marques" userId="1d9ea02e7d99515e" providerId="LiveId" clId="{7D7F225A-F182-4246-BCF5-AE16DC506AED}" dt="2026-10-04T16:11:59.972" v="1"/>
      <pc:docMkLst>
        <pc:docMk/>
      </pc:docMkLst>
      <pc:sldChg chg="add">
        <pc:chgData name="Gabriel Marques" userId="1d9ea02e7d99515e" providerId="LiveId" clId="{7D7F225A-F182-4246-BCF5-AE16DC506AED}" dt="2026-10-04T16:11:59.972" v="1"/>
        <pc:sldMkLst>
          <pc:docMk/>
          <pc:sldMk cId="1076457472" sldId="259"/>
        </pc:sldMkLst>
      </pc:sldChg>
      <pc:sldChg chg="add">
        <pc:chgData name="Gabriel Marques" userId="1d9ea02e7d99515e" providerId="LiveId" clId="{7D7F225A-F182-4246-BCF5-AE16DC506AED}" dt="2026-10-04T16:11:59.972" v="1"/>
        <pc:sldMkLst>
          <pc:docMk/>
          <pc:sldMk cId="3949088512" sldId="262"/>
        </pc:sldMkLst>
      </pc:sldChg>
      <pc:sldChg chg="add">
        <pc:chgData name="Gabriel Marques" userId="1d9ea02e7d99515e" providerId="LiveId" clId="{7D7F225A-F182-4246-BCF5-AE16DC506AED}" dt="2026-10-04T16:11:59.972" v="1"/>
        <pc:sldMkLst>
          <pc:docMk/>
          <pc:sldMk cId="3611808962" sldId="278"/>
        </pc:sldMkLst>
      </pc:sldChg>
      <pc:sldChg chg="add">
        <pc:chgData name="Gabriel Marques" userId="1d9ea02e7d99515e" providerId="LiveId" clId="{7D7F225A-F182-4246-BCF5-AE16DC506AED}" dt="2026-10-04T16:11:59.972" v="1"/>
        <pc:sldMkLst>
          <pc:docMk/>
          <pc:sldMk cId="2098809387" sldId="279"/>
        </pc:sldMkLst>
      </pc:sldChg>
      <pc:sldChg chg="del">
        <pc:chgData name="Gabriel Marques" userId="1d9ea02e7d99515e" providerId="LiveId" clId="{7D7F225A-F182-4246-BCF5-AE16DC506AED}" dt="2026-10-04T16:11:58.979" v="0" actId="47"/>
        <pc:sldMkLst>
          <pc:docMk/>
          <pc:sldMk cId="0" sldId="280"/>
        </pc:sldMkLst>
      </pc:sldChg>
      <pc:sldChg chg="del">
        <pc:chgData name="Gabriel Marques" userId="1d9ea02e7d99515e" providerId="LiveId" clId="{7D7F225A-F182-4246-BCF5-AE16DC506AED}" dt="2026-10-04T16:11:58.979" v="0" actId="47"/>
        <pc:sldMkLst>
          <pc:docMk/>
          <pc:sldMk cId="0" sldId="281"/>
        </pc:sldMkLst>
      </pc:sldChg>
      <pc:sldChg chg="del">
        <pc:chgData name="Gabriel Marques" userId="1d9ea02e7d99515e" providerId="LiveId" clId="{7D7F225A-F182-4246-BCF5-AE16DC506AED}" dt="2026-10-04T16:11:58.979" v="0" actId="47"/>
        <pc:sldMkLst>
          <pc:docMk/>
          <pc:sldMk cId="0" sldId="282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1ª fatia</c:v>
                </c:pt>
              </c:strCache>
            </c:strRef>
          </c:tx>
          <c:spPr>
            <a:ln w="12700">
              <a:solidFill>
                <a:srgbClr val="FFFFFF"/>
              </a:solidFill>
            </a:ln>
          </c:spPr>
          <c:invertIfNegative val="0"/>
          <c:dPt>
            <c:idx val="0"/>
            <c:spPr>
              <a:solidFill>
                <a:srgbClr val="595959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595959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595959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595959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800" b="1">
                        <a:solidFill>
                          <a:srgbClr val="FFFFFF"/>
                        </a:solidFill>
                      </a:rPr>
                      <a:t>TSMC (TW) 70%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800" b="1">
                        <a:solidFill>
                          <a:srgbClr val="FFFFFF"/>
                        </a:solidFill>
                      </a:rPr>
                      <a:t>SK hynix (KR)</a:t>
                    </a:r>
                  </a:p>
                  <a:p>
                    <a:r>
                      <a:rPr sz="800" b="0">
                        <a:solidFill>
                          <a:srgbClr val="FFFFFF"/>
                        </a:solidFill>
                      </a:rPr>
                      <a:t>33%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800" b="1">
                        <a:solidFill>
                          <a:srgbClr val="FFFFFF"/>
                        </a:solidFill>
                      </a:rPr>
                      <a:t>WD (EUA)</a:t>
                    </a:r>
                  </a:p>
                  <a:p>
                    <a:r>
                      <a:rPr sz="800" b="0">
                        <a:solidFill>
                          <a:srgbClr val="FFFFFF"/>
                        </a:solidFill>
                      </a:rPr>
                      <a:t>42%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800" b="1">
                        <a:solidFill>
                          <a:srgbClr val="FFFFFF"/>
                        </a:solidFill>
                      </a:rPr>
                      <a:t>Broadcom · Qualcomm · MediaTek · Realtek · Intel</a:t>
                    </a:r>
                  </a:p>
                  <a:p>
                    <a:r>
                      <a:rPr sz="800" b="0">
                        <a:solidFill>
                          <a:srgbClr val="FFFFFF"/>
                        </a:solidFill>
                      </a:rPr>
                      <a:t>82% juntos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800" b="1">
                        <a:solidFill>
                          <a:srgbClr val="FFFFFF"/>
                        </a:solidFill>
                      </a:rPr>
                      <a:t>Hikvision</a:t>
                    </a:r>
                  </a:p>
                  <a:p>
                    <a:r>
                      <a:rPr sz="800" b="0">
                        <a:solidFill>
                          <a:srgbClr val="FFFFFF"/>
                        </a:solidFill>
                      </a:rPr>
                      <a:t>25%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750" b="1">
                        <a:solidFill>
                          <a:srgbClr val="FFFFFF"/>
                        </a:solidFill>
                      </a:rPr>
                      <a:t>Jinko</a:t>
                    </a:r>
                  </a:p>
                  <a:p>
                    <a:r>
                      <a:rPr sz="750" b="0">
                        <a:solidFill>
                          <a:srgbClr val="FFFFFF"/>
                        </a:solidFill>
                      </a:rPr>
                      <a:t>13%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750" b="1">
                        <a:solidFill>
                          <a:srgbClr val="FFFFFF"/>
                        </a:solidFill>
                      </a:rPr>
                      <a:t>CATL</a:t>
                    </a:r>
                  </a:p>
                  <a:p>
                    <a:r>
                      <a:rPr sz="750" b="0">
                        <a:solidFill>
                          <a:srgbClr val="FFFFFF"/>
                        </a:solidFill>
                      </a:rPr>
                      <a:t>27%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Fabricação de chips · 2025
todos os eletrônicos</c:v>
                </c:pt>
                <c:pt idx="1">
                  <c:v>Memória DRAM · 3T25
câmeras, gravadores, roteadores</c:v>
                </c:pt>
                <c:pt idx="2">
                  <c:v>Discos rígidos · 1T25
gravadores de vídeo</c:v>
                </c:pt>
                <c:pt idx="3">
                  <c:v>Chips Wi-Fi · 2024
roteadores (Twibi usa Realtek)</c:v>
                </c:pt>
                <c:pt idx="4">
                  <c:v>Câmeras e gravadores · 2023/22
CFTV (Intelbras compra só da Dahua)</c:v>
                </c:pt>
                <c:pt idx="5">
                  <c:v>Módulos solares · 2024
energia solar</c:v>
                </c:pt>
                <c:pt idx="6">
                  <c:v>Células para armazenamento · 1S26
baterias de lítio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69.9</c:v>
                </c:pt>
                <c:pt idx="1">
                  <c:v>33.2</c:v>
                </c:pt>
                <c:pt idx="2">
                  <c:v>42</c:v>
                </c:pt>
                <c:pt idx="3">
                  <c:v>82</c:v>
                </c:pt>
                <c:pt idx="4">
                  <c:v>25</c:v>
                </c:pt>
                <c:pt idx="5">
                  <c:v>12.8</c:v>
                </c:pt>
                <c:pt idx="6">
                  <c:v>27.1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2ª fatia</c:v>
                </c:pt>
              </c:strCache>
            </c:strRef>
          </c:tx>
          <c:spPr>
            <a:ln w="12700">
              <a:solidFill>
                <a:srgbClr val="FFFFFF"/>
              </a:solidFill>
            </a:ln>
          </c:spPr>
          <c:invertIfNegative val="0"/>
          <c:dPt>
            <c:idx val="0"/>
            <c:spPr>
              <a:solidFill>
                <a:srgbClr val="8C8C8C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8C8C8C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8C8C8C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E3E3E3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dLbls>
            <c:dLbl>
              <c:idx val="1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800" b="1">
                        <a:solidFill>
                          <a:srgbClr val="FFFFFF"/>
                        </a:solidFill>
                      </a:rPr>
                      <a:t>Samsung (KR)</a:t>
                    </a:r>
                  </a:p>
                  <a:p>
                    <a:r>
                      <a:rPr sz="800" b="0">
                        <a:solidFill>
                          <a:srgbClr val="FFFFFF"/>
                        </a:solidFill>
                      </a:rPr>
                      <a:t>33%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800" b="1">
                        <a:solidFill>
                          <a:srgbClr val="FFFFFF"/>
                        </a:solidFill>
                      </a:rPr>
                      <a:t>Seagate (EUA)</a:t>
                    </a:r>
                  </a:p>
                  <a:p>
                    <a:r>
                      <a:rPr sz="800" b="0">
                        <a:solidFill>
                          <a:srgbClr val="FFFFFF"/>
                        </a:solidFill>
                      </a:rPr>
                      <a:t>40%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800" b="1">
                        <a:solidFill>
                          <a:srgbClr val="595959"/>
                        </a:solidFill>
                      </a:rPr>
                      <a:t>outros 18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800" b="1">
                        <a:solidFill>
                          <a:srgbClr val="FFFFFF"/>
                        </a:solidFill>
                      </a:rPr>
                      <a:t>Dahua</a:t>
                    </a:r>
                  </a:p>
                  <a:p>
                    <a:r>
                      <a:rPr sz="800" b="0">
                        <a:solidFill>
                          <a:srgbClr val="FFFFFF"/>
                        </a:solidFill>
                      </a:rPr>
                      <a:t>12%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750" b="1">
                        <a:solidFill>
                          <a:srgbClr val="FFFFFF"/>
                        </a:solidFill>
                      </a:rPr>
                      <a:t>LONGi</a:t>
                    </a:r>
                  </a:p>
                  <a:p>
                    <a:r>
                      <a:rPr sz="750" b="0">
                        <a:solidFill>
                          <a:srgbClr val="FFFFFF"/>
                        </a:solidFill>
                      </a:rPr>
                      <a:t>11%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750" b="1">
                        <a:solidFill>
                          <a:srgbClr val="FFFFFF"/>
                        </a:solidFill>
                      </a:rPr>
                      <a:t>EVE</a:t>
                    </a:r>
                  </a:p>
                  <a:p>
                    <a:r>
                      <a:rPr sz="750" b="0">
                        <a:solidFill>
                          <a:srgbClr val="FFFFFF"/>
                        </a:solidFill>
                      </a:rPr>
                      <a:t>10%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Fabricação de chips · 2025
todos os eletrônicos</c:v>
                </c:pt>
                <c:pt idx="1">
                  <c:v>Memória DRAM · 3T25
câmeras, gravadores, roteadores</c:v>
                </c:pt>
                <c:pt idx="2">
                  <c:v>Discos rígidos · 1T25
gravadores de vídeo</c:v>
                </c:pt>
                <c:pt idx="3">
                  <c:v>Chips Wi-Fi · 2024
roteadores (Twibi usa Realtek)</c:v>
                </c:pt>
                <c:pt idx="4">
                  <c:v>Câmeras e gravadores · 2023/22
CFTV (Intelbras compra só da Dahua)</c:v>
                </c:pt>
                <c:pt idx="5">
                  <c:v>Módulos solares · 2024
energia solar</c:v>
                </c:pt>
                <c:pt idx="6">
                  <c:v>Células para armazenamento · 1S26
baterias de lítio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7.2</c:v>
                </c:pt>
                <c:pt idx="1">
                  <c:v>32.6</c:v>
                </c:pt>
                <c:pt idx="2">
                  <c:v>40</c:v>
                </c:pt>
                <c:pt idx="3">
                  <c:v>18</c:v>
                </c:pt>
                <c:pt idx="4">
                  <c:v>12</c:v>
                </c:pt>
                <c:pt idx="5">
                  <c:v>10.7</c:v>
                </c:pt>
                <c:pt idx="6">
                  <c:v>10.4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3ª fatia</c:v>
                </c:pt>
              </c:strCache>
            </c:strRef>
          </c:tx>
          <c:spPr>
            <a:ln w="12700">
              <a:solidFill>
                <a:srgbClr val="FFFFFF"/>
              </a:solidFill>
            </a:ln>
          </c:spPr>
          <c:invertIfNegative val="0"/>
          <c:dPt>
            <c:idx val="0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595959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595959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3E3E3"/>
              </a:solidFill>
              <a:ln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dLbls>
            <c:dLbl>
              <c:idx val="1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800" b="1">
                        <a:solidFill>
                          <a:srgbClr val="FFFFFF"/>
                        </a:solidFill>
                      </a:rPr>
                      <a:t>Micron (EUA)</a:t>
                    </a:r>
                  </a:p>
                  <a:p>
                    <a:r>
                      <a:rPr sz="800" b="0">
                        <a:solidFill>
                          <a:srgbClr val="FFFFFF"/>
                        </a:solidFill>
                      </a:rPr>
                      <a:t>26%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800" b="1">
                        <a:solidFill>
                          <a:srgbClr val="FFFFFF"/>
                        </a:solidFill>
                      </a:rPr>
                      <a:t>Toshiba (JP)</a:t>
                    </a:r>
                  </a:p>
                  <a:p>
                    <a:r>
                      <a:rPr sz="800" b="0">
                        <a:solidFill>
                          <a:srgbClr val="FFFFFF"/>
                        </a:solidFill>
                      </a:rPr>
                      <a:t>18%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800" b="1">
                        <a:solidFill>
                          <a:srgbClr val="595959"/>
                        </a:solidFill>
                      </a:rPr>
                      <a:t>Axis, Motorola, Hanwha, Uniview e outros</a:t>
                    </a:r>
                  </a:p>
                  <a:p>
                    <a:r>
                      <a:rPr sz="800" b="0">
                        <a:solidFill>
                          <a:srgbClr val="595959"/>
                        </a:solidFill>
                      </a:rPr>
                      <a:t>63%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750" b="1">
                        <a:solidFill>
                          <a:srgbClr val="FFFFFF"/>
                        </a:solidFill>
                      </a:rPr>
                      <a:t>JA</a:t>
                    </a:r>
                  </a:p>
                  <a:p>
                    <a:r>
                      <a:rPr sz="750" b="0">
                        <a:solidFill>
                          <a:srgbClr val="FFFFFF"/>
                        </a:solidFill>
                      </a:rPr>
                      <a:t>11%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750" b="1">
                        <a:solidFill>
                          <a:srgbClr val="FFFFFF"/>
                        </a:solidFill>
                      </a:rPr>
                      <a:t>Hithium</a:t>
                    </a:r>
                  </a:p>
                  <a:p>
                    <a:r>
                      <a:rPr sz="750" b="0">
                        <a:solidFill>
                          <a:srgbClr val="FFFFFF"/>
                        </a:solidFill>
                      </a:rPr>
                      <a:t>10%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Fabricação de chips · 2025
todos os eletrônicos</c:v>
                </c:pt>
                <c:pt idx="1">
                  <c:v>Memória DRAM · 3T25
câmeras, gravadores, roteadores</c:v>
                </c:pt>
                <c:pt idx="2">
                  <c:v>Discos rígidos · 1T25
gravadores de vídeo</c:v>
                </c:pt>
                <c:pt idx="3">
                  <c:v>Chips Wi-Fi · 2024
roteadores (Twibi usa Realtek)</c:v>
                </c:pt>
                <c:pt idx="4">
                  <c:v>Câmeras e gravadores · 2023/22
CFTV (Intelbras compra só da Dahua)</c:v>
                </c:pt>
                <c:pt idx="5">
                  <c:v>Módulos solares · 2024
energia solar</c:v>
                </c:pt>
                <c:pt idx="6">
                  <c:v>Células para armazenamento · 1S26
baterias de lítio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5.3</c:v>
                </c:pt>
                <c:pt idx="1">
                  <c:v>25.7</c:v>
                </c:pt>
                <c:pt idx="2">
                  <c:v>18</c:v>
                </c:pt>
                <c:pt idx="4">
                  <c:v>63</c:v>
                </c:pt>
                <c:pt idx="5">
                  <c:v>10.6</c:v>
                </c:pt>
                <c:pt idx="6">
                  <c:v>10.0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4ª fatia</c:v>
                </c:pt>
              </c:strCache>
            </c:strRef>
          </c:tx>
          <c:spPr>
            <a:ln w="12700">
              <a:solidFill>
                <a:srgbClr val="FFFFFF"/>
              </a:solidFill>
            </a:ln>
          </c:spPr>
          <c:invertIfNegative val="0"/>
          <c:dPt>
            <c:idx val="0"/>
            <c:spPr>
              <a:solidFill>
                <a:srgbClr val="E3E3E3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3E3E3"/>
              </a:solidFill>
              <a:ln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800" b="1">
                        <a:solidFill>
                          <a:srgbClr val="595959"/>
                        </a:solidFill>
                      </a:rPr>
                      <a:t>outros 18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750" b="1">
                        <a:solidFill>
                          <a:srgbClr val="FFFFFF"/>
                        </a:solidFill>
                      </a:rPr>
                      <a:t>Trina</a:t>
                    </a:r>
                  </a:p>
                  <a:p>
                    <a:r>
                      <a:rPr sz="750" b="0">
                        <a:solidFill>
                          <a:srgbClr val="FFFFFF"/>
                        </a:solidFill>
                      </a:rPr>
                      <a:t>11%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750" b="1">
                        <a:solidFill>
                          <a:srgbClr val="FFFFFF"/>
                        </a:solidFill>
                      </a:rPr>
                      <a:t>BYD</a:t>
                    </a:r>
                  </a:p>
                  <a:p>
                    <a:r>
                      <a:rPr sz="750" b="0">
                        <a:solidFill>
                          <a:srgbClr val="FFFFFF"/>
                        </a:solidFill>
                      </a:rPr>
                      <a:t>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Fabricação de chips · 2025
todos os eletrônicos</c:v>
                </c:pt>
                <c:pt idx="1">
                  <c:v>Memória DRAM · 3T25
câmeras, gravadores, roteadores</c:v>
                </c:pt>
                <c:pt idx="2">
                  <c:v>Discos rígidos · 1T25
gravadores de vídeo</c:v>
                </c:pt>
                <c:pt idx="3">
                  <c:v>Chips Wi-Fi · 2024
roteadores (Twibi usa Realtek)</c:v>
                </c:pt>
                <c:pt idx="4">
                  <c:v>Câmeras e gravadores · 2023/22
CFTV (Intelbras compra só da Dahua)</c:v>
                </c:pt>
                <c:pt idx="5">
                  <c:v>Módulos solares · 2024
energia solar</c:v>
                </c:pt>
                <c:pt idx="6">
                  <c:v>Células para armazenamento · 1S26
baterias de lítio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17.6</c:v>
                </c:pt>
                <c:pt idx="1">
                  <c:v>8.5</c:v>
                </c:pt>
                <c:pt idx="5">
                  <c:v>10.6</c:v>
                </c:pt>
                <c:pt idx="6">
                  <c:v>7.7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5ª fatia</c:v>
                </c:pt>
              </c:strCache>
            </c:strRef>
          </c:tx>
          <c:spPr>
            <a:ln w="12700">
              <a:solidFill>
                <a:srgbClr val="FFFFFF"/>
              </a:solidFill>
            </a:ln>
          </c:spPr>
          <c:invertIfNegative val="0"/>
          <c:dPt>
            <c:idx val="5"/>
            <c:spPr>
              <a:solidFill>
                <a:srgbClr val="404040"/>
              </a:solidFill>
              <a:ln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04040"/>
              </a:solidFill>
              <a:ln>
                <a:solidFill>
                  <a:srgbClr val="FFFFFF"/>
                </a:solidFill>
              </a:ln>
            </c:spPr>
          </c:dPt>
          <c:dLbls>
            <c:dLbl>
              <c:idx val="5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750" b="1">
                        <a:solidFill>
                          <a:srgbClr val="FFFFFF"/>
                        </a:solidFill>
                      </a:rPr>
                      <a:t>outras chinesas</a:t>
                    </a:r>
                  </a:p>
                  <a:p>
                    <a:r>
                      <a:rPr sz="750" b="0">
                        <a:solidFill>
                          <a:srgbClr val="FFFFFF"/>
                        </a:solidFill>
                      </a:rPr>
                      <a:t>40%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750" b="1">
                        <a:solidFill>
                          <a:srgbClr val="FFFFFF"/>
                        </a:solidFill>
                      </a:rPr>
                      <a:t>outras chinesas</a:t>
                    </a:r>
                  </a:p>
                  <a:p>
                    <a:r>
                      <a:rPr sz="750" b="0">
                        <a:solidFill>
                          <a:srgbClr val="FFFFFF"/>
                        </a:solidFill>
                      </a:rPr>
                      <a:t>34%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Fabricação de chips · 2025
todos os eletrônicos</c:v>
                </c:pt>
                <c:pt idx="1">
                  <c:v>Memória DRAM · 3T25
câmeras, gravadores, roteadores</c:v>
                </c:pt>
                <c:pt idx="2">
                  <c:v>Discos rígidos · 1T25
gravadores de vídeo</c:v>
                </c:pt>
                <c:pt idx="3">
                  <c:v>Chips Wi-Fi · 2024
roteadores (Twibi usa Realtek)</c:v>
                </c:pt>
                <c:pt idx="4">
                  <c:v>Câmeras e gravadores · 2023/22
CFTV (Intelbras compra só da Dahua)</c:v>
                </c:pt>
                <c:pt idx="5">
                  <c:v>Módulos solares · 2024
energia solar</c:v>
                </c:pt>
                <c:pt idx="6">
                  <c:v>Células para armazenamento · 1S26
baterias de lítio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5">
                  <c:v>41.7</c:v>
                </c:pt>
                <c:pt idx="6">
                  <c:v>33.6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6ª fatia</c:v>
                </c:pt>
              </c:strCache>
            </c:strRef>
          </c:tx>
          <c:spPr>
            <a:ln w="12700">
              <a:solidFill>
                <a:srgbClr val="FFFFFF"/>
              </a:solidFill>
            </a:ln>
          </c:spPr>
          <c:invertIfNegative val="0"/>
          <c:dPt>
            <c:idx val="5"/>
            <c:spPr>
              <a:solidFill>
                <a:srgbClr val="E3E3E3"/>
              </a:solidFill>
              <a:ln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595959"/>
              </a:solidFill>
              <a:ln>
                <a:solidFill>
                  <a:srgbClr val="FFFFFF"/>
                </a:solidFill>
              </a:ln>
            </c:spPr>
          </c:dPt>
          <c:dLbls>
            <c:dLbl>
              <c:idx val="5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750" b="1">
                        <a:solidFill>
                          <a:srgbClr val="595959"/>
                        </a:solidFill>
                      </a:rPr>
                      <a:t>resto</a:t>
                    </a:r>
                  </a:p>
                  <a:p>
                    <a:r>
                      <a:rPr sz="750" b="0">
                        <a:solidFill>
                          <a:srgbClr val="595959"/>
                        </a:solidFill>
                      </a:rPr>
                      <a:t>14%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Fabricação de chips · 2025
todos os eletrônicos</c:v>
                </c:pt>
                <c:pt idx="1">
                  <c:v>Memória DRAM · 3T25
câmeras, gravadores, roteadores</c:v>
                </c:pt>
                <c:pt idx="2">
                  <c:v>Discos rígidos · 1T25
gravadores de vídeo</c:v>
                </c:pt>
                <c:pt idx="3">
                  <c:v>Chips Wi-Fi · 2024
roteadores (Twibi usa Realtek)</c:v>
                </c:pt>
                <c:pt idx="4">
                  <c:v>Câmeras e gravadores · 2023/22
CFTV (Intelbras compra só da Dahua)</c:v>
                </c:pt>
                <c:pt idx="5">
                  <c:v>Módulos solares · 2024
energia solar</c:v>
                </c:pt>
                <c:pt idx="6">
                  <c:v>Células para armazenamento · 1S26
baterias de lítio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5">
                  <c:v>13.6</c:v>
                </c:pt>
                <c:pt idx="6">
                  <c:v>4.0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7ª fatia</c:v>
                </c:pt>
              </c:strCache>
            </c:strRef>
          </c:tx>
          <c:spPr>
            <a:ln w="12700">
              <a:solidFill>
                <a:srgbClr val="FFFFFF"/>
              </a:solidFill>
            </a:ln>
          </c:spPr>
          <c:invertIfNegative val="0"/>
          <c:dPt>
            <c:idx val="6"/>
            <c:spPr>
              <a:solidFill>
                <a:srgbClr val="E3E3E3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Sheet1!$A$2:$A$8</c:f>
              <c:strCache>
                <c:ptCount val="7"/>
                <c:pt idx="0">
                  <c:v>Fabricação de chips · 2025
todos os eletrônicos</c:v>
                </c:pt>
                <c:pt idx="1">
                  <c:v>Memória DRAM · 3T25
câmeras, gravadores, roteadores</c:v>
                </c:pt>
                <c:pt idx="2">
                  <c:v>Discos rígidos · 1T25
gravadores de vídeo</c:v>
                </c:pt>
                <c:pt idx="3">
                  <c:v>Chips Wi-Fi · 2024
roteadores (Twibi usa Realtek)</c:v>
                </c:pt>
                <c:pt idx="4">
                  <c:v>Câmeras e gravadores · 2023/22
CFTV (Intelbras compra só da Dahua)</c:v>
                </c:pt>
                <c:pt idx="5">
                  <c:v>Módulos solares · 2024
energia solar</c:v>
                </c:pt>
                <c:pt idx="6">
                  <c:v>Células para armazenamento · 1S26
baterias de lítio</c:v>
                </c:pt>
              </c:strCache>
            </c:strRef>
          </c:cat>
          <c:val>
            <c:numRef>
              <c:f>Sheet1!$H$2:$H$8</c:f>
              <c:numCache>
                <c:formatCode>General</c:formatCode>
                <c:ptCount val="7"/>
                <c:pt idx="6">
                  <c:v>7.2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28835-0813-47C1-8179-7B192D0834C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38EA8-CAB9-4394-A5EA-6EE33784B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0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Gráfico nativo do PowerPoint (barras empilhadas 100%). Cada série é uma posição na fila (1ª fatia, 2ª fatia...), porque as empresas mudam de insumo para insumo; a cor e o rótulo de cada fatia foram definidos ponto a ponto. Para editar os números: botão direito no gráfico &gt; Editar dados.</a:t>
            </a:r>
          </a:p>
          <a:p/>
          <a:p>
            <a:r>
              <a:t>Fatias sem rótulo: chips = Samsung (KR) 7% e SMIC (CN) 5%; DRAM = outros 8%; armazenamento = LG e Samsung SDI (KR) 4% e outros 7%.</a:t>
            </a:r>
          </a:p>
          <a:p/>
          <a:p>
            <a:r>
              <a:t>Fontes: TrendForce (fundição 2025: TSMC 69,9%, Samsung 7,2%; SMIC 5,3% no 4T25; DRAM 3T25); TrendFocus via Blocks &amp; Files (HD 1T25, unidades); Counterpoint (Wi-Fi 2024, receita; não abre por empresa); Omdia (Hikvision 25% em 2023; Dahua 12,2% em 2022); InfoLink (módulos 2024: Jinko ~93 GW, LONGi ~78, JA ~77, Trina ~77) ÷ produção mundial de 728 GW (IEA-PVPS, China 86,4%); SNE Research via CnEVPost (armazenamento 1S26: CATL 27,1%, EVE 10,4%, Hithium 10,0%, BYD 7,7%).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bras | 4 quadran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566928" y="1016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3" name="Subtítulo"/>
          <p:cNvSpPr>
            <a:spLocks noGrp="1"/>
          </p:cNvSpPr>
          <p:nvPr>
            <p:ph type="body" sz="quarter" idx="1"/>
          </p:nvPr>
        </p:nvSpPr>
        <p:spPr>
          <a:xfrm>
            <a:off x="571500" y="502920"/>
            <a:ext cx="113888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abeçalho L1"/>
          <p:cNvSpPr>
            <a:spLocks noGrp="1"/>
          </p:cNvSpPr>
          <p:nvPr>
            <p:ph type="body" sz="quarter" idx="10"/>
          </p:nvPr>
        </p:nvSpPr>
        <p:spPr>
          <a:xfrm>
            <a:off x="571500" y="868680"/>
            <a:ext cx="5527548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Linha L1"/>
          <p:cNvCxnSpPr/>
          <p:nvPr userDrawn="1"/>
        </p:nvCxnSpPr>
        <p:spPr>
          <a:xfrm>
            <a:off x="566928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6" name="Descrição L1"/>
          <p:cNvSpPr>
            <a:spLocks noGrp="1"/>
          </p:cNvSpPr>
          <p:nvPr>
            <p:ph type="body" sz="quarter" idx="14"/>
          </p:nvPr>
        </p:nvSpPr>
        <p:spPr>
          <a:xfrm>
            <a:off x="571500" y="1298448"/>
            <a:ext cx="552754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údo L1"/>
          <p:cNvSpPr>
            <a:spLocks noGrp="1"/>
          </p:cNvSpPr>
          <p:nvPr>
            <p:ph sz="quarter" idx="30"/>
          </p:nvPr>
        </p:nvSpPr>
        <p:spPr>
          <a:xfrm>
            <a:off x="571500" y="1545336"/>
            <a:ext cx="552450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abeçalho R1"/>
          <p:cNvSpPr>
            <a:spLocks noGrp="1"/>
          </p:cNvSpPr>
          <p:nvPr>
            <p:ph type="body" sz="quarter" idx="11"/>
          </p:nvPr>
        </p:nvSpPr>
        <p:spPr>
          <a:xfrm>
            <a:off x="6428232" y="8686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Linha R1"/>
          <p:cNvCxnSpPr/>
          <p:nvPr userDrawn="1"/>
        </p:nvCxnSpPr>
        <p:spPr>
          <a:xfrm>
            <a:off x="6428232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0" name="Descrição R1"/>
          <p:cNvSpPr>
            <a:spLocks noGrp="1"/>
          </p:cNvSpPr>
          <p:nvPr>
            <p:ph type="body" sz="quarter" idx="15"/>
          </p:nvPr>
        </p:nvSpPr>
        <p:spPr>
          <a:xfrm>
            <a:off x="6428232" y="12984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údo R1"/>
          <p:cNvSpPr>
            <a:spLocks noGrp="1"/>
          </p:cNvSpPr>
          <p:nvPr>
            <p:ph sz="quarter" idx="31"/>
          </p:nvPr>
        </p:nvSpPr>
        <p:spPr>
          <a:xfrm>
            <a:off x="6428232" y="15453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abeçalho L2"/>
          <p:cNvSpPr>
            <a:spLocks noGrp="1"/>
          </p:cNvSpPr>
          <p:nvPr>
            <p:ph type="body" sz="quarter" idx="12"/>
          </p:nvPr>
        </p:nvSpPr>
        <p:spPr>
          <a:xfrm>
            <a:off x="566928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Linha L2"/>
          <p:cNvCxnSpPr/>
          <p:nvPr userDrawn="1"/>
        </p:nvCxnSpPr>
        <p:spPr>
          <a:xfrm>
            <a:off x="566928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4" name="Descrição L2"/>
          <p:cNvSpPr>
            <a:spLocks noGrp="1"/>
          </p:cNvSpPr>
          <p:nvPr>
            <p:ph type="body" sz="quarter" idx="16"/>
          </p:nvPr>
        </p:nvSpPr>
        <p:spPr>
          <a:xfrm>
            <a:off x="566928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údo L2"/>
          <p:cNvSpPr>
            <a:spLocks noGrp="1"/>
          </p:cNvSpPr>
          <p:nvPr>
            <p:ph sz="quarter" idx="32"/>
          </p:nvPr>
        </p:nvSpPr>
        <p:spPr>
          <a:xfrm>
            <a:off x="566928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abeçalho R2"/>
          <p:cNvSpPr>
            <a:spLocks noGrp="1"/>
          </p:cNvSpPr>
          <p:nvPr>
            <p:ph type="body" sz="quarter" idx="13"/>
          </p:nvPr>
        </p:nvSpPr>
        <p:spPr>
          <a:xfrm>
            <a:off x="6428232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Linha R2"/>
          <p:cNvCxnSpPr/>
          <p:nvPr userDrawn="1"/>
        </p:nvCxnSpPr>
        <p:spPr>
          <a:xfrm>
            <a:off x="6428232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8" name="Descrição R2"/>
          <p:cNvSpPr>
            <a:spLocks noGrp="1"/>
          </p:cNvSpPr>
          <p:nvPr>
            <p:ph type="body" sz="quarter" idx="17"/>
          </p:nvPr>
        </p:nvSpPr>
        <p:spPr>
          <a:xfrm>
            <a:off x="6428232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údo R2"/>
          <p:cNvSpPr>
            <a:spLocks noGrp="1"/>
          </p:cNvSpPr>
          <p:nvPr>
            <p:ph sz="quarter" idx="33"/>
          </p:nvPr>
        </p:nvSpPr>
        <p:spPr>
          <a:xfrm>
            <a:off x="6428232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Fontes"/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8643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>
            <a:extLst>
              <a:ext uri="{FF2B5EF4-FFF2-40B4-BE49-F238E27FC236}">
                <a16:creationId xmlns:a16="http://schemas.microsoft.com/office/drawing/2014/main" id="{08A86C5D-B5F1-A201-A803-FC2B06BC1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016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4" name="Subtítulo">
            <a:extLst>
              <a:ext uri="{FF2B5EF4-FFF2-40B4-BE49-F238E27FC236}">
                <a16:creationId xmlns:a16="http://schemas.microsoft.com/office/drawing/2014/main" id="{BE673581-4171-765D-CF42-A03B1335C0E5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571500" y="502920"/>
            <a:ext cx="113888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abeçalho L1">
            <a:extLst>
              <a:ext uri="{FF2B5EF4-FFF2-40B4-BE49-F238E27FC236}">
                <a16:creationId xmlns:a16="http://schemas.microsoft.com/office/drawing/2014/main" id="{2CF8C16A-D844-F260-4E96-4A7088F8DC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868680"/>
            <a:ext cx="5527548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Linha L1">
            <a:extLst>
              <a:ext uri="{FF2B5EF4-FFF2-40B4-BE49-F238E27FC236}">
                <a16:creationId xmlns:a16="http://schemas.microsoft.com/office/drawing/2014/main" id="{6B2BDA49-2D8C-8E92-98C5-4AF723A23CF4}"/>
              </a:ext>
            </a:extLst>
          </p:cNvPr>
          <p:cNvCxnSpPr/>
          <p:nvPr userDrawn="1"/>
        </p:nvCxnSpPr>
        <p:spPr>
          <a:xfrm>
            <a:off x="566928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7" name="Descrição L1">
            <a:extLst>
              <a:ext uri="{FF2B5EF4-FFF2-40B4-BE49-F238E27FC236}">
                <a16:creationId xmlns:a16="http://schemas.microsoft.com/office/drawing/2014/main" id="{DBA64B7F-D991-F80B-632A-A6F008F382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1500" y="1298448"/>
            <a:ext cx="552754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abeçalho R1">
            <a:extLst>
              <a:ext uri="{FF2B5EF4-FFF2-40B4-BE49-F238E27FC236}">
                <a16:creationId xmlns:a16="http://schemas.microsoft.com/office/drawing/2014/main" id="{63E473F4-0BD6-077F-9932-938AFBF13B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28232" y="8686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Linha R1">
            <a:extLst>
              <a:ext uri="{FF2B5EF4-FFF2-40B4-BE49-F238E27FC236}">
                <a16:creationId xmlns:a16="http://schemas.microsoft.com/office/drawing/2014/main" id="{C5D0D066-5B11-0856-4073-CD7F2F043381}"/>
              </a:ext>
            </a:extLst>
          </p:cNvPr>
          <p:cNvCxnSpPr/>
          <p:nvPr userDrawn="1"/>
        </p:nvCxnSpPr>
        <p:spPr>
          <a:xfrm>
            <a:off x="6428232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1" name="Descrição R1">
            <a:extLst>
              <a:ext uri="{FF2B5EF4-FFF2-40B4-BE49-F238E27FC236}">
                <a16:creationId xmlns:a16="http://schemas.microsoft.com/office/drawing/2014/main" id="{5656BE59-0847-8CB6-5BA7-687DF8FE15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28232" y="12984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údo R1">
            <a:extLst>
              <a:ext uri="{FF2B5EF4-FFF2-40B4-BE49-F238E27FC236}">
                <a16:creationId xmlns:a16="http://schemas.microsoft.com/office/drawing/2014/main" id="{275C8C39-0130-44B2-B522-AB8447F3755A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428232" y="15453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abeçalho R2">
            <a:extLst>
              <a:ext uri="{FF2B5EF4-FFF2-40B4-BE49-F238E27FC236}">
                <a16:creationId xmlns:a16="http://schemas.microsoft.com/office/drawing/2014/main" id="{DFA8ED1C-70D9-555F-0951-A17E938658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8232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8" name="Linha R2">
            <a:extLst>
              <a:ext uri="{FF2B5EF4-FFF2-40B4-BE49-F238E27FC236}">
                <a16:creationId xmlns:a16="http://schemas.microsoft.com/office/drawing/2014/main" id="{23E53C43-0A06-3841-43EA-8CBBC05E38E4}"/>
              </a:ext>
            </a:extLst>
          </p:cNvPr>
          <p:cNvCxnSpPr/>
          <p:nvPr userDrawn="1"/>
        </p:nvCxnSpPr>
        <p:spPr>
          <a:xfrm>
            <a:off x="6428232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9" name="Descrição R2">
            <a:extLst>
              <a:ext uri="{FF2B5EF4-FFF2-40B4-BE49-F238E27FC236}">
                <a16:creationId xmlns:a16="http://schemas.microsoft.com/office/drawing/2014/main" id="{17B70730-704D-1A43-8FBA-BD7FE18348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28232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údo R2">
            <a:extLst>
              <a:ext uri="{FF2B5EF4-FFF2-40B4-BE49-F238E27FC236}">
                <a16:creationId xmlns:a16="http://schemas.microsoft.com/office/drawing/2014/main" id="{9E63C622-421B-6FEC-8987-607A26EFBA3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428232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Fontes">
            <a:extLst>
              <a:ext uri="{FF2B5EF4-FFF2-40B4-BE49-F238E27FC236}">
                <a16:creationId xmlns:a16="http://schemas.microsoft.com/office/drawing/2014/main" id="{F667FDC0-0538-49ED-735B-F8FA537E3E1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543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lbras | 4 quadran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566928" y="1016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3" name="Subtítulo"/>
          <p:cNvSpPr>
            <a:spLocks noGrp="1"/>
          </p:cNvSpPr>
          <p:nvPr>
            <p:ph type="body" sz="quarter" idx="1"/>
          </p:nvPr>
        </p:nvSpPr>
        <p:spPr>
          <a:xfrm>
            <a:off x="571500" y="502920"/>
            <a:ext cx="113888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abeçalho L1"/>
          <p:cNvSpPr>
            <a:spLocks noGrp="1"/>
          </p:cNvSpPr>
          <p:nvPr>
            <p:ph type="body" sz="quarter" idx="10"/>
          </p:nvPr>
        </p:nvSpPr>
        <p:spPr>
          <a:xfrm>
            <a:off x="571500" y="868680"/>
            <a:ext cx="5527548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Linha L1"/>
          <p:cNvCxnSpPr/>
          <p:nvPr userDrawn="1"/>
        </p:nvCxnSpPr>
        <p:spPr>
          <a:xfrm>
            <a:off x="566928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6" name="Descrição L1"/>
          <p:cNvSpPr>
            <a:spLocks noGrp="1"/>
          </p:cNvSpPr>
          <p:nvPr>
            <p:ph type="body" sz="quarter" idx="14"/>
          </p:nvPr>
        </p:nvSpPr>
        <p:spPr>
          <a:xfrm>
            <a:off x="571500" y="1298448"/>
            <a:ext cx="552754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údo L1"/>
          <p:cNvSpPr>
            <a:spLocks noGrp="1"/>
          </p:cNvSpPr>
          <p:nvPr>
            <p:ph sz="quarter" idx="30"/>
          </p:nvPr>
        </p:nvSpPr>
        <p:spPr>
          <a:xfrm>
            <a:off x="571500" y="1545336"/>
            <a:ext cx="552450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abeçalho R1"/>
          <p:cNvSpPr>
            <a:spLocks noGrp="1"/>
          </p:cNvSpPr>
          <p:nvPr>
            <p:ph type="body" sz="quarter" idx="11"/>
          </p:nvPr>
        </p:nvSpPr>
        <p:spPr>
          <a:xfrm>
            <a:off x="6428232" y="8686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Linha R1"/>
          <p:cNvCxnSpPr/>
          <p:nvPr userDrawn="1"/>
        </p:nvCxnSpPr>
        <p:spPr>
          <a:xfrm>
            <a:off x="6428232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0" name="Descrição R1"/>
          <p:cNvSpPr>
            <a:spLocks noGrp="1"/>
          </p:cNvSpPr>
          <p:nvPr>
            <p:ph type="body" sz="quarter" idx="15"/>
          </p:nvPr>
        </p:nvSpPr>
        <p:spPr>
          <a:xfrm>
            <a:off x="6428232" y="12984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údo R1"/>
          <p:cNvSpPr>
            <a:spLocks noGrp="1"/>
          </p:cNvSpPr>
          <p:nvPr>
            <p:ph sz="quarter" idx="31"/>
          </p:nvPr>
        </p:nvSpPr>
        <p:spPr>
          <a:xfrm>
            <a:off x="6428232" y="15453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Linha L2"/>
          <p:cNvCxnSpPr>
            <a:cxnSpLocks/>
          </p:cNvCxnSpPr>
          <p:nvPr userDrawn="1"/>
        </p:nvCxnSpPr>
        <p:spPr>
          <a:xfrm>
            <a:off x="566928" y="4119372"/>
            <a:ext cx="11396472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4" name="Descrição L2"/>
          <p:cNvSpPr>
            <a:spLocks noGrp="1"/>
          </p:cNvSpPr>
          <p:nvPr>
            <p:ph type="body" sz="quarter" idx="16"/>
          </p:nvPr>
        </p:nvSpPr>
        <p:spPr>
          <a:xfrm>
            <a:off x="571500" y="4168392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abeçalho R2"/>
          <p:cNvSpPr>
            <a:spLocks noGrp="1"/>
          </p:cNvSpPr>
          <p:nvPr>
            <p:ph type="body" sz="quarter" idx="13"/>
          </p:nvPr>
        </p:nvSpPr>
        <p:spPr>
          <a:xfrm>
            <a:off x="571500" y="377656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Linha R2"/>
          <p:cNvCxnSpPr/>
          <p:nvPr userDrawn="1"/>
        </p:nvCxnSpPr>
        <p:spPr>
          <a:xfrm>
            <a:off x="6428232" y="7564229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8" name="Descrição R2"/>
          <p:cNvSpPr>
            <a:spLocks noGrp="1"/>
          </p:cNvSpPr>
          <p:nvPr>
            <p:ph type="body" sz="quarter" idx="17"/>
          </p:nvPr>
        </p:nvSpPr>
        <p:spPr>
          <a:xfrm>
            <a:off x="6428232" y="7600805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údo R2"/>
          <p:cNvSpPr>
            <a:spLocks noGrp="1"/>
          </p:cNvSpPr>
          <p:nvPr>
            <p:ph sz="quarter" idx="33"/>
          </p:nvPr>
        </p:nvSpPr>
        <p:spPr>
          <a:xfrm>
            <a:off x="571500" y="4421704"/>
            <a:ext cx="374904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Fontes"/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údo R2">
            <a:extLst>
              <a:ext uri="{FF2B5EF4-FFF2-40B4-BE49-F238E27FC236}">
                <a16:creationId xmlns:a16="http://schemas.microsoft.com/office/drawing/2014/main" id="{C20F45A2-CC70-86CA-D254-970E22AF0660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383678" y="4418693"/>
            <a:ext cx="374904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údo R2">
            <a:extLst>
              <a:ext uri="{FF2B5EF4-FFF2-40B4-BE49-F238E27FC236}">
                <a16:creationId xmlns:a16="http://schemas.microsoft.com/office/drawing/2014/main" id="{626C2B49-63EF-6B3E-66FE-3A88E630EBA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199737" y="4418693"/>
            <a:ext cx="374904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1480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bras | 2 blo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566928" y="9144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3" name="Subtítulo"/>
          <p:cNvSpPr>
            <a:spLocks noGrp="1"/>
          </p:cNvSpPr>
          <p:nvPr>
            <p:ph type="body" sz="quarter" idx="1"/>
          </p:nvPr>
        </p:nvSpPr>
        <p:spPr>
          <a:xfrm>
            <a:off x="566928" y="502920"/>
            <a:ext cx="11393424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abeçalho F1"/>
          <p:cNvSpPr>
            <a:spLocks noGrp="1"/>
          </p:cNvSpPr>
          <p:nvPr>
            <p:ph type="body" sz="quarter" idx="10"/>
          </p:nvPr>
        </p:nvSpPr>
        <p:spPr>
          <a:xfrm>
            <a:off x="566928" y="868680"/>
            <a:ext cx="11393424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Linha F1"/>
          <p:cNvCxnSpPr/>
          <p:nvPr userDrawn="1"/>
        </p:nvCxnSpPr>
        <p:spPr>
          <a:xfrm>
            <a:off x="566928" y="1261872"/>
            <a:ext cx="11393424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6" name="Descrição F1"/>
          <p:cNvSpPr>
            <a:spLocks noGrp="1"/>
          </p:cNvSpPr>
          <p:nvPr>
            <p:ph type="body" sz="quarter" idx="14" hasCustomPrompt="1"/>
          </p:nvPr>
        </p:nvSpPr>
        <p:spPr>
          <a:xfrm>
            <a:off x="566928" y="1298448"/>
            <a:ext cx="1139342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r>
              <a:rPr lang="pt-BR" dirty="0"/>
              <a:t>Descrição do gráfico (métrica, período, unidade)</a:t>
            </a:r>
          </a:p>
        </p:txBody>
      </p:sp>
      <p:sp>
        <p:nvSpPr>
          <p:cNvPr id="7" name="Conteúdo F1"/>
          <p:cNvSpPr>
            <a:spLocks noGrp="1"/>
          </p:cNvSpPr>
          <p:nvPr>
            <p:ph sz="quarter" idx="30"/>
          </p:nvPr>
        </p:nvSpPr>
        <p:spPr>
          <a:xfrm>
            <a:off x="566928" y="1545336"/>
            <a:ext cx="11393424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abeçalho F2"/>
          <p:cNvSpPr>
            <a:spLocks noGrp="1"/>
          </p:cNvSpPr>
          <p:nvPr>
            <p:ph type="body" sz="quarter" idx="12"/>
          </p:nvPr>
        </p:nvSpPr>
        <p:spPr>
          <a:xfrm>
            <a:off x="566928" y="3726180"/>
            <a:ext cx="11393424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Linha F2"/>
          <p:cNvCxnSpPr/>
          <p:nvPr userDrawn="1"/>
        </p:nvCxnSpPr>
        <p:spPr>
          <a:xfrm>
            <a:off x="566928" y="4119372"/>
            <a:ext cx="11393424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0" name="Descrição F2"/>
          <p:cNvSpPr>
            <a:spLocks noGrp="1"/>
          </p:cNvSpPr>
          <p:nvPr>
            <p:ph type="body" sz="quarter" idx="16" hasCustomPrompt="1"/>
          </p:nvPr>
        </p:nvSpPr>
        <p:spPr>
          <a:xfrm>
            <a:off x="566928" y="4155948"/>
            <a:ext cx="1139342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r>
              <a:rPr lang="pt-BR" dirty="0"/>
              <a:t>Descrição do gráfico (métrica, período, unidade)</a:t>
            </a:r>
          </a:p>
        </p:txBody>
      </p:sp>
      <p:sp>
        <p:nvSpPr>
          <p:cNvPr id="11" name="Conteúdo F2"/>
          <p:cNvSpPr>
            <a:spLocks noGrp="1"/>
          </p:cNvSpPr>
          <p:nvPr>
            <p:ph sz="quarter" idx="32"/>
          </p:nvPr>
        </p:nvSpPr>
        <p:spPr>
          <a:xfrm>
            <a:off x="566928" y="4402836"/>
            <a:ext cx="11393424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ontes"/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361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telbras | 4 quadran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566928" y="1016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3" name="Subtítulo"/>
          <p:cNvSpPr>
            <a:spLocks noGrp="1"/>
          </p:cNvSpPr>
          <p:nvPr>
            <p:ph type="body" sz="quarter" idx="1"/>
          </p:nvPr>
        </p:nvSpPr>
        <p:spPr>
          <a:xfrm>
            <a:off x="571500" y="502920"/>
            <a:ext cx="113888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abeçalho L1"/>
          <p:cNvSpPr>
            <a:spLocks noGrp="1"/>
          </p:cNvSpPr>
          <p:nvPr>
            <p:ph type="body" sz="quarter" idx="10"/>
          </p:nvPr>
        </p:nvSpPr>
        <p:spPr>
          <a:xfrm>
            <a:off x="571500" y="868680"/>
            <a:ext cx="5527548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Linha L1"/>
          <p:cNvCxnSpPr/>
          <p:nvPr userDrawn="1"/>
        </p:nvCxnSpPr>
        <p:spPr>
          <a:xfrm>
            <a:off x="566928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6" name="Descrição L1"/>
          <p:cNvSpPr>
            <a:spLocks noGrp="1"/>
          </p:cNvSpPr>
          <p:nvPr>
            <p:ph type="body" sz="quarter" idx="14"/>
          </p:nvPr>
        </p:nvSpPr>
        <p:spPr>
          <a:xfrm>
            <a:off x="571500" y="1298448"/>
            <a:ext cx="552754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údo L1"/>
          <p:cNvSpPr>
            <a:spLocks noGrp="1"/>
          </p:cNvSpPr>
          <p:nvPr>
            <p:ph sz="quarter" idx="30"/>
          </p:nvPr>
        </p:nvSpPr>
        <p:spPr>
          <a:xfrm>
            <a:off x="571500" y="1545336"/>
            <a:ext cx="552450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abeçalho R1"/>
          <p:cNvSpPr>
            <a:spLocks noGrp="1"/>
          </p:cNvSpPr>
          <p:nvPr>
            <p:ph type="body" sz="quarter" idx="11"/>
          </p:nvPr>
        </p:nvSpPr>
        <p:spPr>
          <a:xfrm>
            <a:off x="6428232" y="8686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Linha R1"/>
          <p:cNvCxnSpPr/>
          <p:nvPr userDrawn="1"/>
        </p:nvCxnSpPr>
        <p:spPr>
          <a:xfrm>
            <a:off x="6428232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0" name="Descrição R1"/>
          <p:cNvSpPr>
            <a:spLocks noGrp="1"/>
          </p:cNvSpPr>
          <p:nvPr>
            <p:ph type="body" sz="quarter" idx="15"/>
          </p:nvPr>
        </p:nvSpPr>
        <p:spPr>
          <a:xfrm>
            <a:off x="6428232" y="12984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údo R1"/>
          <p:cNvSpPr>
            <a:spLocks noGrp="1"/>
          </p:cNvSpPr>
          <p:nvPr>
            <p:ph sz="quarter" idx="31"/>
          </p:nvPr>
        </p:nvSpPr>
        <p:spPr>
          <a:xfrm>
            <a:off x="6428232" y="15453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abeçalho L2"/>
          <p:cNvSpPr>
            <a:spLocks noGrp="1"/>
          </p:cNvSpPr>
          <p:nvPr>
            <p:ph type="body" sz="quarter" idx="12"/>
          </p:nvPr>
        </p:nvSpPr>
        <p:spPr>
          <a:xfrm>
            <a:off x="566928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Linha L2"/>
          <p:cNvCxnSpPr/>
          <p:nvPr userDrawn="1"/>
        </p:nvCxnSpPr>
        <p:spPr>
          <a:xfrm>
            <a:off x="566928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4" name="Descrição L2"/>
          <p:cNvSpPr>
            <a:spLocks noGrp="1"/>
          </p:cNvSpPr>
          <p:nvPr>
            <p:ph type="body" sz="quarter" idx="16"/>
          </p:nvPr>
        </p:nvSpPr>
        <p:spPr>
          <a:xfrm>
            <a:off x="566928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údo L2"/>
          <p:cNvSpPr>
            <a:spLocks noGrp="1"/>
          </p:cNvSpPr>
          <p:nvPr>
            <p:ph sz="quarter" idx="32"/>
          </p:nvPr>
        </p:nvSpPr>
        <p:spPr>
          <a:xfrm>
            <a:off x="566928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abeçalho R2"/>
          <p:cNvSpPr>
            <a:spLocks noGrp="1"/>
          </p:cNvSpPr>
          <p:nvPr>
            <p:ph type="body" sz="quarter" idx="13"/>
          </p:nvPr>
        </p:nvSpPr>
        <p:spPr>
          <a:xfrm>
            <a:off x="6428232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Linha R2"/>
          <p:cNvCxnSpPr/>
          <p:nvPr userDrawn="1"/>
        </p:nvCxnSpPr>
        <p:spPr>
          <a:xfrm>
            <a:off x="6428232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8" name="Descrição R2"/>
          <p:cNvSpPr>
            <a:spLocks noGrp="1"/>
          </p:cNvSpPr>
          <p:nvPr>
            <p:ph type="body" sz="quarter" idx="17"/>
          </p:nvPr>
        </p:nvSpPr>
        <p:spPr>
          <a:xfrm>
            <a:off x="6428232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údo R2"/>
          <p:cNvSpPr>
            <a:spLocks noGrp="1"/>
          </p:cNvSpPr>
          <p:nvPr>
            <p:ph sz="quarter" idx="33"/>
          </p:nvPr>
        </p:nvSpPr>
        <p:spPr>
          <a:xfrm>
            <a:off x="6428232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Fontes"/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1626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FEAF86BB-950D-C028-EE25-EAF6B2091A5D}"/>
              </a:ext>
            </a:extLst>
          </p:cNvPr>
          <p:cNvSpPr/>
          <p:nvPr userDrawn="1"/>
        </p:nvSpPr>
        <p:spPr>
          <a:xfrm rot="10800000" flipH="1">
            <a:off x="0" y="2431"/>
            <a:ext cx="346464" cy="6858000"/>
          </a:xfrm>
          <a:prstGeom prst="rect">
            <a:avLst/>
          </a:prstGeom>
          <a:gradFill>
            <a:gsLst>
              <a:gs pos="19000">
                <a:srgbClr val="035144"/>
              </a:gs>
              <a:gs pos="95000">
                <a:srgbClr val="00D054"/>
              </a:gs>
              <a:gs pos="76000">
                <a:srgbClr val="009F4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Connector 43">
            <a:extLst>
              <a:ext uri="{FF2B5EF4-FFF2-40B4-BE49-F238E27FC236}">
                <a16:creationId xmlns:a16="http://schemas.microsoft.com/office/drawing/2014/main" id="{0C1F9473-D70C-D468-BBA5-C37F5F700542}"/>
              </a:ext>
            </a:extLst>
          </p:cNvPr>
          <p:cNvCxnSpPr>
            <a:cxnSpLocks/>
          </p:cNvCxnSpPr>
          <p:nvPr userDrawn="1"/>
        </p:nvCxnSpPr>
        <p:spPr>
          <a:xfrm>
            <a:off x="566928" y="6515100"/>
            <a:ext cx="11393424" cy="0"/>
          </a:xfrm>
          <a:prstGeom prst="line">
            <a:avLst/>
          </a:prstGeom>
          <a:ln w="12700">
            <a:solidFill>
              <a:srgbClr val="76B900"/>
            </a:solidFill>
          </a:ln>
        </p:spPr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9DE3E556-E840-AC70-8618-F06E954425C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17266" y1="39861" x2="17266" y2="39861"/>
                        <a14:foregroundMark x1="17266" y1="45000" x2="17266" y2="45000"/>
                        <a14:foregroundMark x1="20391" y1="55694" x2="20391" y2="55694"/>
                        <a14:foregroundMark x1="30391" y1="49306" x2="30391" y2="49306"/>
                        <a14:foregroundMark x1="41250" y1="51111" x2="41250" y2="51111"/>
                        <a14:foregroundMark x1="46797" y1="53194" x2="46797" y2="53194"/>
                        <a14:foregroundMark x1="62266" y1="53194" x2="62266" y2="53194"/>
                        <a14:foregroundMark x1="72734" y1="58056" x2="72734" y2="58056"/>
                        <a14:foregroundMark x1="81719" y1="59167" x2="81719" y2="59167"/>
                        <a14:backgroundMark x1="38984" y1="50278" x2="38984" y2="50278"/>
                      </a14:backgroundRemoval>
                    </a14:imgEffect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894" y="-373028"/>
            <a:ext cx="1919326" cy="107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6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0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3" pos="216">
          <p15:clr>
            <a:srgbClr val="F26B43"/>
          </p15:clr>
        </p15:guide>
        <p15:guide id="4" pos="7536">
          <p15:clr>
            <a:srgbClr val="F26B43"/>
          </p15:clr>
        </p15:guide>
        <p15:guide id="5" orient="horz" pos="480">
          <p15:clr>
            <a:srgbClr val="F26B43"/>
          </p15:clr>
        </p15:guide>
        <p15:guide id="6" orient="horz" pos="4104">
          <p15:clr>
            <a:srgbClr val="F26B43"/>
          </p15:clr>
        </p15:guide>
        <p15:guide id="8" pos="3840">
          <p15:clr>
            <a:srgbClr val="F26B43"/>
          </p15:clr>
        </p15:guide>
        <p15:guide id="9" pos="360">
          <p15:clr>
            <a:srgbClr val="F26B43"/>
          </p15:clr>
        </p15:guide>
        <p15:guide id="10" pos="4032">
          <p15:clr>
            <a:srgbClr val="F26B43"/>
          </p15:clr>
        </p15:guide>
        <p15:guide id="11" orient="horz" pos="223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I. Chips vêm de Taiwan, Coreia e EUA; produtos prontos e energia, da China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Participação dos maiores fabricantes no mundo (%) e o produto Intelbras que depende do insumo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Fontes: TrendForce (fundição 2025; DRAM 3T25); TrendFocus (HD 1T25); Counterpoint (Wi-Fi 2024); Omdia (câmeras: Hikvision 2023, Dahua 2022); InfoLink e IEA-PVPS (módulos 2024); SNE Research (armazenamento 1S26); FRE 2026.</a:t>
            </a:r>
          </a:p>
        </p:txBody>
      </p:sp>
      <p:graphicFrame>
        <p:nvGraphicFramePr>
          <p:cNvPr id="13" name="Grafico concentracao fornecedores"/>
          <p:cNvGraphicFramePr>
            <a:graphicFrameLocks noGrp="1"/>
          </p:cNvGraphicFramePr>
          <p:nvPr/>
        </p:nvGraphicFramePr>
        <p:xfrm>
          <a:off x="566928" y="1545336"/>
          <a:ext cx="5532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Legenda China"/>
          <p:cNvSpPr/>
          <p:nvPr/>
        </p:nvSpPr>
        <p:spPr>
          <a:xfrm>
            <a:off x="2304288" y="5788151"/>
            <a:ext cx="128016" cy="1280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genda China texto"/>
          <p:cNvSpPr txBox="1"/>
          <p:nvPr/>
        </p:nvSpPr>
        <p:spPr>
          <a:xfrm>
            <a:off x="2487168" y="5751575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empresa chinesa</a:t>
            </a:r>
          </a:p>
        </p:txBody>
      </p:sp>
      <p:sp>
        <p:nvSpPr>
          <p:cNvPr id="16" name="Legenda outras"/>
          <p:cNvSpPr/>
          <p:nvPr/>
        </p:nvSpPr>
        <p:spPr>
          <a:xfrm>
            <a:off x="3721608" y="5788151"/>
            <a:ext cx="128016" cy="128016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genda outras texto"/>
          <p:cNvSpPr txBox="1"/>
          <p:nvPr/>
        </p:nvSpPr>
        <p:spPr>
          <a:xfrm>
            <a:off x="3904487" y="5751575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Taiwan, Coreia, EUA, Japão</a:t>
            </a:r>
          </a:p>
        </p:txBody>
      </p:sp>
      <p:sp>
        <p:nvSpPr>
          <p:cNvPr id="18" name="Citacao chipsets"/>
          <p:cNvSpPr txBox="1"/>
          <p:nvPr/>
        </p:nvSpPr>
        <p:spPr>
          <a:xfrm>
            <a:off x="566928" y="6025895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6B6B6B"/>
                </a:solidFill>
              </a:rPr>
              <a:t>“Existem poucas opções para escolha ou mudança dos chipsets”: trocar de fornecedor pode suspender parte da produção (FRE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Um_fabricante_de_hardware_movido_por_Segurança</Template>
  <TotalTime>78</TotalTime>
  <Words>1073</Words>
  <Application>Microsoft Office PowerPoint</Application>
  <PresentationFormat>Widescreen</PresentationFormat>
  <Paragraphs>147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1_Office Theme</vt:lpstr>
      <vt:lpstr>Baixo poder de barganha com os fornecedores</vt:lpstr>
      <vt:lpstr>Dahua</vt:lpstr>
      <vt:lpstr>Vantagem em fabricar no Brasil o que vem depois dos chips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Marques</dc:creator>
  <cp:lastModifiedBy>Gabriel Marques</cp:lastModifiedBy>
  <cp:revision>3</cp:revision>
  <dcterms:created xsi:type="dcterms:W3CDTF">2026-10-04T13:03:30Z</dcterms:created>
  <dcterms:modified xsi:type="dcterms:W3CDTF">2026-10-04T16:12:34Z</dcterms:modified>
</cp:coreProperties>
</file>