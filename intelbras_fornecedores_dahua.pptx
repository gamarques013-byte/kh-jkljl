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0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4"/>
  </p:notesMasterIdLst>
  <p:sldIdLst>
    <p:sldId id="280" r:id="rId9"/>
    <p:sldId id="28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 showGuides="1">
      <p:cViewPr varScale="1">
        <p:scale>
          <a:sx n="73" d="100"/>
          <a:sy n="73" d="100"/>
        </p:scale>
        <p:origin x="139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dPt>
            <c:idx val="0"/>
            <c:spPr>
              <a:solidFill>
                <a:srgbClr val="1A1A1A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1A1A1A"/>
              </a:solidFill>
            </c:spPr>
          </c:dPt>
          <c:dPt>
            <c:idx val="3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A1A1A"/>
                        </a:solidFill>
                      </a:rPr>
                      <a:t>85%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A1A1A"/>
                        </a:solidFill>
                      </a:rPr>
                      <a:t>~80%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A1A1A"/>
                        </a:solidFill>
                      </a:rPr>
                      <a:t>92%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A1A1A"/>
                        </a:solidFill>
                      </a:rPr>
                      <a:t>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Custo comprado de terceiros</c:v>
                </c:pt>
                <c:pt idx="1">
                  <c:v>Custo atrelado ao dólar</c:v>
                </c:pt>
                <c:pt idx="2">
                  <c:v>Contas a pagar no exterior</c:v>
                </c:pt>
                <c:pt idx="3">
                  <c:v>Contas a receber em moeda estrangeira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85.5</c:v>
                </c:pt>
                <c:pt idx="1">
                  <c:v>80.0</c:v>
                </c:pt>
                <c:pt idx="2">
                  <c:v>91.5</c:v>
                </c:pt>
                <c:pt idx="3">
                  <c:v>4.1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Dias de estoque</c:v>
                </c:pt>
              </c:strCache>
            </c:strRef>
          </c:tx>
          <c:spPr>
            <a:solidFill>
              <a:srgbClr val="009F41"/>
            </a:solidFill>
          </c:spP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217</c:v>
                </c:pt>
                <c:pt idx="1">
                  <c:v>161</c:v>
                </c:pt>
                <c:pt idx="2">
                  <c:v>151</c:v>
                </c:pt>
                <c:pt idx="3">
                  <c:v>196</c:v>
                </c:pt>
                <c:pt idx="4">
                  <c:v>173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Prazo pago aos fornecedores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146</c:v>
                </c:pt>
                <c:pt idx="1">
                  <c:v>121</c:v>
                </c:pt>
                <c:pt idx="2">
                  <c:v>113</c:v>
                </c:pt>
                <c:pt idx="3">
                  <c:v>135</c:v>
                </c:pt>
                <c:pt idx="4">
                  <c:v>123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 b="1">
                  <a:solidFill>
                    <a:srgbClr val="59595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11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/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10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dos gastos com fornecedores</c:v>
                </c:pt>
              </c:strCache>
            </c:strRef>
          </c:tx>
          <c:spPr>
            <a:ln w="31750">
              <a:solidFill>
                <a:srgbClr val="009F41"/>
              </a:solidFill>
              <a:prstDash val="dash"/>
            </a:ln>
          </c:spPr>
          <c:marker>
            <c:symbol val="circle"/>
            <c:size val="7"/>
            <c:spPr>
              <a:solidFill>
                <a:srgbClr val="009F41"/>
              </a:solidFill>
              <a:ln>
                <a:solidFill>
                  <a:srgbClr val="009F41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9F41"/>
                        </a:solidFill>
                      </a:rPr>
                      <a:t>28,6%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09F41"/>
                        </a:solidFill>
                      </a:rPr>
                      <a:t>36%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28.6</c:v>
                </c:pt>
                <c:pt idx="4">
                  <c:v>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do custo dos produtos vendidos</c:v>
                </c:pt>
              </c:strCache>
            </c:strRef>
          </c:tx>
          <c:spPr>
            <a:ln w="31750">
              <a:solidFill>
                <a:srgbClr val="1A1A1A"/>
              </a:solidFill>
            </a:ln>
          </c:spPr>
          <c:marker>
            <c:symbol val="circle"/>
            <c:size val="7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24%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22%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19%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36%</a:t>
                    </a:r>
                  </a:p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(estoque)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23%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23.6</c:v>
                </c:pt>
                <c:pt idx="1">
                  <c:v>21.9</c:v>
                </c:pt>
                <c:pt idx="2">
                  <c:v>19.3</c:v>
                </c:pt>
                <c:pt idx="3">
                  <c:v>36.0</c:v>
                </c:pt>
                <c:pt idx="4">
                  <c:v>23.4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4.0"/>
          <c:min val="1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span"/>
    <c:showDLblsOverMax val="0"/>
  </c:chart>
  <c:spPr>
    <a:noFill/>
    <a:ln>
      <a:noFill/>
    </a:ln>
  </c:spPr>
  <c:txPr>
    <a:bodyPr/>
    <a:lstStyle/>
    <a:p>
      <a:pPr>
        <a:defRPr sz="10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dPt>
            <c:idx val="0"/>
            <c:spPr>
              <a:solidFill>
                <a:srgbClr val="009F41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009F41"/>
                        </a:solidFill>
                      </a:rPr>
                      <a:t>23%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A1A1A"/>
                        </a:solidFill>
                      </a:rPr>
                      <a:t>~3%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Dahua no custo da Intelbras</c:v>
                </c:pt>
                <c:pt idx="1">
                  <c:v>Intelbras na receita da Dahua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23.4</c:v>
                </c:pt>
                <c:pt idx="1">
                  <c:v>2.9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Saldo a pagar à Dahua</c:v>
                </c:pt>
              </c:strCache>
            </c:strRef>
          </c:tx>
          <c:dPt>
            <c:idx val="0"/>
            <c:spPr>
              <a:solidFill>
                <a:srgbClr val="1A1A1A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1A1A1A"/>
              </a:solidFill>
            </c:spPr>
          </c:dPt>
          <c:dPt>
            <c:idx val="3"/>
            <c:spPr>
              <a:solidFill>
                <a:srgbClr val="1A1A1A"/>
              </a:solidFill>
            </c:spPr>
          </c:dPt>
          <c:dPt>
            <c:idx val="4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A1A1A"/>
                        </a:solidFill>
                      </a:rPr>
                      <a:t>263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A1A1A"/>
                        </a:solidFill>
                      </a:rPr>
                      <a:t>350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A1A1A"/>
                        </a:solidFill>
                      </a:rPr>
                      <a:t>225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A1A1A"/>
                        </a:solidFill>
                      </a:rPr>
                      <a:t>506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A1A1A"/>
                        </a:solidFill>
                      </a:rPr>
                      <a:t>449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
30%</c:v>
                </c:pt>
                <c:pt idx="1">
                  <c:v>2022
35%</c:v>
                </c:pt>
                <c:pt idx="2">
                  <c:v>2023
26%</c:v>
                </c:pt>
                <c:pt idx="3">
                  <c:v>2024
41%</c:v>
                </c:pt>
                <c:pt idx="4">
                  <c:v>2025
43%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263</c:v>
                </c:pt>
                <c:pt idx="1">
                  <c:v>350</c:v>
                </c:pt>
                <c:pt idx="2">
                  <c:v>225</c:v>
                </c:pt>
                <c:pt idx="3">
                  <c:v>506</c:v>
                </c:pt>
                <c:pt idx="4">
                  <c:v>449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128835-0813-47C1-8179-7B192D0834C9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38EA8-CAB9-4394-A5EA-6EE33784B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00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min) — Slide 1: Fornecedores</a:t>
            </a:r>
          </a:p>
          <a:p/>
          <a:p>
            <a:r>
              <a:t>ABERTURA (10s)</a:t>
            </a:r>
          </a:p>
          <a:p>
            <a:r>
              <a:t>"A Intelbras tem pouco poder de barganha com quem vende para ela. Dois números explicam por quê."</a:t>
            </a:r>
          </a:p>
          <a:p/>
          <a:p>
            <a:r>
              <a:t>I. (aponte para as barras pretas, depois para a verde, 25s)</a:t>
            </a:r>
          </a:p>
          <a:p>
            <a:r>
              <a:t>"85% do custo é comprado de terceiros, cerca de 80% segue o dólar e 92% do que ela deve a fornecedores está no exterior. Do lado de quem paga a Intelbras, só 4% está em moeda estrangeira. Resultado: cada 10% de alta no dólar soma uns R$249 milhões ao custo do ano."</a:t>
            </a:r>
          </a:p>
          <a:p/>
          <a:p>
            <a:r>
              <a:t>II. (aponte para o vão entre as barras, 20s)</a:t>
            </a:r>
          </a:p>
          <a:p>
            <a:r>
              <a:t>"Sem barganha, a defesa é estoque. Ela carrega uns 170 dias de estoque, mas os fornecedores só dão uns 120 de prazo. Esse vão é dinheiro dela: perto de R$0,4 bilhão em 2025."</a:t>
            </a:r>
          </a:p>
          <a:p/>
          <a:p>
            <a:r>
              <a:t>PONTE (5s)</a:t>
            </a:r>
          </a:p>
          <a:p>
            <a:r>
              <a:t>"E um terço de tudo que ela gasta com fornecedores vai para um único parceiro: a Dahua."</a:t>
            </a:r>
          </a:p>
          <a:p/>
          <a:p>
            <a:r>
              <a:t>DETALHES (se perguntarem)</a:t>
            </a:r>
          </a:p>
          <a:p>
            <a:r>
              <a:t>• Origem por país não é divulgada. Usamos moeda (DFP NE 25) e a lista do FRE: fábricas na China, Coreia e Vietnã; parceiros chineses (Dahua, H3C, FiberHome); 7% do saldo a pagar em yuan.</a:t>
            </a:r>
          </a:p>
          <a:p>
            <a:r>
              <a:t>• Chips: a própria empresa diz que há poucas opções de chipset e que trocar pode suspender parte da produção (FRE 1.4.e).</a:t>
            </a:r>
          </a:p>
          <a:p>
            <a:r>
              <a:t>• Estoque alto de propósito em 2021 (~180 dias) e no 2S24, para mitigar risco de suprimento (teleconferências 4T21 e 4T24). Custo: ciclo de caixa de 145 dias e provisão de obsolescência de R$73 mi em 2025.</a:t>
            </a:r>
          </a:p>
          <a:p>
            <a:r>
              <a:t>• Hedge: contratos a termo (NDF) cobrem ~50% dos fornecedores em dólar no balanço, com prazo de ~90 dias. Protegem o caixa de curto prazo, não a margem.</a:t>
            </a:r>
          </a:p>
          <a:p>
            <a:r>
              <a:t>• O efeito do câmbio na margem e a estrutura do mercado de chips ficam na análise setorial (eixo de preços). A montagem local e os incentivos ficam na seção de produção.</a:t>
            </a:r>
          </a:p>
          <a:p/>
          <a:p>
            <a:r>
              <a:t>FONTES E CONTAS</a:t>
            </a:r>
          </a:p>
          <a:p>
            <a:r>
              <a:t>I: DFP NE 27 (matéria-prima e revenda R$2.666,9 mi ÷ CPV R$3.117,8 mi = 85,5%); FRE 2.2 (~80% do CPV em moeda estrangeira); DFP NE 14/25 (fornecedores + risco sacado no exterior R$972,6 mi ÷ R$1.062,6 mi = 91,5%; recebíveis em US$ e COP R$47,5 mi ÷ R$1.169,5 mi = 4,1%). Sensibilidade: 80% × R$3.117,8 mi × 10% = R$249 mi.</a:t>
            </a:r>
          </a:p>
          <a:p>
            <a:r>
              <a:t>II: dias de estoque = estoque ÷ CPV × 365 = 217/161/151/196/173; prazo = (fornecedores + risco sacado) ÷ CPV × 365 = 146/121/113/135/123; vão de 2025 = 50 dias × R$3.117,8 mi ÷ 365 ≈ R$427 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(≈1 min 15s) — Slide 2: Dahua</a:t>
            </a:r>
          </a:p>
          <a:p/>
          <a:p>
            <a:r>
              <a:t>ABERTURA (5s)</a:t>
            </a:r>
          </a:p>
          <a:p>
            <a:r>
              <a:t>"A Dahua é o fornecedor que mais pesa. Em cima, a relação; embaixo, por que ela virou risco."</a:t>
            </a:r>
          </a:p>
          <a:p/>
          <a:p>
            <a:r>
              <a:t>I. (aponte para a linha tracejada, 15s)</a:t>
            </a:r>
          </a:p>
          <a:p>
            <a:r>
              <a:t>"A Dahua já leva 36% dos gastos com fornecedores, contra 28,6% em 2021. No custo dos produtos vendidos fica entre 20% e 25%; o pico de 2024 foi estoque antecipado."</a:t>
            </a:r>
          </a:p>
          <a:p/>
          <a:p>
            <a:r>
              <a:t>II. (aponte para as setas, depois para 23% vs ~3%, 20s)</a:t>
            </a:r>
          </a:p>
          <a:p>
            <a:r>
              <a:t>"A troca: a Dahua entrega a tecnologia das câmeras e prazo de pagamento; a Intelbras entrega o canal. Mas a Dahua é 23% do custo da Intelbras, e a Intelbras é só ~3% da receita da Dahua. Quem precisa mais é a Intelbras."</a:t>
            </a:r>
          </a:p>
          <a:p/>
          <a:p>
            <a:r>
              <a:t>III. (aponte para a barra verde, 15s)</a:t>
            </a:r>
          </a:p>
          <a:p>
            <a:r>
              <a:t>"A Dahua também financia: 43% de tudo que a Intelbras deve a fornecedores, com 225 dias de prazo. Se esse prazo cair para 90 dias, a Intelbras precisa de R$269 milhões a mais de capital de giro."</a:t>
            </a:r>
          </a:p>
          <a:p/>
          <a:p>
            <a:r>
              <a:t>IV. (percorra a linha da esquerda para a direita, 15s)</a:t>
            </a:r>
          </a:p>
          <a:p>
            <a:r>
              <a:t>"E a Dahua está saindo: chegou a 10% do capital, vendeu parte em 2023 e, em 2025, aprovou vender o resto. O acordo vence em dezembro de 2028. Em jogo: cerca de metade do custo de Segurança."</a:t>
            </a:r>
          </a:p>
          <a:p/>
          <a:p>
            <a:r>
              <a:t>DETALHES (se perguntarem)</a:t>
            </a:r>
          </a:p>
          <a:p>
            <a:r>
              <a:t>• Por que Dahua e não fazer sozinha? P&amp;D da Dahua ~US$590 mi/ano (2024) vs ~US$32 mi da Intelbras inteira (2025): ~18x. Trocar exige redesenvolver produto, firmware e app (FRE: a troca pode suspender produção). Concorrentes ficam na análise setorial.</a:t>
            </a:r>
          </a:p>
          <a:p>
            <a:r>
              <a:t>• Proteção contratual: a prioridade cai se a Dahua cobrar ≥5% acima de produto equivalente ou falhar em tecnologia ou qualidade. Se a Dahua rescindir, a Intelbras pode comprar por mais 3 anos (FRE 11.3).</a:t>
            </a:r>
          </a:p>
          <a:p>
            <a:r>
              <a:t>• Exclusividade da marca Dahua no Brasil durante o acordo + 6 meses. A Dahua tem subsidiária própria no Brasil (região independente desde ~2021) e marca de consumo (Imou) vendida via cross-border.</a:t>
            </a:r>
          </a:p>
          <a:p>
            <a:r>
              <a:t>• Precedente: a FiberHome (GPON) encerrou a exclusividade com a Intelbras em jan/2026 (Teletime).</a:t>
            </a:r>
          </a:p>
          <a:p>
            <a:r>
              <a:t>• 36% × 23%: bases diferentes (gastos com fornecedores no FRE × custo dos produtos vendidos na DFP).</a:t>
            </a:r>
          </a:p>
          <a:p>
            <a:r>
              <a:t>• R$449 mi × R$524 mi: a DFP (auditada, consolidada) informa R$448,8 mi; o FRE 11.2, R$524,4 mi (provavelmente inclui faturas antecipadas via risco sacado; não conciliado).</a:t>
            </a:r>
          </a:p>
          <a:p>
            <a:r>
              <a:t>• Venda das ações: motivo não divulgado; a Dahua vendeu a operação nos EUA após queda de lucro em 2024. Leitura conservadora: menos alinhamento.</a:t>
            </a:r>
          </a:p>
          <a:p>
            <a:r>
              <a:t>• É red flag? É risco de evento, não piora comprovada de termos. Acompanhar: % das compras, prazo a pagar, comunicados sobre renovação e venda das ações.</a:t>
            </a:r>
          </a:p>
          <a:p/>
          <a:p>
            <a:r>
              <a:t>FONTES E CONTAS</a:t>
            </a:r>
          </a:p>
          <a:p>
            <a:r>
              <a:t>I: FRE 1.4.e (36,0% em 2025); Nord Research citando o FRE 2022 (28,6% em 2021). DFPs: compras R$515/664/545/1.187/729 mi ÷ CPV R$2.178/3.031/2.827/3.294/3.118 mi. 2024: estoque elevado para mitigar risco de suprimento (teleconferência 4T24).</a:t>
            </a:r>
          </a:p>
          <a:p>
            <a:r>
              <a:t>II: Acordo de 31/12/2018, 10 anos (FRE 1.2/11.3). Canal: &gt;90 mil revendedores e instaladores (FRE 1.4.b). Assimetria: R$729,2 mi ÷ R$3.117,8 mi = 23,4%; R$729,2 mi ÷ 5,58 ≈ US$131 mi ÷ receita da Dahua 2025 ≈ US$4,5 bi (RMB 32,3 bi) ≈ 2,9%. Prazo ~7 meses = 225 dias.</a:t>
            </a:r>
          </a:p>
          <a:p>
            <a:r>
              <a:t>III: Saldo à Dahua (DFP NE 32) R$263/350/225/506/449 mi ÷ fornecedores + risco sacado R$870/1.003/877/1.220/1.049 mi. Prazo = saldo ÷ compras × 365 = 187/192/151/156/225. Com 90 dias: 729 × 90/365 = R$180 mi → +R$269 mi; ROIC pré-IR LTM 2T26 18,8% → 17,1%.</a:t>
            </a:r>
          </a:p>
          <a:p>
            <a:r>
              <a:t>IV: 10% em ago/2019 (FRE 1.1); recomposição de 10% em out/2021 após diluição no IPO; venda de 2,44% em jun/2023 → 7,56% (Brazil Journal); aprovação da venda dos 7,56% em até 36 meses em ago/2025 (FilingReader); acordo vence em 31/12/2028. ~metade do custo de Segurança = compras da Dahua ÷ CPV de Segurança, média 2021–25 ≈ 50%.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8643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">
            <a:extLst>
              <a:ext uri="{FF2B5EF4-FFF2-40B4-BE49-F238E27FC236}">
                <a16:creationId xmlns:a16="http://schemas.microsoft.com/office/drawing/2014/main" id="{08A86C5D-B5F1-A201-A803-FC2B06BC1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4" name="Subtítulo">
            <a:extLst>
              <a:ext uri="{FF2B5EF4-FFF2-40B4-BE49-F238E27FC236}">
                <a16:creationId xmlns:a16="http://schemas.microsoft.com/office/drawing/2014/main" id="{BE673581-4171-765D-CF42-A03B1335C0E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abeçalho L1">
            <a:extLst>
              <a:ext uri="{FF2B5EF4-FFF2-40B4-BE49-F238E27FC236}">
                <a16:creationId xmlns:a16="http://schemas.microsoft.com/office/drawing/2014/main" id="{2CF8C16A-D844-F260-4E96-4A7088F8DC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6" name="Linha L1">
            <a:extLst>
              <a:ext uri="{FF2B5EF4-FFF2-40B4-BE49-F238E27FC236}">
                <a16:creationId xmlns:a16="http://schemas.microsoft.com/office/drawing/2014/main" id="{6B2BDA49-2D8C-8E92-98C5-4AF723A23CF4}"/>
              </a:ext>
            </a:extLst>
          </p:cNvPr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7" name="Descrição L1">
            <a:extLst>
              <a:ext uri="{FF2B5EF4-FFF2-40B4-BE49-F238E27FC236}">
                <a16:creationId xmlns:a16="http://schemas.microsoft.com/office/drawing/2014/main" id="{DBA64B7F-D991-F80B-632A-A6F008F382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abeçalho R1">
            <a:extLst>
              <a:ext uri="{FF2B5EF4-FFF2-40B4-BE49-F238E27FC236}">
                <a16:creationId xmlns:a16="http://schemas.microsoft.com/office/drawing/2014/main" id="{63E473F4-0BD6-077F-9932-938AFBF13B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Linha R1">
            <a:extLst>
              <a:ext uri="{FF2B5EF4-FFF2-40B4-BE49-F238E27FC236}">
                <a16:creationId xmlns:a16="http://schemas.microsoft.com/office/drawing/2014/main" id="{C5D0D066-5B11-0856-4073-CD7F2F043381}"/>
              </a:ext>
            </a:extLst>
          </p:cNvPr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1" name="Descrição R1">
            <a:extLst>
              <a:ext uri="{FF2B5EF4-FFF2-40B4-BE49-F238E27FC236}">
                <a16:creationId xmlns:a16="http://schemas.microsoft.com/office/drawing/2014/main" id="{5656BE59-0847-8CB6-5BA7-687DF8FE150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údo R1">
            <a:extLst>
              <a:ext uri="{FF2B5EF4-FFF2-40B4-BE49-F238E27FC236}">
                <a16:creationId xmlns:a16="http://schemas.microsoft.com/office/drawing/2014/main" id="{275C8C39-0130-44B2-B522-AB8447F3755A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abeçalho R2">
            <a:extLst>
              <a:ext uri="{FF2B5EF4-FFF2-40B4-BE49-F238E27FC236}">
                <a16:creationId xmlns:a16="http://schemas.microsoft.com/office/drawing/2014/main" id="{DFA8ED1C-70D9-555F-0951-A17E938658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8" name="Linha R2">
            <a:extLst>
              <a:ext uri="{FF2B5EF4-FFF2-40B4-BE49-F238E27FC236}">
                <a16:creationId xmlns:a16="http://schemas.microsoft.com/office/drawing/2014/main" id="{23E53C43-0A06-3841-43EA-8CBBC05E38E4}"/>
              </a:ext>
            </a:extLst>
          </p:cNvPr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9" name="Descrição R2">
            <a:extLst>
              <a:ext uri="{FF2B5EF4-FFF2-40B4-BE49-F238E27FC236}">
                <a16:creationId xmlns:a16="http://schemas.microsoft.com/office/drawing/2014/main" id="{17B70730-704D-1A43-8FBA-BD7FE18348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Conteúdo R2">
            <a:extLst>
              <a:ext uri="{FF2B5EF4-FFF2-40B4-BE49-F238E27FC236}">
                <a16:creationId xmlns:a16="http://schemas.microsoft.com/office/drawing/2014/main" id="{9E63C622-421B-6FEC-8987-607A26EFBA37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Fontes">
            <a:extLst>
              <a:ext uri="{FF2B5EF4-FFF2-40B4-BE49-F238E27FC236}">
                <a16:creationId xmlns:a16="http://schemas.microsoft.com/office/drawing/2014/main" id="{F667FDC0-0538-49ED-735B-F8FA537E3E1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95433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>
            <a:cxnSpLocks/>
          </p:cNvCxnSpPr>
          <p:nvPr userDrawn="1"/>
        </p:nvCxnSpPr>
        <p:spPr>
          <a:xfrm>
            <a:off x="566928" y="4119372"/>
            <a:ext cx="11396472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71500" y="4168392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571500" y="377656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7564229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7600805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571500" y="4421704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údo R2">
            <a:extLst>
              <a:ext uri="{FF2B5EF4-FFF2-40B4-BE49-F238E27FC236}">
                <a16:creationId xmlns:a16="http://schemas.microsoft.com/office/drawing/2014/main" id="{C20F45A2-CC70-86CA-D254-970E22AF066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4383678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údo R2">
            <a:extLst>
              <a:ext uri="{FF2B5EF4-FFF2-40B4-BE49-F238E27FC236}">
                <a16:creationId xmlns:a16="http://schemas.microsoft.com/office/drawing/2014/main" id="{626C2B49-63EF-6B3E-66FE-3A88E630EBA1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199737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1480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2 blo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9144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66928" y="502920"/>
            <a:ext cx="11393424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F1"/>
          <p:cNvSpPr>
            <a:spLocks noGrp="1"/>
          </p:cNvSpPr>
          <p:nvPr>
            <p:ph type="body" sz="quarter" idx="10"/>
          </p:nvPr>
        </p:nvSpPr>
        <p:spPr>
          <a:xfrm>
            <a:off x="566928" y="8686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F1"/>
          <p:cNvCxnSpPr/>
          <p:nvPr userDrawn="1"/>
        </p:nvCxnSpPr>
        <p:spPr>
          <a:xfrm>
            <a:off x="566928" y="12618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F1"/>
          <p:cNvSpPr>
            <a:spLocks noGrp="1"/>
          </p:cNvSpPr>
          <p:nvPr>
            <p:ph type="body" sz="quarter" idx="14" hasCustomPrompt="1"/>
          </p:nvPr>
        </p:nvSpPr>
        <p:spPr>
          <a:xfrm>
            <a:off x="566928" y="12984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7" name="Conteúdo F1"/>
          <p:cNvSpPr>
            <a:spLocks noGrp="1"/>
          </p:cNvSpPr>
          <p:nvPr>
            <p:ph sz="quarter" idx="30"/>
          </p:nvPr>
        </p:nvSpPr>
        <p:spPr>
          <a:xfrm>
            <a:off x="566928" y="15453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F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F2"/>
          <p:cNvCxnSpPr/>
          <p:nvPr userDrawn="1"/>
        </p:nvCxnSpPr>
        <p:spPr>
          <a:xfrm>
            <a:off x="566928" y="41193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F2"/>
          <p:cNvSpPr>
            <a:spLocks noGrp="1"/>
          </p:cNvSpPr>
          <p:nvPr>
            <p:ph type="body" sz="quarter" idx="16" hasCustomPrompt="1"/>
          </p:nvPr>
        </p:nvSpPr>
        <p:spPr>
          <a:xfrm>
            <a:off x="566928" y="41559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11" name="Conteúdo F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616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31626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FEAF86BB-950D-C028-EE25-EAF6B2091A5D}"/>
              </a:ext>
            </a:extLst>
          </p:cNvPr>
          <p:cNvSpPr/>
          <p:nvPr userDrawn="1"/>
        </p:nvSpPr>
        <p:spPr>
          <a:xfrm rot="10800000" flipH="1">
            <a:off x="0" y="2431"/>
            <a:ext cx="346464" cy="6858000"/>
          </a:xfrm>
          <a:prstGeom prst="rect">
            <a:avLst/>
          </a:prstGeom>
          <a:gradFill>
            <a:gsLst>
              <a:gs pos="19000">
                <a:srgbClr val="035144"/>
              </a:gs>
              <a:gs pos="95000">
                <a:srgbClr val="00D054"/>
              </a:gs>
              <a:gs pos="76000">
                <a:srgbClr val="009F4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Connector 43">
            <a:extLst>
              <a:ext uri="{FF2B5EF4-FFF2-40B4-BE49-F238E27FC236}">
                <a16:creationId xmlns:a16="http://schemas.microsoft.com/office/drawing/2014/main" id="{0C1F9473-D70C-D468-BBA5-C37F5F700542}"/>
              </a:ext>
            </a:extLst>
          </p:cNvPr>
          <p:cNvCxnSpPr>
            <a:cxnSpLocks/>
          </p:cNvCxnSpPr>
          <p:nvPr userDrawn="1"/>
        </p:nvCxnSpPr>
        <p:spPr>
          <a:xfrm>
            <a:off x="566928" y="6515100"/>
            <a:ext cx="11393424" cy="0"/>
          </a:xfrm>
          <a:prstGeom prst="line">
            <a:avLst/>
          </a:prstGeom>
          <a:ln w="12700">
            <a:solidFill>
              <a:srgbClr val="76B900"/>
            </a:solidFill>
          </a:ln>
        </p:spPr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9DE3E556-E840-AC70-8618-F06E954425C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17266" y1="39861" x2="17266" y2="39861"/>
                        <a14:foregroundMark x1="17266" y1="45000" x2="17266" y2="45000"/>
                        <a14:foregroundMark x1="20391" y1="55694" x2="20391" y2="55694"/>
                        <a14:foregroundMark x1="30391" y1="49306" x2="30391" y2="49306"/>
                        <a14:foregroundMark x1="41250" y1="51111" x2="41250" y2="51111"/>
                        <a14:foregroundMark x1="46797" y1="53194" x2="46797" y2="53194"/>
                        <a14:foregroundMark x1="62266" y1="53194" x2="62266" y2="53194"/>
                        <a14:foregroundMark x1="72734" y1="58056" x2="72734" y2="58056"/>
                        <a14:foregroundMark x1="81719" y1="59167" x2="81719" y2="59167"/>
                        <a14:backgroundMark x1="38984" y1="50278" x2="38984" y2="50278"/>
                      </a14:backgroundRemoval>
                    </a14:imgEffect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8894" y="-373028"/>
            <a:ext cx="1919326" cy="107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568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0" r:id="rId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3" pos="216">
          <p15:clr>
            <a:srgbClr val="F26B43"/>
          </p15:clr>
        </p15:guide>
        <p15:guide id="4" pos="7536">
          <p15:clr>
            <a:srgbClr val="F26B43"/>
          </p15:clr>
        </p15:guide>
        <p15:guide id="5" orient="horz" pos="480">
          <p15:clr>
            <a:srgbClr val="F26B43"/>
          </p15:clr>
        </p15:guide>
        <p15:guide id="6" orient="horz" pos="4104">
          <p15:clr>
            <a:srgbClr val="F26B43"/>
          </p15:clr>
        </p15:guide>
        <p15:guide id="8" pos="3840">
          <p15:clr>
            <a:srgbClr val="F26B43"/>
          </p15:clr>
        </p15:guide>
        <p15:guide id="9" pos="360">
          <p15:clr>
            <a:srgbClr val="F26B43"/>
          </p15:clr>
        </p15:guide>
        <p15:guide id="10" pos="4032">
          <p15:clr>
            <a:srgbClr val="F26B43"/>
          </p15:clr>
        </p15:guide>
        <p15:guide id="11" orient="horz" pos="2232">
          <p15:clr>
            <a:srgbClr val="F26B43"/>
          </p15:clr>
        </p15:guide>
      </p15:sldGuideLst>
    </p:ext>
  </p:extLst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notesSlide" Target="../notesSlides/notesSlide2.xml"/></Relationships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Baixo poder de barganha com os fornecedores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O custo é comprado e dolarizado, com um terço dos gastos em um só fornecedor: a Intelbras aceita o preço e carrega o estoque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Quase todo o custo é comprado e atrelado ao dólar; a receita é em reais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Parcela de cada item ligada a terceiros ou a moeda estrangeira, 2025 (%)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II. Sem poder de barganha, a Intelbras carrega o estoque e financia a diferença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Dias de estoque vs prazo médio pago aos fornecedores, 2021–2025 (dias de custo dos produtos vendidos)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Intelbras DFPs 2021–25 (NE 8, 14, 25, 27) e FRE 2026 (2.2). Dias = estoque e fornecedores (incl. risco sacado) ÷ custo dos produtos vendidos × 365.</a:t>
            </a:r>
          </a:p>
        </p:txBody>
      </p:sp>
      <p:graphicFrame>
        <p:nvGraphicFramePr>
          <p:cNvPr id="11" name="Grafico comprado e dolarizado"/>
          <p:cNvGraphicFramePr>
            <a:graphicFrameLocks noGrp="1"/>
          </p:cNvGraphicFramePr>
          <p:nvPr/>
        </p:nvGraphicFramePr>
        <p:xfrm>
          <a:off x="566928" y="1563624"/>
          <a:ext cx="8503920" cy="19385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Destaque cambio"/>
          <p:cNvSpPr txBox="1"/>
          <p:nvPr/>
        </p:nvSpPr>
        <p:spPr>
          <a:xfrm>
            <a:off x="9482328" y="1956816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</a:rPr>
              <a:t>+R$249 mi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</a:rPr>
              <a:t>de custo por ano a cada +10% no dólar</a:t>
            </a:r>
          </a:p>
        </p:txBody>
      </p:sp>
      <p:graphicFrame>
        <p:nvGraphicFramePr>
          <p:cNvPr id="13" name="Grafico estoque vs prazo"/>
          <p:cNvGraphicFramePr>
            <a:graphicFrameLocks noGrp="1"/>
          </p:cNvGraphicFramePr>
          <p:nvPr/>
        </p:nvGraphicFramePr>
        <p:xfrm>
          <a:off x="566928" y="4407408"/>
          <a:ext cx="850392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Destaque capital de giro"/>
          <p:cNvSpPr txBox="1"/>
          <p:nvPr/>
        </p:nvSpPr>
        <p:spPr>
          <a:xfrm>
            <a:off x="9482328" y="4818888"/>
            <a:ext cx="2468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09F41"/>
                </a:solidFill>
              </a:rPr>
              <a:t>≈R$0,4 bi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</a:rPr>
              <a:t>do caixa da Intelbras financia esse vão (2025)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Dahua: parceira estratégica, dependência crescente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A Dahua troca tecnologia pelo canal da Intelbras, mas pesa cada vez mais e está saindo antes de 2028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Um terço dos gastos com fornecedores já vai para a Dahua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Dahua em % dos gastos com fornecedores (FRE) e do custo dos produtos vendidos (DFP)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A troca é mútua, mas quem mais precisa é a Intelbras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Acordo de 2018 a 2028: o que cada lado entrega e quanto um pesa no outro (2025)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A Dahua também financia a Intelbras: 43% das contas a pagar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Saldo a pagar à Dahua (R$ mi) e % do total de fornecedores; prazo implícito de 225 dias em 2025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A Dahua está saindo do capital, e o acordo vence em 2028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Participação da Dahua no capital da Intelbras (%) e marcos do acordo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Intelbras DFPs 2021–25 (NE partes relacionadas e fornecedores), FRE 2026 (1.4.e, 11.3); Nord Research (2021); Dahua (P&amp;D 2024, receita 2025); Brazil Journal; FilingReader.</a:t>
            </a:r>
          </a:p>
        </p:txBody>
      </p:sp>
      <p:graphicFrame>
        <p:nvGraphicFramePr>
          <p:cNvPr id="17" name="Grafico concentracao Dahua"/>
          <p:cNvGraphicFramePr>
            <a:graphicFrameLocks noGrp="1"/>
          </p:cNvGraphicFramePr>
          <p:nvPr/>
        </p:nvGraphicFramePr>
        <p:xfrm>
          <a:off x="566928" y="1545336"/>
          <a:ext cx="5532120" cy="1984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Caixa Intelbras"/>
          <p:cNvSpPr/>
          <p:nvPr/>
        </p:nvSpPr>
        <p:spPr>
          <a:xfrm>
            <a:off x="6428232" y="1563624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Intelbras</a:t>
            </a:r>
          </a:p>
        </p:txBody>
      </p:sp>
      <p:sp>
        <p:nvSpPr>
          <p:cNvPr id="19" name="Caixa Dahua"/>
          <p:cNvSpPr/>
          <p:nvPr/>
        </p:nvSpPr>
        <p:spPr>
          <a:xfrm>
            <a:off x="10725912" y="1563624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Dahua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735824" y="1819656"/>
            <a:ext cx="2916936" cy="0"/>
          </a:xfrm>
          <a:prstGeom prst="line">
            <a:avLst/>
          </a:prstGeom>
          <a:ln w="22225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735824" y="2057400"/>
            <a:ext cx="2916936" cy="0"/>
          </a:xfrm>
          <a:prstGeom prst="line">
            <a:avLst/>
          </a:prstGeom>
          <a:ln w="22225">
            <a:solidFill>
              <a:srgbClr val="009F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Seta Dahua entrega"/>
          <p:cNvSpPr txBox="1"/>
          <p:nvPr/>
        </p:nvSpPr>
        <p:spPr>
          <a:xfrm>
            <a:off x="7735824" y="1527048"/>
            <a:ext cx="2916935" cy="2377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tecnologia de câmeras + prazo</a:t>
            </a:r>
          </a:p>
        </p:txBody>
      </p:sp>
      <p:sp>
        <p:nvSpPr>
          <p:cNvPr id="23" name="Seta Intelbras entrega"/>
          <p:cNvSpPr txBox="1"/>
          <p:nvPr/>
        </p:nvSpPr>
        <p:spPr>
          <a:xfrm>
            <a:off x="7735824" y="2093976"/>
            <a:ext cx="29169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009F41"/>
                </a:solidFill>
              </a:rPr>
              <a:t>canal de 90 mil instaladores</a:t>
            </a:r>
          </a:p>
        </p:txBody>
      </p:sp>
      <p:graphicFrame>
        <p:nvGraphicFramePr>
          <p:cNvPr id="24" name="Grafico assimetria"/>
          <p:cNvGraphicFramePr>
            <a:graphicFrameLocks noGrp="1"/>
          </p:cNvGraphicFramePr>
          <p:nvPr/>
        </p:nvGraphicFramePr>
        <p:xfrm>
          <a:off x="6428232" y="2386584"/>
          <a:ext cx="5532120" cy="1143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5" name="Grafico credito Dahua"/>
          <p:cNvGraphicFramePr>
            <a:graphicFrameLocks noGrp="1"/>
          </p:cNvGraphicFramePr>
          <p:nvPr/>
        </p:nvGraphicFramePr>
        <p:xfrm>
          <a:off x="566928" y="4407408"/>
          <a:ext cx="3657600" cy="1984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6" name="Destaque credito"/>
          <p:cNvSpPr txBox="1"/>
          <p:nvPr/>
        </p:nvSpPr>
        <p:spPr>
          <a:xfrm>
            <a:off x="4361688" y="4818888"/>
            <a:ext cx="1737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</a:rPr>
              <a:t>+R$269 mi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</a:rPr>
              <a:t>de capital de giro se o prazo cair a 90 dias</a:t>
            </a:r>
          </a:p>
        </p:txBody>
      </p:sp>
      <p:cxnSp>
        <p:nvCxnSpPr>
          <p:cNvPr id="27" name="Eixo aproximacao"/>
          <p:cNvCxnSpPr/>
          <p:nvPr/>
        </p:nvCxnSpPr>
        <p:spPr>
          <a:xfrm>
            <a:off x="6748272" y="5504688"/>
            <a:ext cx="1876598" cy="0"/>
          </a:xfrm>
          <a:prstGeom prst="line">
            <a:avLst/>
          </a:prstGeom>
          <a:ln w="44450">
            <a:solidFill>
              <a:srgbClr val="009F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ixo afastamento"/>
          <p:cNvCxnSpPr/>
          <p:nvPr/>
        </p:nvCxnSpPr>
        <p:spPr>
          <a:xfrm>
            <a:off x="8624870" y="5504688"/>
            <a:ext cx="2924002" cy="0"/>
          </a:xfrm>
          <a:prstGeom prst="line">
            <a:avLst/>
          </a:prstGeom>
          <a:ln w="444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onto 2019"/>
          <p:cNvSpPr/>
          <p:nvPr/>
        </p:nvSpPr>
        <p:spPr>
          <a:xfrm>
            <a:off x="7373389" y="5431536"/>
            <a:ext cx="146304" cy="146304"/>
          </a:xfrm>
          <a:prstGeom prst="ellipse">
            <a:avLst/>
          </a:prstGeom>
          <a:solidFill>
            <a:srgbClr val="009F41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Valor 2019"/>
          <p:cNvSpPr txBox="1"/>
          <p:nvPr/>
        </p:nvSpPr>
        <p:spPr>
          <a:xfrm>
            <a:off x="6943621" y="4937760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9F41"/>
                </a:solidFill>
              </a:rPr>
              <a:t>10%</a:t>
            </a:r>
          </a:p>
        </p:txBody>
      </p:sp>
      <p:sp>
        <p:nvSpPr>
          <p:cNvPr id="31" name="Ano 2019"/>
          <p:cNvSpPr txBox="1"/>
          <p:nvPr/>
        </p:nvSpPr>
        <p:spPr>
          <a:xfrm>
            <a:off x="6943621" y="56327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2019</a:t>
            </a:r>
          </a:p>
        </p:txBody>
      </p:sp>
      <p:sp>
        <p:nvSpPr>
          <p:cNvPr id="32" name="Ponto 2021"/>
          <p:cNvSpPr/>
          <p:nvPr/>
        </p:nvSpPr>
        <p:spPr>
          <a:xfrm>
            <a:off x="8333509" y="5431536"/>
            <a:ext cx="146304" cy="146304"/>
          </a:xfrm>
          <a:prstGeom prst="ellipse">
            <a:avLst/>
          </a:prstGeom>
          <a:solidFill>
            <a:srgbClr val="009F41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Valor 2021"/>
          <p:cNvSpPr txBox="1"/>
          <p:nvPr/>
        </p:nvSpPr>
        <p:spPr>
          <a:xfrm>
            <a:off x="7903741" y="4937760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9F41"/>
                </a:solidFill>
              </a:rPr>
              <a:t>10%</a:t>
            </a:r>
          </a:p>
        </p:txBody>
      </p:sp>
      <p:sp>
        <p:nvSpPr>
          <p:cNvPr id="34" name="Ano 2021"/>
          <p:cNvSpPr txBox="1"/>
          <p:nvPr/>
        </p:nvSpPr>
        <p:spPr>
          <a:xfrm>
            <a:off x="7903741" y="56327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2021</a:t>
            </a:r>
          </a:p>
        </p:txBody>
      </p:sp>
      <p:sp>
        <p:nvSpPr>
          <p:cNvPr id="35" name="Ponto 2023"/>
          <p:cNvSpPr/>
          <p:nvPr/>
        </p:nvSpPr>
        <p:spPr>
          <a:xfrm>
            <a:off x="9053599" y="5431536"/>
            <a:ext cx="146304" cy="146304"/>
          </a:xfrm>
          <a:prstGeom prst="ellipse">
            <a:avLst/>
          </a:prstGeom>
          <a:solidFill>
            <a:srgbClr val="1A1A1A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Valor 2023"/>
          <p:cNvSpPr txBox="1"/>
          <p:nvPr/>
        </p:nvSpPr>
        <p:spPr>
          <a:xfrm>
            <a:off x="8623831" y="4937760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</a:rPr>
              <a:t>7,56%</a:t>
            </a:r>
          </a:p>
        </p:txBody>
      </p:sp>
      <p:sp>
        <p:nvSpPr>
          <p:cNvPr id="37" name="Ano 2023"/>
          <p:cNvSpPr txBox="1"/>
          <p:nvPr/>
        </p:nvSpPr>
        <p:spPr>
          <a:xfrm>
            <a:off x="8623831" y="56327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2023</a:t>
            </a:r>
          </a:p>
        </p:txBody>
      </p:sp>
      <p:sp>
        <p:nvSpPr>
          <p:cNvPr id="38" name="Ponto 2025|venda aprovada"/>
          <p:cNvSpPr/>
          <p:nvPr/>
        </p:nvSpPr>
        <p:spPr>
          <a:xfrm>
            <a:off x="9991898" y="5431536"/>
            <a:ext cx="146304" cy="146304"/>
          </a:xfrm>
          <a:prstGeom prst="ellipse">
            <a:avLst/>
          </a:prstGeom>
          <a:solidFill>
            <a:srgbClr val="1A1A1A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Valor 2025|venda aprovada"/>
          <p:cNvSpPr txBox="1"/>
          <p:nvPr/>
        </p:nvSpPr>
        <p:spPr>
          <a:xfrm>
            <a:off x="9562130" y="4937760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</a:rPr>
              <a:t>0%?</a:t>
            </a:r>
          </a:p>
        </p:txBody>
      </p:sp>
      <p:sp>
        <p:nvSpPr>
          <p:cNvPr id="40" name="Ano 2025|venda aprovada"/>
          <p:cNvSpPr txBox="1"/>
          <p:nvPr/>
        </p:nvSpPr>
        <p:spPr>
          <a:xfrm>
            <a:off x="9562130" y="56327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2025</a:t>
            </a:r>
          </a:p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venda aprovada</a:t>
            </a:r>
          </a:p>
        </p:txBody>
      </p:sp>
      <p:sp>
        <p:nvSpPr>
          <p:cNvPr id="41" name="Ponto fim do acordo"/>
          <p:cNvSpPr/>
          <p:nvPr/>
        </p:nvSpPr>
        <p:spPr>
          <a:xfrm>
            <a:off x="11408179" y="5385816"/>
            <a:ext cx="237744" cy="237744"/>
          </a:xfrm>
          <a:prstGeom prst="ellipse">
            <a:avLst/>
          </a:prstGeom>
          <a:solidFill>
            <a:srgbClr val="1A1A1A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Valor fim acordo"/>
          <p:cNvSpPr txBox="1"/>
          <p:nvPr/>
        </p:nvSpPr>
        <p:spPr>
          <a:xfrm>
            <a:off x="10978411" y="493776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</a:rPr>
              <a:t>dez/28</a:t>
            </a:r>
          </a:p>
        </p:txBody>
      </p:sp>
      <p:sp>
        <p:nvSpPr>
          <p:cNvPr id="43" name="Rotulo fim acordo"/>
          <p:cNvSpPr txBox="1"/>
          <p:nvPr/>
        </p:nvSpPr>
        <p:spPr>
          <a:xfrm>
            <a:off x="10978411" y="56509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acordo vence</a:t>
            </a:r>
          </a:p>
        </p:txBody>
      </p:sp>
      <p:sp>
        <p:nvSpPr>
          <p:cNvPr id="44" name="Fase aproximacao"/>
          <p:cNvSpPr txBox="1"/>
          <p:nvPr/>
        </p:nvSpPr>
        <p:spPr>
          <a:xfrm>
            <a:off x="6748272" y="60716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9F41"/>
                </a:solidFill>
              </a:rPr>
              <a:t>aproximação</a:t>
            </a:r>
          </a:p>
        </p:txBody>
      </p:sp>
      <p:sp>
        <p:nvSpPr>
          <p:cNvPr id="45" name="Fase afastamento"/>
          <p:cNvSpPr txBox="1"/>
          <p:nvPr/>
        </p:nvSpPr>
        <p:spPr>
          <a:xfrm>
            <a:off x="9354312" y="60716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afastamento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Um_fabricante_de_hardware_movido_por_Segurança</Template>
  <TotalTime>34</TotalTime>
  <Words>477</Words>
  <Application>Microsoft Office PowerPoint</Application>
  <PresentationFormat>Widescreen</PresentationFormat>
  <Paragraphs>49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Calibri</vt:lpstr>
      <vt:lpstr>1_Office Theme</vt:lpstr>
      <vt:lpstr>Baixo poder de barganha com os fornecedores</vt:lpstr>
      <vt:lpstr>Dahua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 Marques</dc:creator>
  <cp:lastModifiedBy>Gabriel Marques</cp:lastModifiedBy>
  <cp:revision>2</cp:revision>
  <dcterms:created xsi:type="dcterms:W3CDTF">2026-10-04T13:03:30Z</dcterms:created>
  <dcterms:modified xsi:type="dcterms:W3CDTF">2026-10-04T13:37:50Z</dcterms:modified>
</cp:coreProperties>
</file>