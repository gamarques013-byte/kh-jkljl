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0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1" r:id="rId1"/>
  </p:sldMasterIdLst>
  <p:notesMasterIdLst>
    <p:notesMasterId r:id="rId4"/>
  </p:notesMasterIdLst>
  <p:sldIdLst>
    <p:sldId id="258" r:id="rId9"/>
    <p:sldId id="259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4" autoAdjust="0"/>
    <p:restoredTop sz="94660"/>
  </p:normalViewPr>
  <p:slideViewPr>
    <p:cSldViewPr snapToGrid="0" showGuides="1">
      <p:cViewPr varScale="1">
        <p:scale>
          <a:sx n="73" d="100"/>
          <a:sy n="73" d="100"/>
        </p:scale>
        <p:origin x="1392" y="7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Externo</c:v>
                </c:pt>
              </c:strCache>
            </c:strRef>
          </c:tx>
          <c:spPr>
            <a:solidFill>
              <a:srgbClr val="009F41"/>
            </a:solidFill>
          </c:spPr>
          <c:dLbls>
            <c:dLbl>
              <c:idx val="0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FFFFFF"/>
                        </a:solidFill>
                      </a:rPr>
                      <a:t>80%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FFFFFF"/>
                        </a:solidFill>
                      </a:rPr>
                      <a:t>92%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FFFFFF"/>
                        </a:solidFill>
                      </a:rPr>
                      <a:t>85%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CPV atrelado a moeda estrangeira</c:v>
                </c:pt>
                <c:pt idx="1">
                  <c:v>Contas a pagar no exterior</c:v>
                </c:pt>
                <c:pt idx="2">
                  <c:v>Insumos e revenda no CPV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80.0</c:v>
                </c:pt>
                <c:pt idx="1">
                  <c:v>91.5</c:v>
                </c:pt>
                <c:pt idx="2">
                  <c:v>85.5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Restante</c:v>
                </c:pt>
              </c:strCache>
            </c:strRef>
          </c:tx>
          <c:spPr>
            <a:solidFill>
              <a:srgbClr val="E3E3E3"/>
            </a:solidFill>
          </c:spPr>
          <c:dLbls>
            <c:dLbl>
              <c:idx val="0"/>
              <c:tx>
                <c:rich>
                  <a:bodyPr/>
                  <a:lstStyle/>
                  <a:p>
                    <a:r>
                      <a:rPr sz="900" b="0">
                        <a:solidFill>
                          <a:srgbClr val="595959"/>
                        </a:solidFill>
                      </a:rPr>
                      <a:t>20%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900" b="0">
                        <a:solidFill>
                          <a:srgbClr val="595959"/>
                        </a:solidFill>
                      </a:rPr>
                      <a:t>8%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900" b="0">
                        <a:solidFill>
                          <a:srgbClr val="595959"/>
                        </a:solidFill>
                      </a:rPr>
                      <a:t>15%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CPV atrelado a moeda estrangeira</c:v>
                </c:pt>
                <c:pt idx="1">
                  <c:v>Contas a pagar no exterior</c:v>
                </c:pt>
                <c:pt idx="2">
                  <c:v>Insumos e revenda no CPV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20.0</c:v>
                </c:pt>
                <c:pt idx="1">
                  <c:v>8.5</c:v>
                </c:pt>
                <c:pt idx="2">
                  <c:v>14.5</c:v>
                </c:pt>
              </c:numCache>
            </c:numRef>
          </c:val>
        </c:ser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>
                <a:solidFill>
                  <a:srgbClr val="595959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900">
          <a:solidFill>
            <a:srgbClr val="595959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1º</c:v>
                </c:pt>
              </c:strCache>
            </c:strRef>
          </c:tx>
          <c:spPr>
            <a:solidFill>
              <a:srgbClr val="1A1A1A"/>
            </a:solidFill>
            <a:ln w="9525">
              <a:solidFill>
                <a:srgbClr val="FFFFFF"/>
              </a:solidFill>
            </a:ln>
          </c:spPr>
          <c:dLbls>
            <c:dLbl>
              <c:idx val="0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FFFFFF"/>
                        </a:solidFill>
                      </a:rPr>
                      <a:t>Hikvision 20%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FFFFFF"/>
                        </a:solidFill>
                      </a:rPr>
                      <a:t>SK hynix 33%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FFFFFF"/>
                        </a:solidFill>
                      </a:rPr>
                      <a:t>TSMC 70%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Câmeras de rede (2024)</c:v>
                </c:pt>
                <c:pt idx="1">
                  <c:v>Memória DRAM (3T25)</c:v>
                </c:pt>
                <c:pt idx="2">
                  <c:v>Fundição de chips (2025)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19.8</c:v>
                </c:pt>
                <c:pt idx="1">
                  <c:v>33.2</c:v>
                </c:pt>
                <c:pt idx="2">
                  <c:v>69.9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2º</c:v>
                </c:pt>
              </c:strCache>
            </c:strRef>
          </c:tx>
          <c:spPr>
            <a:solidFill>
              <a:srgbClr val="595959"/>
            </a:solidFill>
            <a:ln w="9525">
              <a:solidFill>
                <a:srgbClr val="FFFFFF"/>
              </a:solidFill>
            </a:ln>
          </c:spPr>
          <c:dPt>
            <c:idx val="0"/>
            <c:spPr>
              <a:solidFill>
                <a:srgbClr val="009F41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FFFFFF"/>
                        </a:solidFill>
                      </a:rPr>
                      <a:t>Dahua 16%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FFFFFF"/>
                        </a:solidFill>
                      </a:rPr>
                      <a:t>Samsung 33%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Câmeras de rede (2024)</c:v>
                </c:pt>
                <c:pt idx="1">
                  <c:v>Memória DRAM (3T25)</c:v>
                </c:pt>
                <c:pt idx="2">
                  <c:v>Fundição de chips (2025)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16.0</c:v>
                </c:pt>
                <c:pt idx="1">
                  <c:v>32.6</c:v>
                </c:pt>
                <c:pt idx="2">
                  <c:v>7.2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3º</c:v>
                </c:pt>
              </c:strCache>
            </c:strRef>
          </c:tx>
          <c:spPr>
            <a:solidFill>
              <a:srgbClr val="8C8C8C"/>
            </a:solidFill>
            <a:ln w="9525">
              <a:solidFill>
                <a:srgbClr val="FFFFFF"/>
              </a:solidFill>
            </a:ln>
          </c:spPr>
          <c:dLbls>
            <c:dLbl>
              <c:idx val="1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FFFFFF"/>
                        </a:solidFill>
                      </a:rPr>
                      <a:t>Micron 26%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Câmeras de rede (2024)</c:v>
                </c:pt>
                <c:pt idx="1">
                  <c:v>Memória DRAM (3T25)</c:v>
                </c:pt>
                <c:pt idx="2">
                  <c:v>Fundição de chips (2025)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0.0</c:v>
                </c:pt>
                <c:pt idx="1">
                  <c:v>25.7</c:v>
                </c:pt>
                <c:pt idx="2">
                  <c:v>5.3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Outros</c:v>
                </c:pt>
              </c:strCache>
            </c:strRef>
          </c:tx>
          <c:spPr>
            <a:solidFill>
              <a:srgbClr val="E3E3E3"/>
            </a:solidFill>
            <a:ln w="9525">
              <a:solidFill>
                <a:srgbClr val="FFFFFF"/>
              </a:solidFill>
            </a:ln>
          </c:spPr>
          <c:dLbls>
            <c:dLbl>
              <c:idx val="0"/>
              <c:tx>
                <c:rich>
                  <a:bodyPr/>
                  <a:lstStyle/>
                  <a:p>
                    <a:r>
                      <a:rPr sz="900" b="0">
                        <a:solidFill>
                          <a:srgbClr val="595959"/>
                        </a:solidFill>
                      </a:rPr>
                      <a:t>Outros 64%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900" b="0">
                        <a:solidFill>
                          <a:srgbClr val="595959"/>
                        </a:solidFill>
                      </a:rPr>
                      <a:t>Outros 18%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Câmeras de rede (2024)</c:v>
                </c:pt>
                <c:pt idx="1">
                  <c:v>Memória DRAM (3T25)</c:v>
                </c:pt>
                <c:pt idx="2">
                  <c:v>Fundição de chips (2025)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64.2</c:v>
                </c:pt>
                <c:pt idx="1">
                  <c:v>8.5</c:v>
                </c:pt>
                <c:pt idx="2">
                  <c:v>17.6</c:v>
                </c:pt>
              </c:numCache>
            </c:numRef>
          </c:val>
        </c:ser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>
                <a:solidFill>
                  <a:srgbClr val="595959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900">
          <a:solidFill>
            <a:srgbClr val="595959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Fornecedores em US$</c:v>
                </c:pt>
                <c:pt idx="1">
                  <c:v>Caixa e recebíveis em US$</c:v>
                </c:pt>
                <c:pt idx="2">
                  <c:v>Hedge (contratos a termo)</c:v>
                </c:pt>
                <c:pt idx="3">
                  <c:v>Exposição líquida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</c:v>
                </c:pt>
                <c:pt idx="1">
                  <c:v>710.6</c:v>
                </c:pt>
                <c:pt idx="2">
                  <c:v>260.0</c:v>
                </c:pt>
                <c:pt idx="3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valor</c:v>
                </c:pt>
              </c:strCache>
            </c:strRef>
          </c:tx>
          <c:spPr>
            <a:solidFill>
              <a:srgbClr val="1A1A1A"/>
            </a:solidFill>
          </c:spPr>
          <c:dPt>
            <c:idx val="0"/>
            <c:spPr>
              <a:solidFill>
                <a:srgbClr val="1A1A1A"/>
              </a:solidFill>
            </c:spPr>
          </c:dPt>
          <c:dPt>
            <c:idx val="1"/>
            <c:spPr>
              <a:solidFill>
                <a:srgbClr val="009F41"/>
              </a:solidFill>
            </c:spPr>
          </c:dPt>
          <c:dPt>
            <c:idx val="2"/>
            <c:spPr>
              <a:solidFill>
                <a:srgbClr val="009F41"/>
              </a:solidFill>
            </c:spPr>
          </c:dPt>
          <c:dPt>
            <c:idx val="3"/>
            <c:spPr>
              <a:solidFill>
                <a:srgbClr val="1A1A1A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FFFFFF"/>
                        </a:solidFill>
                      </a:rPr>
                      <a:t>894</a:t>
                    </a:r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FFFFFF"/>
                        </a:solidFill>
                      </a:rPr>
                      <a:t>−184</a:t>
                    </a:r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FFFFFF"/>
                        </a:solidFill>
                      </a:rPr>
                      <a:t>−451</a:t>
                    </a:r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FFFFFF"/>
                        </a:solidFill>
                      </a:rPr>
                      <a:t>260</a:t>
                    </a:r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Fornecedores em US$</c:v>
                </c:pt>
                <c:pt idx="1">
                  <c:v>Caixa e recebíveis em US$</c:v>
                </c:pt>
                <c:pt idx="2">
                  <c:v>Hedge (contratos a termo)</c:v>
                </c:pt>
                <c:pt idx="3">
                  <c:v>Exposição líquida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894.4</c:v>
                </c:pt>
                <c:pt idx="1">
                  <c:v>183.8</c:v>
                </c:pt>
                <c:pt idx="2">
                  <c:v>450.6</c:v>
                </c:pt>
                <c:pt idx="3">
                  <c:v>260.0</c:v>
                </c:pt>
              </c:numCache>
            </c:numRef>
          </c:val>
        </c:ser>
        <c:gapWidth val="4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>
            <a:solidFill>
              <a:srgbClr val="BFBFBF"/>
            </a:solidFill>
          </a:ln>
        </c:spPr>
        <c:txPr>
          <a:bodyPr/>
          <a:lstStyle/>
          <a:p>
            <a:pPr>
              <a:defRPr sz="900">
                <a:solidFill>
                  <a:srgbClr val="595959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900">
          <a:solidFill>
            <a:srgbClr val="595959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Dias de estoque</c:v>
                </c:pt>
              </c:strCache>
            </c:strRef>
          </c:tx>
          <c:spPr>
            <a:solidFill>
              <a:srgbClr val="009F41"/>
            </a:solidFill>
          </c:spPr>
          <c:cat>
            <c:strRef>
              <c:f>Sheet1!$A$2:$A$6</c:f>
              <c:strCach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217</c:v>
                </c:pt>
                <c:pt idx="1">
                  <c:v>161</c:v>
                </c:pt>
                <c:pt idx="2">
                  <c:v>151</c:v>
                </c:pt>
                <c:pt idx="3">
                  <c:v>196</c:v>
                </c:pt>
                <c:pt idx="4">
                  <c:v>173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Prazo pago aos fornecedores</c:v>
                </c:pt>
              </c:strCache>
            </c:strRef>
          </c:tx>
          <c:spPr>
            <a:solidFill>
              <a:srgbClr val="BFBFBF"/>
            </a:solidFill>
          </c:spPr>
          <c:cat>
            <c:strRef>
              <c:f>Sheet1!$A$2:$A$6</c:f>
              <c:strCach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146</c:v>
                </c:pt>
                <c:pt idx="1">
                  <c:v>121</c:v>
                </c:pt>
                <c:pt idx="2">
                  <c:v>113</c:v>
                </c:pt>
                <c:pt idx="3">
                  <c:v>135</c:v>
                </c:pt>
                <c:pt idx="4">
                  <c:v>123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900">
                  <a:solidFill>
                    <a:srgbClr val="595959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>
            <a:solidFill>
              <a:srgbClr val="BFBFBF"/>
            </a:solidFill>
          </a:ln>
        </c:spPr>
        <c:txPr>
          <a:bodyPr/>
          <a:lstStyle/>
          <a:p>
            <a:pPr>
              <a:defRPr sz="900">
                <a:solidFill>
                  <a:srgbClr val="595959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5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900"/>
          </a:pPr>
        </a:p>
      </c:txPr>
    </c:legend>
    <c:dispBlanksAs val="gap"/>
  </c:chart>
  <c:spPr>
    <a:noFill/>
    <a:ln>
      <a:noFill/>
    </a:ln>
  </c:spPr>
  <c:txPr>
    <a:bodyPr/>
    <a:lstStyle/>
    <a:p>
      <a:pPr>
        <a:defRPr sz="900">
          <a:solidFill>
            <a:srgbClr val="595959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P&amp;D</c:v>
                </c:pt>
              </c:strCache>
            </c:strRef>
          </c:tx>
          <c:dPt>
            <c:idx val="0"/>
            <c:spPr>
              <a:solidFill>
                <a:srgbClr val="BFBFBF"/>
              </a:solidFill>
            </c:spPr>
          </c:dPt>
          <c:dPt>
            <c:idx val="1"/>
            <c:spPr>
              <a:solidFill>
                <a:srgbClr val="1A1A1A"/>
              </a:solidFill>
            </c:spPr>
          </c:dPt>
          <c:dPt>
            <c:idx val="2"/>
            <c:spPr>
              <a:solidFill>
                <a:srgbClr val="009F41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1A1A1A"/>
                        </a:solidFill>
                      </a:rPr>
                      <a:t>1.650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1A1A1A"/>
                        </a:solidFill>
                      </a:rPr>
                      <a:t>587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1A1A1A"/>
                        </a:solidFill>
                      </a:rPr>
                      <a:t>32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Hikvision · nº 1 global (19,8%)</c:v>
                </c:pt>
                <c:pt idx="1">
                  <c:v>Dahua · nº 2 global (16,0%)</c:v>
                </c:pt>
                <c:pt idx="2">
                  <c:v>Intelbras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1650</c:v>
                </c:pt>
                <c:pt idx="1">
                  <c:v>587</c:v>
                </c:pt>
                <c:pt idx="2">
                  <c:v>32</c:v>
                </c:pt>
              </c:numCache>
            </c:numRef>
          </c:val>
        </c:ser>
        <c:gapWidth val="4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595959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200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900">
          <a:solidFill>
            <a:srgbClr val="595959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 do saldo de fornecedores</c:v>
                </c:pt>
              </c:strCache>
            </c:strRef>
          </c:tx>
          <c:spPr>
            <a:ln w="28575">
              <a:solidFill>
                <a:srgbClr val="009F41"/>
              </a:solidFill>
            </a:ln>
          </c:spPr>
          <c:marker>
            <c:symbol val="circle"/>
            <c:size val="6"/>
            <c:spPr>
              <a:solidFill>
                <a:srgbClr val="009F41"/>
              </a:solidFill>
              <a:ln>
                <a:solidFill>
                  <a:srgbClr val="009F41"/>
                </a:solidFill>
              </a:ln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009F41"/>
                        </a:solidFill>
                      </a:rPr>
                      <a:t>30%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009F41"/>
                        </a:solidFill>
                      </a:rPr>
                      <a:t>35%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009F41"/>
                        </a:solidFill>
                      </a:rPr>
                      <a:t>26%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009F41"/>
                        </a:solidFill>
                      </a:rPr>
                      <a:t>42%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009F41"/>
                        </a:solidFill>
                      </a:rPr>
                      <a:t>43%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30.2</c:v>
                </c:pt>
                <c:pt idx="1">
                  <c:v>34.9</c:v>
                </c:pt>
                <c:pt idx="2">
                  <c:v>25.7</c:v>
                </c:pt>
                <c:pt idx="3">
                  <c:v>41.5</c:v>
                </c:pt>
                <c:pt idx="4">
                  <c:v>42.8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% do CPV</c:v>
                </c:pt>
              </c:strCache>
            </c:strRef>
          </c:tx>
          <c:spPr>
            <a:ln w="28575">
              <a:solidFill>
                <a:srgbClr val="1A1A1A"/>
              </a:solidFill>
            </a:ln>
          </c:spPr>
          <c:marker>
            <c:symbol val="circle"/>
            <c:size val="6"/>
            <c:spPr>
              <a:solidFill>
                <a:srgbClr val="1A1A1A"/>
              </a:solidFill>
              <a:ln>
                <a:solidFill>
                  <a:srgbClr val="1A1A1A"/>
                </a:solidFill>
              </a:ln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1A1A1A"/>
                        </a:solidFill>
                      </a:rPr>
                      <a:t>24%</a:t>
                    </a:r>
                  </a:p>
                </c:rich>
              </c:tx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1A1A1A"/>
                        </a:solidFill>
                      </a:rPr>
                      <a:t>22%</a:t>
                    </a:r>
                  </a:p>
                </c:rich>
              </c:tx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1A1A1A"/>
                        </a:solidFill>
                      </a:rPr>
                      <a:t>19%</a:t>
                    </a:r>
                  </a:p>
                </c:rich>
              </c:tx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1A1A1A"/>
                        </a:solidFill>
                      </a:rPr>
                      <a:t>36%</a:t>
                    </a:r>
                  </a:p>
                </c:rich>
              </c:tx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1A1A1A"/>
                        </a:solidFill>
                      </a:rPr>
                      <a:t>23%</a:t>
                    </a:r>
                  </a:p>
                </c:rich>
              </c:tx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23.6</c:v>
                </c:pt>
                <c:pt idx="1">
                  <c:v>21.9</c:v>
                </c:pt>
                <c:pt idx="2">
                  <c:v>19.3</c:v>
                </c:pt>
                <c:pt idx="3">
                  <c:v>36.0</c:v>
                </c:pt>
                <c:pt idx="4">
                  <c:v>23.4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>
            <a:solidFill>
              <a:srgbClr val="BFBFBF"/>
            </a:solidFill>
          </a:ln>
        </c:spPr>
        <c:txPr>
          <a:bodyPr/>
          <a:lstStyle/>
          <a:p>
            <a:pPr>
              <a:defRPr sz="900">
                <a:solidFill>
                  <a:srgbClr val="595959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50.0"/>
          <c:min val="10.0"/>
        </c:scaling>
        <c:delete/>
        <c:axPos val="l"/>
        <c:majorTickMark val="out"/>
        <c:minorTickMark val="none"/>
        <c:tickLblPos val="nextTo"/>
        <c:crossAx val="2118791784"/>
        <c:crosses val="autoZero"/>
      </c:valAx>
    </c:plotArea>
    <c:legend>
      <c:legendPos val="t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900">
          <a:solidFill>
            <a:srgbClr val="595959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Participação</c:v>
                </c:pt>
              </c:strCache>
            </c:strRef>
          </c:tx>
          <c:dPt>
            <c:idx val="0"/>
            <c:spPr>
              <a:solidFill>
                <a:srgbClr val="1A1A1A"/>
              </a:solidFill>
            </c:spPr>
          </c:dPt>
          <c:dPt>
            <c:idx val="1"/>
            <c:spPr>
              <a:solidFill>
                <a:srgbClr val="1A1A1A"/>
              </a:solidFill>
            </c:spPr>
          </c:dPt>
          <c:dPt>
            <c:idx val="2"/>
            <c:spPr>
              <a:solidFill>
                <a:srgbClr val="595959"/>
              </a:solidFill>
            </c:spPr>
          </c:dPt>
          <c:dPt>
            <c:idx val="3"/>
            <c:spPr>
              <a:solidFill>
                <a:srgbClr val="595959"/>
              </a:solidFill>
            </c:spPr>
          </c:dPt>
          <c:dPt>
            <c:idx val="4"/>
            <c:spPr>
              <a:solidFill>
                <a:srgbClr val="595959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1A1A1A"/>
                        </a:solidFill>
                      </a:rPr>
                      <a:t>10%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1A1A1A"/>
                        </a:solidFill>
                      </a:rPr>
                      <a:t>10%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1A1A1A"/>
                        </a:solidFill>
                      </a:rPr>
                      <a:t>7,56%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1A1A1A"/>
                        </a:solidFill>
                      </a:rPr>
                      <a:t>7,56%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009F41"/>
                        </a:solidFill>
                      </a:rPr>
                      <a:t>0%?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2019
compra</c:v>
                </c:pt>
                <c:pt idx="1">
                  <c:v>out/21
recompõe
pós-IPO</c:v>
                </c:pt>
                <c:pt idx="2">
                  <c:v>jun/23
vende
2,44%</c:v>
                </c:pt>
                <c:pt idx="3">
                  <c:v>ago/25
aprova
vender tudo</c:v>
                </c:pt>
                <c:pt idx="4">
                  <c:v>até ago/28
prazo da
venda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10.0</c:v>
                </c:pt>
                <c:pt idx="1">
                  <c:v>10.0</c:v>
                </c:pt>
                <c:pt idx="2">
                  <c:v>7.56</c:v>
                </c:pt>
                <c:pt idx="3">
                  <c:v>7.56</c:v>
                </c:pt>
                <c:pt idx="4">
                  <c:v>0.0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>
            <a:solidFill>
              <a:srgbClr val="BFBFBF"/>
            </a:solidFill>
          </a:ln>
        </c:spPr>
        <c:txPr>
          <a:bodyPr/>
          <a:lstStyle/>
          <a:p>
            <a:pPr>
              <a:defRPr sz="800">
                <a:solidFill>
                  <a:srgbClr val="595959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2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900">
          <a:solidFill>
            <a:srgbClr val="595959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128835-0813-47C1-8179-7B192D0834C9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638EA8-CAB9-4394-A5EA-6EE33784BC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70000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Mensagem: a Intelbras não tem poder de barganha com fornecedores. Compra insumos e produtos de oligopólios globais, em dólar, e compensa com estoque alto, prazo de fornecedores e hedge parcial.</a:t>
            </a:r>
          </a:p>
          <a:p>
            <a:r>
              <a:t>I. DFP 2025 NE 27: matéria-prima e revenda = R$2.666,9 mi de R$3.117,8 mi de CPV (85,5%). NE 14: fornecedores + risco sacado no mercado externo = R$972,6 mi de R$1.062,6 mi (91,5%). FRE 2.2: ~80% do CPV atrelado a moeda estrangeira.</a:t>
            </a:r>
          </a:p>
          <a:p>
            <a:r>
              <a:t>II. TrendForce: TSMC 69,9% da fundição em 2025 (Samsung 7,2%, SMIC 5,3%); DRAM 3T25: SK hynix 33,2%, Samsung 32,6%, Micron 25,7%. Câmeras de rede 2024: Hikvision 19,8%, Dahua 16,0% (Novaira Insights). FRE 1.4.e: poucas opções de chipsets.</a:t>
            </a:r>
          </a:p>
          <a:p>
            <a:r>
              <a:t>III. DFP NE 25 (só US$): fornecedores R$894,4 mi; caixa R$157,2 mi + recebíveis R$26,6 mi; NDF R$450,6 mi → exposição líquida R$260,0 mi. Sensibilidade: 80% × CPV R$3.117,8 mi × 10% = R$249 mi; ÷ receita R$4.460 mi = 5,6 p.p. de margem bruta, sem repasse.</a:t>
            </a:r>
          </a:p>
          <a:p>
            <a:r>
              <a:t>IV. Estoque ÷ CPV × 365 e (fornecedores + risco sacado) ÷ CPV × 365. 2025: 173 − 123 = 50 dias × CPV/365 ≈ R$427 mi.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Mensagem: a Dahua dá à Intelbras o que ela não tem escala para fazer (P&amp;D de câmeras) e recebe o canal; mas os sinais de afastamento se acumulam antes da renovação de dez/2028.</a:t>
            </a:r>
          </a:p>
          <a:p>
            <a:r>
              <a:t>I. P&amp;D: Hikvision RMB 11,75 bi (US$1,65 bi) em 2025; Dahua RMB 4,213 bi em 2024 (÷7,18 ≈ US$587 mi); Intelbras R$179 mi em 2025 (FRE 2.10) ÷ 5,58 ≈ US$32 mi. Shares de câmeras de rede 2024: Hikvision 19,8%, Dahua 16,0% (Novaira Insights). Hikvision é montada pela Multilaser em Manaus desde 2022.</a:t>
            </a:r>
          </a:p>
          <a:p>
            <a:r>
              <a:t>II. Acordo de Cooperação de 31/12/2018 por 10 anos: prioridade/exclusividade de compra de CFTV pela Intelbras; exclusividade dos produtos Dahua no Brasil para a Intelbras; a prioridade cai se a Dahua cobrar ≥5% acima de produto equivalente. Saldo a pagar à Dahua R$448,8 mi (DFP 2025). Assimetria: compras R$729,2 mi = 23,4% do CPV de R$3.117,8 mi; R$729,2 mi ÷ 5,58 ≈ US$131 mi ≈ 2,9% da receita da Dahua (RMB 32,3 bi ≈ US$4,5 bi).</a:t>
            </a:r>
          </a:p>
          <a:p>
            <a:r>
              <a:t>III. Série consolidada (R$ mi): compras 515 / 664 / 545 / 1.187 / 729; saldo 263 / 350 / 225 / 506 / 449; fornecedores + risco sacado 870 / 1.003 / 877 / 1.220 / 1.049; CPV 2.178 / 3.031 / 2.827 / 3.294 / 3.118. Prazo implícito = saldo ÷ compras × 365: 187 / 192 / 151 / 156 / 225 dias. Prazo de 90 dias: 729 × 90/365 = R$180 mi de saldo → +R$269 mi de capital; ROIC LTM 2T26 18,8% → 17,1%.</a:t>
            </a:r>
          </a:p>
          <a:p>
            <a:r>
              <a:t>IV. 2019: compra de 10% (FRE). Out/2021: recompõe 10% após diluição no IPO (compra de 1,4% da família). Jun/2023: vende 2,44% → 7,56% (Brazil Journal). Ago/2025: conselho da Dahua aprova vender os 7,56% em até 36 meses (FilingReader). Dahua Brasil: região independente após crescer três dígitos em 2020. FiberHome: exclusividade de GPON encerrada em 12/01/2026 (Teletime). ~metade do custo de Segurança = compras da Dahua ÷ CPV de Segurança, média 2021–25 ≈ 50%.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lbras | 4 quadran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566928" y="10160"/>
            <a:ext cx="9646920" cy="42062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i="0">
                <a:solidFill>
                  <a:srgbClr val="009F4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pt-BR" dirty="0"/>
          </a:p>
        </p:txBody>
      </p:sp>
      <p:sp>
        <p:nvSpPr>
          <p:cNvPr id="3" name="Subtítulo"/>
          <p:cNvSpPr>
            <a:spLocks noGrp="1"/>
          </p:cNvSpPr>
          <p:nvPr>
            <p:ph type="body" sz="quarter" idx="1"/>
          </p:nvPr>
        </p:nvSpPr>
        <p:spPr>
          <a:xfrm>
            <a:off x="571500" y="502920"/>
            <a:ext cx="11388852" cy="259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0" i="0">
                <a:solidFill>
                  <a:srgbClr val="7F7F7F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abeçalho L1"/>
          <p:cNvSpPr>
            <a:spLocks noGrp="1"/>
          </p:cNvSpPr>
          <p:nvPr>
            <p:ph type="body" sz="quarter" idx="10"/>
          </p:nvPr>
        </p:nvSpPr>
        <p:spPr>
          <a:xfrm>
            <a:off x="571500" y="868680"/>
            <a:ext cx="5527548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1" i="0">
                <a:solidFill>
                  <a:srgbClr val="1A1A1A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5" name="Linha L1"/>
          <p:cNvCxnSpPr/>
          <p:nvPr userDrawn="1"/>
        </p:nvCxnSpPr>
        <p:spPr>
          <a:xfrm>
            <a:off x="566928" y="1261872"/>
            <a:ext cx="5532120" cy="0"/>
          </a:xfrm>
          <a:prstGeom prst="line">
            <a:avLst/>
          </a:prstGeom>
          <a:ln w="9525">
            <a:solidFill>
              <a:srgbClr val="7AC143"/>
            </a:solidFill>
          </a:ln>
        </p:spPr>
      </p:cxnSp>
      <p:sp>
        <p:nvSpPr>
          <p:cNvPr id="6" name="Descrição L1"/>
          <p:cNvSpPr>
            <a:spLocks noGrp="1"/>
          </p:cNvSpPr>
          <p:nvPr>
            <p:ph type="body" sz="quarter" idx="14"/>
          </p:nvPr>
        </p:nvSpPr>
        <p:spPr>
          <a:xfrm>
            <a:off x="571500" y="1298448"/>
            <a:ext cx="5527548" cy="2468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1">
                <a:solidFill>
                  <a:srgbClr val="6B6B6B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Conteúdo L1"/>
          <p:cNvSpPr>
            <a:spLocks noGrp="1"/>
          </p:cNvSpPr>
          <p:nvPr>
            <p:ph sz="quarter" idx="30"/>
          </p:nvPr>
        </p:nvSpPr>
        <p:spPr>
          <a:xfrm>
            <a:off x="571500" y="1545336"/>
            <a:ext cx="5524500" cy="19796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>
                <a:solidFill>
                  <a:srgbClr val="595959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Cabeçalho R1"/>
          <p:cNvSpPr>
            <a:spLocks noGrp="1"/>
          </p:cNvSpPr>
          <p:nvPr>
            <p:ph type="body" sz="quarter" idx="11"/>
          </p:nvPr>
        </p:nvSpPr>
        <p:spPr>
          <a:xfrm>
            <a:off x="6428232" y="868680"/>
            <a:ext cx="5532120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1" i="0">
                <a:solidFill>
                  <a:srgbClr val="1A1A1A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9" name="Linha R1"/>
          <p:cNvCxnSpPr/>
          <p:nvPr userDrawn="1"/>
        </p:nvCxnSpPr>
        <p:spPr>
          <a:xfrm>
            <a:off x="6428232" y="1261872"/>
            <a:ext cx="5532120" cy="0"/>
          </a:xfrm>
          <a:prstGeom prst="line">
            <a:avLst/>
          </a:prstGeom>
          <a:ln w="9525">
            <a:solidFill>
              <a:srgbClr val="7AC143"/>
            </a:solidFill>
          </a:ln>
        </p:spPr>
      </p:cxnSp>
      <p:sp>
        <p:nvSpPr>
          <p:cNvPr id="10" name="Descrição R1"/>
          <p:cNvSpPr>
            <a:spLocks noGrp="1"/>
          </p:cNvSpPr>
          <p:nvPr>
            <p:ph type="body" sz="quarter" idx="15"/>
          </p:nvPr>
        </p:nvSpPr>
        <p:spPr>
          <a:xfrm>
            <a:off x="6428232" y="1298448"/>
            <a:ext cx="553212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1">
                <a:solidFill>
                  <a:srgbClr val="6B6B6B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údo R1"/>
          <p:cNvSpPr>
            <a:spLocks noGrp="1"/>
          </p:cNvSpPr>
          <p:nvPr>
            <p:ph sz="quarter" idx="31"/>
          </p:nvPr>
        </p:nvSpPr>
        <p:spPr>
          <a:xfrm>
            <a:off x="6428232" y="1545336"/>
            <a:ext cx="5532120" cy="19796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>
                <a:solidFill>
                  <a:srgbClr val="595959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abeçalho L2"/>
          <p:cNvSpPr>
            <a:spLocks noGrp="1"/>
          </p:cNvSpPr>
          <p:nvPr>
            <p:ph type="body" sz="quarter" idx="12"/>
          </p:nvPr>
        </p:nvSpPr>
        <p:spPr>
          <a:xfrm>
            <a:off x="566928" y="3726180"/>
            <a:ext cx="5532120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1" i="0">
                <a:solidFill>
                  <a:srgbClr val="1A1A1A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3" name="Linha L2"/>
          <p:cNvCxnSpPr/>
          <p:nvPr userDrawn="1"/>
        </p:nvCxnSpPr>
        <p:spPr>
          <a:xfrm>
            <a:off x="566928" y="4119372"/>
            <a:ext cx="5532120" cy="0"/>
          </a:xfrm>
          <a:prstGeom prst="line">
            <a:avLst/>
          </a:prstGeom>
          <a:ln w="9525">
            <a:solidFill>
              <a:srgbClr val="7AC143"/>
            </a:solidFill>
          </a:ln>
        </p:spPr>
      </p:cxnSp>
      <p:sp>
        <p:nvSpPr>
          <p:cNvPr id="14" name="Descrição L2"/>
          <p:cNvSpPr>
            <a:spLocks noGrp="1"/>
          </p:cNvSpPr>
          <p:nvPr>
            <p:ph type="body" sz="quarter" idx="16"/>
          </p:nvPr>
        </p:nvSpPr>
        <p:spPr>
          <a:xfrm>
            <a:off x="566928" y="4155948"/>
            <a:ext cx="553212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1">
                <a:solidFill>
                  <a:srgbClr val="6B6B6B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Conteúdo L2"/>
          <p:cNvSpPr>
            <a:spLocks noGrp="1"/>
          </p:cNvSpPr>
          <p:nvPr>
            <p:ph sz="quarter" idx="32"/>
          </p:nvPr>
        </p:nvSpPr>
        <p:spPr>
          <a:xfrm>
            <a:off x="566928" y="4402836"/>
            <a:ext cx="5532120" cy="19796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>
                <a:solidFill>
                  <a:srgbClr val="595959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Cabeçalho R2"/>
          <p:cNvSpPr>
            <a:spLocks noGrp="1"/>
          </p:cNvSpPr>
          <p:nvPr>
            <p:ph type="body" sz="quarter" idx="13"/>
          </p:nvPr>
        </p:nvSpPr>
        <p:spPr>
          <a:xfrm>
            <a:off x="6428232" y="3726180"/>
            <a:ext cx="5532120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1" i="0">
                <a:solidFill>
                  <a:srgbClr val="1A1A1A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Linha R2"/>
          <p:cNvCxnSpPr/>
          <p:nvPr userDrawn="1"/>
        </p:nvCxnSpPr>
        <p:spPr>
          <a:xfrm>
            <a:off x="6428232" y="4119372"/>
            <a:ext cx="5532120" cy="0"/>
          </a:xfrm>
          <a:prstGeom prst="line">
            <a:avLst/>
          </a:prstGeom>
          <a:ln w="9525">
            <a:solidFill>
              <a:srgbClr val="7AC143"/>
            </a:solidFill>
          </a:ln>
        </p:spPr>
      </p:cxnSp>
      <p:sp>
        <p:nvSpPr>
          <p:cNvPr id="18" name="Descrição R2"/>
          <p:cNvSpPr>
            <a:spLocks noGrp="1"/>
          </p:cNvSpPr>
          <p:nvPr>
            <p:ph type="body" sz="quarter" idx="17"/>
          </p:nvPr>
        </p:nvSpPr>
        <p:spPr>
          <a:xfrm>
            <a:off x="6428232" y="4155948"/>
            <a:ext cx="553212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1">
                <a:solidFill>
                  <a:srgbClr val="6B6B6B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Conteúdo R2"/>
          <p:cNvSpPr>
            <a:spLocks noGrp="1"/>
          </p:cNvSpPr>
          <p:nvPr>
            <p:ph sz="quarter" idx="33"/>
          </p:nvPr>
        </p:nvSpPr>
        <p:spPr>
          <a:xfrm>
            <a:off x="6428232" y="4402836"/>
            <a:ext cx="5532120" cy="19796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>
                <a:solidFill>
                  <a:srgbClr val="595959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Fontes"/>
          <p:cNvSpPr>
            <a:spLocks noGrp="1"/>
          </p:cNvSpPr>
          <p:nvPr>
            <p:ph type="body" sz="quarter" idx="20"/>
          </p:nvPr>
        </p:nvSpPr>
        <p:spPr>
          <a:xfrm>
            <a:off x="566928" y="6556248"/>
            <a:ext cx="777240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00" b="0" i="0">
                <a:solidFill>
                  <a:srgbClr val="A6A6A6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786431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">
            <a:extLst>
              <a:ext uri="{FF2B5EF4-FFF2-40B4-BE49-F238E27FC236}">
                <a16:creationId xmlns:a16="http://schemas.microsoft.com/office/drawing/2014/main" id="{08A86C5D-B5F1-A201-A803-FC2B06BC1E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8" y="10160"/>
            <a:ext cx="9646920" cy="42062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i="0">
                <a:solidFill>
                  <a:srgbClr val="009F4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pt-BR" dirty="0"/>
          </a:p>
        </p:txBody>
      </p:sp>
      <p:sp>
        <p:nvSpPr>
          <p:cNvPr id="4" name="Subtítulo">
            <a:extLst>
              <a:ext uri="{FF2B5EF4-FFF2-40B4-BE49-F238E27FC236}">
                <a16:creationId xmlns:a16="http://schemas.microsoft.com/office/drawing/2014/main" id="{BE673581-4171-765D-CF42-A03B1335C0E5}"/>
              </a:ext>
            </a:extLst>
          </p:cNvPr>
          <p:cNvSpPr>
            <a:spLocks noGrp="1"/>
          </p:cNvSpPr>
          <p:nvPr>
            <p:ph type="body" sz="quarter" idx="1"/>
          </p:nvPr>
        </p:nvSpPr>
        <p:spPr>
          <a:xfrm>
            <a:off x="571500" y="502920"/>
            <a:ext cx="11388852" cy="259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0" i="0">
                <a:solidFill>
                  <a:srgbClr val="7F7F7F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Cabeçalho L1">
            <a:extLst>
              <a:ext uri="{FF2B5EF4-FFF2-40B4-BE49-F238E27FC236}">
                <a16:creationId xmlns:a16="http://schemas.microsoft.com/office/drawing/2014/main" id="{2CF8C16A-D844-F260-4E96-4A7088F8DC7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71500" y="868680"/>
            <a:ext cx="5527548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1" i="0">
                <a:solidFill>
                  <a:srgbClr val="1A1A1A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6" name="Linha L1">
            <a:extLst>
              <a:ext uri="{FF2B5EF4-FFF2-40B4-BE49-F238E27FC236}">
                <a16:creationId xmlns:a16="http://schemas.microsoft.com/office/drawing/2014/main" id="{6B2BDA49-2D8C-8E92-98C5-4AF723A23CF4}"/>
              </a:ext>
            </a:extLst>
          </p:cNvPr>
          <p:cNvCxnSpPr/>
          <p:nvPr userDrawn="1"/>
        </p:nvCxnSpPr>
        <p:spPr>
          <a:xfrm>
            <a:off x="566928" y="1261872"/>
            <a:ext cx="5532120" cy="0"/>
          </a:xfrm>
          <a:prstGeom prst="line">
            <a:avLst/>
          </a:prstGeom>
          <a:ln w="9525">
            <a:solidFill>
              <a:srgbClr val="7AC143"/>
            </a:solidFill>
          </a:ln>
        </p:spPr>
      </p:cxnSp>
      <p:sp>
        <p:nvSpPr>
          <p:cNvPr id="7" name="Descrição L1">
            <a:extLst>
              <a:ext uri="{FF2B5EF4-FFF2-40B4-BE49-F238E27FC236}">
                <a16:creationId xmlns:a16="http://schemas.microsoft.com/office/drawing/2014/main" id="{DBA64B7F-D991-F80B-632A-A6F008F3820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71500" y="1298448"/>
            <a:ext cx="5527548" cy="2468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1">
                <a:solidFill>
                  <a:srgbClr val="6B6B6B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Cabeçalho R1">
            <a:extLst>
              <a:ext uri="{FF2B5EF4-FFF2-40B4-BE49-F238E27FC236}">
                <a16:creationId xmlns:a16="http://schemas.microsoft.com/office/drawing/2014/main" id="{63E473F4-0BD6-077F-9932-938AFBF13B7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428232" y="868680"/>
            <a:ext cx="5532120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1" i="0">
                <a:solidFill>
                  <a:srgbClr val="1A1A1A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0" name="Linha R1">
            <a:extLst>
              <a:ext uri="{FF2B5EF4-FFF2-40B4-BE49-F238E27FC236}">
                <a16:creationId xmlns:a16="http://schemas.microsoft.com/office/drawing/2014/main" id="{C5D0D066-5B11-0856-4073-CD7F2F043381}"/>
              </a:ext>
            </a:extLst>
          </p:cNvPr>
          <p:cNvCxnSpPr/>
          <p:nvPr userDrawn="1"/>
        </p:nvCxnSpPr>
        <p:spPr>
          <a:xfrm>
            <a:off x="6428232" y="1261872"/>
            <a:ext cx="5532120" cy="0"/>
          </a:xfrm>
          <a:prstGeom prst="line">
            <a:avLst/>
          </a:prstGeom>
          <a:ln w="9525">
            <a:solidFill>
              <a:srgbClr val="7AC143"/>
            </a:solidFill>
          </a:ln>
        </p:spPr>
      </p:cxnSp>
      <p:sp>
        <p:nvSpPr>
          <p:cNvPr id="11" name="Descrição R1">
            <a:extLst>
              <a:ext uri="{FF2B5EF4-FFF2-40B4-BE49-F238E27FC236}">
                <a16:creationId xmlns:a16="http://schemas.microsoft.com/office/drawing/2014/main" id="{5656BE59-0847-8CB6-5BA7-687DF8FE150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428232" y="1298448"/>
            <a:ext cx="553212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1">
                <a:solidFill>
                  <a:srgbClr val="6B6B6B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údo R1">
            <a:extLst>
              <a:ext uri="{FF2B5EF4-FFF2-40B4-BE49-F238E27FC236}">
                <a16:creationId xmlns:a16="http://schemas.microsoft.com/office/drawing/2014/main" id="{275C8C39-0130-44B2-B522-AB8447F3755A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6428232" y="1545336"/>
            <a:ext cx="5532120" cy="19796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>
                <a:solidFill>
                  <a:srgbClr val="595959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Cabeçalho R2">
            <a:extLst>
              <a:ext uri="{FF2B5EF4-FFF2-40B4-BE49-F238E27FC236}">
                <a16:creationId xmlns:a16="http://schemas.microsoft.com/office/drawing/2014/main" id="{DFA8ED1C-70D9-555F-0951-A17E9386582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428232" y="3726180"/>
            <a:ext cx="5532120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1" i="0">
                <a:solidFill>
                  <a:srgbClr val="1A1A1A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8" name="Linha R2">
            <a:extLst>
              <a:ext uri="{FF2B5EF4-FFF2-40B4-BE49-F238E27FC236}">
                <a16:creationId xmlns:a16="http://schemas.microsoft.com/office/drawing/2014/main" id="{23E53C43-0A06-3841-43EA-8CBBC05E38E4}"/>
              </a:ext>
            </a:extLst>
          </p:cNvPr>
          <p:cNvCxnSpPr/>
          <p:nvPr userDrawn="1"/>
        </p:nvCxnSpPr>
        <p:spPr>
          <a:xfrm>
            <a:off x="6428232" y="4119372"/>
            <a:ext cx="5532120" cy="0"/>
          </a:xfrm>
          <a:prstGeom prst="line">
            <a:avLst/>
          </a:prstGeom>
          <a:ln w="9525">
            <a:solidFill>
              <a:srgbClr val="7AC143"/>
            </a:solidFill>
          </a:ln>
        </p:spPr>
      </p:cxnSp>
      <p:sp>
        <p:nvSpPr>
          <p:cNvPr id="19" name="Descrição R2">
            <a:extLst>
              <a:ext uri="{FF2B5EF4-FFF2-40B4-BE49-F238E27FC236}">
                <a16:creationId xmlns:a16="http://schemas.microsoft.com/office/drawing/2014/main" id="{17B70730-704D-1A43-8FBA-BD7FE18348C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428232" y="4155948"/>
            <a:ext cx="553212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1">
                <a:solidFill>
                  <a:srgbClr val="6B6B6B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Conteúdo R2">
            <a:extLst>
              <a:ext uri="{FF2B5EF4-FFF2-40B4-BE49-F238E27FC236}">
                <a16:creationId xmlns:a16="http://schemas.microsoft.com/office/drawing/2014/main" id="{9E63C622-421B-6FEC-8987-607A26EFBA37}"/>
              </a:ext>
            </a:extLst>
          </p:cNvPr>
          <p:cNvSpPr>
            <a:spLocks noGrp="1"/>
          </p:cNvSpPr>
          <p:nvPr>
            <p:ph sz="quarter" idx="33"/>
          </p:nvPr>
        </p:nvSpPr>
        <p:spPr>
          <a:xfrm>
            <a:off x="6428232" y="4402836"/>
            <a:ext cx="5532120" cy="19796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>
                <a:solidFill>
                  <a:srgbClr val="595959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Fontes">
            <a:extLst>
              <a:ext uri="{FF2B5EF4-FFF2-40B4-BE49-F238E27FC236}">
                <a16:creationId xmlns:a16="http://schemas.microsoft.com/office/drawing/2014/main" id="{F667FDC0-0538-49ED-735B-F8FA537E3E17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566928" y="6556248"/>
            <a:ext cx="777240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00" b="0" i="0">
                <a:solidFill>
                  <a:srgbClr val="A6A6A6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7954334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Intelbras | 4 quadran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566928" y="10160"/>
            <a:ext cx="9646920" cy="42062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i="0">
                <a:solidFill>
                  <a:srgbClr val="009F4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pt-BR" dirty="0"/>
          </a:p>
        </p:txBody>
      </p:sp>
      <p:sp>
        <p:nvSpPr>
          <p:cNvPr id="3" name="Subtítulo"/>
          <p:cNvSpPr>
            <a:spLocks noGrp="1"/>
          </p:cNvSpPr>
          <p:nvPr>
            <p:ph type="body" sz="quarter" idx="1"/>
          </p:nvPr>
        </p:nvSpPr>
        <p:spPr>
          <a:xfrm>
            <a:off x="571500" y="502920"/>
            <a:ext cx="11388852" cy="259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0" i="0">
                <a:solidFill>
                  <a:srgbClr val="7F7F7F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abeçalho L1"/>
          <p:cNvSpPr>
            <a:spLocks noGrp="1"/>
          </p:cNvSpPr>
          <p:nvPr>
            <p:ph type="body" sz="quarter" idx="10"/>
          </p:nvPr>
        </p:nvSpPr>
        <p:spPr>
          <a:xfrm>
            <a:off x="571500" y="868680"/>
            <a:ext cx="5527548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1" i="0">
                <a:solidFill>
                  <a:srgbClr val="1A1A1A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5" name="Linha L1"/>
          <p:cNvCxnSpPr/>
          <p:nvPr userDrawn="1"/>
        </p:nvCxnSpPr>
        <p:spPr>
          <a:xfrm>
            <a:off x="566928" y="1261872"/>
            <a:ext cx="5532120" cy="0"/>
          </a:xfrm>
          <a:prstGeom prst="line">
            <a:avLst/>
          </a:prstGeom>
          <a:ln w="9525">
            <a:solidFill>
              <a:srgbClr val="7AC143"/>
            </a:solidFill>
          </a:ln>
        </p:spPr>
      </p:cxnSp>
      <p:sp>
        <p:nvSpPr>
          <p:cNvPr id="6" name="Descrição L1"/>
          <p:cNvSpPr>
            <a:spLocks noGrp="1"/>
          </p:cNvSpPr>
          <p:nvPr>
            <p:ph type="body" sz="quarter" idx="14"/>
          </p:nvPr>
        </p:nvSpPr>
        <p:spPr>
          <a:xfrm>
            <a:off x="571500" y="1298448"/>
            <a:ext cx="5527548" cy="2468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1">
                <a:solidFill>
                  <a:srgbClr val="6B6B6B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Conteúdo L1"/>
          <p:cNvSpPr>
            <a:spLocks noGrp="1"/>
          </p:cNvSpPr>
          <p:nvPr>
            <p:ph sz="quarter" idx="30"/>
          </p:nvPr>
        </p:nvSpPr>
        <p:spPr>
          <a:xfrm>
            <a:off x="571500" y="1545336"/>
            <a:ext cx="5524500" cy="19796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>
                <a:solidFill>
                  <a:srgbClr val="595959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Cabeçalho R1"/>
          <p:cNvSpPr>
            <a:spLocks noGrp="1"/>
          </p:cNvSpPr>
          <p:nvPr>
            <p:ph type="body" sz="quarter" idx="11"/>
          </p:nvPr>
        </p:nvSpPr>
        <p:spPr>
          <a:xfrm>
            <a:off x="6428232" y="868680"/>
            <a:ext cx="5532120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1" i="0">
                <a:solidFill>
                  <a:srgbClr val="1A1A1A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9" name="Linha R1"/>
          <p:cNvCxnSpPr/>
          <p:nvPr userDrawn="1"/>
        </p:nvCxnSpPr>
        <p:spPr>
          <a:xfrm>
            <a:off x="6428232" y="1261872"/>
            <a:ext cx="5532120" cy="0"/>
          </a:xfrm>
          <a:prstGeom prst="line">
            <a:avLst/>
          </a:prstGeom>
          <a:ln w="9525">
            <a:solidFill>
              <a:srgbClr val="7AC143"/>
            </a:solidFill>
          </a:ln>
        </p:spPr>
      </p:cxnSp>
      <p:sp>
        <p:nvSpPr>
          <p:cNvPr id="10" name="Descrição R1"/>
          <p:cNvSpPr>
            <a:spLocks noGrp="1"/>
          </p:cNvSpPr>
          <p:nvPr>
            <p:ph type="body" sz="quarter" idx="15"/>
          </p:nvPr>
        </p:nvSpPr>
        <p:spPr>
          <a:xfrm>
            <a:off x="6428232" y="1298448"/>
            <a:ext cx="553212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1">
                <a:solidFill>
                  <a:srgbClr val="6B6B6B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údo R1"/>
          <p:cNvSpPr>
            <a:spLocks noGrp="1"/>
          </p:cNvSpPr>
          <p:nvPr>
            <p:ph sz="quarter" idx="31"/>
          </p:nvPr>
        </p:nvSpPr>
        <p:spPr>
          <a:xfrm>
            <a:off x="6428232" y="1545336"/>
            <a:ext cx="5532120" cy="19796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>
                <a:solidFill>
                  <a:srgbClr val="595959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3" name="Linha L2"/>
          <p:cNvCxnSpPr>
            <a:cxnSpLocks/>
          </p:cNvCxnSpPr>
          <p:nvPr userDrawn="1"/>
        </p:nvCxnSpPr>
        <p:spPr>
          <a:xfrm>
            <a:off x="566928" y="4119372"/>
            <a:ext cx="11396472" cy="0"/>
          </a:xfrm>
          <a:prstGeom prst="line">
            <a:avLst/>
          </a:prstGeom>
          <a:ln w="9525">
            <a:solidFill>
              <a:srgbClr val="7AC143"/>
            </a:solidFill>
          </a:ln>
        </p:spPr>
      </p:cxnSp>
      <p:sp>
        <p:nvSpPr>
          <p:cNvPr id="14" name="Descrição L2"/>
          <p:cNvSpPr>
            <a:spLocks noGrp="1"/>
          </p:cNvSpPr>
          <p:nvPr>
            <p:ph type="body" sz="quarter" idx="16"/>
          </p:nvPr>
        </p:nvSpPr>
        <p:spPr>
          <a:xfrm>
            <a:off x="571500" y="4168392"/>
            <a:ext cx="553212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1">
                <a:solidFill>
                  <a:srgbClr val="6B6B6B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Cabeçalho R2"/>
          <p:cNvSpPr>
            <a:spLocks noGrp="1"/>
          </p:cNvSpPr>
          <p:nvPr>
            <p:ph type="body" sz="quarter" idx="13"/>
          </p:nvPr>
        </p:nvSpPr>
        <p:spPr>
          <a:xfrm>
            <a:off x="571500" y="3776560"/>
            <a:ext cx="5532120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1" i="0">
                <a:solidFill>
                  <a:srgbClr val="1A1A1A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Linha R2"/>
          <p:cNvCxnSpPr/>
          <p:nvPr userDrawn="1"/>
        </p:nvCxnSpPr>
        <p:spPr>
          <a:xfrm>
            <a:off x="6428232" y="7564229"/>
            <a:ext cx="5532120" cy="0"/>
          </a:xfrm>
          <a:prstGeom prst="line">
            <a:avLst/>
          </a:prstGeom>
          <a:ln w="9525">
            <a:solidFill>
              <a:srgbClr val="7AC143"/>
            </a:solidFill>
          </a:ln>
        </p:spPr>
      </p:cxnSp>
      <p:sp>
        <p:nvSpPr>
          <p:cNvPr id="18" name="Descrição R2"/>
          <p:cNvSpPr>
            <a:spLocks noGrp="1"/>
          </p:cNvSpPr>
          <p:nvPr>
            <p:ph type="body" sz="quarter" idx="17"/>
          </p:nvPr>
        </p:nvSpPr>
        <p:spPr>
          <a:xfrm>
            <a:off x="6428232" y="7600805"/>
            <a:ext cx="553212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1">
                <a:solidFill>
                  <a:srgbClr val="6B6B6B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Conteúdo R2"/>
          <p:cNvSpPr>
            <a:spLocks noGrp="1"/>
          </p:cNvSpPr>
          <p:nvPr>
            <p:ph sz="quarter" idx="33"/>
          </p:nvPr>
        </p:nvSpPr>
        <p:spPr>
          <a:xfrm>
            <a:off x="571500" y="4421704"/>
            <a:ext cx="3749040" cy="19796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>
                <a:solidFill>
                  <a:srgbClr val="595959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Fontes"/>
          <p:cNvSpPr>
            <a:spLocks noGrp="1"/>
          </p:cNvSpPr>
          <p:nvPr>
            <p:ph type="body" sz="quarter" idx="20"/>
          </p:nvPr>
        </p:nvSpPr>
        <p:spPr>
          <a:xfrm>
            <a:off x="566928" y="6556248"/>
            <a:ext cx="777240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00" b="0" i="0">
                <a:solidFill>
                  <a:srgbClr val="A6A6A6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Conteúdo R2">
            <a:extLst>
              <a:ext uri="{FF2B5EF4-FFF2-40B4-BE49-F238E27FC236}">
                <a16:creationId xmlns:a16="http://schemas.microsoft.com/office/drawing/2014/main" id="{C20F45A2-CC70-86CA-D254-970E22AF0660}"/>
              </a:ext>
            </a:extLst>
          </p:cNvPr>
          <p:cNvSpPr>
            <a:spLocks noGrp="1"/>
          </p:cNvSpPr>
          <p:nvPr>
            <p:ph sz="quarter" idx="34"/>
          </p:nvPr>
        </p:nvSpPr>
        <p:spPr>
          <a:xfrm>
            <a:off x="4383678" y="4418693"/>
            <a:ext cx="3749040" cy="19796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>
                <a:solidFill>
                  <a:srgbClr val="595959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Conteúdo R2">
            <a:extLst>
              <a:ext uri="{FF2B5EF4-FFF2-40B4-BE49-F238E27FC236}">
                <a16:creationId xmlns:a16="http://schemas.microsoft.com/office/drawing/2014/main" id="{626C2B49-63EF-6B3E-66FE-3A88E630EBA1}"/>
              </a:ext>
            </a:extLst>
          </p:cNvPr>
          <p:cNvSpPr>
            <a:spLocks noGrp="1"/>
          </p:cNvSpPr>
          <p:nvPr>
            <p:ph sz="quarter" idx="35"/>
          </p:nvPr>
        </p:nvSpPr>
        <p:spPr>
          <a:xfrm>
            <a:off x="8199737" y="4418693"/>
            <a:ext cx="3749040" cy="19796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>
                <a:solidFill>
                  <a:srgbClr val="595959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1214800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lbras | 2 blo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566928" y="91440"/>
            <a:ext cx="9646920" cy="42062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i="0">
                <a:solidFill>
                  <a:srgbClr val="009F4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pt-BR" dirty="0"/>
          </a:p>
        </p:txBody>
      </p:sp>
      <p:sp>
        <p:nvSpPr>
          <p:cNvPr id="3" name="Subtítulo"/>
          <p:cNvSpPr>
            <a:spLocks noGrp="1"/>
          </p:cNvSpPr>
          <p:nvPr>
            <p:ph type="body" sz="quarter" idx="1"/>
          </p:nvPr>
        </p:nvSpPr>
        <p:spPr>
          <a:xfrm>
            <a:off x="566928" y="502920"/>
            <a:ext cx="11393424" cy="2468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0" i="0">
                <a:solidFill>
                  <a:srgbClr val="7F7F7F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abeçalho F1"/>
          <p:cNvSpPr>
            <a:spLocks noGrp="1"/>
          </p:cNvSpPr>
          <p:nvPr>
            <p:ph type="body" sz="quarter" idx="10"/>
          </p:nvPr>
        </p:nvSpPr>
        <p:spPr>
          <a:xfrm>
            <a:off x="566928" y="868680"/>
            <a:ext cx="11393424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1" i="0">
                <a:solidFill>
                  <a:srgbClr val="1A1A1A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5" name="Linha F1"/>
          <p:cNvCxnSpPr/>
          <p:nvPr userDrawn="1"/>
        </p:nvCxnSpPr>
        <p:spPr>
          <a:xfrm>
            <a:off x="566928" y="1261872"/>
            <a:ext cx="11393424" cy="0"/>
          </a:xfrm>
          <a:prstGeom prst="line">
            <a:avLst/>
          </a:prstGeom>
          <a:ln w="9525">
            <a:solidFill>
              <a:srgbClr val="7AC143"/>
            </a:solidFill>
          </a:ln>
        </p:spPr>
      </p:cxnSp>
      <p:sp>
        <p:nvSpPr>
          <p:cNvPr id="6" name="Descrição F1"/>
          <p:cNvSpPr>
            <a:spLocks noGrp="1"/>
          </p:cNvSpPr>
          <p:nvPr>
            <p:ph type="body" sz="quarter" idx="14" hasCustomPrompt="1"/>
          </p:nvPr>
        </p:nvSpPr>
        <p:spPr>
          <a:xfrm>
            <a:off x="566928" y="1298448"/>
            <a:ext cx="11393424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1">
                <a:solidFill>
                  <a:srgbClr val="6B6B6B"/>
                </a:solidFill>
                <a:latin typeface="+mn-lt"/>
              </a:defRPr>
            </a:lvl1pPr>
          </a:lstStyle>
          <a:p>
            <a:r>
              <a:rPr lang="pt-BR" dirty="0"/>
              <a:t>Descrição do gráfico (métrica, período, unidade)</a:t>
            </a:r>
          </a:p>
        </p:txBody>
      </p:sp>
      <p:sp>
        <p:nvSpPr>
          <p:cNvPr id="7" name="Conteúdo F1"/>
          <p:cNvSpPr>
            <a:spLocks noGrp="1"/>
          </p:cNvSpPr>
          <p:nvPr>
            <p:ph sz="quarter" idx="30"/>
          </p:nvPr>
        </p:nvSpPr>
        <p:spPr>
          <a:xfrm>
            <a:off x="566928" y="1545336"/>
            <a:ext cx="11393424" cy="19796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>
                <a:solidFill>
                  <a:srgbClr val="595959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Cabeçalho F2"/>
          <p:cNvSpPr>
            <a:spLocks noGrp="1"/>
          </p:cNvSpPr>
          <p:nvPr>
            <p:ph type="body" sz="quarter" idx="12"/>
          </p:nvPr>
        </p:nvSpPr>
        <p:spPr>
          <a:xfrm>
            <a:off x="566928" y="3726180"/>
            <a:ext cx="11393424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1" i="0">
                <a:solidFill>
                  <a:srgbClr val="1A1A1A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9" name="Linha F2"/>
          <p:cNvCxnSpPr/>
          <p:nvPr userDrawn="1"/>
        </p:nvCxnSpPr>
        <p:spPr>
          <a:xfrm>
            <a:off x="566928" y="4119372"/>
            <a:ext cx="11393424" cy="0"/>
          </a:xfrm>
          <a:prstGeom prst="line">
            <a:avLst/>
          </a:prstGeom>
          <a:ln w="9525">
            <a:solidFill>
              <a:srgbClr val="7AC143"/>
            </a:solidFill>
          </a:ln>
        </p:spPr>
      </p:cxnSp>
      <p:sp>
        <p:nvSpPr>
          <p:cNvPr id="10" name="Descrição F2"/>
          <p:cNvSpPr>
            <a:spLocks noGrp="1"/>
          </p:cNvSpPr>
          <p:nvPr>
            <p:ph type="body" sz="quarter" idx="16" hasCustomPrompt="1"/>
          </p:nvPr>
        </p:nvSpPr>
        <p:spPr>
          <a:xfrm>
            <a:off x="566928" y="4155948"/>
            <a:ext cx="11393424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1">
                <a:solidFill>
                  <a:srgbClr val="6B6B6B"/>
                </a:solidFill>
                <a:latin typeface="+mn-lt"/>
              </a:defRPr>
            </a:lvl1pPr>
          </a:lstStyle>
          <a:p>
            <a:r>
              <a:rPr lang="pt-BR" dirty="0"/>
              <a:t>Descrição do gráfico (métrica, período, unidade)</a:t>
            </a:r>
          </a:p>
        </p:txBody>
      </p:sp>
      <p:sp>
        <p:nvSpPr>
          <p:cNvPr id="11" name="Conteúdo F2"/>
          <p:cNvSpPr>
            <a:spLocks noGrp="1"/>
          </p:cNvSpPr>
          <p:nvPr>
            <p:ph sz="quarter" idx="32"/>
          </p:nvPr>
        </p:nvSpPr>
        <p:spPr>
          <a:xfrm>
            <a:off x="566928" y="4402836"/>
            <a:ext cx="11393424" cy="19796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>
                <a:solidFill>
                  <a:srgbClr val="595959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Fontes"/>
          <p:cNvSpPr>
            <a:spLocks noGrp="1"/>
          </p:cNvSpPr>
          <p:nvPr>
            <p:ph type="body" sz="quarter" idx="20"/>
          </p:nvPr>
        </p:nvSpPr>
        <p:spPr>
          <a:xfrm>
            <a:off x="566928" y="6556248"/>
            <a:ext cx="777240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00" b="0" i="0">
                <a:solidFill>
                  <a:srgbClr val="A6A6A6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136167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Intelbras | 4 quadran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566928" y="10160"/>
            <a:ext cx="9646920" cy="42062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i="0">
                <a:solidFill>
                  <a:srgbClr val="009F4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pt-BR" dirty="0"/>
          </a:p>
        </p:txBody>
      </p:sp>
      <p:sp>
        <p:nvSpPr>
          <p:cNvPr id="3" name="Subtítulo"/>
          <p:cNvSpPr>
            <a:spLocks noGrp="1"/>
          </p:cNvSpPr>
          <p:nvPr>
            <p:ph type="body" sz="quarter" idx="1"/>
          </p:nvPr>
        </p:nvSpPr>
        <p:spPr>
          <a:xfrm>
            <a:off x="571500" y="502920"/>
            <a:ext cx="11388852" cy="259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0" i="0">
                <a:solidFill>
                  <a:srgbClr val="7F7F7F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abeçalho L1"/>
          <p:cNvSpPr>
            <a:spLocks noGrp="1"/>
          </p:cNvSpPr>
          <p:nvPr>
            <p:ph type="body" sz="quarter" idx="10"/>
          </p:nvPr>
        </p:nvSpPr>
        <p:spPr>
          <a:xfrm>
            <a:off x="571500" y="868680"/>
            <a:ext cx="5527548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1" i="0">
                <a:solidFill>
                  <a:srgbClr val="1A1A1A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5" name="Linha L1"/>
          <p:cNvCxnSpPr/>
          <p:nvPr userDrawn="1"/>
        </p:nvCxnSpPr>
        <p:spPr>
          <a:xfrm>
            <a:off x="566928" y="1261872"/>
            <a:ext cx="5532120" cy="0"/>
          </a:xfrm>
          <a:prstGeom prst="line">
            <a:avLst/>
          </a:prstGeom>
          <a:ln w="9525">
            <a:solidFill>
              <a:srgbClr val="7AC143"/>
            </a:solidFill>
          </a:ln>
        </p:spPr>
      </p:cxnSp>
      <p:sp>
        <p:nvSpPr>
          <p:cNvPr id="6" name="Descrição L1"/>
          <p:cNvSpPr>
            <a:spLocks noGrp="1"/>
          </p:cNvSpPr>
          <p:nvPr>
            <p:ph type="body" sz="quarter" idx="14"/>
          </p:nvPr>
        </p:nvSpPr>
        <p:spPr>
          <a:xfrm>
            <a:off x="571500" y="1298448"/>
            <a:ext cx="5527548" cy="2468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1">
                <a:solidFill>
                  <a:srgbClr val="6B6B6B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Conteúdo L1"/>
          <p:cNvSpPr>
            <a:spLocks noGrp="1"/>
          </p:cNvSpPr>
          <p:nvPr>
            <p:ph sz="quarter" idx="30"/>
          </p:nvPr>
        </p:nvSpPr>
        <p:spPr>
          <a:xfrm>
            <a:off x="571500" y="1545336"/>
            <a:ext cx="5524500" cy="19796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>
                <a:solidFill>
                  <a:srgbClr val="595959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Cabeçalho R1"/>
          <p:cNvSpPr>
            <a:spLocks noGrp="1"/>
          </p:cNvSpPr>
          <p:nvPr>
            <p:ph type="body" sz="quarter" idx="11"/>
          </p:nvPr>
        </p:nvSpPr>
        <p:spPr>
          <a:xfrm>
            <a:off x="6428232" y="868680"/>
            <a:ext cx="5532120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1" i="0">
                <a:solidFill>
                  <a:srgbClr val="1A1A1A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9" name="Linha R1"/>
          <p:cNvCxnSpPr/>
          <p:nvPr userDrawn="1"/>
        </p:nvCxnSpPr>
        <p:spPr>
          <a:xfrm>
            <a:off x="6428232" y="1261872"/>
            <a:ext cx="5532120" cy="0"/>
          </a:xfrm>
          <a:prstGeom prst="line">
            <a:avLst/>
          </a:prstGeom>
          <a:ln w="9525">
            <a:solidFill>
              <a:srgbClr val="7AC143"/>
            </a:solidFill>
          </a:ln>
        </p:spPr>
      </p:cxnSp>
      <p:sp>
        <p:nvSpPr>
          <p:cNvPr id="10" name="Descrição R1"/>
          <p:cNvSpPr>
            <a:spLocks noGrp="1"/>
          </p:cNvSpPr>
          <p:nvPr>
            <p:ph type="body" sz="quarter" idx="15"/>
          </p:nvPr>
        </p:nvSpPr>
        <p:spPr>
          <a:xfrm>
            <a:off x="6428232" y="1298448"/>
            <a:ext cx="553212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1">
                <a:solidFill>
                  <a:srgbClr val="6B6B6B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údo R1"/>
          <p:cNvSpPr>
            <a:spLocks noGrp="1"/>
          </p:cNvSpPr>
          <p:nvPr>
            <p:ph sz="quarter" idx="31"/>
          </p:nvPr>
        </p:nvSpPr>
        <p:spPr>
          <a:xfrm>
            <a:off x="6428232" y="1545336"/>
            <a:ext cx="5532120" cy="19796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>
                <a:solidFill>
                  <a:srgbClr val="595959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abeçalho L2"/>
          <p:cNvSpPr>
            <a:spLocks noGrp="1"/>
          </p:cNvSpPr>
          <p:nvPr>
            <p:ph type="body" sz="quarter" idx="12"/>
          </p:nvPr>
        </p:nvSpPr>
        <p:spPr>
          <a:xfrm>
            <a:off x="566928" y="3726180"/>
            <a:ext cx="5532120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1" i="0">
                <a:solidFill>
                  <a:srgbClr val="1A1A1A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3" name="Linha L2"/>
          <p:cNvCxnSpPr/>
          <p:nvPr userDrawn="1"/>
        </p:nvCxnSpPr>
        <p:spPr>
          <a:xfrm>
            <a:off x="566928" y="4119372"/>
            <a:ext cx="5532120" cy="0"/>
          </a:xfrm>
          <a:prstGeom prst="line">
            <a:avLst/>
          </a:prstGeom>
          <a:ln w="9525">
            <a:solidFill>
              <a:srgbClr val="7AC143"/>
            </a:solidFill>
          </a:ln>
        </p:spPr>
      </p:cxnSp>
      <p:sp>
        <p:nvSpPr>
          <p:cNvPr id="14" name="Descrição L2"/>
          <p:cNvSpPr>
            <a:spLocks noGrp="1"/>
          </p:cNvSpPr>
          <p:nvPr>
            <p:ph type="body" sz="quarter" idx="16"/>
          </p:nvPr>
        </p:nvSpPr>
        <p:spPr>
          <a:xfrm>
            <a:off x="566928" y="4155948"/>
            <a:ext cx="553212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1">
                <a:solidFill>
                  <a:srgbClr val="6B6B6B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Conteúdo L2"/>
          <p:cNvSpPr>
            <a:spLocks noGrp="1"/>
          </p:cNvSpPr>
          <p:nvPr>
            <p:ph sz="quarter" idx="32"/>
          </p:nvPr>
        </p:nvSpPr>
        <p:spPr>
          <a:xfrm>
            <a:off x="566928" y="4402836"/>
            <a:ext cx="5532120" cy="19796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>
                <a:solidFill>
                  <a:srgbClr val="595959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Cabeçalho R2"/>
          <p:cNvSpPr>
            <a:spLocks noGrp="1"/>
          </p:cNvSpPr>
          <p:nvPr>
            <p:ph type="body" sz="quarter" idx="13"/>
          </p:nvPr>
        </p:nvSpPr>
        <p:spPr>
          <a:xfrm>
            <a:off x="6428232" y="3726180"/>
            <a:ext cx="5532120" cy="365760"/>
          </a:xfrm>
          <a:prstGeom prst="rect">
            <a:avLst/>
          </a:prstGeom>
          <a:noFill/>
        </p:spPr>
        <p:txBody>
          <a:bodyPr wrap="square" lIns="0" tIns="0" rIns="0" bIns="0" anchor="b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1" i="0">
                <a:solidFill>
                  <a:srgbClr val="1A1A1A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Linha R2"/>
          <p:cNvCxnSpPr/>
          <p:nvPr userDrawn="1"/>
        </p:nvCxnSpPr>
        <p:spPr>
          <a:xfrm>
            <a:off x="6428232" y="4119372"/>
            <a:ext cx="5532120" cy="0"/>
          </a:xfrm>
          <a:prstGeom prst="line">
            <a:avLst/>
          </a:prstGeom>
          <a:ln w="9525">
            <a:solidFill>
              <a:srgbClr val="7AC143"/>
            </a:solidFill>
          </a:ln>
        </p:spPr>
      </p:cxnSp>
      <p:sp>
        <p:nvSpPr>
          <p:cNvPr id="18" name="Descrição R2"/>
          <p:cNvSpPr>
            <a:spLocks noGrp="1"/>
          </p:cNvSpPr>
          <p:nvPr>
            <p:ph type="body" sz="quarter" idx="17"/>
          </p:nvPr>
        </p:nvSpPr>
        <p:spPr>
          <a:xfrm>
            <a:off x="6428232" y="4155948"/>
            <a:ext cx="553212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1">
                <a:solidFill>
                  <a:srgbClr val="6B6B6B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Conteúdo R2"/>
          <p:cNvSpPr>
            <a:spLocks noGrp="1"/>
          </p:cNvSpPr>
          <p:nvPr>
            <p:ph sz="quarter" idx="33"/>
          </p:nvPr>
        </p:nvSpPr>
        <p:spPr>
          <a:xfrm>
            <a:off x="6428232" y="4402836"/>
            <a:ext cx="5532120" cy="19796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>
                <a:solidFill>
                  <a:srgbClr val="595959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Fontes"/>
          <p:cNvSpPr>
            <a:spLocks noGrp="1"/>
          </p:cNvSpPr>
          <p:nvPr>
            <p:ph type="body" sz="quarter" idx="20"/>
          </p:nvPr>
        </p:nvSpPr>
        <p:spPr>
          <a:xfrm>
            <a:off x="566928" y="6556248"/>
            <a:ext cx="777240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00" b="0" i="0">
                <a:solidFill>
                  <a:srgbClr val="A6A6A6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0316264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png"/><Relationship Id="rId8" Type="http://schemas.microsoft.com/office/2007/relationships/hdphoto" Target="../media/hdphoto1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Rectangle 45">
            <a:extLst>
              <a:ext uri="{FF2B5EF4-FFF2-40B4-BE49-F238E27FC236}">
                <a16:creationId xmlns:a16="http://schemas.microsoft.com/office/drawing/2014/main" id="{FEAF86BB-950D-C028-EE25-EAF6B2091A5D}"/>
              </a:ext>
            </a:extLst>
          </p:cNvPr>
          <p:cNvSpPr/>
          <p:nvPr userDrawn="1"/>
        </p:nvSpPr>
        <p:spPr>
          <a:xfrm rot="10800000" flipH="1">
            <a:off x="0" y="2431"/>
            <a:ext cx="346464" cy="6858000"/>
          </a:xfrm>
          <a:prstGeom prst="rect">
            <a:avLst/>
          </a:prstGeom>
          <a:gradFill>
            <a:gsLst>
              <a:gs pos="19000">
                <a:srgbClr val="035144"/>
              </a:gs>
              <a:gs pos="95000">
                <a:srgbClr val="00D054"/>
              </a:gs>
              <a:gs pos="76000">
                <a:srgbClr val="009F4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43" name="Connector 43">
            <a:extLst>
              <a:ext uri="{FF2B5EF4-FFF2-40B4-BE49-F238E27FC236}">
                <a16:creationId xmlns:a16="http://schemas.microsoft.com/office/drawing/2014/main" id="{0C1F9473-D70C-D468-BBA5-C37F5F700542}"/>
              </a:ext>
            </a:extLst>
          </p:cNvPr>
          <p:cNvCxnSpPr>
            <a:cxnSpLocks/>
          </p:cNvCxnSpPr>
          <p:nvPr userDrawn="1"/>
        </p:nvCxnSpPr>
        <p:spPr>
          <a:xfrm>
            <a:off x="566928" y="6515100"/>
            <a:ext cx="11393424" cy="0"/>
          </a:xfrm>
          <a:prstGeom prst="line">
            <a:avLst/>
          </a:prstGeom>
          <a:ln w="12700">
            <a:solidFill>
              <a:srgbClr val="76B900"/>
            </a:solidFill>
          </a:ln>
        </p:spPr>
      </p:cxnSp>
      <p:pic>
        <p:nvPicPr>
          <p:cNvPr id="52" name="Picture 51">
            <a:extLst>
              <a:ext uri="{FF2B5EF4-FFF2-40B4-BE49-F238E27FC236}">
                <a16:creationId xmlns:a16="http://schemas.microsoft.com/office/drawing/2014/main" id="{9DE3E556-E840-AC70-8618-F06E954425CA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10000" b="90000" l="10000" r="90000">
                        <a14:foregroundMark x1="17266" y1="39861" x2="17266" y2="39861"/>
                        <a14:foregroundMark x1="17266" y1="45000" x2="17266" y2="45000"/>
                        <a14:foregroundMark x1="20391" y1="55694" x2="20391" y2="55694"/>
                        <a14:foregroundMark x1="30391" y1="49306" x2="30391" y2="49306"/>
                        <a14:foregroundMark x1="41250" y1="51111" x2="41250" y2="51111"/>
                        <a14:foregroundMark x1="46797" y1="53194" x2="46797" y2="53194"/>
                        <a14:foregroundMark x1="62266" y1="53194" x2="62266" y2="53194"/>
                        <a14:foregroundMark x1="72734" y1="58056" x2="72734" y2="58056"/>
                        <a14:foregroundMark x1="81719" y1="59167" x2="81719" y2="59167"/>
                        <a14:backgroundMark x1="38984" y1="50278" x2="38984" y2="50278"/>
                      </a14:backgroundRemoval>
                    </a14:imgEffect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08894" y="-373028"/>
            <a:ext cx="1919326" cy="10796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15684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0" r:id="rId5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032">
          <p15:clr>
            <a:srgbClr val="F26B43"/>
          </p15:clr>
        </p15:guide>
        <p15:guide id="3" pos="216">
          <p15:clr>
            <a:srgbClr val="F26B43"/>
          </p15:clr>
        </p15:guide>
        <p15:guide id="4" pos="7536">
          <p15:clr>
            <a:srgbClr val="F26B43"/>
          </p15:clr>
        </p15:guide>
        <p15:guide id="5" orient="horz" pos="480">
          <p15:clr>
            <a:srgbClr val="F26B43"/>
          </p15:clr>
        </p15:guide>
        <p15:guide id="6" orient="horz" pos="4104">
          <p15:clr>
            <a:srgbClr val="F26B43"/>
          </p15:clr>
        </p15:guide>
        <p15:guide id="8" pos="3840">
          <p15:clr>
            <a:srgbClr val="F26B43"/>
          </p15:clr>
        </p15:guide>
        <p15:guide id="9" pos="360">
          <p15:clr>
            <a:srgbClr val="F26B43"/>
          </p15:clr>
        </p15:guide>
        <p15:guide id="10" pos="4032">
          <p15:clr>
            <a:srgbClr val="F26B43"/>
          </p15:clr>
        </p15:guide>
        <p15:guide id="11" orient="horz" pos="2232">
          <p15:clr>
            <a:srgbClr val="F26B43"/>
          </p15:clr>
        </p15:guide>
      </p15:sldGuideLst>
    </p:ext>
  </p:extLst>
</p:sldMaster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Relationship Id="rId4" Type="http://schemas.openxmlformats.org/officeDocument/2006/relationships/chart" Target="../charts/chart6.xml"/><Relationship Id="rId5" Type="http://schemas.openxmlformats.org/officeDocument/2006/relationships/chart" Target="../charts/chart7.xml"/><Relationship Id="rId6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8.xml"/><Relationship Id="rId3" Type="http://schemas.openxmlformats.org/officeDocument/2006/relationships/chart" Target="../charts/chart9.xml"/><Relationship Id="rId4" Type="http://schemas.openxmlformats.org/officeDocument/2006/relationships/chart" Target="../charts/chart10.xml"/><Relationship Id="rId5" Type="http://schemas.openxmlformats.org/officeDocument/2006/relationships/notesSlide" Target="../notesSlides/notesSlide2.xml"/></Relationships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Fornecedores: tomadora de preço de oligopólios globais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Quase todo o custo é insumo importado e dolarizado, vendido por poucos gigantes: a Intelbras aceita o preço na origem e se protege com estoque e hedge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I. 85% do custo é insumo comprado, quase todo no exterior e atrelado ao dólar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Peso da dependência externa em três medidas, 2025 (%)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II. Quem vende é oligopólio: poucos fabricantes de chips, memória e câmeras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Participação no mercado global dos maiores fabricantes (%)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III. O dólar entra pelo custo, e o hedge cobre só metade da conta a pagar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Exposição cambial do balanço em dólar, 31/12/2025 (R$ milhões)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IV. Sem barganha, a Intelbras se protege com estoque e financia a diferença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Dias de estoque vs prazo médio pago aos fornecedores (dias de CPV)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Fontes: Intelbras DFP 2025 (NE 8, 14, 25 e 27) e FRE 2026 (itens 1.4.e e 2.2); TrendForce (fundição 2025; DRAM 3T25); Security World Market/Novaira Insights (câmeras de rede 2024). Dias = estoque e fornecedores (incl. risco sacado) ÷ CPV × 365.</a:t>
            </a:r>
          </a:p>
        </p:txBody>
      </p:sp>
      <p:graphicFrame>
        <p:nvGraphicFramePr>
          <p:cNvPr id="17" name="Grafico dependencia externa"/>
          <p:cNvGraphicFramePr>
            <a:graphicFrameLocks noGrp="1"/>
          </p:cNvGraphicFramePr>
          <p:nvPr/>
        </p:nvGraphicFramePr>
        <p:xfrm>
          <a:off x="566928" y="1591056"/>
          <a:ext cx="5532120" cy="1892807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8" name="Grafico oligopolios"/>
          <p:cNvGraphicFramePr>
            <a:graphicFrameLocks noGrp="1"/>
          </p:cNvGraphicFramePr>
          <p:nvPr/>
        </p:nvGraphicFramePr>
        <p:xfrm>
          <a:off x="6428232" y="1591056"/>
          <a:ext cx="5532120" cy="1572768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Citacao chipsets"/>
          <p:cNvSpPr txBox="1"/>
          <p:nvPr/>
        </p:nvSpPr>
        <p:spPr>
          <a:xfrm>
            <a:off x="6428232" y="3191256"/>
            <a:ext cx="55321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1">
                <a:solidFill>
                  <a:srgbClr val="6B6B6B"/>
                </a:solidFill>
              </a:rPr>
              <a:t>“Existem poucas opções para escolha ou mudança dos chipsets”: trocar de fornecedor pode suspender parte da produção </a:t>
            </a:r>
            <a:r>
              <a:rPr sz="900" b="0" i="0">
                <a:solidFill>
                  <a:srgbClr val="6B6B6B"/>
                </a:solidFill>
              </a:rPr>
              <a:t>(FRE 2026)</a:t>
            </a:r>
          </a:p>
        </p:txBody>
      </p:sp>
      <p:graphicFrame>
        <p:nvGraphicFramePr>
          <p:cNvPr id="20" name="Grafico exposicao cambial"/>
          <p:cNvGraphicFramePr>
            <a:graphicFrameLocks noGrp="1"/>
          </p:cNvGraphicFramePr>
          <p:nvPr/>
        </p:nvGraphicFramePr>
        <p:xfrm>
          <a:off x="566928" y="4407408"/>
          <a:ext cx="3611880" cy="1984248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21" name="Callout sensibilidade cambial"/>
          <p:cNvSpPr txBox="1"/>
          <p:nvPr/>
        </p:nvSpPr>
        <p:spPr>
          <a:xfrm>
            <a:off x="4361688" y="4544568"/>
            <a:ext cx="1737360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</a:rPr>
              <a:t>+R$249 mi</a:t>
            </a:r>
          </a:p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95959"/>
                </a:solidFill>
              </a:rPr>
              <a:t>de custo por ano a cada +10% no dólar</a:t>
            </a:r>
          </a:p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009F41"/>
                </a:solidFill>
              </a:rPr>
              <a:t>= −5,6 p.p. </a:t>
            </a:r>
            <a:r>
              <a:rPr sz="1000" b="0" i="0">
                <a:solidFill>
                  <a:srgbClr val="595959"/>
                </a:solidFill>
              </a:rPr>
              <a:t>de margem bruta se não for repassado ao preço</a:t>
            </a:r>
          </a:p>
        </p:txBody>
      </p:sp>
      <p:graphicFrame>
        <p:nvGraphicFramePr>
          <p:cNvPr id="22" name="Grafico estoque vs prazo"/>
          <p:cNvGraphicFramePr>
            <a:graphicFrameLocks noGrp="1"/>
          </p:cNvGraphicFramePr>
          <p:nvPr/>
        </p:nvGraphicFramePr>
        <p:xfrm>
          <a:off x="6428232" y="4407408"/>
          <a:ext cx="3794760" cy="1984248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23" name="Callout gap estoque"/>
          <p:cNvSpPr txBox="1"/>
          <p:nvPr/>
        </p:nvSpPr>
        <p:spPr>
          <a:xfrm>
            <a:off x="10360152" y="4544568"/>
            <a:ext cx="1600200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009F41"/>
                </a:solidFill>
              </a:rPr>
              <a:t>50–70 dias</a:t>
            </a:r>
          </a:p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95959"/>
                </a:solidFill>
              </a:rPr>
              <a:t>de compras que a Intelbras carrega no balanço</a:t>
            </a:r>
          </a:p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</a:rPr>
              <a:t>≈R$0,4 bi </a:t>
            </a:r>
            <a:r>
              <a:rPr sz="1000" b="0" i="0">
                <a:solidFill>
                  <a:srgbClr val="595959"/>
                </a:solidFill>
              </a:rPr>
              <a:t>de capital de giro em 2025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Dahua: a parceria que sustenta Segurança está perdendo força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A Dahua troca tecnologia e crédito pelo canal da Intelbras, mas a compra relativa cai, a Dahua sai do capital e o acordo vence em dez/2028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I. Por que Dahua: câmera é corrida de P&amp;D, e a Intelbras não tem escala sozinha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Investimento anual em P&amp;D (US$ milhões) e posição no mercado global de câmeras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II. A troca: tecnologia e crédito da Dahua pelo canal e pelo volume da Intelbras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Acordo de Cooperação (dez/2018 → dez/2028) e o que cada lado entrega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III. A Intelbras compra menos da Dahua, mas depende mais do crédito dela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Dahua em % do CPV consolidado e do saldo de fornecedores (incl. risco sacado)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IV. A Dahua sai do capital e ganha presença própria: 2028 vira risco de renovação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Participação da Dahua no capital da Intelbras (%) e marcos da relação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Fontes: Intelbras DFPs 2021–2025 (NE partes relacionadas e fornecedores), FRE 2026 (1.4.e, 11.3) e Release 2T26; Hikvision (2025), Dahua (2024) e Novaira Insights; Brazil Journal; FilingReader; Dahua Brasil; Teletime. US$ à PTAX média de 2025; RMB/US$ ≈ 7,18.</a:t>
            </a:r>
          </a:p>
        </p:txBody>
      </p:sp>
      <p:graphicFrame>
        <p:nvGraphicFramePr>
          <p:cNvPr id="17" name="Grafico P&amp;D"/>
          <p:cNvGraphicFramePr>
            <a:graphicFrameLocks noGrp="1"/>
          </p:cNvGraphicFramePr>
          <p:nvPr/>
        </p:nvGraphicFramePr>
        <p:xfrm>
          <a:off x="566928" y="1591056"/>
          <a:ext cx="3611880" cy="1892807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8" name="Callout P&amp;D"/>
          <p:cNvSpPr txBox="1"/>
          <p:nvPr/>
        </p:nvSpPr>
        <p:spPr>
          <a:xfrm>
            <a:off x="4361688" y="1636776"/>
            <a:ext cx="173736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009F41"/>
                </a:solidFill>
              </a:rPr>
              <a:t>18x</a:t>
            </a:r>
          </a:p>
          <a:p>
            <a:pPr algn="l">
              <a:spcAft>
                <a:spcPts val="800"/>
              </a:spcAft>
            </a:pPr>
            <a:r>
              <a:rPr sz="1000" b="0" i="0">
                <a:solidFill>
                  <a:srgbClr val="595959"/>
                </a:solidFill>
              </a:rPr>
              <a:t>mais P&amp;D na Dahua do que na Intelbras</a:t>
            </a:r>
          </a:p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1A1A1A"/>
                </a:solidFill>
              </a:rPr>
              <a:t>A alternativa nº 1, Hikvision, </a:t>
            </a:r>
            <a:r>
              <a:rPr sz="1000" b="0" i="0">
                <a:solidFill>
                  <a:srgbClr val="595959"/>
                </a:solidFill>
              </a:rPr>
              <a:t>é concorrente direta no Brasil (via Multilaser)</a:t>
            </a:r>
          </a:p>
        </p:txBody>
      </p:sp>
      <p:sp>
        <p:nvSpPr>
          <p:cNvPr id="19" name="Caixa Intelbras"/>
          <p:cNvSpPr/>
          <p:nvPr/>
        </p:nvSpPr>
        <p:spPr>
          <a:xfrm>
            <a:off x="6428232" y="1636776"/>
            <a:ext cx="1188720" cy="868680"/>
          </a:xfrm>
          <a:prstGeom prst="roundRect">
            <a:avLst>
              <a:gd name="adj" fmla="val 8000"/>
            </a:avLst>
          </a:prstGeom>
          <a:solidFill>
            <a:srgbClr val="009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Intelbras</a:t>
            </a:r>
          </a:p>
          <a:p>
            <a:pPr algn="ctr"/>
            <a:r>
              <a:rPr sz="900">
                <a:solidFill>
                  <a:srgbClr val="FFFFFF"/>
                </a:solidFill>
              </a:rPr>
              <a:t>canal, marca e fábrica local</a:t>
            </a:r>
          </a:p>
        </p:txBody>
      </p:sp>
      <p:sp>
        <p:nvSpPr>
          <p:cNvPr id="20" name="Caixa Dahua"/>
          <p:cNvSpPr/>
          <p:nvPr/>
        </p:nvSpPr>
        <p:spPr>
          <a:xfrm>
            <a:off x="10771632" y="1636776"/>
            <a:ext cx="1188720" cy="868680"/>
          </a:xfrm>
          <a:prstGeom prst="roundRect">
            <a:avLst>
              <a:gd name="adj" fmla="val 8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Dahua</a:t>
            </a:r>
          </a:p>
          <a:p>
            <a:pPr algn="ctr"/>
            <a:r>
              <a:rPr sz="900">
                <a:solidFill>
                  <a:srgbClr val="FFFFFF"/>
                </a:solidFill>
              </a:rPr>
              <a:t>nº 2 mundial em câmeras</a:t>
            </a:r>
          </a:p>
        </p:txBody>
      </p:sp>
      <p:cxnSp>
        <p:nvCxnSpPr>
          <p:cNvPr id="21" name="Connector 20"/>
          <p:cNvCxnSpPr/>
          <p:nvPr/>
        </p:nvCxnSpPr>
        <p:spPr>
          <a:xfrm flipH="1">
            <a:off x="7690104" y="1938528"/>
            <a:ext cx="3008376" cy="0"/>
          </a:xfrm>
          <a:prstGeom prst="line">
            <a:avLst/>
          </a:prstGeom>
          <a:ln w="1905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690104" y="2203704"/>
            <a:ext cx="3008376" cy="0"/>
          </a:xfrm>
          <a:prstGeom prst="line">
            <a:avLst/>
          </a:prstGeom>
          <a:ln w="19050">
            <a:solidFill>
              <a:srgbClr val="009F4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o Dahua entrega"/>
          <p:cNvSpPr txBox="1"/>
          <p:nvPr/>
        </p:nvSpPr>
        <p:spPr>
          <a:xfrm>
            <a:off x="7690104" y="1508760"/>
            <a:ext cx="3008375" cy="3657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 i="0">
                <a:solidFill>
                  <a:srgbClr val="1A1A1A"/>
                </a:solidFill>
              </a:rPr>
              <a:t>Dahua entrega: </a:t>
            </a:r>
            <a:r>
              <a:rPr sz="900" b="0" i="0">
                <a:solidFill>
                  <a:srgbClr val="595959"/>
                </a:solidFill>
              </a:rPr>
              <a:t>plataforma de CFTV e P&amp;D, exclusividade da marca no Brasil e ~7 meses de prazo (R$449 mi)</a:t>
            </a:r>
          </a:p>
        </p:txBody>
      </p:sp>
      <p:sp>
        <p:nvSpPr>
          <p:cNvPr id="24" name="Texto Intelbras entrega"/>
          <p:cNvSpPr txBox="1"/>
          <p:nvPr/>
        </p:nvSpPr>
        <p:spPr>
          <a:xfrm>
            <a:off x="7690104" y="2258568"/>
            <a:ext cx="300837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 i="0">
                <a:solidFill>
                  <a:srgbClr val="009F41"/>
                </a:solidFill>
              </a:rPr>
              <a:t>Intelbras entrega: </a:t>
            </a:r>
            <a:r>
              <a:rPr sz="900" b="0" i="0">
                <a:solidFill>
                  <a:srgbClr val="595959"/>
                </a:solidFill>
              </a:rPr>
              <a:t>~500 distribuidores, 90 mil instaladores e volume garantido (R$729 mi em 2025)</a:t>
            </a:r>
          </a:p>
        </p:txBody>
      </p:sp>
      <p:sp>
        <p:nvSpPr>
          <p:cNvPr id="25" name="Rotulo assimetria"/>
          <p:cNvSpPr txBox="1"/>
          <p:nvPr/>
        </p:nvSpPr>
        <p:spPr>
          <a:xfrm>
            <a:off x="6428232" y="2752344"/>
            <a:ext cx="5532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6B6B6B"/>
                </a:solidFill>
              </a:rPr>
              <a:t>Dependência assimétrica, 2025</a:t>
            </a:r>
          </a:p>
        </p:txBody>
      </p:sp>
      <p:sp>
        <p:nvSpPr>
          <p:cNvPr id="26" name="Moldura assimetria 1"/>
          <p:cNvSpPr/>
          <p:nvPr/>
        </p:nvSpPr>
        <p:spPr>
          <a:xfrm>
            <a:off x="6428232" y="2953512"/>
            <a:ext cx="2692908" cy="548640"/>
          </a:xfrm>
          <a:prstGeom prst="rect">
            <a:avLst/>
          </a:prstGeom>
          <a:noFill/>
          <a:ln w="12700">
            <a:solidFill>
              <a:srgbClr val="009F4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Moldura assimetria 2"/>
          <p:cNvSpPr/>
          <p:nvPr/>
        </p:nvSpPr>
        <p:spPr>
          <a:xfrm>
            <a:off x="9267444" y="2953512"/>
            <a:ext cx="2692908" cy="548640"/>
          </a:xfrm>
          <a:prstGeom prst="rect">
            <a:avLst/>
          </a:prstGeom>
          <a:noFill/>
          <a:ln w="12700">
            <a:solidFill>
              <a:srgbClr val="8C8C8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Stat 23"/>
          <p:cNvSpPr txBox="1"/>
          <p:nvPr/>
        </p:nvSpPr>
        <p:spPr>
          <a:xfrm>
            <a:off x="6519672" y="2999232"/>
            <a:ext cx="25374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009F41"/>
                </a:solidFill>
              </a:rPr>
              <a:t>23% </a:t>
            </a:r>
            <a:r>
              <a:rPr sz="1000" b="0" i="0">
                <a:solidFill>
                  <a:srgbClr val="595959"/>
                </a:solidFill>
              </a:rPr>
              <a:t>do CPV da Intelbras vem da Dahua</a:t>
            </a:r>
          </a:p>
        </p:txBody>
      </p:sp>
      <p:sp>
        <p:nvSpPr>
          <p:cNvPr id="29" name="Stat 3"/>
          <p:cNvSpPr txBox="1"/>
          <p:nvPr/>
        </p:nvSpPr>
        <p:spPr>
          <a:xfrm>
            <a:off x="9358884" y="2999232"/>
            <a:ext cx="25374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</a:rPr>
              <a:t>~3% </a:t>
            </a:r>
            <a:r>
              <a:rPr sz="1000" b="0" i="0">
                <a:solidFill>
                  <a:srgbClr val="595959"/>
                </a:solidFill>
              </a:rPr>
              <a:t>da receita da Dahua vem da Intelbras</a:t>
            </a:r>
          </a:p>
        </p:txBody>
      </p:sp>
      <p:graphicFrame>
        <p:nvGraphicFramePr>
          <p:cNvPr id="30" name="Grafico Dahua CPV vs fornecedores"/>
          <p:cNvGraphicFramePr>
            <a:graphicFrameLocks noGrp="1"/>
          </p:cNvGraphicFramePr>
          <p:nvPr/>
        </p:nvGraphicFramePr>
        <p:xfrm>
          <a:off x="566928" y="4407408"/>
          <a:ext cx="3703320" cy="1984248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31" name="Callout prazo Dahua"/>
          <p:cNvSpPr txBox="1"/>
          <p:nvPr/>
        </p:nvSpPr>
        <p:spPr>
          <a:xfrm>
            <a:off x="4407408" y="4544568"/>
            <a:ext cx="1691640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</a:rPr>
              <a:t>225 dias</a:t>
            </a:r>
          </a:p>
          <a:p>
            <a:pPr algn="l">
              <a:spcAft>
                <a:spcPts val="800"/>
              </a:spcAft>
            </a:pPr>
            <a:r>
              <a:rPr sz="1000" b="0" i="0">
                <a:solidFill>
                  <a:srgbClr val="595959"/>
                </a:solidFill>
              </a:rPr>
              <a:t>de prazo implícito pago à Dahua em 2025 (151 em 2023)</a:t>
            </a:r>
          </a:p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009F41"/>
                </a:solidFill>
              </a:rPr>
              <a:t>Se cair a 90 dias: </a:t>
            </a:r>
            <a:r>
              <a:rPr sz="1000" b="0" i="0">
                <a:solidFill>
                  <a:srgbClr val="595959"/>
                </a:solidFill>
              </a:rPr>
              <a:t>+R$269 mi de capital de giro e ROIC −1,7 p.p.</a:t>
            </a:r>
          </a:p>
        </p:txBody>
      </p:sp>
      <p:graphicFrame>
        <p:nvGraphicFramePr>
          <p:cNvPr id="32" name="Grafico participacao Dahua"/>
          <p:cNvGraphicFramePr>
            <a:graphicFrameLocks noGrp="1"/>
          </p:cNvGraphicFramePr>
          <p:nvPr/>
        </p:nvGraphicFramePr>
        <p:xfrm>
          <a:off x="6428232" y="4407408"/>
          <a:ext cx="3429000" cy="1984248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3" name="Linha do tempo Dahua"/>
          <p:cNvSpPr txBox="1"/>
          <p:nvPr/>
        </p:nvSpPr>
        <p:spPr>
          <a:xfrm>
            <a:off x="9994392" y="4480560"/>
            <a:ext cx="1965960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900" b="1" i="0">
                <a:solidFill>
                  <a:srgbClr val="009F41"/>
                </a:solidFill>
              </a:rPr>
              <a:t>2021  </a:t>
            </a:r>
            <a:r>
              <a:rPr sz="900" b="0" i="0">
                <a:solidFill>
                  <a:srgbClr val="595959"/>
                </a:solidFill>
              </a:rPr>
              <a:t>Dahua Brasil vira região própria, com canal de integradores e distribuidores</a:t>
            </a:r>
          </a:p>
          <a:p>
            <a:pPr algn="l">
              <a:spcAft>
                <a:spcPts val="500"/>
              </a:spcAft>
            </a:pPr>
            <a:r>
              <a:rPr sz="900" b="1" i="0">
                <a:solidFill>
                  <a:srgbClr val="009F41"/>
                </a:solidFill>
              </a:rPr>
              <a:t>jan/26  </a:t>
            </a:r>
            <a:r>
              <a:rPr sz="900" b="0" i="0">
                <a:solidFill>
                  <a:srgbClr val="595959"/>
                </a:solidFill>
              </a:rPr>
              <a:t>FiberHome encerra a exclusividade de GPON com a Intelbras (precedente)</a:t>
            </a:r>
          </a:p>
          <a:p>
            <a:pPr algn="l">
              <a:spcAft>
                <a:spcPts val="500"/>
              </a:spcAft>
            </a:pPr>
            <a:r>
              <a:rPr sz="900" b="1" i="0">
                <a:solidFill>
                  <a:srgbClr val="009F41"/>
                </a:solidFill>
              </a:rPr>
              <a:t>dez/28  </a:t>
            </a:r>
            <a:r>
              <a:rPr sz="900" b="0" i="0">
                <a:solidFill>
                  <a:srgbClr val="595959"/>
                </a:solidFill>
              </a:rPr>
              <a:t>vence o acordo de 10 anos</a:t>
            </a:r>
          </a:p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1A1A1A"/>
                </a:solidFill>
              </a:rPr>
              <a:t>Em jogo: </a:t>
            </a:r>
            <a:r>
              <a:rPr sz="1000" b="1" i="0">
                <a:solidFill>
                  <a:srgbClr val="009F41"/>
                </a:solidFill>
              </a:rPr>
              <a:t>~metade do custo de Segurança e R$449 mi de crédito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Um_fabricante_de_hardware_movido_por_Segurança</Template>
  <TotalTime>1</TotalTime>
  <Words>236</Words>
  <Application>Microsoft Office PowerPoint</Application>
  <PresentationFormat>Widescreen</PresentationFormat>
  <Paragraphs>25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Calibri</vt:lpstr>
      <vt:lpstr>1_Office Theme</vt:lpstr>
      <vt:lpstr>Baixo poder de barganha com os fornecedores</vt:lpstr>
      <vt:lpstr>Dahua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Gabriel Marques</dc:creator>
  <cp:lastModifiedBy>Gabriel Marques</cp:lastModifiedBy>
  <cp:revision>1</cp:revision>
  <dcterms:created xsi:type="dcterms:W3CDTF">2026-10-04T13:03:30Z</dcterms:created>
  <dcterms:modified xsi:type="dcterms:W3CDTF">2026-10-04T13:04:33Z</dcterms:modified>
</cp:coreProperties>
</file>