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0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4"/>
  </p:notesMasterIdLst>
  <p:sldIdLst>
    <p:sldId id="280" r:id="rId9"/>
    <p:sldId id="281" r:id="rId10"/>
    <p:sldId id="28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 showGuides="1">
      <p:cViewPr varScale="1">
        <p:scale>
          <a:sx n="73" d="100"/>
          <a:sy n="73" d="100"/>
        </p:scale>
        <p:origin x="139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595959"/>
              </a:solidFill>
            </c:spPr>
          </c:dPt>
          <c:dPt>
            <c:idx val="2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A1A1A"/>
                        </a:solidFill>
                      </a:rPr>
                      <a:t>11.594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595959"/>
                        </a:solidFill>
                      </a:rPr>
                      <a:t>&gt;10.000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9F41"/>
                        </a:solidFill>
                      </a:rPr>
                      <a:t>&gt;600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Dahua (2025)</c:v>
                </c:pt>
                <c:pt idx="1">
                  <c:v>FiberHome (2023)</c:v>
                </c:pt>
                <c:pt idx="2">
                  <c:v>Intelbras (2025)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11594</c:v>
                </c:pt>
                <c:pt idx="1">
                  <c:v>10000</c:v>
                </c:pt>
                <c:pt idx="2">
                  <c:v>600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Gasto com P&amp;D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102</c:v>
                </c:pt>
                <c:pt idx="1">
                  <c:v>126</c:v>
                </c:pt>
                <c:pt idx="2">
                  <c:v>143</c:v>
                </c:pt>
                <c:pt idx="3">
                  <c:v>159</c:v>
                </c:pt>
                <c:pt idx="4">
                  <c:v>179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Crédito da Lei de TICs</c:v>
                </c:pt>
              </c:strCache>
            </c:strRef>
          </c:tx>
          <c:spPr>
            <a:solidFill>
              <a:srgbClr val="009F41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99</c:v>
                </c:pt>
                <c:pt idx="1">
                  <c:v>106</c:v>
                </c:pt>
                <c:pt idx="2">
                  <c:v>121</c:v>
                </c:pt>
                <c:pt idx="3">
                  <c:v>134</c:v>
                </c:pt>
                <c:pt idx="4">
                  <c:v>129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50" b="1">
                  <a:solidFill>
                    <a:srgbClr val="59595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5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0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</a:rPr>
                      <a:t>85%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Comprado de terceiros</c:v>
                </c:pt>
                <c:pt idx="1">
                  <c:v>Produção própria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85.5</c:v>
                </c:pt>
                <c:pt idx="1">
                  <c:v>14.5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595959"/>
                        </a:solidFill>
                      </a:rPr>
                      <a:t>451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9F41"/>
                        </a:solidFill>
                      </a:rPr>
                      <a:t>460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Custo da produção própria</c:v>
                </c:pt>
                <c:pt idx="1">
                  <c:v>Incentivos fiscais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451</c:v>
                </c:pt>
                <c:pt idx="1">
                  <c:v>460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dos gastos com fornecedores</c:v>
                </c:pt>
              </c:strCache>
            </c:strRef>
          </c:tx>
          <c:spPr>
            <a:ln w="31750">
              <a:solidFill>
                <a:srgbClr val="009F41"/>
              </a:solidFill>
              <a:prstDash val="dash"/>
            </a:ln>
          </c:spPr>
          <c:marker>
            <c:symbol val="circle"/>
            <c:size val="7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9F41"/>
                        </a:solidFill>
                      </a:rPr>
                      <a:t>28,6%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9F41"/>
                        </a:solidFill>
                      </a:rPr>
                      <a:t>36%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28.6</c:v>
                </c:pt>
                <c:pt idx="4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do custo dos produtos vendidos</c:v>
                </c:pt>
              </c:strCache>
            </c:strRef>
          </c:tx>
          <c:spPr>
            <a:ln w="31750">
              <a:solidFill>
                <a:srgbClr val="1A1A1A"/>
              </a:solidFill>
            </a:ln>
          </c:spPr>
          <c:marker>
            <c:symbol val="circle"/>
            <c:size val="7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24%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22%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19%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36% (estoque)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23%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23.6</c:v>
                </c:pt>
                <c:pt idx="1">
                  <c:v>21.9</c:v>
                </c:pt>
                <c:pt idx="2">
                  <c:v>19.3</c:v>
                </c:pt>
                <c:pt idx="3">
                  <c:v>36.0</c:v>
                </c:pt>
                <c:pt idx="4">
                  <c:v>23.4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4.0"/>
          <c:min val="1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span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009F41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009F41"/>
                        </a:solidFill>
                      </a:rPr>
                      <a:t>23%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A1A1A"/>
                        </a:solidFill>
                      </a:rPr>
                      <a:t>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Dahua no custo da Intelbras</c:v>
                </c:pt>
                <c:pt idx="1">
                  <c:v>Intelbras na receita da Dahua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23.4</c:v>
                </c:pt>
                <c:pt idx="1">
                  <c:v>2.9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28835-0813-47C1-8179-7B192D0834C9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38EA8-CAB9-4394-A5EA-6EE33784B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0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Tropicalização (abre a parte de fornecedores)</a:t>
            </a:r>
          </a:p>
          <a:p/>
          <a:p>
            <a:r>
              <a:t>ABERTURA (10s)</a:t>
            </a:r>
          </a:p>
          <a:p>
            <a:r>
              <a:t>"Para entender os fornecedores da Intelbras, primeiro é preciso entender como ela faz produto: ela não inventa do zero. Ela adapta ao Brasil a tecnologia de parceiros globais. Isso se chama tropicalização."</a:t>
            </a:r>
          </a:p>
          <a:p/>
          <a:p>
            <a:r>
              <a:t>I. (percorra as três caixas da esquerda para a direita, 15s)</a:t>
            </a:r>
          </a:p>
          <a:p>
            <a:r>
              <a:t>"O parceiro desenvolve: a Dahua nas câmeras, a H3C em redes corporativas, a FiberHome em fibra e a Qualcomm no 5G. A Intelbras adapta: software em português, homologação na Anatel, fabricação aqui e garantia. E o canal dela vende."</a:t>
            </a:r>
          </a:p>
          <a:p/>
          <a:p>
            <a:r>
              <a:t>II. (aponte para as barras, 10s)</a:t>
            </a:r>
          </a:p>
          <a:p>
            <a:r>
              <a:t>"O P&amp;D pesado fica com os parceiros. A Dahua tem 11,6 mil pessoas em P&amp;D, contra pouco mais de 600 na Intelbras: 19 para 1."</a:t>
            </a:r>
          </a:p>
          <a:p/>
          <a:p>
            <a:r>
              <a:t>III. (aponte para as colunas verdes, 10s)</a:t>
            </a:r>
          </a:p>
          <a:p>
            <a:r>
              <a:t>"E o P&amp;D da Intelbras é pago, em grande parte, pela Lei de TICs: o crédito fiscal devolveu 83% do gasto com P&amp;D entre 2021 e 2025."</a:t>
            </a:r>
          </a:p>
          <a:p/>
          <a:p>
            <a:r>
              <a:t>IV. (aponte para a rosca e as duas barras, 10s)</a:t>
            </a:r>
          </a:p>
          <a:p>
            <a:r>
              <a:t>"Por isso 85% do custo é comprado. A fábrica local é pequena no custo, mas destrava os incentivos: R$460 milhões, mais do que todo o custo fabril."</a:t>
            </a:r>
          </a:p>
          <a:p/>
          <a:p>
            <a:r>
              <a:t>PONTE (5s)</a:t>
            </a:r>
          </a:p>
          <a:p>
            <a:r>
              <a:t>"Quem desenvolve e fabrica é o fornecedor. Então vamos ver quem são eles, e por que a Intelbras tem pouco poder para negociar."</a:t>
            </a:r>
          </a:p>
          <a:p/>
          <a:p>
            <a:r>
              <a:t>DETALHES (se perguntarem)</a:t>
            </a:r>
          </a:p>
          <a:p>
            <a:r>
              <a:t>• O que é tropicalização? Adaptar um produto desenvolvido fora ao uso no Brasil: idioma, app e integração com o ecossistema Intelbras, certificação da Anatel, padrões locais e produção local para cumprir o PPB (roteiro mínimo de fabricação exigido para o incentivo). A Teletime (out/2024) usa o termo para a H3C: "tropicalização dos equipamentos para fabricação local".</a:t>
            </a:r>
          </a:p>
          <a:p>
            <a:r>
              <a:t>• "A maior parte do P&amp;D vai para tropicalização?" A empresa não divulga essa abertura. Três indícios:</a:t>
            </a:r>
          </a:p>
          <a:p>
            <a:r>
              <a:t>  (i) o FRE diz que, com a Dahua sócia, a Intelbras "passou a contar com o apoio de sua equipe de P&amp;D na China";</a:t>
            </a:r>
          </a:p>
          <a:p>
            <a:r>
              <a:t>  (ii) os parceiros têm 10 a 20 vezes mais engenheiros;</a:t>
            </a:r>
          </a:p>
          <a:p>
            <a:r>
              <a:t>  (iii) o P&amp;D brasileiro é exigência da Lei de TICs (4% do faturamento incentivado em PD&amp;I no país).</a:t>
            </a:r>
          </a:p>
          <a:p>
            <a:r>
              <a:t>  Leitura: o P&amp;D da Intelbras é mais de adaptação, software e engenharia de produção do que de invenção. [inferência]</a:t>
            </a:r>
          </a:p>
          <a:p>
            <a:r>
              <a:t>• O custo por engenheiro é parecido: Intelbras R$179 mi ÷ 600 ≈ R$0,30 mi; Dahua RMB 4,34 bi ÷ 11.594 ≈ R$0,29 mi. A diferença é escala, não salário.</a:t>
            </a:r>
          </a:p>
          <a:p>
            <a:r>
              <a:t>• A Intelbras também tem software próprio (receita recorrente de ~R$140 mi em 2025, FRE 1.3) e escritório em Shenzhen com laboratórios para a cadeia de suprimentos (Tecnoblog).</a:t>
            </a:r>
          </a:p>
          <a:p>
            <a:r>
              <a:t>• 85% = matéria-prima e mercadorias para revenda ÷ CPV. Inclui componentes para montagem local, não só produto pronto.</a:t>
            </a:r>
          </a:p>
          <a:p/>
          <a:p>
            <a:r>
              <a:t>FONTES E CONTAS</a:t>
            </a:r>
          </a:p>
          <a:p>
            <a:r>
              <a:t>II: Dahua, Relatório Anual 2025 (研发人员 11.594; P&amp;D RMB 4.336 mi = 13,2% da receita); FiberHome: comunicado Intelbras de 24/10/2023 (&gt;10 mil em P&amp;D); FRE 2026, 1.4 (&gt;600 profissionais de engenharia e desenvolvimento). P&amp;D Dahua em reais: 4.336 × 0,776 ≈ R$3,36 bi ÷ R$179 mi ≈ 19x.</a:t>
            </a:r>
          </a:p>
          <a:p>
            <a:r>
              <a:t>III: DFPs 2021–25, NE de "Outras receitas (despesas) operacionais". Gastos com P&amp;D: 102/126/143/159/179. Crédito financeiro da Lei de TICs: 99/106/121/134/129. Razão: 97/84/85/84/72%; média 83%. P&amp;D ÷ receita: 3,3/3,0/3,5/3,4/4,0%.</a:t>
            </a:r>
          </a:p>
          <a:p>
            <a:r>
              <a:t>IV: DFP 2025, NE 27 (matéria-prima e revenda R$2.666,9 mi = 85,5% do CPV; custos de produção R$396,1 mi + depreciação R$54,8 mi = R$450,9 mi); NE 23 (incentivos R$459,7 mi: ICMS R$336,3 mi + Lei de TICs R$123,3 mi). O crédito da Lei de TICs na NE 28 é R$129,1 mi; a diferença para a NE 23 é de critério de reconhecimento.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Fornecedores</a:t>
            </a:r>
          </a:p>
          <a:p/>
          <a:p>
            <a:r>
              <a:t>ABERTURA (5s)</a:t>
            </a:r>
          </a:p>
          <a:p>
            <a:r>
              <a:t>"Três provas de que a Intelbras tem pouco poder de barganha com os fornecedores."</a:t>
            </a:r>
          </a:p>
          <a:p/>
          <a:p>
            <a:r>
              <a:t>I. (percorra as barras de cima para baixo, 25s)</a:t>
            </a:r>
          </a:p>
          <a:p>
            <a:r>
              <a:t>"Primeira: em cada produto, o insumo crítico está nas mãos de poucos.</a:t>
            </a:r>
          </a:p>
          <a:p>
            <a:r>
              <a:t>• Chips: a TSMC fabrica 70% do mundo. Os chips Wi-Fi que a Intelbras usa nos roteadores, da Realtek, saem dessas fábricas.</a:t>
            </a:r>
          </a:p>
          <a:p>
            <a:r>
              <a:t>• Memória: três empresas fazem 92%.</a:t>
            </a:r>
          </a:p>
          <a:p>
            <a:r>
              <a:t>• Discos para gravadores: só existem três fabricantes.</a:t>
            </a:r>
          </a:p>
          <a:p>
            <a:r>
              <a:t>• Câmeras: na Intelbras, um fornecedor só, a Dahua, por contrato.</a:t>
            </a:r>
          </a:p>
          <a:p>
            <a:r>
              <a:t>• Solar: 86% dos módulos são chineses.</a:t>
            </a:r>
          </a:p>
          <a:p>
            <a:r>
              <a:t>A Intelbras compra pouco de cada um, então aceita o preço."</a:t>
            </a:r>
          </a:p>
          <a:p/>
          <a:p>
            <a:r>
              <a:t>II. (aponte para as duas barras, 15s)</a:t>
            </a:r>
          </a:p>
          <a:p>
            <a:r>
              <a:t>"Segunda: ela paga em dólar e recebe em reais. 92% do que deve a fornecedores está em moeda estrangeira; do que tem a receber, só 4%. Cada 10% de alta do dólar soma uns R$249 milhões ao custo do ano."</a:t>
            </a:r>
          </a:p>
          <a:p/>
          <a:p>
            <a:r>
              <a:t>III. (percorra a barra da esquerda para a direita, 15s)</a:t>
            </a:r>
          </a:p>
          <a:p>
            <a:r>
              <a:t>"Terceira: os fornecedores dão pouco prazo. Dos 173 dias de estoque, os fornecedores em geral financiam só 39. A Dahua financia 53, os bancos 31 via risco sacado, e o resto, 50 dias, uns R$0,4 bilhão, sai do caixa da Intelbras."</a:t>
            </a:r>
          </a:p>
          <a:p/>
          <a:p>
            <a:r>
              <a:t>PONTE (5s)</a:t>
            </a:r>
          </a:p>
          <a:p>
            <a:r>
              <a:t>"E repare quem é o maior financiador e o único fornecedor de câmeras: a Dahua."</a:t>
            </a:r>
          </a:p>
          <a:p/>
          <a:p>
            <a:r>
              <a:t>DETALHES (se perguntarem)</a:t>
            </a:r>
          </a:p>
          <a:p>
            <a:r>
              <a:t>• "A Intelbras compra da TSMC?" Não diretamente. Ela compra chips de empresas que não têm fábrica (Realtek, Qualcomm) e produtos prontos (Dahua). Todas dependem das mesmas fundições e memórias. É concentração em cascata.</a:t>
            </a:r>
          </a:p>
          <a:p>
            <a:r>
              <a:t>• Evidências por produto:</a:t>
            </a:r>
          </a:p>
          <a:p>
            <a:r>
              <a:t>  – roteadores Twibi: chipsets Realtek RTL8197 + RTL8812 (datasheets Intelbras);</a:t>
            </a:r>
          </a:p>
          <a:p>
            <a:r>
              <a:t>  – câmeras VIP 3215 SD IR e VIP 5232 SD: sensor Sony STARVIS (datasheets);</a:t>
            </a:r>
          </a:p>
          <a:p>
            <a:r>
              <a:t>  – CFTV: exclusividade Dahua (FRE 1.4.e);</a:t>
            </a:r>
          </a:p>
          <a:p>
            <a:r>
              <a:t>  – fibra (GPON): FiberHome, exclusiva até 12/01/2026;</a:t>
            </a:r>
          </a:p>
          <a:p>
            <a:r>
              <a:t>  – redes corporativas: H3C;</a:t>
            </a:r>
          </a:p>
          <a:p>
            <a:r>
              <a:t>  – 5G: Qualcomm Snapdragon X62;</a:t>
            </a:r>
          </a:p>
          <a:p>
            <a:r>
              <a:t>  – solar: módulos Risen, JA, Canadian, Sunshine, Talesun e BYD (pv magazine, 2022);</a:t>
            </a:r>
          </a:p>
          <a:p>
            <a:r>
              <a:t>  – bateria EBL 4800: célula LiFePO4, fornecedor não divulgado.</a:t>
            </a:r>
          </a:p>
          <a:p>
            <a:r>
              <a:t>• "Por que não aparece a origem por país?" A empresa não divulga gastos por país. O FRE só lista fábricas na China, Coreia e Vietnã; usamos a moeda (DFP NE 25).</a:t>
            </a:r>
          </a:p>
          <a:p>
            <a:r>
              <a:t>• Ciclo de caixa (CCC) de 2025 = dias de estoque 173 + dias de recebimento 96 − dias de pagamento 123 = 146 dias.</a:t>
            </a:r>
          </a:p>
          <a:p>
            <a:r>
              <a:t>  – Neste slide só entram estoque e pagamento, porque são a parte dos fornecedores.</a:t>
            </a:r>
          </a:p>
          <a:p>
            <a:r>
              <a:t>  – O recebimento (96 dias) é o prazo que a Intelbras dá ao canal; vai para o slide de distribuição.</a:t>
            </a:r>
          </a:p>
          <a:p>
            <a:r>
              <a:t>• Risco sacado: o banco paga o fornecedor antes e a Intelbras paga o banco depois. Alonga o prazo, mas é crédito bancário, não do fornecedor. Agências de rating costumam tratar como dívida.</a:t>
            </a:r>
          </a:p>
          <a:p>
            <a:r>
              <a:t>• Estoque alto foi escolha em 2021 e no 2S24, para não faltar produto (teleconferências 4T21 e 4T24). Custo: provisão de obsolescência de R$73 mi em 2025.</a:t>
            </a:r>
          </a:p>
          <a:p>
            <a:r>
              <a:t>• Hedge: NDF de US$82 mi cobre ~50% dos fornecedores em dólar, por ~90 dias. Protege o caixa de curto prazo, não a margem.</a:t>
            </a:r>
          </a:p>
          <a:p/>
          <a:p>
            <a:r>
              <a:t>FONTES E CONTAS</a:t>
            </a:r>
          </a:p>
          <a:p>
            <a:r>
              <a:t>I:</a:t>
            </a:r>
          </a:p>
          <a:p>
            <a:r>
              <a:t>• TrendForce: fundição 2025, TSMC 69,9% e Samsung 7,2%; SMIC 5,3% no 4T25. DRAM 3T25: SK hynix 33,2%, Samsung 32,6%, Micron 25,7%.</a:t>
            </a:r>
          </a:p>
          <a:p>
            <a:r>
              <a:t>• TrendFocus via Blocks &amp; Files (HD 1T25, unidades): WD 42%, Seagate 40%, Toshiba 18%.</a:t>
            </a:r>
          </a:p>
          <a:p>
            <a:r>
              <a:t>• Counterpoint (Wi-Fi 2024): 5 maiores = 82% da receita.</a:t>
            </a:r>
          </a:p>
          <a:p>
            <a:r>
              <a:t>• Novaira via SecurityWorldMarket (vídeo 2023): Hikvision, Dahua, Axis e Motorola ≈ metade.</a:t>
            </a:r>
          </a:p>
          <a:p>
            <a:r>
              <a:t>• IEA-PVPS Trends 2025 (módulos 2024): China 86,4%.</a:t>
            </a:r>
          </a:p>
          <a:p>
            <a:r>
              <a:t>• InfoLink/SMM (baterias para armazenamento em escala de rede 2024): 5 maiores &gt;75%.</a:t>
            </a:r>
          </a:p>
          <a:p>
            <a:r>
              <a:t>II: DFP 2025, NE 25:</a:t>
            </a:r>
          </a:p>
          <a:p>
            <a:r>
              <a:t>• fornecedores (incluindo risco sacado) em moeda estrangeira R$972,6 mi; US$ 894,4; yuan 77,1. Base bruta R$1.059,9 mi → US$ 84%, yuan 7%, real 8%;</a:t>
            </a:r>
          </a:p>
          <a:p>
            <a:r>
              <a:t>• recebíveis em US$ 26,6 + COP 20,8 = 47,5 ÷ 1.169,5 = 4%;</a:t>
            </a:r>
          </a:p>
          <a:p>
            <a:r>
              <a:t>• FRE 2.2: ~80% do CPV em moeda estrangeira → 80% × 3.117,8 × 10% = R$249 mi.</a:t>
            </a:r>
          </a:p>
          <a:p>
            <a:r>
              <a:t>III: DFP 2025 (base: CPV de R$3.117,8 mi, × 365 dias):</a:t>
            </a:r>
          </a:p>
          <a:p>
            <a:r>
              <a:t>• estoque R$1.473,9 mi = 173 dias;</a:t>
            </a:r>
          </a:p>
          <a:p>
            <a:r>
              <a:t>• fornecedores R$781,0 mi, dos quais Dahua R$448,8 mi (NE 32) = 53 dias; demais R$332,1 mi = 39 dias;</a:t>
            </a:r>
          </a:p>
          <a:p>
            <a:r>
              <a:t>• risco sacado R$267,9 mi = 31 dias;</a:t>
            </a:r>
          </a:p>
          <a:p>
            <a:r>
              <a:t>• vão = 50 dias ≈ R$425 mi.</a:t>
            </a:r>
          </a:p>
          <a:p>
            <a:r>
              <a:t>Sem Dahua e bancos, o caixa bancaria 134 dias ≈ R$1,1 bi. Supõe que o saldo da Dahua está todo em "fornecedores".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 15s) — Dahua</a:t>
            </a:r>
          </a:p>
          <a:p/>
          <a:p>
            <a:r>
              <a:t>ABERTURA (5s)</a:t>
            </a:r>
          </a:p>
          <a:p>
            <a:r>
              <a:t>"A Dahua é três coisas ao mesmo tempo para a Intelbras: fornecedora, sócia e concorrente."</a:t>
            </a:r>
          </a:p>
          <a:p/>
          <a:p>
            <a:r>
              <a:t>I. (aponte para a linha tracejada, 10s)</a:t>
            </a:r>
          </a:p>
          <a:p>
            <a:r>
              <a:t>"É a maior fornecedora: 36% dos gastos com fornecedores e perto de um quarto do custo."</a:t>
            </a:r>
          </a:p>
          <a:p/>
          <a:p>
            <a:r>
              <a:t>II. (aponte para as setas, depois para 23% vs 3%, 15s)</a:t>
            </a:r>
          </a:p>
          <a:p>
            <a:r>
              <a:t>"É a segunda maior empresa de segurança do mundo e gasta R$3,4 bilhões por ano em P&amp;D. Entrega a tecnologia e a marca exclusiva; recebe o canal da Intelbras. Mas ela pesa 23% no custo da Intelbras, e a Intelbras é só 3% da receita dela. Quem precisa mais é a Intelbras."</a:t>
            </a:r>
          </a:p>
          <a:p/>
          <a:p>
            <a:r>
              <a:t>III. (percorra os três números, 15s)</a:t>
            </a:r>
          </a:p>
          <a:p>
            <a:r>
              <a:t>"Ela também é sócia, com 7,56% e um conselheiro, que comanda a própria Dahua no Brasil. E é concorrente: desde 2024 tem três distribuidores próprios aqui, focados em projetos, justamente o que o acordo deixa de fora da não concorrência."</a:t>
            </a:r>
          </a:p>
          <a:p/>
          <a:p>
            <a:r>
              <a:t>IV. (percorra a linha do tempo, 20s)</a:t>
            </a:r>
          </a:p>
          <a:p>
            <a:r>
              <a:t>"E está saindo do capital. Vendeu um quarto da participação em 2023 e, desde então, o conselho dela autoriza vender o resto. Mas não vendeu nada em três anos. Por quê sair? Ela diz que é para reciclar capital. A nossa leitura: cada ano fora do capital aproxima o fim da não concorrência. O teste é dezembro de 2028, quando vence o acordo de fornecimento."</a:t>
            </a:r>
          </a:p>
          <a:p/>
          <a:p>
            <a:r>
              <a:t>FECHO (5s)</a:t>
            </a:r>
          </a:p>
          <a:p>
            <a:r>
              <a:t>"Em jogo: metade do custo de Segurança e R$449 milhões de crédito."</a:t>
            </a:r>
          </a:p>
          <a:p/>
          <a:p>
            <a:r>
              <a:t>DETALHES (se perguntarem)</a:t>
            </a:r>
          </a:p>
          <a:p>
            <a:r>
              <a:t>• Por que vendeu? Três camadas.</a:t>
            </a:r>
          </a:p>
          <a:p>
            <a:r>
              <a:t>  – Declarado: a venda de 2023 foi para "aumentar a liquidez" (comunicado Intelbras, 15/06/2023). As autorizações de 2023 e 2025 visam "otimizar a estrutura de ativos e a liquidez".</a:t>
            </a:r>
          </a:p>
          <a:p>
            <a:r>
              <a:t>  – Contexto: a Dahua vem reciclando participações (Leapmotor, Lorex nos EUA, controle da Huacheng em 2025). A Intelbras rende só ~1% do lucro dela (RMB 43 mi de equivalência em 2025).</a:t>
            </a:r>
          </a:p>
          <a:p>
            <a:r>
              <a:t>  – Inferência: o acordo de acionistas proíbe a Dahua de concorrer enquanto for sócia e por 3 anos depois de sair (cl. 12.1). Sair do capital inicia esse relógio. Em contrapartida, a saída garante 3 anos de fornecimento à Intelbras (cl. 11.9).</a:t>
            </a:r>
          </a:p>
          <a:p>
            <a:r>
              <a:t>• Nada vendido: a Dahua ainda registra a Intelbras como coligada (RMB 542,7 mi em 30/06/2026), e o RI mostra 7,56% em 30/12/2025.</a:t>
            </a:r>
          </a:p>
          <a:p>
            <a:r>
              <a:t>  – A autorização de ago/2023 (24 meses) venceu sem uso e foi renovada em ago/2025 por 36 meses.</a:t>
            </a:r>
          </a:p>
          <a:p>
            <a:r>
              <a:t>  – Atenção: a Intelbras só precisa comunicar se a Dahua cair abaixo de 5% (Res. CVM 44, art. 12).</a:t>
            </a:r>
          </a:p>
          <a:p>
            <a:r>
              <a:t>• Crédito: a Dahua financia 43% das contas a pagar, com prazo de 225 dias. Pelos números da própria Dahua, o prazo subiu de 150 para 188 dias (1S25 → 1S26). Não há sinal de aperto.</a:t>
            </a:r>
          </a:p>
          <a:p>
            <a:r>
              <a:t>• Vendas da Dahua à Intelbras caíram 26% no 1S26 (em yuan). No mesmo período, o estoque da Intelbras caiu 16% e a receita de Segurança subiu 5,8%: parece desestocagem, não troca de fornecedor.</a:t>
            </a:r>
          </a:p>
          <a:p>
            <a:r>
              <a:t>• Proteção: a prioridade cai se a Dahua cobrar ≥5% acima dos 5 maiores fornecedores globais ou falhar em qualidade (FRE 11.3).</a:t>
            </a:r>
          </a:p>
          <a:p>
            <a:r>
              <a:t>• Precedente: a FiberHome (GPON) encerrou a exclusividade em jan/2026, e as duas podem usar outros parceiros.</a:t>
            </a:r>
          </a:p>
          <a:p/>
          <a:p>
            <a:r>
              <a:t>FONTES E CONTAS</a:t>
            </a:r>
          </a:p>
          <a:p>
            <a:r>
              <a:t>I: FRE 1.4.e (36,0% em 2025); Nord Research citando o FRE 2022 (28,6% em 2021); DFPs (compras da Dahua ÷ CPV = 23,6/21,9/19,3/36,0/23,4%; 2024 = estoque antecipado).</a:t>
            </a:r>
          </a:p>
          <a:p>
            <a:r>
              <a:t>II:</a:t>
            </a:r>
          </a:p>
          <a:p>
            <a:r>
              <a:t>• a&amp;s Security 50 (2025): Dahua nº 2, US$4,48 bi em 2024;</a:t>
            </a:r>
          </a:p>
          <a:p>
            <a:r>
              <a:t>• P&amp;D: Dahua 2025 RMB 4,34 bi ≈ R$3,4 bi;</a:t>
            </a:r>
          </a:p>
          <a:p>
            <a:r>
              <a:t>• Assimetria: compras R$729,2 mi ÷ CPV R$3.117,8 mi = 23%; vendas da Dahua à Intelbras RMB 957 mi ÷ receita RMB 32.744 mi = 2,9% (Relatório Anual Dahua 2025).</a:t>
            </a:r>
          </a:p>
          <a:p>
            <a:r>
              <a:t>III:</a:t>
            </a:r>
          </a:p>
          <a:p>
            <a:r>
              <a:t>• FRE 1.4.e;</a:t>
            </a:r>
          </a:p>
          <a:p>
            <a:r>
              <a:t>• DFP NE 32 (saldo R$448,8 mi = 43% de fornecedores + risco sacado; prazo = 448,8 ÷ 729,2 × 365 = 225 dias);</a:t>
            </a:r>
          </a:p>
          <a:p>
            <a:r>
              <a:t>• FRE 2026, item 7.3: conselheiro Lin Xiong, administrador da Dahua Technology Brasil;</a:t>
            </a:r>
          </a:p>
          <a:p>
            <a:r>
              <a:t>• distribuidores: WDC (Teletime, 21/06/2024), Agora (TI Inside, 16/10/2024), Dimensional/Sonepar (IT Forum);</a:t>
            </a:r>
          </a:p>
          <a:p>
            <a:r>
              <a:t>• Acordo de Acionistas, cl. 12.1.</a:t>
            </a:r>
          </a:p>
          <a:p>
            <a:r>
              <a:t>IV:</a:t>
            </a:r>
          </a:p>
          <a:p>
            <a:r>
              <a:t>• Fato Relevante de 20/10/2021;</a:t>
            </a:r>
          </a:p>
          <a:p>
            <a:r>
              <a:t>• comunicado de 15/06/2023;</a:t>
            </a:r>
          </a:p>
          <a:p>
            <a:r>
              <a:t>• Dahua: anúncios 2023-073 (25/08/2023, 24 meses) e 2025-075 (15/08/2025, 36 meses), semestral 2026;</a:t>
            </a:r>
          </a:p>
          <a:p>
            <a:r>
              <a:t>• FRE 11.3 (acordo de 31/12/2018, 10 anos; exclusividade + 6 meses).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8643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>
            <a:extLst>
              <a:ext uri="{FF2B5EF4-FFF2-40B4-BE49-F238E27FC236}">
                <a16:creationId xmlns:a16="http://schemas.microsoft.com/office/drawing/2014/main" id="{08A86C5D-B5F1-A201-A803-FC2B06BC1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4" name="Subtítulo">
            <a:extLst>
              <a:ext uri="{FF2B5EF4-FFF2-40B4-BE49-F238E27FC236}">
                <a16:creationId xmlns:a16="http://schemas.microsoft.com/office/drawing/2014/main" id="{BE673581-4171-765D-CF42-A03B1335C0E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abeçalho L1">
            <a:extLst>
              <a:ext uri="{FF2B5EF4-FFF2-40B4-BE49-F238E27FC236}">
                <a16:creationId xmlns:a16="http://schemas.microsoft.com/office/drawing/2014/main" id="{2CF8C16A-D844-F260-4E96-4A7088F8DC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Linha L1">
            <a:extLst>
              <a:ext uri="{FF2B5EF4-FFF2-40B4-BE49-F238E27FC236}">
                <a16:creationId xmlns:a16="http://schemas.microsoft.com/office/drawing/2014/main" id="{6B2BDA49-2D8C-8E92-98C5-4AF723A23CF4}"/>
              </a:ext>
            </a:extLst>
          </p:cNvPr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7" name="Descrição L1">
            <a:extLst>
              <a:ext uri="{FF2B5EF4-FFF2-40B4-BE49-F238E27FC236}">
                <a16:creationId xmlns:a16="http://schemas.microsoft.com/office/drawing/2014/main" id="{DBA64B7F-D991-F80B-632A-A6F008F382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abeçalho R1">
            <a:extLst>
              <a:ext uri="{FF2B5EF4-FFF2-40B4-BE49-F238E27FC236}">
                <a16:creationId xmlns:a16="http://schemas.microsoft.com/office/drawing/2014/main" id="{63E473F4-0BD6-077F-9932-938AFBF13B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Linha R1">
            <a:extLst>
              <a:ext uri="{FF2B5EF4-FFF2-40B4-BE49-F238E27FC236}">
                <a16:creationId xmlns:a16="http://schemas.microsoft.com/office/drawing/2014/main" id="{C5D0D066-5B11-0856-4073-CD7F2F043381}"/>
              </a:ext>
            </a:extLst>
          </p:cNvPr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1" name="Descrição R1">
            <a:extLst>
              <a:ext uri="{FF2B5EF4-FFF2-40B4-BE49-F238E27FC236}">
                <a16:creationId xmlns:a16="http://schemas.microsoft.com/office/drawing/2014/main" id="{5656BE59-0847-8CB6-5BA7-687DF8FE15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údo R1">
            <a:extLst>
              <a:ext uri="{FF2B5EF4-FFF2-40B4-BE49-F238E27FC236}">
                <a16:creationId xmlns:a16="http://schemas.microsoft.com/office/drawing/2014/main" id="{275C8C39-0130-44B2-B522-AB8447F3755A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abeçalho R2">
            <a:extLst>
              <a:ext uri="{FF2B5EF4-FFF2-40B4-BE49-F238E27FC236}">
                <a16:creationId xmlns:a16="http://schemas.microsoft.com/office/drawing/2014/main" id="{DFA8ED1C-70D9-555F-0951-A17E938658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8" name="Linha R2">
            <a:extLst>
              <a:ext uri="{FF2B5EF4-FFF2-40B4-BE49-F238E27FC236}">
                <a16:creationId xmlns:a16="http://schemas.microsoft.com/office/drawing/2014/main" id="{23E53C43-0A06-3841-43EA-8CBBC05E38E4}"/>
              </a:ext>
            </a:extLst>
          </p:cNvPr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9" name="Descrição R2">
            <a:extLst>
              <a:ext uri="{FF2B5EF4-FFF2-40B4-BE49-F238E27FC236}">
                <a16:creationId xmlns:a16="http://schemas.microsoft.com/office/drawing/2014/main" id="{17B70730-704D-1A43-8FBA-BD7FE18348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Conteúdo R2">
            <a:extLst>
              <a:ext uri="{FF2B5EF4-FFF2-40B4-BE49-F238E27FC236}">
                <a16:creationId xmlns:a16="http://schemas.microsoft.com/office/drawing/2014/main" id="{9E63C622-421B-6FEC-8987-607A26EFBA37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Fontes">
            <a:extLst>
              <a:ext uri="{FF2B5EF4-FFF2-40B4-BE49-F238E27FC236}">
                <a16:creationId xmlns:a16="http://schemas.microsoft.com/office/drawing/2014/main" id="{F667FDC0-0538-49ED-735B-F8FA537E3E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95433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>
            <a:cxnSpLocks/>
          </p:cNvCxnSpPr>
          <p:nvPr userDrawn="1"/>
        </p:nvCxnSpPr>
        <p:spPr>
          <a:xfrm>
            <a:off x="566928" y="4119372"/>
            <a:ext cx="11396472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71500" y="4168392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571500" y="377656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7564229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7600805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571500" y="4421704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údo R2">
            <a:extLst>
              <a:ext uri="{FF2B5EF4-FFF2-40B4-BE49-F238E27FC236}">
                <a16:creationId xmlns:a16="http://schemas.microsoft.com/office/drawing/2014/main" id="{C20F45A2-CC70-86CA-D254-970E22AF066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4383678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údo R2">
            <a:extLst>
              <a:ext uri="{FF2B5EF4-FFF2-40B4-BE49-F238E27FC236}">
                <a16:creationId xmlns:a16="http://schemas.microsoft.com/office/drawing/2014/main" id="{626C2B49-63EF-6B3E-66FE-3A88E630EB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199737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1480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2 blo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9144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66928" y="502920"/>
            <a:ext cx="11393424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F1"/>
          <p:cNvSpPr>
            <a:spLocks noGrp="1"/>
          </p:cNvSpPr>
          <p:nvPr>
            <p:ph type="body" sz="quarter" idx="10"/>
          </p:nvPr>
        </p:nvSpPr>
        <p:spPr>
          <a:xfrm>
            <a:off x="566928" y="8686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F1"/>
          <p:cNvCxnSpPr/>
          <p:nvPr userDrawn="1"/>
        </p:nvCxnSpPr>
        <p:spPr>
          <a:xfrm>
            <a:off x="566928" y="12618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F1"/>
          <p:cNvSpPr>
            <a:spLocks noGrp="1"/>
          </p:cNvSpPr>
          <p:nvPr>
            <p:ph type="body" sz="quarter" idx="14" hasCustomPrompt="1"/>
          </p:nvPr>
        </p:nvSpPr>
        <p:spPr>
          <a:xfrm>
            <a:off x="566928" y="12984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7" name="Conteúdo F1"/>
          <p:cNvSpPr>
            <a:spLocks noGrp="1"/>
          </p:cNvSpPr>
          <p:nvPr>
            <p:ph sz="quarter" idx="30"/>
          </p:nvPr>
        </p:nvSpPr>
        <p:spPr>
          <a:xfrm>
            <a:off x="566928" y="15453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F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F2"/>
          <p:cNvCxnSpPr/>
          <p:nvPr userDrawn="1"/>
        </p:nvCxnSpPr>
        <p:spPr>
          <a:xfrm>
            <a:off x="566928" y="41193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F2"/>
          <p:cNvSpPr>
            <a:spLocks noGrp="1"/>
          </p:cNvSpPr>
          <p:nvPr>
            <p:ph type="body" sz="quarter" idx="16" hasCustomPrompt="1"/>
          </p:nvPr>
        </p:nvSpPr>
        <p:spPr>
          <a:xfrm>
            <a:off x="566928" y="41559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11" name="Conteúdo F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61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31626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EAF86BB-950D-C028-EE25-EAF6B2091A5D}"/>
              </a:ext>
            </a:extLst>
          </p:cNvPr>
          <p:cNvSpPr/>
          <p:nvPr userDrawn="1"/>
        </p:nvSpPr>
        <p:spPr>
          <a:xfrm rot="10800000" flipH="1">
            <a:off x="0" y="2431"/>
            <a:ext cx="346464" cy="6858000"/>
          </a:xfrm>
          <a:prstGeom prst="rect">
            <a:avLst/>
          </a:prstGeom>
          <a:gradFill>
            <a:gsLst>
              <a:gs pos="19000">
                <a:srgbClr val="035144"/>
              </a:gs>
              <a:gs pos="95000">
                <a:srgbClr val="00D054"/>
              </a:gs>
              <a:gs pos="76000">
                <a:srgbClr val="009F4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Connector 43">
            <a:extLst>
              <a:ext uri="{FF2B5EF4-FFF2-40B4-BE49-F238E27FC236}">
                <a16:creationId xmlns:a16="http://schemas.microsoft.com/office/drawing/2014/main" id="{0C1F9473-D70C-D468-BBA5-C37F5F700542}"/>
              </a:ext>
            </a:extLst>
          </p:cNvPr>
          <p:cNvCxnSpPr>
            <a:cxnSpLocks/>
          </p:cNvCxnSpPr>
          <p:nvPr userDrawn="1"/>
        </p:nvCxnSpPr>
        <p:spPr>
          <a:xfrm>
            <a:off x="566928" y="6515100"/>
            <a:ext cx="11393424" cy="0"/>
          </a:xfrm>
          <a:prstGeom prst="line">
            <a:avLst/>
          </a:prstGeom>
          <a:ln w="12700">
            <a:solidFill>
              <a:srgbClr val="76B900"/>
            </a:solidFill>
          </a:ln>
        </p:spPr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9DE3E556-E840-AC70-8618-F06E954425C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17266" y1="39861" x2="17266" y2="39861"/>
                        <a14:foregroundMark x1="17266" y1="45000" x2="17266" y2="45000"/>
                        <a14:foregroundMark x1="20391" y1="55694" x2="20391" y2="55694"/>
                        <a14:foregroundMark x1="30391" y1="49306" x2="30391" y2="49306"/>
                        <a14:foregroundMark x1="41250" y1="51111" x2="41250" y2="51111"/>
                        <a14:foregroundMark x1="46797" y1="53194" x2="46797" y2="53194"/>
                        <a14:foregroundMark x1="62266" y1="53194" x2="62266" y2="53194"/>
                        <a14:foregroundMark x1="72734" y1="58056" x2="72734" y2="58056"/>
                        <a14:foregroundMark x1="81719" y1="59167" x2="81719" y2="59167"/>
                        <a14:backgroundMark x1="38984" y1="50278" x2="38984" y2="50278"/>
                      </a14:backgroundRemoval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8894" y="-373028"/>
            <a:ext cx="1919326" cy="107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568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0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3" pos="216">
          <p15:clr>
            <a:srgbClr val="F26B43"/>
          </p15:clr>
        </p15:guide>
        <p15:guide id="4" pos="7536">
          <p15:clr>
            <a:srgbClr val="F26B43"/>
          </p15:clr>
        </p15:guide>
        <p15:guide id="5" orient="horz" pos="480">
          <p15:clr>
            <a:srgbClr val="F26B43"/>
          </p15:clr>
        </p15:guide>
        <p15:guide id="6" orient="horz" pos="4104">
          <p15:clr>
            <a:srgbClr val="F26B43"/>
          </p15:clr>
        </p15:guide>
        <p15:guide id="8" pos="3840">
          <p15:clr>
            <a:srgbClr val="F26B43"/>
          </p15:clr>
        </p15:guide>
        <p15:guide id="9" pos="360">
          <p15:clr>
            <a:srgbClr val="F26B43"/>
          </p15:clr>
        </p15:guide>
        <p15:guide id="10" pos="4032">
          <p15:clr>
            <a:srgbClr val="F26B43"/>
          </p15:clr>
        </p15:guide>
        <p15:guide id="11" orient="horz" pos="2232">
          <p15:clr>
            <a:srgbClr val="F26B43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Relationship Id="rId5" Type="http://schemas.openxmlformats.org/officeDocument/2006/relationships/chart" Target="../charts/chart8.xml"/><Relationship Id="rId6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notesSlide" Target="../notesSlides/notesSlide3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Tropicalização: tecnologia global adaptada ao Brasil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O P&amp;D pesado é dos parceiros; a Intelbras adapta, homologa, fabrica aqui e vende pelo canal. Por isso ela depende tanto dos fornecedores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O parceiro desenvolve, a Intelbras adapta e o canal vende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Como um produto chega ao instalador brasileiro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O P&amp;D pesado é dos parceiros: 19 pessoas para cada 1 da Intelbras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Profissionais de P&amp;D, último dado disponível (pessoas)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O P&amp;D da Intelbras é pago, em grande parte, pela Lei de TICs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Gasto com P&amp;D vs crédito fiscal da Lei de TICs (R$ mi), 2021–2025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85% do custo é comprado; a fábrica local destrava os incentivos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Composição do custo dos produtos vendidos (%) e custo fabril vs incentivos fiscais (R$ mi), 2025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FRE 2026 (1.1, 1.4); DFPs 2021–25 (NE 23, 27, 28); Dahua, Relatório Anual 2025; comunicado Intelbras–FiberHome (24/10/2023); Teletime (H3C, 09/10/2024); Qualcomm (2021); Investor Day 2025.</a:t>
            </a:r>
          </a:p>
        </p:txBody>
      </p:sp>
      <p:sp>
        <p:nvSpPr>
          <p:cNvPr id="17" name="Passo Parceiro global"/>
          <p:cNvSpPr/>
          <p:nvPr/>
        </p:nvSpPr>
        <p:spPr>
          <a:xfrm>
            <a:off x="566928" y="1591056"/>
            <a:ext cx="1600200" cy="45720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Parceiro global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desenvolve</a:t>
            </a:r>
          </a:p>
        </p:txBody>
      </p:sp>
      <p:sp>
        <p:nvSpPr>
          <p:cNvPr id="18" name="Itens Parceiro global"/>
          <p:cNvSpPr txBox="1"/>
          <p:nvPr/>
        </p:nvSpPr>
        <p:spPr>
          <a:xfrm>
            <a:off x="585216" y="2157984"/>
            <a:ext cx="15636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Dahua · câmeras</a:t>
            </a:r>
          </a:p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H3C · redes corporativas</a:t>
            </a:r>
          </a:p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FiberHome · fibra óptica</a:t>
            </a:r>
          </a:p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Qualcomm · 5G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221992" y="1819656"/>
            <a:ext cx="256032" cy="0"/>
          </a:xfrm>
          <a:prstGeom prst="line">
            <a:avLst/>
          </a:prstGeom>
          <a:ln w="2540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asso Intelbras"/>
          <p:cNvSpPr/>
          <p:nvPr/>
        </p:nvSpPr>
        <p:spPr>
          <a:xfrm>
            <a:off x="2532888" y="1591056"/>
            <a:ext cx="1600200" cy="457200"/>
          </a:xfrm>
          <a:prstGeom prst="roundRect">
            <a:avLst>
              <a:gd name="adj" fmla="val 8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Intelbras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tropicaliza</a:t>
            </a:r>
          </a:p>
        </p:txBody>
      </p:sp>
      <p:sp>
        <p:nvSpPr>
          <p:cNvPr id="21" name="Itens Intelbras"/>
          <p:cNvSpPr txBox="1"/>
          <p:nvPr/>
        </p:nvSpPr>
        <p:spPr>
          <a:xfrm>
            <a:off x="2551176" y="2157984"/>
            <a:ext cx="15636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Software e app em português</a:t>
            </a:r>
          </a:p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Homologação na Anatel</a:t>
            </a:r>
          </a:p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Fabricação local (incentivo)</a:t>
            </a:r>
          </a:p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Suporte e garantia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87951" y="1819656"/>
            <a:ext cx="256033" cy="0"/>
          </a:xfrm>
          <a:prstGeom prst="line">
            <a:avLst/>
          </a:prstGeom>
          <a:ln w="2540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asso Canal"/>
          <p:cNvSpPr/>
          <p:nvPr/>
        </p:nvSpPr>
        <p:spPr>
          <a:xfrm>
            <a:off x="4498848" y="1591056"/>
            <a:ext cx="1600200" cy="457200"/>
          </a:xfrm>
          <a:prstGeom prst="roundRect">
            <a:avLst>
              <a:gd name="adj" fmla="val 8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Canal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vende e instala</a:t>
            </a:r>
          </a:p>
        </p:txBody>
      </p:sp>
      <p:sp>
        <p:nvSpPr>
          <p:cNvPr id="24" name="Itens Canal"/>
          <p:cNvSpPr txBox="1"/>
          <p:nvPr/>
        </p:nvSpPr>
        <p:spPr>
          <a:xfrm>
            <a:off x="4517136" y="2157984"/>
            <a:ext cx="156362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~500 distribuidores</a:t>
            </a:r>
          </a:p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&gt;90 mil revendas e instaladores</a:t>
            </a:r>
          </a:p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1A1A1A"/>
                </a:solidFill>
              </a:rPr>
              <a:t>340 assistências técnicas</a:t>
            </a:r>
          </a:p>
        </p:txBody>
      </p:sp>
      <p:graphicFrame>
        <p:nvGraphicFramePr>
          <p:cNvPr id="25" name="Grafico pessoas P&amp;D"/>
          <p:cNvGraphicFramePr>
            <a:graphicFrameLocks noGrp="1"/>
          </p:cNvGraphicFramePr>
          <p:nvPr/>
        </p:nvGraphicFramePr>
        <p:xfrm>
          <a:off x="6428232" y="1545336"/>
          <a:ext cx="379476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Destaque 19x"/>
          <p:cNvSpPr txBox="1"/>
          <p:nvPr/>
        </p:nvSpPr>
        <p:spPr>
          <a:xfrm>
            <a:off x="10360152" y="1865376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</a:rPr>
              <a:t>19x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</a:rPr>
              <a:t>o P&amp;D da Dahua vs o da Intelbras (R$3,4 bi vs R$0,18 bi)</a:t>
            </a:r>
          </a:p>
        </p:txBody>
      </p:sp>
      <p:graphicFrame>
        <p:nvGraphicFramePr>
          <p:cNvPr id="27" name="Grafico P&amp;D vs credito"/>
          <p:cNvGraphicFramePr>
            <a:graphicFrameLocks noGrp="1"/>
          </p:cNvGraphicFramePr>
          <p:nvPr/>
        </p:nvGraphicFramePr>
        <p:xfrm>
          <a:off x="566928" y="4407408"/>
          <a:ext cx="39319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8" name="Destaque 83"/>
          <p:cNvSpPr txBox="1"/>
          <p:nvPr/>
        </p:nvSpPr>
        <p:spPr>
          <a:xfrm>
            <a:off x="4636008" y="4773168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09F41"/>
                </a:solidFill>
              </a:rPr>
              <a:t>83%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</a:rPr>
              <a:t>do gasto com P&amp;D volta como crédito fiscal (média 2021–25)</a:t>
            </a:r>
          </a:p>
        </p:txBody>
      </p:sp>
      <p:graphicFrame>
        <p:nvGraphicFramePr>
          <p:cNvPr id="29" name="Grafico rosca custo"/>
          <p:cNvGraphicFramePr>
            <a:graphicFrameLocks noGrp="1"/>
          </p:cNvGraphicFramePr>
          <p:nvPr/>
        </p:nvGraphicFramePr>
        <p:xfrm>
          <a:off x="6336792" y="4361688"/>
          <a:ext cx="2377440" cy="202996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30" name="Grafico fabrica vs incentivo"/>
          <p:cNvGraphicFramePr>
            <a:graphicFrameLocks noGrp="1"/>
          </p:cNvGraphicFramePr>
          <p:nvPr/>
        </p:nvGraphicFramePr>
        <p:xfrm>
          <a:off x="8805672" y="4544568"/>
          <a:ext cx="3154680" cy="14173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1" name="Nota incentivo"/>
          <p:cNvSpPr txBox="1"/>
          <p:nvPr/>
        </p:nvSpPr>
        <p:spPr>
          <a:xfrm>
            <a:off x="8897112" y="5980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F41"/>
                </a:solidFill>
              </a:rPr>
              <a:t>O incentivo cobre todo o custo fabril.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Baixo poder de barganha com os fornecedores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Em cada produto, poucos fabricantes globais controlam o insumo crítico; a Intelbras paga em dólar, aceita o preço e financia o estoque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Em cada produto, o insumo crítico está nas mãos de poucos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Participação dos maiores fabricantes no mundo (%) e o produto Intelbras que depende do insumo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O custo é em dólar; a receita, em reais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Contas a pagar a fornecedores vs contas a receber, por moeda, 31/12/2025 (%)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III. Fornecedores dão pouco prazo: Dahua, bancos e caixa bancam o estoque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Os 173 dias de estoque de 2025, por quem os financia (dias de custo dos produtos vendidos)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TrendForce; TrendFocus; Counterpoint; Novaira; IEA-PVPS; InfoLink; datasheets e FRE 2026 (1.4.e, 2.2); DFP 2025 (NE 14, 25, 32). Detalhes nas anotações.</a:t>
            </a:r>
          </a:p>
        </p:txBody>
      </p:sp>
      <p:sp>
        <p:nvSpPr>
          <p:cNvPr id="13" name="Rotulo Fabricação de chips"/>
          <p:cNvSpPr txBox="1"/>
          <p:nvPr/>
        </p:nvSpPr>
        <p:spPr>
          <a:xfrm>
            <a:off x="566928" y="1563624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Fabricação de chips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todos os eletrônicos · 2025</a:t>
            </a:r>
          </a:p>
        </p:txBody>
      </p:sp>
      <p:sp>
        <p:nvSpPr>
          <p:cNvPr id="14" name="Barra Fabricação de chips 0"/>
          <p:cNvSpPr/>
          <p:nvPr/>
        </p:nvSpPr>
        <p:spPr>
          <a:xfrm>
            <a:off x="2715768" y="1618488"/>
            <a:ext cx="2368296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TSMC 70%</a:t>
            </a:r>
          </a:p>
        </p:txBody>
      </p:sp>
      <p:sp>
        <p:nvSpPr>
          <p:cNvPr id="15" name="Barra Fabricação de chips 1"/>
          <p:cNvSpPr/>
          <p:nvPr/>
        </p:nvSpPr>
        <p:spPr>
          <a:xfrm>
            <a:off x="5084064" y="1618488"/>
            <a:ext cx="236829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16" name="Barra Fabricação de chips 2"/>
          <p:cNvSpPr/>
          <p:nvPr/>
        </p:nvSpPr>
        <p:spPr>
          <a:xfrm>
            <a:off x="5320893" y="1618488"/>
            <a:ext cx="169164" cy="384048"/>
          </a:xfrm>
          <a:prstGeom prst="rect">
            <a:avLst/>
          </a:prstGeom>
          <a:solidFill>
            <a:srgbClr val="8C8C8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17" name="Barra Fabricação de chips 3"/>
          <p:cNvSpPr/>
          <p:nvPr/>
        </p:nvSpPr>
        <p:spPr>
          <a:xfrm>
            <a:off x="5490057" y="1618488"/>
            <a:ext cx="608990" cy="384048"/>
          </a:xfrm>
          <a:prstGeom prst="rect">
            <a:avLst/>
          </a:prstGeom>
          <a:solidFill>
            <a:srgbClr val="E3E3E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595959"/>
                </a:solidFill>
              </a:rPr>
              <a:t>Outros 18%</a:t>
            </a:r>
          </a:p>
        </p:txBody>
      </p:sp>
      <p:sp>
        <p:nvSpPr>
          <p:cNvPr id="18" name="Rotulo Memória DRAM"/>
          <p:cNvSpPr txBox="1"/>
          <p:nvPr/>
        </p:nvSpPr>
        <p:spPr>
          <a:xfrm>
            <a:off x="566928" y="2167128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Memória DRAM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câmeras, gravadores, roteadores · 3T25</a:t>
            </a:r>
          </a:p>
        </p:txBody>
      </p:sp>
      <p:sp>
        <p:nvSpPr>
          <p:cNvPr id="19" name="Barra Memória DRAM 0"/>
          <p:cNvSpPr/>
          <p:nvPr/>
        </p:nvSpPr>
        <p:spPr>
          <a:xfrm>
            <a:off x="2715768" y="2221992"/>
            <a:ext cx="1123248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SK hynix 33</a:t>
            </a:r>
          </a:p>
        </p:txBody>
      </p:sp>
      <p:sp>
        <p:nvSpPr>
          <p:cNvPr id="20" name="Barra Memória DRAM 1"/>
          <p:cNvSpPr/>
          <p:nvPr/>
        </p:nvSpPr>
        <p:spPr>
          <a:xfrm>
            <a:off x="3839016" y="2221992"/>
            <a:ext cx="1102949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Samsung 33</a:t>
            </a:r>
          </a:p>
        </p:txBody>
      </p:sp>
      <p:sp>
        <p:nvSpPr>
          <p:cNvPr id="21" name="Barra Memória DRAM 2"/>
          <p:cNvSpPr/>
          <p:nvPr/>
        </p:nvSpPr>
        <p:spPr>
          <a:xfrm>
            <a:off x="4941966" y="2221992"/>
            <a:ext cx="869502" cy="384048"/>
          </a:xfrm>
          <a:prstGeom prst="rect">
            <a:avLst/>
          </a:prstGeom>
          <a:solidFill>
            <a:srgbClr val="8C8C8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Micron 26</a:t>
            </a:r>
          </a:p>
        </p:txBody>
      </p:sp>
      <p:sp>
        <p:nvSpPr>
          <p:cNvPr id="22" name="Barra Memória DRAM 3"/>
          <p:cNvSpPr/>
          <p:nvPr/>
        </p:nvSpPr>
        <p:spPr>
          <a:xfrm>
            <a:off x="5811469" y="2221992"/>
            <a:ext cx="287578" cy="384048"/>
          </a:xfrm>
          <a:prstGeom prst="rect">
            <a:avLst/>
          </a:prstGeom>
          <a:solidFill>
            <a:srgbClr val="E3E3E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23" name="Rotulo Discos rígidos"/>
          <p:cNvSpPr txBox="1"/>
          <p:nvPr/>
        </p:nvSpPr>
        <p:spPr>
          <a:xfrm>
            <a:off x="566928" y="2770632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Discos rígidos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gravadores de vídeo (DVR/NVR) · 1T25</a:t>
            </a:r>
          </a:p>
        </p:txBody>
      </p:sp>
      <p:sp>
        <p:nvSpPr>
          <p:cNvPr id="24" name="Barra Discos rígidos 0"/>
          <p:cNvSpPr/>
          <p:nvPr/>
        </p:nvSpPr>
        <p:spPr>
          <a:xfrm>
            <a:off x="2715768" y="2825496"/>
            <a:ext cx="1420977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WD 42</a:t>
            </a:r>
          </a:p>
        </p:txBody>
      </p:sp>
      <p:sp>
        <p:nvSpPr>
          <p:cNvPr id="25" name="Barra Discos rígidos 1"/>
          <p:cNvSpPr/>
          <p:nvPr/>
        </p:nvSpPr>
        <p:spPr>
          <a:xfrm>
            <a:off x="4136745" y="2825496"/>
            <a:ext cx="1353312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Seagate 40</a:t>
            </a:r>
          </a:p>
        </p:txBody>
      </p:sp>
      <p:sp>
        <p:nvSpPr>
          <p:cNvPr id="26" name="Barra Discos rígidos 2"/>
          <p:cNvSpPr/>
          <p:nvPr/>
        </p:nvSpPr>
        <p:spPr>
          <a:xfrm>
            <a:off x="5490057" y="2825496"/>
            <a:ext cx="608990" cy="384048"/>
          </a:xfrm>
          <a:prstGeom prst="rect">
            <a:avLst/>
          </a:prstGeom>
          <a:solidFill>
            <a:srgbClr val="8C8C8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Toshiba 18</a:t>
            </a:r>
          </a:p>
        </p:txBody>
      </p:sp>
      <p:sp>
        <p:nvSpPr>
          <p:cNvPr id="27" name="Rotulo Chips Wi-Fi"/>
          <p:cNvSpPr txBox="1"/>
          <p:nvPr/>
        </p:nvSpPr>
        <p:spPr>
          <a:xfrm>
            <a:off x="566928" y="3374136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Chips Wi-Fi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roteadores (Twibi usa Realtek) · 2024</a:t>
            </a:r>
          </a:p>
        </p:txBody>
      </p:sp>
      <p:sp>
        <p:nvSpPr>
          <p:cNvPr id="28" name="Barra Chips Wi-Fi 0"/>
          <p:cNvSpPr/>
          <p:nvPr/>
        </p:nvSpPr>
        <p:spPr>
          <a:xfrm>
            <a:off x="2715768" y="3429000"/>
            <a:ext cx="2774289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5 maiores 82%</a:t>
            </a:r>
          </a:p>
        </p:txBody>
      </p:sp>
      <p:sp>
        <p:nvSpPr>
          <p:cNvPr id="29" name="Barra Chips Wi-Fi 1"/>
          <p:cNvSpPr/>
          <p:nvPr/>
        </p:nvSpPr>
        <p:spPr>
          <a:xfrm>
            <a:off x="5490057" y="3429000"/>
            <a:ext cx="608990" cy="384048"/>
          </a:xfrm>
          <a:prstGeom prst="rect">
            <a:avLst/>
          </a:prstGeom>
          <a:solidFill>
            <a:srgbClr val="E3E3E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595959"/>
                </a:solidFill>
              </a:rPr>
              <a:t>Outros</a:t>
            </a:r>
          </a:p>
        </p:txBody>
      </p:sp>
      <p:sp>
        <p:nvSpPr>
          <p:cNvPr id="30" name="Rotulo Câmeras e gravadores"/>
          <p:cNvSpPr txBox="1"/>
          <p:nvPr/>
        </p:nvSpPr>
        <p:spPr>
          <a:xfrm>
            <a:off x="566928" y="3977640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Câmeras e gravadores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CFTV · Intelbras compra só da Dahua · 2023</a:t>
            </a:r>
          </a:p>
        </p:txBody>
      </p:sp>
      <p:sp>
        <p:nvSpPr>
          <p:cNvPr id="31" name="Barra Câmeras e gravadores 0"/>
          <p:cNvSpPr/>
          <p:nvPr/>
        </p:nvSpPr>
        <p:spPr>
          <a:xfrm>
            <a:off x="2715768" y="4032504"/>
            <a:ext cx="169164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4 maiores ≈50%</a:t>
            </a:r>
          </a:p>
        </p:txBody>
      </p:sp>
      <p:sp>
        <p:nvSpPr>
          <p:cNvPr id="32" name="Barra Câmeras e gravadores 1"/>
          <p:cNvSpPr/>
          <p:nvPr/>
        </p:nvSpPr>
        <p:spPr>
          <a:xfrm>
            <a:off x="4407408" y="4032504"/>
            <a:ext cx="1691640" cy="384048"/>
          </a:xfrm>
          <a:prstGeom prst="rect">
            <a:avLst/>
          </a:prstGeom>
          <a:solidFill>
            <a:srgbClr val="E3E3E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595959"/>
                </a:solidFill>
              </a:rPr>
              <a:t>Outros</a:t>
            </a:r>
          </a:p>
        </p:txBody>
      </p:sp>
      <p:sp>
        <p:nvSpPr>
          <p:cNvPr id="33" name="Rotulo Módulos solares"/>
          <p:cNvSpPr txBox="1"/>
          <p:nvPr/>
        </p:nvSpPr>
        <p:spPr>
          <a:xfrm>
            <a:off x="566928" y="4581144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Módulos solares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energia solar · 2024</a:t>
            </a:r>
          </a:p>
        </p:txBody>
      </p:sp>
      <p:sp>
        <p:nvSpPr>
          <p:cNvPr id="34" name="Barra Módulos solares 0"/>
          <p:cNvSpPr/>
          <p:nvPr/>
        </p:nvSpPr>
        <p:spPr>
          <a:xfrm>
            <a:off x="2715768" y="4636008"/>
            <a:ext cx="290962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China 86%</a:t>
            </a:r>
          </a:p>
        </p:txBody>
      </p:sp>
      <p:sp>
        <p:nvSpPr>
          <p:cNvPr id="35" name="Barra Módulos solares 1"/>
          <p:cNvSpPr/>
          <p:nvPr/>
        </p:nvSpPr>
        <p:spPr>
          <a:xfrm>
            <a:off x="5625388" y="4636008"/>
            <a:ext cx="473659" cy="384048"/>
          </a:xfrm>
          <a:prstGeom prst="rect">
            <a:avLst/>
          </a:prstGeom>
          <a:solidFill>
            <a:srgbClr val="E3E3E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595959"/>
                </a:solidFill>
              </a:rPr>
              <a:t>Resto</a:t>
            </a:r>
          </a:p>
        </p:txBody>
      </p:sp>
      <p:sp>
        <p:nvSpPr>
          <p:cNvPr id="36" name="Rotulo Células de lítio"/>
          <p:cNvSpPr txBox="1"/>
          <p:nvPr/>
        </p:nvSpPr>
        <p:spPr>
          <a:xfrm>
            <a:off x="566928" y="5184648"/>
            <a:ext cx="2057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Células de lítio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baterias e armazenamento · 2024</a:t>
            </a:r>
          </a:p>
        </p:txBody>
      </p:sp>
      <p:sp>
        <p:nvSpPr>
          <p:cNvPr id="37" name="Barra Células de lítio 0"/>
          <p:cNvSpPr/>
          <p:nvPr/>
        </p:nvSpPr>
        <p:spPr>
          <a:xfrm>
            <a:off x="2715768" y="5239512"/>
            <a:ext cx="2571292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CATL, EVE, Hithium, BYD, CALB &gt;75%</a:t>
            </a:r>
          </a:p>
        </p:txBody>
      </p:sp>
      <p:sp>
        <p:nvSpPr>
          <p:cNvPr id="38" name="Barra Células de lítio 1"/>
          <p:cNvSpPr/>
          <p:nvPr/>
        </p:nvSpPr>
        <p:spPr>
          <a:xfrm>
            <a:off x="5287060" y="5239512"/>
            <a:ext cx="811987" cy="384048"/>
          </a:xfrm>
          <a:prstGeom prst="rect">
            <a:avLst/>
          </a:prstGeom>
          <a:solidFill>
            <a:srgbClr val="E3E3E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595959"/>
                </a:solidFill>
              </a:rPr>
              <a:t>Outros</a:t>
            </a:r>
          </a:p>
        </p:txBody>
      </p:sp>
      <p:sp>
        <p:nvSpPr>
          <p:cNvPr id="39" name="Citacao chipsets"/>
          <p:cNvSpPr txBox="1"/>
          <p:nvPr/>
        </p:nvSpPr>
        <p:spPr>
          <a:xfrm>
            <a:off x="566928" y="5861304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6B6B6B"/>
                </a:solidFill>
              </a:rPr>
              <a:t>“Existem poucas opções para escolha ou mudança dos chipsets”: trocar de fornecedor pode suspender parte da produção (FRE 2026)</a:t>
            </a:r>
          </a:p>
        </p:txBody>
      </p:sp>
      <p:sp>
        <p:nvSpPr>
          <p:cNvPr id="40" name="Rotulo pagar"/>
          <p:cNvSpPr txBox="1"/>
          <p:nvPr/>
        </p:nvSpPr>
        <p:spPr>
          <a:xfrm>
            <a:off x="6428232" y="1746504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A pagar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fornecedores</a:t>
            </a:r>
          </a:p>
        </p:txBody>
      </p:sp>
      <p:sp>
        <p:nvSpPr>
          <p:cNvPr id="41" name="Barra pagar 0"/>
          <p:cNvSpPr/>
          <p:nvPr/>
        </p:nvSpPr>
        <p:spPr>
          <a:xfrm>
            <a:off x="7388352" y="1773936"/>
            <a:ext cx="2353848" cy="438912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Dólar 84%</a:t>
            </a:r>
          </a:p>
        </p:txBody>
      </p:sp>
      <p:sp>
        <p:nvSpPr>
          <p:cNvPr id="42" name="Barra pagar 1"/>
          <p:cNvSpPr/>
          <p:nvPr/>
        </p:nvSpPr>
        <p:spPr>
          <a:xfrm>
            <a:off x="9742200" y="1773936"/>
            <a:ext cx="203591" cy="438912"/>
          </a:xfrm>
          <a:prstGeom prst="rect">
            <a:avLst/>
          </a:prstGeom>
          <a:solidFill>
            <a:srgbClr val="59595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43" name="Barra pagar 2"/>
          <p:cNvSpPr/>
          <p:nvPr/>
        </p:nvSpPr>
        <p:spPr>
          <a:xfrm>
            <a:off x="9945791" y="1773936"/>
            <a:ext cx="231480" cy="438912"/>
          </a:xfrm>
          <a:prstGeom prst="rect">
            <a:avLst/>
          </a:prstGeom>
          <a:solidFill>
            <a:srgbClr val="009F4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44" name="Rotulo receber"/>
          <p:cNvSpPr txBox="1"/>
          <p:nvPr/>
        </p:nvSpPr>
        <p:spPr>
          <a:xfrm>
            <a:off x="6428232" y="2441448"/>
            <a:ext cx="960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</a:rPr>
              <a:t>A receber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clientes</a:t>
            </a:r>
          </a:p>
        </p:txBody>
      </p:sp>
      <p:sp>
        <p:nvSpPr>
          <p:cNvPr id="45" name="Barra receber 0"/>
          <p:cNvSpPr/>
          <p:nvPr/>
        </p:nvSpPr>
        <p:spPr>
          <a:xfrm>
            <a:off x="7388352" y="2468880"/>
            <a:ext cx="2674574" cy="438912"/>
          </a:xfrm>
          <a:prstGeom prst="rect">
            <a:avLst/>
          </a:prstGeom>
          <a:solidFill>
            <a:srgbClr val="009F4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</a:rPr>
              <a:t>Reais 96%</a:t>
            </a:r>
          </a:p>
        </p:txBody>
      </p:sp>
      <p:sp>
        <p:nvSpPr>
          <p:cNvPr id="46" name="Barra receber 1"/>
          <p:cNvSpPr/>
          <p:nvPr/>
        </p:nvSpPr>
        <p:spPr>
          <a:xfrm>
            <a:off x="10062926" y="2468880"/>
            <a:ext cx="114345" cy="438912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47" name="Nota pagar"/>
          <p:cNvSpPr txBox="1"/>
          <p:nvPr/>
        </p:nvSpPr>
        <p:spPr>
          <a:xfrm>
            <a:off x="7982711" y="224028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yuan 7% · reais 8%</a:t>
            </a:r>
          </a:p>
        </p:txBody>
      </p:sp>
      <p:sp>
        <p:nvSpPr>
          <p:cNvPr id="48" name="Nota receber"/>
          <p:cNvSpPr txBox="1"/>
          <p:nvPr/>
        </p:nvSpPr>
        <p:spPr>
          <a:xfrm>
            <a:off x="7982711" y="293522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 i="0">
                <a:solidFill>
                  <a:srgbClr val="6B6B6B"/>
                </a:solidFill>
              </a:rPr>
              <a:t>4% em moeda estrangeira</a:t>
            </a:r>
          </a:p>
        </p:txBody>
      </p:sp>
      <p:sp>
        <p:nvSpPr>
          <p:cNvPr id="49" name="Destaque cambio"/>
          <p:cNvSpPr txBox="1"/>
          <p:nvPr/>
        </p:nvSpPr>
        <p:spPr>
          <a:xfrm>
            <a:off x="10360152" y="1773936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+R$249 mi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</a:rPr>
              <a:t>de custo por ano a cada +10% no dólar</a:t>
            </a:r>
          </a:p>
        </p:txBody>
      </p:sp>
      <p:sp>
        <p:nvSpPr>
          <p:cNvPr id="50" name="Barra financiamento 0"/>
          <p:cNvSpPr/>
          <p:nvPr/>
        </p:nvSpPr>
        <p:spPr>
          <a:xfrm>
            <a:off x="6428232" y="4727448"/>
            <a:ext cx="1148549" cy="566928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Dahua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53</a:t>
            </a:r>
          </a:p>
        </p:txBody>
      </p:sp>
      <p:sp>
        <p:nvSpPr>
          <p:cNvPr id="51" name="Barra financiamento 1"/>
          <p:cNvSpPr/>
          <p:nvPr/>
        </p:nvSpPr>
        <p:spPr>
          <a:xfrm>
            <a:off x="7576781" y="4727448"/>
            <a:ext cx="671793" cy="566928"/>
          </a:xfrm>
          <a:prstGeom prst="rect">
            <a:avLst/>
          </a:prstGeom>
          <a:solidFill>
            <a:srgbClr val="59595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Bancos¹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31</a:t>
            </a:r>
          </a:p>
        </p:txBody>
      </p:sp>
      <p:sp>
        <p:nvSpPr>
          <p:cNvPr id="52" name="Barra financiamento 2"/>
          <p:cNvSpPr/>
          <p:nvPr/>
        </p:nvSpPr>
        <p:spPr>
          <a:xfrm>
            <a:off x="8248575" y="4727448"/>
            <a:ext cx="845159" cy="566928"/>
          </a:xfrm>
          <a:prstGeom prst="rect">
            <a:avLst/>
          </a:prstGeom>
          <a:solidFill>
            <a:srgbClr val="8C8C8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Outros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39</a:t>
            </a:r>
          </a:p>
        </p:txBody>
      </p:sp>
      <p:sp>
        <p:nvSpPr>
          <p:cNvPr id="53" name="Barra financiamento 3"/>
          <p:cNvSpPr/>
          <p:nvPr/>
        </p:nvSpPr>
        <p:spPr>
          <a:xfrm>
            <a:off x="9093734" y="4727448"/>
            <a:ext cx="1083537" cy="566928"/>
          </a:xfrm>
          <a:prstGeom prst="rect">
            <a:avLst/>
          </a:prstGeom>
          <a:solidFill>
            <a:srgbClr val="009F4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Caixa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50</a:t>
            </a:r>
          </a:p>
        </p:txBody>
      </p:sp>
      <p:cxnSp>
        <p:nvCxnSpPr>
          <p:cNvPr id="54" name="Chave prazo"/>
          <p:cNvCxnSpPr/>
          <p:nvPr/>
        </p:nvCxnSpPr>
        <p:spPr>
          <a:xfrm>
            <a:off x="6428232" y="5413248"/>
            <a:ext cx="2638070" cy="0"/>
          </a:xfrm>
          <a:prstGeom prst="line">
            <a:avLst/>
          </a:prstGeom>
          <a:ln w="12700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have vao"/>
          <p:cNvCxnSpPr/>
          <p:nvPr/>
        </p:nvCxnSpPr>
        <p:spPr>
          <a:xfrm>
            <a:off x="9121166" y="5413248"/>
            <a:ext cx="1056106" cy="0"/>
          </a:xfrm>
          <a:prstGeom prst="line">
            <a:avLst/>
          </a:prstGeom>
          <a:ln w="12700">
            <a:solidFill>
              <a:srgbClr val="009F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tulo prazo"/>
          <p:cNvSpPr txBox="1"/>
          <p:nvPr/>
        </p:nvSpPr>
        <p:spPr>
          <a:xfrm>
            <a:off x="6428232" y="5458968"/>
            <a:ext cx="266550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prazo dado à Intelbras: 123 dias</a:t>
            </a:r>
          </a:p>
        </p:txBody>
      </p:sp>
      <p:sp>
        <p:nvSpPr>
          <p:cNvPr id="57" name="Rotulo vao"/>
          <p:cNvSpPr txBox="1"/>
          <p:nvPr/>
        </p:nvSpPr>
        <p:spPr>
          <a:xfrm>
            <a:off x="9093734" y="5458968"/>
            <a:ext cx="108353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9F41"/>
                </a:solidFill>
              </a:rPr>
              <a:t>vão: 50 dias</a:t>
            </a:r>
          </a:p>
        </p:txBody>
      </p:sp>
      <p:sp>
        <p:nvSpPr>
          <p:cNvPr id="58" name="Nota risco sacado"/>
          <p:cNvSpPr txBox="1"/>
          <p:nvPr/>
        </p:nvSpPr>
        <p:spPr>
          <a:xfrm>
            <a:off x="6428232" y="5843016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6B6B6B"/>
                </a:solidFill>
              </a:rPr>
              <a:t>¹ Risco sacado: o banco paga o fornecedor antes e a Intelbras paga o banco depois.</a:t>
            </a:r>
          </a:p>
        </p:txBody>
      </p:sp>
      <p:sp>
        <p:nvSpPr>
          <p:cNvPr id="59" name="Destaque caixa"/>
          <p:cNvSpPr txBox="1"/>
          <p:nvPr/>
        </p:nvSpPr>
        <p:spPr>
          <a:xfrm>
            <a:off x="10360152" y="4681728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≈R$0,4 bi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95959"/>
                </a:solidFill>
              </a:rPr>
              <a:t>do caixa da Intelbras financia o estoque (2025)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Dahua: fornecedora, sócia e concorrente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 2ª maior empresa de segurança do mundo troca tecnologia pelo canal da Intelbras, mas prepara a saída do capital e já monta canal próprio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A maior fornecedora: um terço dos gastos e ~1/4 do custo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Dahua em % dos gastos com fornecedores (FRE) e do custo dos produtos vendidos (DFP)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A troca: tecnologia da nº 2 do mundo pelo canal da Intelbras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 que cada lado entrega (acordo de 2018 a 2028) e quanto um pesa no outro (2025)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Sócia e concorrente ao mesmo tempo: coopetição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Os três papéis da Dahua na Intelbras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Venda autorizada desde 2023, nada vendido: o teste é dez/2028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Participação da Dahua no capital da Intelbras (%) e marcos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DFPs 2021–25 (NE 32); FRE 2026 (1.4.e, 11.3); Acordo de Acionistas (2019); Dahua (Relatório Anual 2025, anúncios 2023-073 e 2025-075); a&amp;s Security 50 (2025); Teletime; TI Inside; IT Forum.</a:t>
            </a:r>
          </a:p>
        </p:txBody>
      </p:sp>
      <p:graphicFrame>
        <p:nvGraphicFramePr>
          <p:cNvPr id="17" name="Grafico concentracao Dahua"/>
          <p:cNvGraphicFramePr>
            <a:graphicFrameLocks noGrp="1"/>
          </p:cNvGraphicFramePr>
          <p:nvPr/>
        </p:nvGraphicFramePr>
        <p:xfrm>
          <a:off x="566928" y="1545336"/>
          <a:ext cx="553212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Caixa Intelbras"/>
          <p:cNvSpPr/>
          <p:nvPr/>
        </p:nvSpPr>
        <p:spPr>
          <a:xfrm>
            <a:off x="6428232" y="1563624"/>
            <a:ext cx="1371600" cy="749808"/>
          </a:xfrm>
          <a:prstGeom prst="roundRect">
            <a:avLst>
              <a:gd name="adj" fmla="val 8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Intelbras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&gt;90 mil revendas e instaladores</a:t>
            </a:r>
          </a:p>
        </p:txBody>
      </p:sp>
      <p:sp>
        <p:nvSpPr>
          <p:cNvPr id="19" name="Caixa Dahua"/>
          <p:cNvSpPr/>
          <p:nvPr/>
        </p:nvSpPr>
        <p:spPr>
          <a:xfrm>
            <a:off x="10588752" y="1563624"/>
            <a:ext cx="1371600" cy="749808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Dahua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nº 2 do mundo · P&amp;D R$3,4 bi/ano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872984" y="1819656"/>
            <a:ext cx="2642616" cy="0"/>
          </a:xfrm>
          <a:prstGeom prst="line">
            <a:avLst/>
          </a:prstGeom>
          <a:ln w="22225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72984" y="2075688"/>
            <a:ext cx="2642616" cy="0"/>
          </a:xfrm>
          <a:prstGeom prst="line">
            <a:avLst/>
          </a:prstGeom>
          <a:ln w="22225">
            <a:solidFill>
              <a:srgbClr val="009F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Seta Dahua entrega"/>
          <p:cNvSpPr txBox="1"/>
          <p:nvPr/>
        </p:nvSpPr>
        <p:spPr>
          <a:xfrm>
            <a:off x="7872984" y="1508760"/>
            <a:ext cx="2642615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câmeras, marca exclusiva e prazo</a:t>
            </a:r>
          </a:p>
        </p:txBody>
      </p:sp>
      <p:sp>
        <p:nvSpPr>
          <p:cNvPr id="23" name="Seta Intelbras entrega"/>
          <p:cNvSpPr txBox="1"/>
          <p:nvPr/>
        </p:nvSpPr>
        <p:spPr>
          <a:xfrm>
            <a:off x="7872984" y="2112264"/>
            <a:ext cx="26426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009F41"/>
                </a:solidFill>
              </a:rPr>
              <a:t>acesso ao mercado brasileiro</a:t>
            </a:r>
          </a:p>
        </p:txBody>
      </p:sp>
      <p:graphicFrame>
        <p:nvGraphicFramePr>
          <p:cNvPr id="24" name="Grafico assimetria"/>
          <p:cNvGraphicFramePr>
            <a:graphicFrameLocks noGrp="1"/>
          </p:cNvGraphicFramePr>
          <p:nvPr/>
        </p:nvGraphicFramePr>
        <p:xfrm>
          <a:off x="6428232" y="2414015"/>
          <a:ext cx="5532120" cy="11155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Papel Fornecedora"/>
          <p:cNvSpPr/>
          <p:nvPr/>
        </p:nvSpPr>
        <p:spPr>
          <a:xfrm>
            <a:off x="566928" y="4425696"/>
            <a:ext cx="1752600" cy="329184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Fornecedora</a:t>
            </a:r>
          </a:p>
        </p:txBody>
      </p:sp>
      <p:sp>
        <p:nvSpPr>
          <p:cNvPr id="26" name="Numero Fornecedora"/>
          <p:cNvSpPr txBox="1"/>
          <p:nvPr/>
        </p:nvSpPr>
        <p:spPr>
          <a:xfrm>
            <a:off x="566928" y="4818888"/>
            <a:ext cx="1752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</a:rPr>
              <a:t>36%</a:t>
            </a:r>
          </a:p>
        </p:txBody>
      </p:sp>
      <p:sp>
        <p:nvSpPr>
          <p:cNvPr id="27" name="Texto Fornecedora"/>
          <p:cNvSpPr txBox="1"/>
          <p:nvPr/>
        </p:nvSpPr>
        <p:spPr>
          <a:xfrm>
            <a:off x="566928" y="5321808"/>
            <a:ext cx="1752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dos gastos com fornecedores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225 dias de prazo</a:t>
            </a:r>
          </a:p>
        </p:txBody>
      </p:sp>
      <p:sp>
        <p:nvSpPr>
          <p:cNvPr id="28" name="Papel Sócia"/>
          <p:cNvSpPr/>
          <p:nvPr/>
        </p:nvSpPr>
        <p:spPr>
          <a:xfrm>
            <a:off x="2456688" y="4425696"/>
            <a:ext cx="1752600" cy="329184"/>
          </a:xfrm>
          <a:prstGeom prst="roundRect">
            <a:avLst>
              <a:gd name="adj" fmla="val 8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Sócia</a:t>
            </a:r>
          </a:p>
        </p:txBody>
      </p:sp>
      <p:sp>
        <p:nvSpPr>
          <p:cNvPr id="29" name="Numero Sócia"/>
          <p:cNvSpPr txBox="1"/>
          <p:nvPr/>
        </p:nvSpPr>
        <p:spPr>
          <a:xfrm>
            <a:off x="2456688" y="4818888"/>
            <a:ext cx="1752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009F41"/>
                </a:solidFill>
              </a:rPr>
              <a:t>7,56%</a:t>
            </a:r>
          </a:p>
        </p:txBody>
      </p:sp>
      <p:sp>
        <p:nvSpPr>
          <p:cNvPr id="30" name="Texto Sócia"/>
          <p:cNvSpPr txBox="1"/>
          <p:nvPr/>
        </p:nvSpPr>
        <p:spPr>
          <a:xfrm>
            <a:off x="2456688" y="5321808"/>
            <a:ext cx="1752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do capital e 1 conselheiro,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que chefia a Dahua Brasil</a:t>
            </a:r>
          </a:p>
        </p:txBody>
      </p:sp>
      <p:sp>
        <p:nvSpPr>
          <p:cNvPr id="31" name="Papel Concorrente"/>
          <p:cNvSpPr/>
          <p:nvPr/>
        </p:nvSpPr>
        <p:spPr>
          <a:xfrm>
            <a:off x="4346448" y="4425696"/>
            <a:ext cx="1752600" cy="329184"/>
          </a:xfrm>
          <a:prstGeom prst="roundRect">
            <a:avLst>
              <a:gd name="adj" fmla="val 8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Concorrente</a:t>
            </a:r>
          </a:p>
        </p:txBody>
      </p:sp>
      <p:sp>
        <p:nvSpPr>
          <p:cNvPr id="32" name="Numero Concorrente"/>
          <p:cNvSpPr txBox="1"/>
          <p:nvPr/>
        </p:nvSpPr>
        <p:spPr>
          <a:xfrm>
            <a:off x="4346448" y="4818888"/>
            <a:ext cx="1752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595959"/>
                </a:solidFill>
              </a:rPr>
              <a:t>3</a:t>
            </a:r>
          </a:p>
        </p:txBody>
      </p:sp>
      <p:sp>
        <p:nvSpPr>
          <p:cNvPr id="33" name="Texto Concorrente"/>
          <p:cNvSpPr txBox="1"/>
          <p:nvPr/>
        </p:nvSpPr>
        <p:spPr>
          <a:xfrm>
            <a:off x="4346448" y="5321808"/>
            <a:ext cx="1752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distribuidores próprios desde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</a:rPr>
              <a:t>2024, foco em projetos</a:t>
            </a:r>
          </a:p>
        </p:txBody>
      </p:sp>
      <p:sp>
        <p:nvSpPr>
          <p:cNvPr id="34" name="Nota nao concorrencia"/>
          <p:cNvSpPr txBox="1"/>
          <p:nvPr/>
        </p:nvSpPr>
        <p:spPr>
          <a:xfrm>
            <a:off x="566928" y="5943600"/>
            <a:ext cx="5532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6B6B6B"/>
                </a:solidFill>
              </a:rPr>
              <a:t>O acordo de acionistas proíbe a Dahua de concorrer enquanto for sócia e por 3 anos após sair; projetos ficam de fora (cl. 12.1).</a:t>
            </a:r>
          </a:p>
        </p:txBody>
      </p:sp>
      <p:cxnSp>
        <p:nvCxnSpPr>
          <p:cNvPr id="35" name="Eixo aproximacao"/>
          <p:cNvCxnSpPr/>
          <p:nvPr/>
        </p:nvCxnSpPr>
        <p:spPr>
          <a:xfrm>
            <a:off x="6702552" y="5120640"/>
            <a:ext cx="1742738" cy="0"/>
          </a:xfrm>
          <a:prstGeom prst="line">
            <a:avLst/>
          </a:prstGeom>
          <a:ln w="44450">
            <a:solidFill>
              <a:srgbClr val="009F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ixo afastamento"/>
          <p:cNvCxnSpPr/>
          <p:nvPr/>
        </p:nvCxnSpPr>
        <p:spPr>
          <a:xfrm>
            <a:off x="8445290" y="5120640"/>
            <a:ext cx="3195022" cy="0"/>
          </a:xfrm>
          <a:prstGeom prst="line">
            <a:avLst/>
          </a:prstGeom>
          <a:ln w="444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Ponto 2019"/>
          <p:cNvSpPr/>
          <p:nvPr/>
        </p:nvSpPr>
        <p:spPr>
          <a:xfrm>
            <a:off x="7065084" y="5047488"/>
            <a:ext cx="146304" cy="146304"/>
          </a:xfrm>
          <a:prstGeom prst="ellipse">
            <a:avLst/>
          </a:prstGeom>
          <a:solidFill>
            <a:srgbClr val="009F41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Valor 2019"/>
          <p:cNvSpPr txBox="1"/>
          <p:nvPr/>
        </p:nvSpPr>
        <p:spPr>
          <a:xfrm>
            <a:off x="6681036" y="46177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9F41"/>
                </a:solidFill>
              </a:rPr>
              <a:t>10%</a:t>
            </a:r>
          </a:p>
        </p:txBody>
      </p:sp>
      <p:sp>
        <p:nvSpPr>
          <p:cNvPr id="39" name="Ano 2019"/>
          <p:cNvSpPr txBox="1"/>
          <p:nvPr/>
        </p:nvSpPr>
        <p:spPr>
          <a:xfrm>
            <a:off x="6681036" y="522122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2019</a:t>
            </a:r>
          </a:p>
        </p:txBody>
      </p:sp>
      <p:sp>
        <p:nvSpPr>
          <p:cNvPr id="40" name="Ponto 2021"/>
          <p:cNvSpPr/>
          <p:nvPr/>
        </p:nvSpPr>
        <p:spPr>
          <a:xfrm>
            <a:off x="7984863" y="5047488"/>
            <a:ext cx="146304" cy="146304"/>
          </a:xfrm>
          <a:prstGeom prst="ellipse">
            <a:avLst/>
          </a:prstGeom>
          <a:solidFill>
            <a:srgbClr val="009F41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Valor 2021"/>
          <p:cNvSpPr txBox="1"/>
          <p:nvPr/>
        </p:nvSpPr>
        <p:spPr>
          <a:xfrm>
            <a:off x="7600815" y="46177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9F41"/>
                </a:solidFill>
              </a:rPr>
              <a:t>10%</a:t>
            </a:r>
          </a:p>
        </p:txBody>
      </p:sp>
      <p:sp>
        <p:nvSpPr>
          <p:cNvPr id="42" name="Ano 2021"/>
          <p:cNvSpPr txBox="1"/>
          <p:nvPr/>
        </p:nvSpPr>
        <p:spPr>
          <a:xfrm>
            <a:off x="7600815" y="522122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2021</a:t>
            </a:r>
          </a:p>
        </p:txBody>
      </p:sp>
      <p:sp>
        <p:nvSpPr>
          <p:cNvPr id="43" name="Ponto jun/23"/>
          <p:cNvSpPr/>
          <p:nvPr/>
        </p:nvSpPr>
        <p:spPr>
          <a:xfrm>
            <a:off x="8783618" y="5047488"/>
            <a:ext cx="146304" cy="146304"/>
          </a:xfrm>
          <a:prstGeom prst="ellipse">
            <a:avLst/>
          </a:prstGeom>
          <a:solidFill>
            <a:srgbClr val="1A1A1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Valor jun/23"/>
          <p:cNvSpPr txBox="1"/>
          <p:nvPr/>
        </p:nvSpPr>
        <p:spPr>
          <a:xfrm>
            <a:off x="8399570" y="46177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</a:rPr>
              <a:t>7,56%</a:t>
            </a:r>
          </a:p>
        </p:txBody>
      </p:sp>
      <p:sp>
        <p:nvSpPr>
          <p:cNvPr id="45" name="Ano jun/23"/>
          <p:cNvSpPr txBox="1"/>
          <p:nvPr/>
        </p:nvSpPr>
        <p:spPr>
          <a:xfrm>
            <a:off x="8399570" y="522122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jun/23</a:t>
            </a:r>
          </a:p>
        </p:txBody>
      </p:sp>
      <p:sp>
        <p:nvSpPr>
          <p:cNvPr id="46" name="Ponto jun/26"/>
          <p:cNvSpPr/>
          <p:nvPr/>
        </p:nvSpPr>
        <p:spPr>
          <a:xfrm>
            <a:off x="10235901" y="5047488"/>
            <a:ext cx="146304" cy="146304"/>
          </a:xfrm>
          <a:prstGeom prst="ellipse">
            <a:avLst/>
          </a:prstGeom>
          <a:solidFill>
            <a:srgbClr val="1A1A1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Valor jun/26"/>
          <p:cNvSpPr txBox="1"/>
          <p:nvPr/>
        </p:nvSpPr>
        <p:spPr>
          <a:xfrm>
            <a:off x="9851853" y="46177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</a:rPr>
              <a:t>7,56%</a:t>
            </a:r>
          </a:p>
        </p:txBody>
      </p:sp>
      <p:sp>
        <p:nvSpPr>
          <p:cNvPr id="48" name="Ano jun/26"/>
          <p:cNvSpPr txBox="1"/>
          <p:nvPr/>
        </p:nvSpPr>
        <p:spPr>
          <a:xfrm>
            <a:off x="9851853" y="522122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jun/26</a:t>
            </a:r>
          </a:p>
        </p:txBody>
      </p:sp>
      <p:sp>
        <p:nvSpPr>
          <p:cNvPr id="49" name="Ponto fim do acordo"/>
          <p:cNvSpPr/>
          <p:nvPr/>
        </p:nvSpPr>
        <p:spPr>
          <a:xfrm>
            <a:off x="11400416" y="5001768"/>
            <a:ext cx="237744" cy="237744"/>
          </a:xfrm>
          <a:prstGeom prst="ellipse">
            <a:avLst/>
          </a:prstGeom>
          <a:solidFill>
            <a:srgbClr val="1A1A1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Valor fim acordo"/>
          <p:cNvSpPr txBox="1"/>
          <p:nvPr/>
        </p:nvSpPr>
        <p:spPr>
          <a:xfrm>
            <a:off x="10970648" y="461772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</a:rPr>
              <a:t>dez/28</a:t>
            </a:r>
          </a:p>
        </p:txBody>
      </p:sp>
      <p:sp>
        <p:nvSpPr>
          <p:cNvPr id="51" name="Rotulo fim acordo"/>
          <p:cNvSpPr txBox="1"/>
          <p:nvPr/>
        </p:nvSpPr>
        <p:spPr>
          <a:xfrm>
            <a:off x="10970648" y="523951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acordo vence</a:t>
            </a:r>
          </a:p>
        </p:txBody>
      </p:sp>
      <p:cxnSp>
        <p:nvCxnSpPr>
          <p:cNvPr id="52" name="Faixa venda autorizada"/>
          <p:cNvCxnSpPr/>
          <p:nvPr/>
        </p:nvCxnSpPr>
        <p:spPr>
          <a:xfrm>
            <a:off x="8953589" y="5550408"/>
            <a:ext cx="2405948" cy="0"/>
          </a:xfrm>
          <a:prstGeom prst="line">
            <a:avLst/>
          </a:prstGeom>
          <a:ln w="76200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tulo venda autorizada"/>
          <p:cNvSpPr txBox="1"/>
          <p:nvPr/>
        </p:nvSpPr>
        <p:spPr>
          <a:xfrm>
            <a:off x="8053443" y="5614416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595959"/>
                </a:solidFill>
              </a:rPr>
              <a:t>venda autorizada desde ago/23 (renovada até ago/28)</a:t>
            </a:r>
          </a:p>
        </p:txBody>
      </p:sp>
      <p:sp>
        <p:nvSpPr>
          <p:cNvPr id="54" name="Nota por que"/>
          <p:cNvSpPr txBox="1"/>
          <p:nvPr/>
        </p:nvSpPr>
        <p:spPr>
          <a:xfrm>
            <a:off x="6428232" y="5943600"/>
            <a:ext cx="5532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1">
                <a:solidFill>
                  <a:srgbClr val="1A1A1A"/>
                </a:solidFill>
              </a:rPr>
              <a:t>Por quê: </a:t>
            </a:r>
            <a:r>
              <a:rPr sz="900" b="0" i="1">
                <a:solidFill>
                  <a:srgbClr val="6B6B6B"/>
                </a:solidFill>
              </a:rPr>
              <a:t>reciclagem de capital (declarado); liberdade para competir 3 anos após sair (leitura nossa).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Um_fabricante_de_hardware_movido_por_Segurança</Template>
  <TotalTime>48</TotalTime>
  <Words>392</Words>
  <Application>Microsoft Office PowerPoint</Application>
  <PresentationFormat>Widescreen</PresentationFormat>
  <Paragraphs>56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1_Office Theme</vt:lpstr>
      <vt:lpstr>Baixo poder de barganha com os fornecedores</vt:lpstr>
      <vt:lpstr>Dahua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Marques</dc:creator>
  <cp:lastModifiedBy>Gabriel Marques</cp:lastModifiedBy>
  <cp:revision>3</cp:revision>
  <dcterms:created xsi:type="dcterms:W3CDTF">2026-10-04T13:03:30Z</dcterms:created>
  <dcterms:modified xsi:type="dcterms:W3CDTF">2026-10-04T14:52:38Z</dcterms:modified>
</cp:coreProperties>
</file>