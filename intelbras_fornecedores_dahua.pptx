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4"/>
  </p:notesMasterIdLst>
  <p:sldIdLst>
    <p:sldId id="280" r:id="rId9"/>
    <p:sldId id="28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139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Moeda estrangeira</c:v>
                </c:pt>
              </c:strCache>
            </c:strRef>
          </c:tx>
          <c:dPt>
            <c:idx val="0"/>
            <c:spPr>
              <a:solidFill>
                <a:srgbClr val="1A1A1A"/>
              </a:solidFill>
            </c:spPr>
          </c:dPt>
          <c:dPt>
            <c:idx val="1"/>
            <c:spPr>
              <a:solidFill>
                <a:srgbClr val="1A1A1A"/>
              </a:solidFill>
            </c:spPr>
          </c:dPt>
          <c:dPt>
            <c:idx val="2"/>
            <c:spPr>
              <a:solidFill>
                <a:srgbClr val="009F41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1A1A1A"/>
                        </a:solidFill>
                      </a:rPr>
                      <a:t>~80%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1A1A1A"/>
                        </a:solidFill>
                      </a:rPr>
                      <a:t>92%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1A1A1A"/>
                        </a:solidFill>
                      </a:rPr>
                      <a:t>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Custo dos produtos vendidos</c:v>
                </c:pt>
                <c:pt idx="1">
                  <c:v>Contas a pagar a fornecedores</c:v>
                </c:pt>
                <c:pt idx="2">
                  <c:v>Contas a receber de clientes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80.0</c:v>
                </c:pt>
                <c:pt idx="1">
                  <c:v>91.5</c:v>
                </c:pt>
                <c:pt idx="2">
                  <c:v>4.1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59595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R$ mi</c:v>
                </c:pt>
              </c:strCache>
            </c:strRef>
          </c:tx>
          <c:dPt>
            <c:idx val="0"/>
            <c:spPr>
              <a:solidFill>
                <a:srgbClr val="BFBFBF"/>
              </a:solidFill>
            </c:spPr>
          </c:dPt>
          <c:dPt>
            <c:idx val="1"/>
            <c:spPr>
              <a:solidFill>
                <a:srgbClr val="1A1A1A"/>
              </a:solidFill>
            </c:spPr>
          </c:dPt>
          <c:dPt>
            <c:idx val="2"/>
            <c:spPr>
              <a:solidFill>
                <a:srgbClr val="009F41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1A1A1A"/>
                        </a:solidFill>
                      </a:rPr>
                      <a:t>2.667 (85%)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1A1A1A"/>
                        </a:solidFill>
                      </a:rPr>
                      <a:t>451 (15%)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1A1A1A"/>
                        </a:solidFill>
                      </a:rPr>
                      <a:t>460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Insumos e produtos comprados</c:v>
                </c:pt>
                <c:pt idx="1">
                  <c:v>Produção própria (fábrica + depreciação)</c:v>
                </c:pt>
                <c:pt idx="2">
                  <c:v>Incentivos fiscais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2667</c:v>
                </c:pt>
                <c:pt idx="1">
                  <c:v>451</c:v>
                </c:pt>
                <c:pt idx="2">
                  <c:v>460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3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59595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1º</c:v>
                </c:pt>
              </c:strCache>
            </c:strRef>
          </c:tx>
          <c:spPr>
            <a:solidFill>
              <a:srgbClr val="1A1A1A"/>
            </a:solidFill>
            <a:ln w="9525">
              <a:solidFill>
                <a:srgbClr val="FFFFFF"/>
              </a:solidFill>
            </a:ln>
          </c:spPr>
          <c:dPt>
            <c:idx val="2"/>
            <c:spPr>
              <a:solidFill>
                <a:srgbClr val="009F41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</a:rPr>
                      <a:t>TSMC 70%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</a:rPr>
                      <a:t>SK hynix 33%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FFFFF"/>
                        </a:solidFill>
                      </a:rPr>
                      <a:t>Dahua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Chips (fabricação, 2025)</c:v>
                </c:pt>
                <c:pt idx="1">
                  <c:v>Memória DRAM (3T25)</c:v>
                </c:pt>
                <c:pt idx="2">
                  <c:v>CFTV pronto (contrato até 2028)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69.9</c:v>
                </c:pt>
                <c:pt idx="1">
                  <c:v>33.2</c:v>
                </c:pt>
                <c:pt idx="2">
                  <c:v>100.0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2º</c:v>
                </c:pt>
              </c:strCache>
            </c:strRef>
          </c:tx>
          <c:spPr>
            <a:solidFill>
              <a:srgbClr val="595959"/>
            </a:solidFill>
            <a:ln w="9525">
              <a:solidFill>
                <a:srgbClr val="FFFFFF"/>
              </a:solidFill>
            </a:ln>
          </c:spPr>
          <c:dLbls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</a:rPr>
                      <a:t>Samsung 33%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Chips (fabricação, 2025)</c:v>
                </c:pt>
                <c:pt idx="1">
                  <c:v>Memória DRAM (3T25)</c:v>
                </c:pt>
                <c:pt idx="2">
                  <c:v>CFTV pronto (contrato até 2028)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7.2</c:v>
                </c:pt>
                <c:pt idx="1">
                  <c:v>32.6</c:v>
                </c:pt>
                <c:pt idx="2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3º</c:v>
                </c:pt>
              </c:strCache>
            </c:strRef>
          </c:tx>
          <c:spPr>
            <a:solidFill>
              <a:srgbClr val="8C8C8C"/>
            </a:solidFill>
            <a:ln w="9525">
              <a:solidFill>
                <a:srgbClr val="FFFFFF"/>
              </a:solidFill>
            </a:ln>
          </c:spPr>
          <c:dLbls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</a:rPr>
                      <a:t>Micron 26%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Chips (fabricação, 2025)</c:v>
                </c:pt>
                <c:pt idx="1">
                  <c:v>Memória DRAM (3T25)</c:v>
                </c:pt>
                <c:pt idx="2">
                  <c:v>CFTV pronto (contrato até 2028)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5.3</c:v>
                </c:pt>
                <c:pt idx="1">
                  <c:v>25.7</c:v>
                </c:pt>
                <c:pt idx="2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Outros</c:v>
                </c:pt>
              </c:strCache>
            </c:strRef>
          </c:tx>
          <c:spPr>
            <a:solidFill>
              <a:srgbClr val="E3E3E3"/>
            </a:solidFill>
            <a:ln w="9525"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95959"/>
                        </a:solidFill>
                      </a:rPr>
                      <a:t>Outros 18%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Chips (fabricação, 2025)</c:v>
                </c:pt>
                <c:pt idx="1">
                  <c:v>Memória DRAM (3T25)</c:v>
                </c:pt>
                <c:pt idx="2">
                  <c:v>CFTV pronto (contrato até 2028)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17.6</c:v>
                </c:pt>
                <c:pt idx="1">
                  <c:v>8.5</c:v>
                </c:pt>
                <c:pt idx="2">
                  <c:v>0.0</c:v>
                </c:pt>
              </c:numCache>
            </c:numRef>
          </c:val>
        </c:ser>
        <c:gapWidth val="3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59595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Dólar</c:v>
                </c:pt>
              </c:strCache>
            </c:strRef>
          </c:tx>
          <c:spPr>
            <a:ln w="25400">
              <a:solidFill>
                <a:srgbClr val="595959"/>
              </a:solidFill>
            </a:ln>
          </c:spPr>
          <c:marker>
            <c:symbol val="circle"/>
            <c:size val="4"/>
            <c:spPr>
              <a:solidFill>
                <a:srgbClr val="595959"/>
              </a:solidFill>
              <a:ln>
                <a:solidFill>
                  <a:srgbClr val="595959"/>
                </a:solidFill>
              </a:ln>
            </c:spPr>
          </c:marker>
          <c:dLbls>
            <c:dLbl>
              <c:idx val="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595959"/>
                        </a:solidFill>
                      </a:rPr>
                      <a:t>4,95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595959"/>
                        </a:solidFill>
                      </a:rPr>
                      <a:t>5,84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595959"/>
                        </a:solidFill>
                      </a:rPr>
                      <a:t>5,05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1T23</c:v>
                </c:pt>
                <c:pt idx="1">
                  <c:v>2T23</c:v>
                </c:pt>
                <c:pt idx="2">
                  <c:v>3T23</c:v>
                </c:pt>
                <c:pt idx="3">
                  <c:v>4T23</c:v>
                </c:pt>
                <c:pt idx="4">
                  <c:v>1T24</c:v>
                </c:pt>
                <c:pt idx="5">
                  <c:v>2T24</c:v>
                </c:pt>
                <c:pt idx="6">
                  <c:v>3T24</c:v>
                </c:pt>
                <c:pt idx="7">
                  <c:v>4T24</c:v>
                </c:pt>
                <c:pt idx="8">
                  <c:v>1T25</c:v>
                </c:pt>
                <c:pt idx="9">
                  <c:v>2T25</c:v>
                </c:pt>
                <c:pt idx="10">
                  <c:v>3T25</c:v>
                </c:pt>
                <c:pt idx="11">
                  <c:v>4T25</c:v>
                </c:pt>
                <c:pt idx="12">
                  <c:v>1T26</c:v>
                </c:pt>
                <c:pt idx="13">
                  <c:v>2T26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5.13</c:v>
                </c:pt>
                <c:pt idx="1">
                  <c:v>4.97</c:v>
                </c:pt>
                <c:pt idx="2">
                  <c:v>4.89</c:v>
                </c:pt>
                <c:pt idx="3">
                  <c:v>4.94</c:v>
                </c:pt>
                <c:pt idx="4">
                  <c:v>4.95</c:v>
                </c:pt>
                <c:pt idx="5">
                  <c:v>5.22</c:v>
                </c:pt>
                <c:pt idx="6">
                  <c:v>5.54</c:v>
                </c:pt>
                <c:pt idx="7">
                  <c:v>5.84</c:v>
                </c:pt>
                <c:pt idx="8">
                  <c:v>5.84</c:v>
                </c:pt>
                <c:pt idx="9">
                  <c:v>5.67</c:v>
                </c:pt>
                <c:pt idx="10">
                  <c:v>5.45</c:v>
                </c:pt>
                <c:pt idx="11">
                  <c:v>5.39</c:v>
                </c:pt>
                <c:pt idx="12">
                  <c:v>5.26</c:v>
                </c:pt>
                <c:pt idx="13">
                  <c:v>5.05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59595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.3"/>
          <c:min val="4.5"/>
        </c:scaling>
        <c:delete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59595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Margem bruta</c:v>
                </c:pt>
              </c:strCache>
            </c:strRef>
          </c:tx>
          <c:spPr>
            <a:ln w="28575">
              <a:solidFill>
                <a:srgbClr val="009F41"/>
              </a:solidFill>
            </a:ln>
          </c:spPr>
          <c:marker>
            <c:symbol val="circle"/>
            <c:size val="5"/>
            <c:spPr>
              <a:solidFill>
                <a:srgbClr val="009F41"/>
              </a:solidFill>
              <a:ln>
                <a:solidFill>
                  <a:srgbClr val="009F41"/>
                </a:solidFill>
              </a:ln>
            </c:spPr>
          </c:marker>
          <c:dLbls>
            <c:dLbl>
              <c:idx val="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9F41"/>
                        </a:solidFill>
                      </a:rPr>
                      <a:t>33,9%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9F41"/>
                        </a:solidFill>
                      </a:rPr>
                      <a:t>29,0%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9F41"/>
                        </a:solidFill>
                      </a:rPr>
                      <a:t>33,1%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1T23</c:v>
                </c:pt>
                <c:pt idx="1">
                  <c:v>2T23</c:v>
                </c:pt>
                <c:pt idx="2">
                  <c:v>3T23</c:v>
                </c:pt>
                <c:pt idx="3">
                  <c:v>4T23</c:v>
                </c:pt>
                <c:pt idx="4">
                  <c:v>1T24</c:v>
                </c:pt>
                <c:pt idx="5">
                  <c:v>2T24</c:v>
                </c:pt>
                <c:pt idx="6">
                  <c:v>3T24</c:v>
                </c:pt>
                <c:pt idx="7">
                  <c:v>4T24</c:v>
                </c:pt>
                <c:pt idx="8">
                  <c:v>1T25</c:v>
                </c:pt>
                <c:pt idx="9">
                  <c:v>2T25</c:v>
                </c:pt>
                <c:pt idx="10">
                  <c:v>3T25</c:v>
                </c:pt>
                <c:pt idx="11">
                  <c:v>4T25</c:v>
                </c:pt>
                <c:pt idx="12">
                  <c:v>1T26</c:v>
                </c:pt>
                <c:pt idx="13">
                  <c:v>2T26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31.6</c:v>
                </c:pt>
                <c:pt idx="1">
                  <c:v>34.4</c:v>
                </c:pt>
                <c:pt idx="2">
                  <c:v>32.4</c:v>
                </c:pt>
                <c:pt idx="3">
                  <c:v>29.5</c:v>
                </c:pt>
                <c:pt idx="4">
                  <c:v>33.9</c:v>
                </c:pt>
                <c:pt idx="5">
                  <c:v>31.5</c:v>
                </c:pt>
                <c:pt idx="6">
                  <c:v>29.3</c:v>
                </c:pt>
                <c:pt idx="7">
                  <c:v>29.0</c:v>
                </c:pt>
                <c:pt idx="8">
                  <c:v>29.4</c:v>
                </c:pt>
                <c:pt idx="9">
                  <c:v>29.3</c:v>
                </c:pt>
                <c:pt idx="10">
                  <c:v>30.9</c:v>
                </c:pt>
                <c:pt idx="11">
                  <c:v>30.7</c:v>
                </c:pt>
                <c:pt idx="12">
                  <c:v>30.7</c:v>
                </c:pt>
                <c:pt idx="13">
                  <c:v>33.1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800">
                <a:solidFill>
                  <a:srgbClr val="59595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7.0"/>
          <c:min val="25.0"/>
        </c:scaling>
        <c:delete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59595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dos gastos com fornecedores</c:v>
                </c:pt>
              </c:strCache>
            </c:strRef>
          </c:tx>
          <c:spPr>
            <a:ln w="28575">
              <a:solidFill>
                <a:srgbClr val="009F41"/>
              </a:solidFill>
              <a:prstDash val="dash"/>
            </a:ln>
          </c:spPr>
          <c:marker>
            <c:symbol val="circle"/>
            <c:size val="6"/>
            <c:spPr>
              <a:solidFill>
                <a:srgbClr val="009F41"/>
              </a:solidFill>
              <a:ln>
                <a:solidFill>
                  <a:srgbClr val="009F41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9F41"/>
                        </a:solidFill>
                      </a:rPr>
                      <a:t>28,6%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9F41"/>
                        </a:solidFill>
                      </a:rPr>
                      <a:t>36%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28.6</c:v>
                </c:pt>
                <c:pt idx="4">
                  <c:v>36.0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do custo dos produtos vendidos</c:v>
                </c:pt>
              </c:strCache>
            </c:strRef>
          </c:tx>
          <c:spPr>
            <a:ln w="28575">
              <a:solidFill>
                <a:srgbClr val="1A1A1A"/>
              </a:solidFill>
            </a:ln>
          </c:spPr>
          <c:marker>
            <c:symbol val="circle"/>
            <c:size val="6"/>
            <c:spPr>
              <a:solidFill>
                <a:srgbClr val="1A1A1A"/>
              </a:solidFill>
              <a:ln>
                <a:solidFill>
                  <a:srgbClr val="1A1A1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A1A1A"/>
                        </a:solidFill>
                      </a:rPr>
                      <a:t>24%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A1A1A"/>
                        </a:solidFill>
                      </a:rPr>
                      <a:t>22%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A1A1A"/>
                        </a:solidFill>
                      </a:rPr>
                      <a:t>19%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A1A1A"/>
                        </a:solidFill>
                      </a:rPr>
                      <a:t>36%</a:t>
                    </a:r>
                  </a:p>
                  <a:p>
                    <a:r>
                      <a:rPr sz="900" b="1">
                        <a:solidFill>
                          <a:srgbClr val="1A1A1A"/>
                        </a:solidFill>
                      </a:rPr>
                      <a:t>(estoque)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A1A1A"/>
                        </a:solidFill>
                      </a:rPr>
                      <a:t>23%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23.6</c:v>
                </c:pt>
                <c:pt idx="1">
                  <c:v>21.9</c:v>
                </c:pt>
                <c:pt idx="2">
                  <c:v>19.3</c:v>
                </c:pt>
                <c:pt idx="3">
                  <c:v>36.0</c:v>
                </c:pt>
                <c:pt idx="4">
                  <c:v>23.4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4.0"/>
          <c:min val="10.0"/>
        </c:scaling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span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59595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Saldo a pagar à Dahua</c:v>
                </c:pt>
              </c:strCache>
            </c:strRef>
          </c:tx>
          <c:dPt>
            <c:idx val="0"/>
            <c:spPr>
              <a:solidFill>
                <a:srgbClr val="1A1A1A"/>
              </a:solidFill>
            </c:spPr>
          </c:dPt>
          <c:dPt>
            <c:idx val="1"/>
            <c:spPr>
              <a:solidFill>
                <a:srgbClr val="1A1A1A"/>
              </a:solidFill>
            </c:spPr>
          </c:dPt>
          <c:dPt>
            <c:idx val="2"/>
            <c:spPr>
              <a:solidFill>
                <a:srgbClr val="1A1A1A"/>
              </a:solidFill>
            </c:spPr>
          </c:dPt>
          <c:dPt>
            <c:idx val="3"/>
            <c:spPr>
              <a:solidFill>
                <a:srgbClr val="1A1A1A"/>
              </a:solidFill>
            </c:spPr>
          </c:dPt>
          <c:dPt>
            <c:idx val="4"/>
            <c:spPr>
              <a:solidFill>
                <a:srgbClr val="009F41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1A1A1A"/>
                        </a:solidFill>
                      </a:rPr>
                      <a:t>263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1A1A1A"/>
                        </a:solidFill>
                      </a:rPr>
                      <a:t>350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1A1A1A"/>
                        </a:solidFill>
                      </a:rPr>
                      <a:t>225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1A1A1A"/>
                        </a:solidFill>
                      </a:rPr>
                      <a:t>506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1A1A1A"/>
                        </a:solidFill>
                      </a:rPr>
                      <a:t>449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
30%</c:v>
                </c:pt>
                <c:pt idx="1">
                  <c:v>2022
35%</c:v>
                </c:pt>
                <c:pt idx="2">
                  <c:v>2023
26%</c:v>
                </c:pt>
                <c:pt idx="3">
                  <c:v>2024
41%</c:v>
                </c:pt>
                <c:pt idx="4">
                  <c:v>2025
43%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263</c:v>
                </c:pt>
                <c:pt idx="1">
                  <c:v>350</c:v>
                </c:pt>
                <c:pt idx="2">
                  <c:v>225</c:v>
                </c:pt>
                <c:pt idx="3">
                  <c:v>506</c:v>
                </c:pt>
                <c:pt idx="4">
                  <c:v>449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59595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128835-0813-47C1-8179-7B192D0834C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638EA8-CAB9-4394-A5EA-6EE33784BC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000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(≈2 min) — Slide 1: Fornecedores</a:t>
            </a:r>
          </a:p>
          <a:p/>
          <a:p>
            <a:r>
              <a:t>ABERTURA (título, 10s)</a:t>
            </a:r>
          </a:p>
          <a:p>
            <a:r>
              <a:t>"Para entender a margem da Intelbras, primeiro é preciso entender de quem ela compra. A resposta: ela compra quase tudo de fora, em dólar, de poucos gigantes, e não define o preço."</a:t>
            </a:r>
          </a:p>
          <a:p/>
          <a:p>
            <a:r>
              <a:t>I. CUSTO EM DÓLAR, RECEITA EM REAL (aponte para as barras pretas, depois para a verde, 25s)</a:t>
            </a:r>
          </a:p>
          <a:p>
            <a:r>
              <a:t>"Cerca de 80% do custo segue o dólar e 92% do que ela deve a fornecedores está no exterior. Do lado da receita, só 4% do que ela tem a receber está em moeda estrangeira, e as exportações são cerca de meio por cento. Quando o dólar sobe, o custo sobe na hora e a receita não acompanha."</a:t>
            </a:r>
          </a:p>
          <a:p/>
          <a:p>
            <a:r>
              <a:t>II. COMPRA PRONTO; A FÁBRICA SE PAGA COM INCENTIVO (aponte para 85%, depois para 451 vs 460, 30s)</a:t>
            </a:r>
          </a:p>
          <a:p>
            <a:r>
              <a:t>"85% do custo é insumo ou produto comprado pronto. A produção própria, fábrica mais depreciação, custa R$451 milhões por ano, e os incentivos fiscais renderam R$460 milhões. Ou seja: montar no Brasil agrega pouco ao custo, mas é o que destrava o regime fiscal. Fabricar aqui é mais uma decisão tributária do que industrial."</a:t>
            </a:r>
          </a:p>
          <a:p/>
          <a:p>
            <a:r>
              <a:t>III. QUEM MANDA EM CADA ELO (percorra a faixa da esquerda para a direita, depois as barras, 25s)</a:t>
            </a:r>
          </a:p>
          <a:p>
            <a:r>
              <a:t>"A Intelbras compra componentes, monta no Brasil e compra produtos prontos de parceiros asiáticos: Dahua em câmeras, H3C em redes. Nos elos críticos, poucos mandam: a TSMC fabrica 70% dos chips do mundo, três empresas fazem 92% da memória, e em câmeras prontas a Intelbras tem um único fornecedor por contrato, a Dahua. A própria empresa admite no FRE que há poucas opções de chipset."</a:t>
            </a:r>
          </a:p>
          <a:p/>
          <a:p>
            <a:r>
              <a:t>IV. CONSEQUÊNCIA (aponte para o pico do dólar e o vale da margem, 25s)</a:t>
            </a:r>
          </a:p>
          <a:p>
            <a:r>
              <a:t>"O resultado aparece na margem. Quando o dólar subiu 18% ao longo de 2024, a margem bruta caiu quase 5 pontos. Quando o dólar caiu 14%, a margem só se recuperou uns quatro trimestres depois. Os ~170 dias de estoque atrasam o efeito. A Intelbras repassa, mas com atraso, e o atraso custa margem."</a:t>
            </a:r>
          </a:p>
          <a:p/>
          <a:p>
            <a:r>
              <a:t>PONTE PARA O SLIDE 2 (10s)</a:t>
            </a:r>
          </a:p>
          <a:p>
            <a:r>
              <a:t>"Baixo poder de barganha, custo em dólar, repasse atrasado. E entre todos os fornecedores, um pesa mais que os outros: a Dahua."</a:t>
            </a:r>
          </a:p>
          <a:p/>
          <a:p>
            <a:r>
              <a:t>PERGUNTAS PROVÁVEIS</a:t>
            </a:r>
          </a:p>
          <a:p>
            <a:r>
              <a:t>• "Por que não aparece a origem por país (China %)?" A companhia não divulga gastos por país. Usamos moeda (DFP NE 25) e a lista de parceiros (FRE 1.4.e: China, Coreia e Vietnã). Dahua, H3C e FiberHome são chinesas; 7% do saldo a pagar é em yuan.</a:t>
            </a:r>
          </a:p>
          <a:p>
            <a:r>
              <a:t>• "A Intelbras compra direto da TSMC?" Não. Compra chips de fabricantes que produzem nessas fábricas. O topo da cadeia é concentrado, então escassez e preço chegam de qualquer jeito (memória em 2026 encareceu os custos no 2T26).</a:t>
            </a:r>
          </a:p>
          <a:p>
            <a:r>
              <a:t>• "A fábrica é pretexto para incentivo?" Os números mostram que o incentivo (R$460 mi) cobre o custo da produção própria (R$451 mi). Mas a fábrica também dá prazo de entrega, controle de qualidade e homologação local. Melhor dizer: a fábrica se paga pelo regime fiscal.</a:t>
            </a:r>
          </a:p>
          <a:p>
            <a:r>
              <a:t>• "Por que a margem subiu no 2T26 com o dólar caindo?" Dois efeitos: o estoque comprado com dólar mais baixo chegou ao custo, e a empresa reprecificou pelo custo de reposição quando os componentes subiram. A própria Intelbras diz que parte é transitória.</a:t>
            </a:r>
          </a:p>
          <a:p>
            <a:r>
              <a:t>• "Tem hedge?" Sim: contratos a termo (NDF) cobrem ~50% dos fornecedores em dólar no balanço, com prazo de ~90 dias. Protegem o caixa de curto prazo, não a margem de longo prazo.</a:t>
            </a:r>
          </a:p>
          <a:p/>
          <a:p>
            <a:r>
              <a:t>FONTES E CONTAS</a:t>
            </a:r>
          </a:p>
          <a:p>
            <a:r>
              <a:t>I: FRE 2.2 (~80% do CPV em moeda estrangeira); DFP NE 14/25 (fornecedores + risco sacado no exterior R$972,6 mi ÷ R$1.062,6 mi = 91,5%; recebíveis em US$ R$26,6 mi + COP R$20,8 mi = R$47,5 mi ÷ R$1.169,5 mi = 4,1%). Exportações ≈ 0,5% da receita: teleconferência do 4T21.</a:t>
            </a:r>
          </a:p>
          <a:p>
            <a:r>
              <a:t>II: DFP NE 27: matéria-prima e revenda R$2.666,9 mi (85,5%); custos de produção R$396,1 mi + depreciação R$54,8 mi = R$450,9 mi (14,5%). DFP NE 23: incentivos R$459,7 mi (ICMS R$336,3 mi + Lei de TICs R$123,3 mi).</a:t>
            </a:r>
          </a:p>
          <a:p>
            <a:r>
              <a:t>III: TrendForce (TSMC 69,9%, Samsung 7,2%, SMIC 5,3% em 2025; DRAM 3T25: SK hynix 33,2%, Samsung 32,6%, Micron 25,7%). FRE 1.4.e: poucas opções de chipsets; FRE 11.3: prioridade de compra de CFTV pela Dahua até 2028. H3C: parceria em redes corporativas (Teletime, out/2024). 4 fábricas: São José e Tubarão (SC), Manaus (AM), Santa Rita do Sapucaí (MG).</a:t>
            </a:r>
          </a:p>
          <a:p>
            <a:r>
              <a:t>IV: Dólar = média trimestral da PTAX mensal (BCB/Numerando): 1T24 4,95; 4T24 5,84 (+18%); 2T26 5,05 (−14%). Margem bruta consolidada (planilha 2T26): 33,9% (1T24), 29,0% (4T24), 33,1% (2T26); 4T23 ajustado em 29,5% (reportado 26,9%, com provisão de estoque). Estoque ≈ 173 dias de CPV (DFP NE 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(≈2,5 min) — Slide 2: Dahua</a:t>
            </a:r>
          </a:p>
          <a:p/>
          <a:p>
            <a:r>
              <a:t>ABERTURA (10s)</a:t>
            </a:r>
          </a:p>
          <a:p>
            <a:r>
              <a:t>"A Dahua é o fornecedor mais importante da Intelbras. Em cima, o que é essa relação; embaixo, por que ela virou o maior risco isolado da tese."</a:t>
            </a:r>
          </a:p>
          <a:p/>
          <a:p>
            <a:r>
              <a:t>I. CONCENTRAÇÃO (aponte para a linha tracejada, depois para o pico de 2024, 25s)</a:t>
            </a:r>
          </a:p>
          <a:p>
            <a:r>
              <a:t>"A Dahua já é 36% dos gastos com fornecedores, contra 28,6% em 2021. No custo dos produtos vendidos, fica entre 20% e 25%. O pico de 2024 foi compra antecipada para proteger o suprimento. Em 2025 foram R$729 milhões comprados da Dahua."</a:t>
            </a:r>
          </a:p>
          <a:p/>
          <a:p>
            <a:r>
              <a:t>II. A TROCA (aponte para as setas, depois para 23% vs ~3%, 35s)</a:t>
            </a:r>
          </a:p>
          <a:p>
            <a:r>
              <a:t>"Por que a Dahua? Porque câmera é uma corrida de P&amp;D, e a Dahua investe 18 vezes mais que a Intelbras inteira. A Dahua entrega tecnologia, exclusividade da marca no Brasil e ~7 meses de prazo. A Intelbras entrega o canal, com 500 distribuidores e 90 mil instaladores, e prioridade de compra até 2028. Há uma proteção: se a Dahua cobrar 5% acima do mercado, a Intelbras pode comprar de outro. Mas a dependência é assimétrica: a Dahua é 23% do custo da Intelbras, e a Intelbras é só ~3% da receita da Dahua."</a:t>
            </a:r>
          </a:p>
          <a:p/>
          <a:p>
            <a:r>
              <a:t>III. CRÉDITO (aponte para a barra verde e para 225 dias, 25s)</a:t>
            </a:r>
          </a:p>
          <a:p>
            <a:r>
              <a:t>"A Dahua não só vende: ela financia. São R$449 milhões a pagar, 43% de tudo que a Intelbras deve a fornecedores, com prazo de 225 dias. É crédito barato e conveniente. Mas se a Dahua voltar a cobrar em 90 dias, a Intelbras precisa de R$269 milhões a mais de capital de giro, e o ROIC cai 1,7 ponto."</a:t>
            </a:r>
          </a:p>
          <a:p/>
          <a:p>
            <a:r>
              <a:t>IV. AFASTAMENTO (percorra a linha da esquerda para a direita, 30s)</a:t>
            </a:r>
          </a:p>
          <a:p>
            <a:r>
              <a:t>"A linha do tempo tem duas fases. Aproximação: parceria desde 2007, acordo de 10 anos em 2018, 10% do capital em 2019. Afastamento: a Dahua vende parte em 2023 e, em agosto de 2025, aprova vender o resto em até três anos. Ela também ganhou operação própria no Brasil, e a FiberHome, outra parceira chinesa, já encerrou sua exclusividade com a Intelbras. Tudo converge para dezembro de 2028."</a:t>
            </a:r>
          </a:p>
          <a:p/>
          <a:p>
            <a:r>
              <a:t>FECHO (15s)</a:t>
            </a:r>
          </a:p>
          <a:p>
            <a:r>
              <a:t>"Em jogo: cerca de metade do custo de Segurança, o negócio que gera 68% do lucro bruto, e R$449 milhões de crédito. Não é previsão de rompimento: é o evento que mais pode mexer na margem e no capital da Intelbras nos próximos anos."</a:t>
            </a:r>
          </a:p>
          <a:p/>
          <a:p>
            <a:r>
              <a:t>PERGUNTAS PROVÁVEIS</a:t>
            </a:r>
          </a:p>
          <a:p>
            <a:r>
              <a:t>• "Por que não troca de fornecedor ou faz sozinha?" P&amp;D da Dahua ~US$590 mi/ano vs ~US$32 mi da Intelbras (todas as BUs). A outra gigante (Hikvision) é concorrente no Brasil: é tema da análise setorial. Trocar exige redesenvolver produto, firmware e app; o FRE diz que a troca pode suspender parte da produção.</a:t>
            </a:r>
          </a:p>
          <a:p>
            <a:r>
              <a:t>• "Por que 36% e não 23%?" Bases diferentes. 36% é sobre os gastos com fornecedores (FRE); 23%, sobre o custo dos produtos vendidos (DFP). Ambos corretos.</a:t>
            </a:r>
          </a:p>
          <a:p>
            <a:r>
              <a:t>• "O FRE fala em R$524 mi a pagar, não R$449 mi." Os R$449 mi são o saldo consolidado auditado (DFP NE 32). O FRE (item 11.2) informa R$524 mi; a diferença provavelmente inclui faturas da Dahua antecipadas via risco sacado, mas não conciliamos. Usamos a DFP para manter a série 2021–25 comparável.</a:t>
            </a:r>
          </a:p>
          <a:p>
            <a:r>
              <a:t>• "A Dahua pode entrar sozinha?" Há exclusividade até o fim do acordo + 6 meses. Ela já tem subsidiária e marca de consumo (Imou) vendida via cross-border. O que falta é canal, e é isso que dá poder à Intelbras na renovação. [inferência]</a:t>
            </a:r>
          </a:p>
          <a:p>
            <a:r>
              <a:t>• "Por que a Dahua vende a participação?" Não divulgado. A Dahua vendeu a operação nos EUA após queda de lucro em 2024; pode ser realocação de capital. Leitura conservadora: menos alinhamento.</a:t>
            </a:r>
          </a:p>
          <a:p>
            <a:r>
              <a:t>• "É red flag?" É risco de evento, não piora comprovada: preços e condições não são divulgados. Acompanhar: % das compras, prazo a pagar, comunicados sobre renovação e sobre a venda das ações.</a:t>
            </a:r>
          </a:p>
          <a:p/>
          <a:p>
            <a:r>
              <a:t>FONTES E CONTAS</a:t>
            </a:r>
          </a:p>
          <a:p>
            <a:r>
              <a:t>I: FRE 1.4.e (36,0% dos gastos com fornecedores em 2025); 28,6% em 2021 (Nord Research, citando o FRE 2022). DFPs 2021–25: compras da Dahua R$515/664/545/1.187/729 mi ÷ CPV R$2.178/3.031/2.827/3.294/3.118 mi = 23,6/21,9/19,3/36,0/23,4%. 2024: estoque elevado no 3T e 4T para mitigar riscos de suprimentos (teleconferência 4T24).</a:t>
            </a:r>
          </a:p>
          <a:p>
            <a:r>
              <a:t>II: Acordo de 31/12/2018, 10 anos; prioridade cai com preço ≥5% acima ou falha técnica/qualidade (FRE 1.2/11.3). P&amp;D: Dahua RMB 4,213 bi (2024) ≈ US$587 mi; Intelbras R$179 mi (FRE 2.10) ≈ US$32 mi → ~18x. Canal: ~500 pontos de distribuição e &gt;90 mil revendedores (FRE 1.4.b). Assimetria: R$729 mi ÷ 5,58 ≈ US$131 mi ÷ receita da Dahua ≈ US$4,5 bi (RMB 32,3 bi) ≈ 2,9%.</a:t>
            </a:r>
          </a:p>
          <a:p>
            <a:r>
              <a:t>III: Saldo a pagar à Dahua (DFP NE 32, consolidado) R$263/350/225/506/449 mi ÷ fornecedores + risco sacado R$870/1.003/877/1.220/1.049 mi = 30/35/26/41/43%. Prazo implícito = saldo ÷ compras × 365 = 187/192/151/156/225 dias. Com 90 dias: 729 × 90/365 = R$180 mi → +R$269 mi de capital; ROIC pré-IR LTM 2T26 18,8% → 17,1%.</a:t>
            </a:r>
          </a:p>
          <a:p>
            <a:r>
              <a:t>IV: 10% em ago/2019 (FRE 1.1); recomposição de 10% em out/2021 após diluição no IPO (comunicado Intelbras); venda de 2,44% em jun/2023 → 7,56% (Brazil Journal); aprovação da venda dos 7,56% em até 36 meses em ago/2025 (FilingReader); Dahua Brasil região independente após crescer três dígitos em 2020 (comunicado Dahua; data aproximada); FiberHome em 12/01/2026 (Teletime); acordo vence em 31/12/2028. ~metade = compras da Dahua ÷ CPV de Segurança, média de 2021–25 ≈ 50%.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bras | 4 quadran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566928" y="10160"/>
            <a:ext cx="964692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>
                <a:solidFill>
                  <a:srgbClr val="009F4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pt-BR" dirty="0"/>
          </a:p>
        </p:txBody>
      </p:sp>
      <p:sp>
        <p:nvSpPr>
          <p:cNvPr id="3" name="Subtítulo"/>
          <p:cNvSpPr>
            <a:spLocks noGrp="1"/>
          </p:cNvSpPr>
          <p:nvPr>
            <p:ph type="body" sz="quarter" idx="1"/>
          </p:nvPr>
        </p:nvSpPr>
        <p:spPr>
          <a:xfrm>
            <a:off x="571500" y="502920"/>
            <a:ext cx="1138885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rgbClr val="7F7F7F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abeçalho L1"/>
          <p:cNvSpPr>
            <a:spLocks noGrp="1"/>
          </p:cNvSpPr>
          <p:nvPr>
            <p:ph type="body" sz="quarter" idx="10"/>
          </p:nvPr>
        </p:nvSpPr>
        <p:spPr>
          <a:xfrm>
            <a:off x="571500" y="868680"/>
            <a:ext cx="5527548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Linha L1"/>
          <p:cNvCxnSpPr/>
          <p:nvPr userDrawn="1"/>
        </p:nvCxnSpPr>
        <p:spPr>
          <a:xfrm>
            <a:off x="566928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6" name="Descrição L1"/>
          <p:cNvSpPr>
            <a:spLocks noGrp="1"/>
          </p:cNvSpPr>
          <p:nvPr>
            <p:ph type="body" sz="quarter" idx="14"/>
          </p:nvPr>
        </p:nvSpPr>
        <p:spPr>
          <a:xfrm>
            <a:off x="571500" y="1298448"/>
            <a:ext cx="5527548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údo L1"/>
          <p:cNvSpPr>
            <a:spLocks noGrp="1"/>
          </p:cNvSpPr>
          <p:nvPr>
            <p:ph sz="quarter" idx="30"/>
          </p:nvPr>
        </p:nvSpPr>
        <p:spPr>
          <a:xfrm>
            <a:off x="571500" y="1545336"/>
            <a:ext cx="552450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abeçalho R1"/>
          <p:cNvSpPr>
            <a:spLocks noGrp="1"/>
          </p:cNvSpPr>
          <p:nvPr>
            <p:ph type="body" sz="quarter" idx="11"/>
          </p:nvPr>
        </p:nvSpPr>
        <p:spPr>
          <a:xfrm>
            <a:off x="6428232" y="8686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Linha R1"/>
          <p:cNvCxnSpPr/>
          <p:nvPr userDrawn="1"/>
        </p:nvCxnSpPr>
        <p:spPr>
          <a:xfrm>
            <a:off x="6428232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0" name="Descrição R1"/>
          <p:cNvSpPr>
            <a:spLocks noGrp="1"/>
          </p:cNvSpPr>
          <p:nvPr>
            <p:ph type="body" sz="quarter" idx="15"/>
          </p:nvPr>
        </p:nvSpPr>
        <p:spPr>
          <a:xfrm>
            <a:off x="6428232" y="12984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údo R1"/>
          <p:cNvSpPr>
            <a:spLocks noGrp="1"/>
          </p:cNvSpPr>
          <p:nvPr>
            <p:ph sz="quarter" idx="31"/>
          </p:nvPr>
        </p:nvSpPr>
        <p:spPr>
          <a:xfrm>
            <a:off x="6428232" y="15453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abeçalho L2"/>
          <p:cNvSpPr>
            <a:spLocks noGrp="1"/>
          </p:cNvSpPr>
          <p:nvPr>
            <p:ph type="body" sz="quarter" idx="12"/>
          </p:nvPr>
        </p:nvSpPr>
        <p:spPr>
          <a:xfrm>
            <a:off x="566928" y="37261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Linha L2"/>
          <p:cNvCxnSpPr/>
          <p:nvPr userDrawn="1"/>
        </p:nvCxnSpPr>
        <p:spPr>
          <a:xfrm>
            <a:off x="566928" y="41193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4" name="Descrição L2"/>
          <p:cNvSpPr>
            <a:spLocks noGrp="1"/>
          </p:cNvSpPr>
          <p:nvPr>
            <p:ph type="body" sz="quarter" idx="16"/>
          </p:nvPr>
        </p:nvSpPr>
        <p:spPr>
          <a:xfrm>
            <a:off x="566928" y="41559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údo L2"/>
          <p:cNvSpPr>
            <a:spLocks noGrp="1"/>
          </p:cNvSpPr>
          <p:nvPr>
            <p:ph sz="quarter" idx="32"/>
          </p:nvPr>
        </p:nvSpPr>
        <p:spPr>
          <a:xfrm>
            <a:off x="566928" y="44028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abeçalho R2"/>
          <p:cNvSpPr>
            <a:spLocks noGrp="1"/>
          </p:cNvSpPr>
          <p:nvPr>
            <p:ph type="body" sz="quarter" idx="13"/>
          </p:nvPr>
        </p:nvSpPr>
        <p:spPr>
          <a:xfrm>
            <a:off x="6428232" y="37261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Linha R2"/>
          <p:cNvCxnSpPr/>
          <p:nvPr userDrawn="1"/>
        </p:nvCxnSpPr>
        <p:spPr>
          <a:xfrm>
            <a:off x="6428232" y="41193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8" name="Descrição R2"/>
          <p:cNvSpPr>
            <a:spLocks noGrp="1"/>
          </p:cNvSpPr>
          <p:nvPr>
            <p:ph type="body" sz="quarter" idx="17"/>
          </p:nvPr>
        </p:nvSpPr>
        <p:spPr>
          <a:xfrm>
            <a:off x="6428232" y="41559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údo R2"/>
          <p:cNvSpPr>
            <a:spLocks noGrp="1"/>
          </p:cNvSpPr>
          <p:nvPr>
            <p:ph sz="quarter" idx="33"/>
          </p:nvPr>
        </p:nvSpPr>
        <p:spPr>
          <a:xfrm>
            <a:off x="6428232" y="44028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Fontes"/>
          <p:cNvSpPr>
            <a:spLocks noGrp="1"/>
          </p:cNvSpPr>
          <p:nvPr>
            <p:ph type="body" sz="quarter" idx="20"/>
          </p:nvPr>
        </p:nvSpPr>
        <p:spPr>
          <a:xfrm>
            <a:off x="566928" y="6556248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rgbClr val="A6A6A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8643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>
            <a:extLst>
              <a:ext uri="{FF2B5EF4-FFF2-40B4-BE49-F238E27FC236}">
                <a16:creationId xmlns:a16="http://schemas.microsoft.com/office/drawing/2014/main" id="{08A86C5D-B5F1-A201-A803-FC2B06BC1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0160"/>
            <a:ext cx="964692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>
                <a:solidFill>
                  <a:srgbClr val="009F4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pt-BR" dirty="0"/>
          </a:p>
        </p:txBody>
      </p:sp>
      <p:sp>
        <p:nvSpPr>
          <p:cNvPr id="4" name="Subtítulo">
            <a:extLst>
              <a:ext uri="{FF2B5EF4-FFF2-40B4-BE49-F238E27FC236}">
                <a16:creationId xmlns:a16="http://schemas.microsoft.com/office/drawing/2014/main" id="{BE673581-4171-765D-CF42-A03B1335C0E5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571500" y="502920"/>
            <a:ext cx="1138885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rgbClr val="7F7F7F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abeçalho L1">
            <a:extLst>
              <a:ext uri="{FF2B5EF4-FFF2-40B4-BE49-F238E27FC236}">
                <a16:creationId xmlns:a16="http://schemas.microsoft.com/office/drawing/2014/main" id="{2CF8C16A-D844-F260-4E96-4A7088F8DC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868680"/>
            <a:ext cx="5527548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" name="Linha L1">
            <a:extLst>
              <a:ext uri="{FF2B5EF4-FFF2-40B4-BE49-F238E27FC236}">
                <a16:creationId xmlns:a16="http://schemas.microsoft.com/office/drawing/2014/main" id="{6B2BDA49-2D8C-8E92-98C5-4AF723A23CF4}"/>
              </a:ext>
            </a:extLst>
          </p:cNvPr>
          <p:cNvCxnSpPr/>
          <p:nvPr userDrawn="1"/>
        </p:nvCxnSpPr>
        <p:spPr>
          <a:xfrm>
            <a:off x="566928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7" name="Descrição L1">
            <a:extLst>
              <a:ext uri="{FF2B5EF4-FFF2-40B4-BE49-F238E27FC236}">
                <a16:creationId xmlns:a16="http://schemas.microsoft.com/office/drawing/2014/main" id="{DBA64B7F-D991-F80B-632A-A6F008F382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1500" y="1298448"/>
            <a:ext cx="5527548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abeçalho R1">
            <a:extLst>
              <a:ext uri="{FF2B5EF4-FFF2-40B4-BE49-F238E27FC236}">
                <a16:creationId xmlns:a16="http://schemas.microsoft.com/office/drawing/2014/main" id="{63E473F4-0BD6-077F-9932-938AFBF13B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28232" y="8686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Linha R1">
            <a:extLst>
              <a:ext uri="{FF2B5EF4-FFF2-40B4-BE49-F238E27FC236}">
                <a16:creationId xmlns:a16="http://schemas.microsoft.com/office/drawing/2014/main" id="{C5D0D066-5B11-0856-4073-CD7F2F043381}"/>
              </a:ext>
            </a:extLst>
          </p:cNvPr>
          <p:cNvCxnSpPr/>
          <p:nvPr userDrawn="1"/>
        </p:nvCxnSpPr>
        <p:spPr>
          <a:xfrm>
            <a:off x="6428232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1" name="Descrição R1">
            <a:extLst>
              <a:ext uri="{FF2B5EF4-FFF2-40B4-BE49-F238E27FC236}">
                <a16:creationId xmlns:a16="http://schemas.microsoft.com/office/drawing/2014/main" id="{5656BE59-0847-8CB6-5BA7-687DF8FE15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28232" y="12984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údo R1">
            <a:extLst>
              <a:ext uri="{FF2B5EF4-FFF2-40B4-BE49-F238E27FC236}">
                <a16:creationId xmlns:a16="http://schemas.microsoft.com/office/drawing/2014/main" id="{275C8C39-0130-44B2-B522-AB8447F3755A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428232" y="15453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abeçalho R2">
            <a:extLst>
              <a:ext uri="{FF2B5EF4-FFF2-40B4-BE49-F238E27FC236}">
                <a16:creationId xmlns:a16="http://schemas.microsoft.com/office/drawing/2014/main" id="{DFA8ED1C-70D9-555F-0951-A17E938658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28232" y="37261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8" name="Linha R2">
            <a:extLst>
              <a:ext uri="{FF2B5EF4-FFF2-40B4-BE49-F238E27FC236}">
                <a16:creationId xmlns:a16="http://schemas.microsoft.com/office/drawing/2014/main" id="{23E53C43-0A06-3841-43EA-8CBBC05E38E4}"/>
              </a:ext>
            </a:extLst>
          </p:cNvPr>
          <p:cNvCxnSpPr/>
          <p:nvPr userDrawn="1"/>
        </p:nvCxnSpPr>
        <p:spPr>
          <a:xfrm>
            <a:off x="6428232" y="41193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9" name="Descrição R2">
            <a:extLst>
              <a:ext uri="{FF2B5EF4-FFF2-40B4-BE49-F238E27FC236}">
                <a16:creationId xmlns:a16="http://schemas.microsoft.com/office/drawing/2014/main" id="{17B70730-704D-1A43-8FBA-BD7FE18348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28232" y="41559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údo R2">
            <a:extLst>
              <a:ext uri="{FF2B5EF4-FFF2-40B4-BE49-F238E27FC236}">
                <a16:creationId xmlns:a16="http://schemas.microsoft.com/office/drawing/2014/main" id="{9E63C622-421B-6FEC-8987-607A26EFBA37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428232" y="44028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Fontes">
            <a:extLst>
              <a:ext uri="{FF2B5EF4-FFF2-40B4-BE49-F238E27FC236}">
                <a16:creationId xmlns:a16="http://schemas.microsoft.com/office/drawing/2014/main" id="{F667FDC0-0538-49ED-735B-F8FA537E3E1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66928" y="6556248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rgbClr val="A6A6A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5433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lbras | 4 quadran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566928" y="10160"/>
            <a:ext cx="964692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>
                <a:solidFill>
                  <a:srgbClr val="009F4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pt-BR" dirty="0"/>
          </a:p>
        </p:txBody>
      </p:sp>
      <p:sp>
        <p:nvSpPr>
          <p:cNvPr id="3" name="Subtítulo"/>
          <p:cNvSpPr>
            <a:spLocks noGrp="1"/>
          </p:cNvSpPr>
          <p:nvPr>
            <p:ph type="body" sz="quarter" idx="1"/>
          </p:nvPr>
        </p:nvSpPr>
        <p:spPr>
          <a:xfrm>
            <a:off x="571500" y="502920"/>
            <a:ext cx="1138885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rgbClr val="7F7F7F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abeçalho L1"/>
          <p:cNvSpPr>
            <a:spLocks noGrp="1"/>
          </p:cNvSpPr>
          <p:nvPr>
            <p:ph type="body" sz="quarter" idx="10"/>
          </p:nvPr>
        </p:nvSpPr>
        <p:spPr>
          <a:xfrm>
            <a:off x="571500" y="868680"/>
            <a:ext cx="5527548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Linha L1"/>
          <p:cNvCxnSpPr/>
          <p:nvPr userDrawn="1"/>
        </p:nvCxnSpPr>
        <p:spPr>
          <a:xfrm>
            <a:off x="566928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6" name="Descrição L1"/>
          <p:cNvSpPr>
            <a:spLocks noGrp="1"/>
          </p:cNvSpPr>
          <p:nvPr>
            <p:ph type="body" sz="quarter" idx="14"/>
          </p:nvPr>
        </p:nvSpPr>
        <p:spPr>
          <a:xfrm>
            <a:off x="571500" y="1298448"/>
            <a:ext cx="5527548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údo L1"/>
          <p:cNvSpPr>
            <a:spLocks noGrp="1"/>
          </p:cNvSpPr>
          <p:nvPr>
            <p:ph sz="quarter" idx="30"/>
          </p:nvPr>
        </p:nvSpPr>
        <p:spPr>
          <a:xfrm>
            <a:off x="571500" y="1545336"/>
            <a:ext cx="552450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abeçalho R1"/>
          <p:cNvSpPr>
            <a:spLocks noGrp="1"/>
          </p:cNvSpPr>
          <p:nvPr>
            <p:ph type="body" sz="quarter" idx="11"/>
          </p:nvPr>
        </p:nvSpPr>
        <p:spPr>
          <a:xfrm>
            <a:off x="6428232" y="8686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Linha R1"/>
          <p:cNvCxnSpPr/>
          <p:nvPr userDrawn="1"/>
        </p:nvCxnSpPr>
        <p:spPr>
          <a:xfrm>
            <a:off x="6428232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0" name="Descrição R1"/>
          <p:cNvSpPr>
            <a:spLocks noGrp="1"/>
          </p:cNvSpPr>
          <p:nvPr>
            <p:ph type="body" sz="quarter" idx="15"/>
          </p:nvPr>
        </p:nvSpPr>
        <p:spPr>
          <a:xfrm>
            <a:off x="6428232" y="12984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údo R1"/>
          <p:cNvSpPr>
            <a:spLocks noGrp="1"/>
          </p:cNvSpPr>
          <p:nvPr>
            <p:ph sz="quarter" idx="31"/>
          </p:nvPr>
        </p:nvSpPr>
        <p:spPr>
          <a:xfrm>
            <a:off x="6428232" y="15453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Linha L2"/>
          <p:cNvCxnSpPr>
            <a:cxnSpLocks/>
          </p:cNvCxnSpPr>
          <p:nvPr userDrawn="1"/>
        </p:nvCxnSpPr>
        <p:spPr>
          <a:xfrm>
            <a:off x="566928" y="4119372"/>
            <a:ext cx="11396472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4" name="Descrição L2"/>
          <p:cNvSpPr>
            <a:spLocks noGrp="1"/>
          </p:cNvSpPr>
          <p:nvPr>
            <p:ph type="body" sz="quarter" idx="16"/>
          </p:nvPr>
        </p:nvSpPr>
        <p:spPr>
          <a:xfrm>
            <a:off x="571500" y="4168392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abeçalho R2"/>
          <p:cNvSpPr>
            <a:spLocks noGrp="1"/>
          </p:cNvSpPr>
          <p:nvPr>
            <p:ph type="body" sz="quarter" idx="13"/>
          </p:nvPr>
        </p:nvSpPr>
        <p:spPr>
          <a:xfrm>
            <a:off x="571500" y="377656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Linha R2"/>
          <p:cNvCxnSpPr/>
          <p:nvPr userDrawn="1"/>
        </p:nvCxnSpPr>
        <p:spPr>
          <a:xfrm>
            <a:off x="6428232" y="7564229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8" name="Descrição R2"/>
          <p:cNvSpPr>
            <a:spLocks noGrp="1"/>
          </p:cNvSpPr>
          <p:nvPr>
            <p:ph type="body" sz="quarter" idx="17"/>
          </p:nvPr>
        </p:nvSpPr>
        <p:spPr>
          <a:xfrm>
            <a:off x="6428232" y="7600805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údo R2"/>
          <p:cNvSpPr>
            <a:spLocks noGrp="1"/>
          </p:cNvSpPr>
          <p:nvPr>
            <p:ph sz="quarter" idx="33"/>
          </p:nvPr>
        </p:nvSpPr>
        <p:spPr>
          <a:xfrm>
            <a:off x="571500" y="4421704"/>
            <a:ext cx="374904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Fontes"/>
          <p:cNvSpPr>
            <a:spLocks noGrp="1"/>
          </p:cNvSpPr>
          <p:nvPr>
            <p:ph type="body" sz="quarter" idx="20"/>
          </p:nvPr>
        </p:nvSpPr>
        <p:spPr>
          <a:xfrm>
            <a:off x="566928" y="6556248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rgbClr val="A6A6A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údo R2">
            <a:extLst>
              <a:ext uri="{FF2B5EF4-FFF2-40B4-BE49-F238E27FC236}">
                <a16:creationId xmlns:a16="http://schemas.microsoft.com/office/drawing/2014/main" id="{C20F45A2-CC70-86CA-D254-970E22AF0660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4383678" y="4418693"/>
            <a:ext cx="374904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údo R2">
            <a:extLst>
              <a:ext uri="{FF2B5EF4-FFF2-40B4-BE49-F238E27FC236}">
                <a16:creationId xmlns:a16="http://schemas.microsoft.com/office/drawing/2014/main" id="{626C2B49-63EF-6B3E-66FE-3A88E630EBA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199737" y="4418693"/>
            <a:ext cx="374904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1480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bras | 2 blo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566928" y="91440"/>
            <a:ext cx="964692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>
                <a:solidFill>
                  <a:srgbClr val="009F4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pt-BR" dirty="0"/>
          </a:p>
        </p:txBody>
      </p:sp>
      <p:sp>
        <p:nvSpPr>
          <p:cNvPr id="3" name="Subtítulo"/>
          <p:cNvSpPr>
            <a:spLocks noGrp="1"/>
          </p:cNvSpPr>
          <p:nvPr>
            <p:ph type="body" sz="quarter" idx="1"/>
          </p:nvPr>
        </p:nvSpPr>
        <p:spPr>
          <a:xfrm>
            <a:off x="566928" y="502920"/>
            <a:ext cx="11393424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rgbClr val="7F7F7F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abeçalho F1"/>
          <p:cNvSpPr>
            <a:spLocks noGrp="1"/>
          </p:cNvSpPr>
          <p:nvPr>
            <p:ph type="body" sz="quarter" idx="10"/>
          </p:nvPr>
        </p:nvSpPr>
        <p:spPr>
          <a:xfrm>
            <a:off x="566928" y="868680"/>
            <a:ext cx="11393424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Linha F1"/>
          <p:cNvCxnSpPr/>
          <p:nvPr userDrawn="1"/>
        </p:nvCxnSpPr>
        <p:spPr>
          <a:xfrm>
            <a:off x="566928" y="1261872"/>
            <a:ext cx="11393424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6" name="Descrição F1"/>
          <p:cNvSpPr>
            <a:spLocks noGrp="1"/>
          </p:cNvSpPr>
          <p:nvPr>
            <p:ph type="body" sz="quarter" idx="14" hasCustomPrompt="1"/>
          </p:nvPr>
        </p:nvSpPr>
        <p:spPr>
          <a:xfrm>
            <a:off x="566928" y="1298448"/>
            <a:ext cx="11393424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r>
              <a:rPr lang="pt-BR" dirty="0"/>
              <a:t>Descrição do gráfico (métrica, período, unidade)</a:t>
            </a:r>
          </a:p>
        </p:txBody>
      </p:sp>
      <p:sp>
        <p:nvSpPr>
          <p:cNvPr id="7" name="Conteúdo F1"/>
          <p:cNvSpPr>
            <a:spLocks noGrp="1"/>
          </p:cNvSpPr>
          <p:nvPr>
            <p:ph sz="quarter" idx="30"/>
          </p:nvPr>
        </p:nvSpPr>
        <p:spPr>
          <a:xfrm>
            <a:off x="566928" y="1545336"/>
            <a:ext cx="11393424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abeçalho F2"/>
          <p:cNvSpPr>
            <a:spLocks noGrp="1"/>
          </p:cNvSpPr>
          <p:nvPr>
            <p:ph type="body" sz="quarter" idx="12"/>
          </p:nvPr>
        </p:nvSpPr>
        <p:spPr>
          <a:xfrm>
            <a:off x="566928" y="3726180"/>
            <a:ext cx="11393424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Linha F2"/>
          <p:cNvCxnSpPr/>
          <p:nvPr userDrawn="1"/>
        </p:nvCxnSpPr>
        <p:spPr>
          <a:xfrm>
            <a:off x="566928" y="4119372"/>
            <a:ext cx="11393424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0" name="Descrição F2"/>
          <p:cNvSpPr>
            <a:spLocks noGrp="1"/>
          </p:cNvSpPr>
          <p:nvPr>
            <p:ph type="body" sz="quarter" idx="16" hasCustomPrompt="1"/>
          </p:nvPr>
        </p:nvSpPr>
        <p:spPr>
          <a:xfrm>
            <a:off x="566928" y="4155948"/>
            <a:ext cx="11393424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r>
              <a:rPr lang="pt-BR" dirty="0"/>
              <a:t>Descrição do gráfico (métrica, período, unidade)</a:t>
            </a:r>
          </a:p>
        </p:txBody>
      </p:sp>
      <p:sp>
        <p:nvSpPr>
          <p:cNvPr id="11" name="Conteúdo F2"/>
          <p:cNvSpPr>
            <a:spLocks noGrp="1"/>
          </p:cNvSpPr>
          <p:nvPr>
            <p:ph sz="quarter" idx="32"/>
          </p:nvPr>
        </p:nvSpPr>
        <p:spPr>
          <a:xfrm>
            <a:off x="566928" y="4402836"/>
            <a:ext cx="11393424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Fontes"/>
          <p:cNvSpPr>
            <a:spLocks noGrp="1"/>
          </p:cNvSpPr>
          <p:nvPr>
            <p:ph type="body" sz="quarter" idx="20"/>
          </p:nvPr>
        </p:nvSpPr>
        <p:spPr>
          <a:xfrm>
            <a:off x="566928" y="6556248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rgbClr val="A6A6A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3616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ntelbras | 4 quadran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566928" y="10160"/>
            <a:ext cx="964692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>
                <a:solidFill>
                  <a:srgbClr val="009F4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pt-BR" dirty="0"/>
          </a:p>
        </p:txBody>
      </p:sp>
      <p:sp>
        <p:nvSpPr>
          <p:cNvPr id="3" name="Subtítulo"/>
          <p:cNvSpPr>
            <a:spLocks noGrp="1"/>
          </p:cNvSpPr>
          <p:nvPr>
            <p:ph type="body" sz="quarter" idx="1"/>
          </p:nvPr>
        </p:nvSpPr>
        <p:spPr>
          <a:xfrm>
            <a:off x="571500" y="502920"/>
            <a:ext cx="1138885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rgbClr val="7F7F7F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abeçalho L1"/>
          <p:cNvSpPr>
            <a:spLocks noGrp="1"/>
          </p:cNvSpPr>
          <p:nvPr>
            <p:ph type="body" sz="quarter" idx="10"/>
          </p:nvPr>
        </p:nvSpPr>
        <p:spPr>
          <a:xfrm>
            <a:off x="571500" y="868680"/>
            <a:ext cx="5527548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Linha L1"/>
          <p:cNvCxnSpPr/>
          <p:nvPr userDrawn="1"/>
        </p:nvCxnSpPr>
        <p:spPr>
          <a:xfrm>
            <a:off x="566928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6" name="Descrição L1"/>
          <p:cNvSpPr>
            <a:spLocks noGrp="1"/>
          </p:cNvSpPr>
          <p:nvPr>
            <p:ph type="body" sz="quarter" idx="14"/>
          </p:nvPr>
        </p:nvSpPr>
        <p:spPr>
          <a:xfrm>
            <a:off x="571500" y="1298448"/>
            <a:ext cx="5527548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údo L1"/>
          <p:cNvSpPr>
            <a:spLocks noGrp="1"/>
          </p:cNvSpPr>
          <p:nvPr>
            <p:ph sz="quarter" idx="30"/>
          </p:nvPr>
        </p:nvSpPr>
        <p:spPr>
          <a:xfrm>
            <a:off x="571500" y="1545336"/>
            <a:ext cx="552450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abeçalho R1"/>
          <p:cNvSpPr>
            <a:spLocks noGrp="1"/>
          </p:cNvSpPr>
          <p:nvPr>
            <p:ph type="body" sz="quarter" idx="11"/>
          </p:nvPr>
        </p:nvSpPr>
        <p:spPr>
          <a:xfrm>
            <a:off x="6428232" y="8686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Linha R1"/>
          <p:cNvCxnSpPr/>
          <p:nvPr userDrawn="1"/>
        </p:nvCxnSpPr>
        <p:spPr>
          <a:xfrm>
            <a:off x="6428232" y="12618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0" name="Descrição R1"/>
          <p:cNvSpPr>
            <a:spLocks noGrp="1"/>
          </p:cNvSpPr>
          <p:nvPr>
            <p:ph type="body" sz="quarter" idx="15"/>
          </p:nvPr>
        </p:nvSpPr>
        <p:spPr>
          <a:xfrm>
            <a:off x="6428232" y="12984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údo R1"/>
          <p:cNvSpPr>
            <a:spLocks noGrp="1"/>
          </p:cNvSpPr>
          <p:nvPr>
            <p:ph sz="quarter" idx="31"/>
          </p:nvPr>
        </p:nvSpPr>
        <p:spPr>
          <a:xfrm>
            <a:off x="6428232" y="15453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abeçalho L2"/>
          <p:cNvSpPr>
            <a:spLocks noGrp="1"/>
          </p:cNvSpPr>
          <p:nvPr>
            <p:ph type="body" sz="quarter" idx="12"/>
          </p:nvPr>
        </p:nvSpPr>
        <p:spPr>
          <a:xfrm>
            <a:off x="566928" y="37261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Linha L2"/>
          <p:cNvCxnSpPr/>
          <p:nvPr userDrawn="1"/>
        </p:nvCxnSpPr>
        <p:spPr>
          <a:xfrm>
            <a:off x="566928" y="41193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4" name="Descrição L2"/>
          <p:cNvSpPr>
            <a:spLocks noGrp="1"/>
          </p:cNvSpPr>
          <p:nvPr>
            <p:ph type="body" sz="quarter" idx="16"/>
          </p:nvPr>
        </p:nvSpPr>
        <p:spPr>
          <a:xfrm>
            <a:off x="566928" y="41559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údo L2"/>
          <p:cNvSpPr>
            <a:spLocks noGrp="1"/>
          </p:cNvSpPr>
          <p:nvPr>
            <p:ph sz="quarter" idx="32"/>
          </p:nvPr>
        </p:nvSpPr>
        <p:spPr>
          <a:xfrm>
            <a:off x="566928" y="44028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abeçalho R2"/>
          <p:cNvSpPr>
            <a:spLocks noGrp="1"/>
          </p:cNvSpPr>
          <p:nvPr>
            <p:ph type="body" sz="quarter" idx="13"/>
          </p:nvPr>
        </p:nvSpPr>
        <p:spPr>
          <a:xfrm>
            <a:off x="6428232" y="372618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1A1A1A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Linha R2"/>
          <p:cNvCxnSpPr/>
          <p:nvPr userDrawn="1"/>
        </p:nvCxnSpPr>
        <p:spPr>
          <a:xfrm>
            <a:off x="6428232" y="4119372"/>
            <a:ext cx="5532120" cy="0"/>
          </a:xfrm>
          <a:prstGeom prst="line">
            <a:avLst/>
          </a:prstGeom>
          <a:ln w="9525">
            <a:solidFill>
              <a:srgbClr val="7AC143"/>
            </a:solidFill>
          </a:ln>
        </p:spPr>
      </p:cxnSp>
      <p:sp>
        <p:nvSpPr>
          <p:cNvPr id="18" name="Descrição R2"/>
          <p:cNvSpPr>
            <a:spLocks noGrp="1"/>
          </p:cNvSpPr>
          <p:nvPr>
            <p:ph type="body" sz="quarter" idx="17"/>
          </p:nvPr>
        </p:nvSpPr>
        <p:spPr>
          <a:xfrm>
            <a:off x="6428232" y="4155948"/>
            <a:ext cx="5532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1">
                <a:solidFill>
                  <a:srgbClr val="6B6B6B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údo R2"/>
          <p:cNvSpPr>
            <a:spLocks noGrp="1"/>
          </p:cNvSpPr>
          <p:nvPr>
            <p:ph sz="quarter" idx="33"/>
          </p:nvPr>
        </p:nvSpPr>
        <p:spPr>
          <a:xfrm>
            <a:off x="6428232" y="4402836"/>
            <a:ext cx="5532120" cy="19796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595959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Fontes"/>
          <p:cNvSpPr>
            <a:spLocks noGrp="1"/>
          </p:cNvSpPr>
          <p:nvPr>
            <p:ph type="body" sz="quarter" idx="20"/>
          </p:nvPr>
        </p:nvSpPr>
        <p:spPr>
          <a:xfrm>
            <a:off x="566928" y="6556248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rgbClr val="A6A6A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1626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FEAF86BB-950D-C028-EE25-EAF6B2091A5D}"/>
              </a:ext>
            </a:extLst>
          </p:cNvPr>
          <p:cNvSpPr/>
          <p:nvPr userDrawn="1"/>
        </p:nvSpPr>
        <p:spPr>
          <a:xfrm rot="10800000" flipH="1">
            <a:off x="0" y="2431"/>
            <a:ext cx="346464" cy="6858000"/>
          </a:xfrm>
          <a:prstGeom prst="rect">
            <a:avLst/>
          </a:prstGeom>
          <a:gradFill>
            <a:gsLst>
              <a:gs pos="19000">
                <a:srgbClr val="035144"/>
              </a:gs>
              <a:gs pos="95000">
                <a:srgbClr val="00D054"/>
              </a:gs>
              <a:gs pos="76000">
                <a:srgbClr val="009F4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Connector 43">
            <a:extLst>
              <a:ext uri="{FF2B5EF4-FFF2-40B4-BE49-F238E27FC236}">
                <a16:creationId xmlns:a16="http://schemas.microsoft.com/office/drawing/2014/main" id="{0C1F9473-D70C-D468-BBA5-C37F5F700542}"/>
              </a:ext>
            </a:extLst>
          </p:cNvPr>
          <p:cNvCxnSpPr>
            <a:cxnSpLocks/>
          </p:cNvCxnSpPr>
          <p:nvPr userDrawn="1"/>
        </p:nvCxnSpPr>
        <p:spPr>
          <a:xfrm>
            <a:off x="566928" y="6515100"/>
            <a:ext cx="11393424" cy="0"/>
          </a:xfrm>
          <a:prstGeom prst="line">
            <a:avLst/>
          </a:prstGeom>
          <a:ln w="12700">
            <a:solidFill>
              <a:srgbClr val="76B900"/>
            </a:solidFill>
          </a:ln>
        </p:spPr>
      </p:cxnSp>
      <p:pic>
        <p:nvPicPr>
          <p:cNvPr id="52" name="Picture 51">
            <a:extLst>
              <a:ext uri="{FF2B5EF4-FFF2-40B4-BE49-F238E27FC236}">
                <a16:creationId xmlns:a16="http://schemas.microsoft.com/office/drawing/2014/main" id="{9DE3E556-E840-AC70-8618-F06E954425C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17266" y1="39861" x2="17266" y2="39861"/>
                        <a14:foregroundMark x1="17266" y1="45000" x2="17266" y2="45000"/>
                        <a14:foregroundMark x1="20391" y1="55694" x2="20391" y2="55694"/>
                        <a14:foregroundMark x1="30391" y1="49306" x2="30391" y2="49306"/>
                        <a14:foregroundMark x1="41250" y1="51111" x2="41250" y2="51111"/>
                        <a14:foregroundMark x1="46797" y1="53194" x2="46797" y2="53194"/>
                        <a14:foregroundMark x1="62266" y1="53194" x2="62266" y2="53194"/>
                        <a14:foregroundMark x1="72734" y1="58056" x2="72734" y2="58056"/>
                        <a14:foregroundMark x1="81719" y1="59167" x2="81719" y2="59167"/>
                        <a14:backgroundMark x1="38984" y1="50278" x2="38984" y2="50278"/>
                      </a14:backgroundRemoval>
                    </a14:imgEffect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894" y="-373028"/>
            <a:ext cx="1919326" cy="107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568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0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>
          <p15:clr>
            <a:srgbClr val="F26B43"/>
          </p15:clr>
        </p15:guide>
        <p15:guide id="3" pos="216">
          <p15:clr>
            <a:srgbClr val="F26B43"/>
          </p15:clr>
        </p15:guide>
        <p15:guide id="4" pos="7536">
          <p15:clr>
            <a:srgbClr val="F26B43"/>
          </p15:clr>
        </p15:guide>
        <p15:guide id="5" orient="horz" pos="480">
          <p15:clr>
            <a:srgbClr val="F26B43"/>
          </p15:clr>
        </p15:guide>
        <p15:guide id="6" orient="horz" pos="4104">
          <p15:clr>
            <a:srgbClr val="F26B43"/>
          </p15:clr>
        </p15:guide>
        <p15:guide id="8" pos="3840">
          <p15:clr>
            <a:srgbClr val="F26B43"/>
          </p15:clr>
        </p15:guide>
        <p15:guide id="9" pos="360">
          <p15:clr>
            <a:srgbClr val="F26B43"/>
          </p15:clr>
        </p15:guide>
        <p15:guide id="10" pos="4032">
          <p15:clr>
            <a:srgbClr val="F26B43"/>
          </p15:clr>
        </p15:guide>
        <p15:guide id="11" orient="horz" pos="2232">
          <p15:clr>
            <a:srgbClr val="F26B43"/>
          </p15:clr>
        </p15:guide>
      </p15:sldGuideLst>
    </p:ext>
  </p:extLst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chart" Target="../charts/chart9.xml"/><Relationship Id="rId6" Type="http://schemas.openxmlformats.org/officeDocument/2006/relationships/chart" Target="../charts/chart10.xml"/><Relationship Id="rId7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Relationship Id="rId4" Type="http://schemas.openxmlformats.org/officeDocument/2006/relationships/notesSlide" Target="../notesSlides/notesSlide2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Baixo poder de barganha com os fornecedores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Com custo dolarizado, chips escassos e um terço dos gastos em um único fornecedor, a Intelbras aceita o preço na origem e repassa com atraso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I. O custo é dolarizado e asiático; a receita é em reais: o câmbio bate na margem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Parcela em moeda estrangeira, 2025 (%)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II. 85% do custo é comprado pronto; a fábrica local se paga com incentivos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Custo dos produtos vendidos e incentivos fiscais, 2025 (R$ milhões)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III. Do chip ao produto pronto, poucos fornecedores mandam em cada elo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O que a Intelbras compra e quem domina cada elo (% do mercado ou do fornecimento)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IV. Consequência: a margem anda contra o dólar, e o repasse chega com atraso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Dólar médio do trimestre (R$) e margem bruta consolidada (%)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Fontes: Intelbras DFP 2025 (NE 14, 23, 25, 27), FRE 2026 (1.4.e, 2.2) e planilha 2T26; TrendForce (chips 2025; DRAM 3T25); Teletime (H3C, FiberHome); BCB/Numerando (PTAX média). 4T23: margem ajustada (ex-provisão de estoque).</a:t>
            </a:r>
          </a:p>
        </p:txBody>
      </p:sp>
      <p:graphicFrame>
        <p:nvGraphicFramePr>
          <p:cNvPr id="17" name="Grafico moeda estrangeira"/>
          <p:cNvGraphicFramePr>
            <a:graphicFrameLocks noGrp="1"/>
          </p:cNvGraphicFramePr>
          <p:nvPr/>
        </p:nvGraphicFramePr>
        <p:xfrm>
          <a:off x="566928" y="1591056"/>
          <a:ext cx="3794760" cy="189280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Callout descasamento"/>
          <p:cNvSpPr txBox="1"/>
          <p:nvPr/>
        </p:nvSpPr>
        <p:spPr>
          <a:xfrm>
            <a:off x="4498848" y="1655064"/>
            <a:ext cx="1600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A1A1A"/>
                </a:solidFill>
              </a:rPr>
              <a:t>Custo em dólar, receita em real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595959"/>
                </a:solidFill>
              </a:rPr>
              <a:t>Exportações ≈ 0,5% da receita. Um dólar mais caro chega ao custo, não à receita</a:t>
            </a:r>
          </a:p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F41"/>
                </a:solidFill>
              </a:rPr>
              <a:t>O que pesa: </a:t>
            </a:r>
            <a:r>
              <a:rPr sz="1000" b="0" i="0">
                <a:solidFill>
                  <a:srgbClr val="595959"/>
                </a:solidFill>
              </a:rPr>
              <a:t>chips, placas de circuito, resina ABS e componentes</a:t>
            </a:r>
          </a:p>
        </p:txBody>
      </p:sp>
      <p:graphicFrame>
        <p:nvGraphicFramePr>
          <p:cNvPr id="19" name="Grafico comprado vs produzido"/>
          <p:cNvGraphicFramePr>
            <a:graphicFrameLocks noGrp="1"/>
          </p:cNvGraphicFramePr>
          <p:nvPr/>
        </p:nvGraphicFramePr>
        <p:xfrm>
          <a:off x="6428232" y="1591056"/>
          <a:ext cx="3840480" cy="189280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Callout incentivos"/>
          <p:cNvSpPr txBox="1"/>
          <p:nvPr/>
        </p:nvSpPr>
        <p:spPr>
          <a:xfrm>
            <a:off x="10405872" y="1655064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09F41"/>
                </a:solidFill>
              </a:rPr>
              <a:t>≈100%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595959"/>
                </a:solidFill>
              </a:rPr>
              <a:t>do custo de produzir no Brasil é coberto pelos incentivos</a:t>
            </a:r>
          </a:p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</a:rPr>
              <a:t>A montagem local agrega pouco ao custo, mas é o que destrava o regime fiscal</a:t>
            </a:r>
          </a:p>
        </p:txBody>
      </p:sp>
      <p:sp>
        <p:nvSpPr>
          <p:cNvPr id="21" name="Elo 1"/>
          <p:cNvSpPr/>
          <p:nvPr/>
        </p:nvSpPr>
        <p:spPr>
          <a:xfrm>
            <a:off x="566928" y="4425696"/>
            <a:ext cx="1682496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000" b="1">
                <a:solidFill>
                  <a:srgbClr val="1A1A1A"/>
                </a:solidFill>
              </a:rPr>
              <a:t>Componentes</a:t>
            </a:r>
          </a:p>
          <a:p>
            <a:pPr algn="ctr"/>
            <a:r>
              <a:rPr sz="850">
                <a:solidFill>
                  <a:srgbClr val="595959"/>
                </a:solidFill>
              </a:rPr>
              <a:t>chips, memória, placas, resina ABS, passivos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76856" y="4709159"/>
            <a:ext cx="192024" cy="0"/>
          </a:xfrm>
          <a:prstGeom prst="line">
            <a:avLst/>
          </a:prstGeom>
          <a:ln w="1905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o 2"/>
          <p:cNvSpPr/>
          <p:nvPr/>
        </p:nvSpPr>
        <p:spPr>
          <a:xfrm>
            <a:off x="2496312" y="4425696"/>
            <a:ext cx="1682496" cy="566928"/>
          </a:xfrm>
          <a:prstGeom prst="roundRect">
            <a:avLst>
              <a:gd name="adj" fmla="val 8000"/>
            </a:avLst>
          </a:prstGeom>
          <a:solidFill>
            <a:srgbClr val="009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Montagem no Brasil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4 fábricas (SC, AM, MG); ~15% do custo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206240" y="4709159"/>
            <a:ext cx="192024" cy="0"/>
          </a:xfrm>
          <a:prstGeom prst="line">
            <a:avLst/>
          </a:prstGeom>
          <a:ln w="1905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lo 3"/>
          <p:cNvSpPr/>
          <p:nvPr/>
        </p:nvSpPr>
        <p:spPr>
          <a:xfrm>
            <a:off x="4425696" y="4425696"/>
            <a:ext cx="1682496" cy="566928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Produto pronto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Dahua (CFTV), H3C (redes), OEMs na Ásia</a:t>
            </a:r>
          </a:p>
        </p:txBody>
      </p:sp>
      <p:graphicFrame>
        <p:nvGraphicFramePr>
          <p:cNvPr id="26" name="Grafico concentracao por elo"/>
          <p:cNvGraphicFramePr>
            <a:graphicFrameLocks noGrp="1"/>
          </p:cNvGraphicFramePr>
          <p:nvPr/>
        </p:nvGraphicFramePr>
        <p:xfrm>
          <a:off x="566928" y="5047488"/>
          <a:ext cx="5532120" cy="130759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7" name="Rotulo dolar"/>
          <p:cNvSpPr txBox="1"/>
          <p:nvPr/>
        </p:nvSpPr>
        <p:spPr>
          <a:xfrm>
            <a:off x="6428232" y="4398264"/>
            <a:ext cx="39776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95959"/>
                </a:solidFill>
              </a:rPr>
              <a:t>Dólar médio (R$)</a:t>
            </a:r>
          </a:p>
        </p:txBody>
      </p:sp>
      <p:graphicFrame>
        <p:nvGraphicFramePr>
          <p:cNvPr id="28" name="Grafico dolar trimestral"/>
          <p:cNvGraphicFramePr>
            <a:graphicFrameLocks noGrp="1"/>
          </p:cNvGraphicFramePr>
          <p:nvPr/>
        </p:nvGraphicFramePr>
        <p:xfrm>
          <a:off x="6428232" y="4498848"/>
          <a:ext cx="3977639" cy="71323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Rotulo margem"/>
          <p:cNvSpPr txBox="1"/>
          <p:nvPr/>
        </p:nvSpPr>
        <p:spPr>
          <a:xfrm>
            <a:off x="6428232" y="5230368"/>
            <a:ext cx="39776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9F41"/>
                </a:solidFill>
              </a:rPr>
              <a:t>Margem bruta (%)</a:t>
            </a:r>
          </a:p>
        </p:txBody>
      </p:sp>
      <p:graphicFrame>
        <p:nvGraphicFramePr>
          <p:cNvPr id="30" name="Grafico margem trimestral"/>
          <p:cNvGraphicFramePr>
            <a:graphicFrameLocks noGrp="1"/>
          </p:cNvGraphicFramePr>
          <p:nvPr/>
        </p:nvGraphicFramePr>
        <p:xfrm>
          <a:off x="6428232" y="5303520"/>
          <a:ext cx="3977639" cy="109728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1" name="Callout cambio margem"/>
          <p:cNvSpPr txBox="1"/>
          <p:nvPr/>
        </p:nvSpPr>
        <p:spPr>
          <a:xfrm>
            <a:off x="10515599" y="4453128"/>
            <a:ext cx="1444752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</a:rPr>
              <a:t>Dólar +18%</a:t>
            </a:r>
            <a:r>
              <a:rPr sz="900" b="0" i="0">
                <a:solidFill>
                  <a:srgbClr val="595959"/>
                </a:solidFill>
              </a:rPr>
              <a:t> (1T→4T24)</a:t>
            </a:r>
          </a:p>
          <a:p>
            <a:pPr algn="l">
              <a:spcAft>
                <a:spcPts val="800"/>
              </a:spcAft>
            </a:pPr>
            <a:r>
              <a:rPr sz="1100" b="1" i="0">
                <a:solidFill>
                  <a:srgbClr val="009F41"/>
                </a:solidFill>
              </a:rPr>
              <a:t>→ margem −4,9 p.p.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</a:rPr>
              <a:t>Dólar −14%</a:t>
            </a:r>
            <a:r>
              <a:rPr sz="900" b="0" i="0">
                <a:solidFill>
                  <a:srgbClr val="595959"/>
                </a:solidFill>
              </a:rPr>
              <a:t> (4T24→2T26)</a:t>
            </a:r>
          </a:p>
          <a:p>
            <a:pPr algn="l">
              <a:spcAft>
                <a:spcPts val="800"/>
              </a:spcAft>
            </a:pPr>
            <a:r>
              <a:rPr sz="1100" b="1" i="0">
                <a:solidFill>
                  <a:srgbClr val="009F41"/>
                </a:solidFill>
              </a:rPr>
              <a:t>→ margem +4,1 p.p.</a:t>
            </a:r>
            <a:r>
              <a:rPr sz="900" b="0" i="0">
                <a:solidFill>
                  <a:srgbClr val="595959"/>
                </a:solidFill>
              </a:rPr>
              <a:t>, só ~4 trimestres depois</a:t>
            </a:r>
          </a:p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</a:rPr>
              <a:t>~170 dias de estoque atrasam o efeito do câmbio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Dahua: parceira estratégica, dependência crescente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A Dahua entrega a tecnologia de CFTV e recebe o canal; mas pesa cada vez mais nas compras e no crédito da Intelbras e está saindo do capital antes de 2028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I. Concentração em alta: 36% dos gastos com fornecedores (28,6% em 2021)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Dahua em % dos gastos com fornecedores (FRE) e em % do custo dos produtos vendidos (DFP)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II. Dependência mútua, mas assimétrica: a Intelbras precisa mais da Dahua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Acordo de Cooperação (dez/2018 → dez/2028): o que cada lado entrega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III. A Dahua também financia a Intelbras: 43% das contas a pagar, 225 dias de prazo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Saldo a pagar à Dahua (R$ milhões) e % do total de fornecedores + risco sacado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IV. Sinais de afastamento: a Dahua sai do capital e o acordo vence em 2028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Linha do tempo da relação: participação acionária e marcos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Fontes: Intelbras DFPs 2021–25 (NE partes relacionadas e fornecedores), FRE 2026 (1.4.e, 11.2, 11.3); Nord Research (2021); Hikvision e Dahua (P&amp;D); Brazil Journal; FilingReader; Dahua Brasil; Teletime.</a:t>
            </a:r>
          </a:p>
        </p:txBody>
      </p:sp>
      <p:graphicFrame>
        <p:nvGraphicFramePr>
          <p:cNvPr id="17" name="Grafico concentracao Dahua"/>
          <p:cNvGraphicFramePr>
            <a:graphicFrameLocks noGrp="1"/>
          </p:cNvGraphicFramePr>
          <p:nvPr/>
        </p:nvGraphicFramePr>
        <p:xfrm>
          <a:off x="566928" y="1545336"/>
          <a:ext cx="3794760" cy="19842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Callout compras Dahua"/>
          <p:cNvSpPr txBox="1"/>
          <p:nvPr/>
        </p:nvSpPr>
        <p:spPr>
          <a:xfrm>
            <a:off x="4498848" y="1636776"/>
            <a:ext cx="1600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</a:rPr>
              <a:t>R$729 mi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595959"/>
                </a:solidFill>
              </a:rPr>
              <a:t>comprados da Dahua em 2025 (R$515 mi em 2021)</a:t>
            </a:r>
          </a:p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F41"/>
                </a:solidFill>
              </a:rPr>
              <a:t>2024: </a:t>
            </a:r>
            <a:r>
              <a:rPr sz="1000" b="0" i="0">
                <a:solidFill>
                  <a:srgbClr val="595959"/>
                </a:solidFill>
              </a:rPr>
              <a:t>R$1,19 bi, compra antecipada para proteger o suprimento</a:t>
            </a:r>
          </a:p>
        </p:txBody>
      </p:sp>
      <p:sp>
        <p:nvSpPr>
          <p:cNvPr id="19" name="Caixa Intelbras"/>
          <p:cNvSpPr/>
          <p:nvPr/>
        </p:nvSpPr>
        <p:spPr>
          <a:xfrm>
            <a:off x="6428232" y="1591056"/>
            <a:ext cx="1143000" cy="822960"/>
          </a:xfrm>
          <a:prstGeom prst="roundRect">
            <a:avLst>
              <a:gd name="adj" fmla="val 8000"/>
            </a:avLst>
          </a:prstGeom>
          <a:solidFill>
            <a:srgbClr val="009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Intelbras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marca e canal</a:t>
            </a:r>
          </a:p>
        </p:txBody>
      </p:sp>
      <p:sp>
        <p:nvSpPr>
          <p:cNvPr id="20" name="Caixa Dahua"/>
          <p:cNvSpPr/>
          <p:nvPr/>
        </p:nvSpPr>
        <p:spPr>
          <a:xfrm>
            <a:off x="10817352" y="1591056"/>
            <a:ext cx="1143000" cy="82296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Dahua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nº 2 mundial em câmeras e acionista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7644384" y="1920240"/>
            <a:ext cx="3099816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44384" y="2139696"/>
            <a:ext cx="3099816" cy="0"/>
          </a:xfrm>
          <a:prstGeom prst="line">
            <a:avLst/>
          </a:prstGeom>
          <a:ln w="19050">
            <a:solidFill>
              <a:srgbClr val="009F4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o Dahua entrega"/>
          <p:cNvSpPr txBox="1"/>
          <p:nvPr/>
        </p:nvSpPr>
        <p:spPr>
          <a:xfrm>
            <a:off x="7644384" y="1517904"/>
            <a:ext cx="3099815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</a:rPr>
              <a:t>Dahua entrega: </a:t>
            </a:r>
            <a:r>
              <a:rPr sz="900" b="0" i="0">
                <a:solidFill>
                  <a:srgbClr val="595959"/>
                </a:solidFill>
              </a:rPr>
              <a:t>tecnologia de CFTV (P&amp;D 18x maior), exclusividade da marca e ~7 meses de prazo</a:t>
            </a:r>
          </a:p>
        </p:txBody>
      </p:sp>
      <p:sp>
        <p:nvSpPr>
          <p:cNvPr id="24" name="Texto Intelbras entrega"/>
          <p:cNvSpPr txBox="1"/>
          <p:nvPr/>
        </p:nvSpPr>
        <p:spPr>
          <a:xfrm>
            <a:off x="7644384" y="2194560"/>
            <a:ext cx="30998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09F41"/>
                </a:solidFill>
              </a:rPr>
              <a:t>Intelbras entrega: </a:t>
            </a:r>
            <a:r>
              <a:rPr sz="900" b="0" i="0">
                <a:solidFill>
                  <a:srgbClr val="595959"/>
                </a:solidFill>
              </a:rPr>
              <a:t>canal de 500 distribuidores e 90 mil instaladores e prioridade de compra até 2028</a:t>
            </a:r>
          </a:p>
        </p:txBody>
      </p:sp>
      <p:sp>
        <p:nvSpPr>
          <p:cNvPr id="25" name="Moldura protecao"/>
          <p:cNvSpPr/>
          <p:nvPr/>
        </p:nvSpPr>
        <p:spPr>
          <a:xfrm>
            <a:off x="6428232" y="2660904"/>
            <a:ext cx="2606040" cy="841248"/>
          </a:xfrm>
          <a:prstGeom prst="rect">
            <a:avLst/>
          </a:prstGeom>
          <a:noFill/>
          <a:ln w="12700">
            <a:solidFill>
              <a:srgbClr val="009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o protecao"/>
          <p:cNvSpPr txBox="1"/>
          <p:nvPr/>
        </p:nvSpPr>
        <p:spPr>
          <a:xfrm>
            <a:off x="6519672" y="2715768"/>
            <a:ext cx="24231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9F41"/>
                </a:solidFill>
              </a:rPr>
              <a:t>Proteção: </a:t>
            </a:r>
            <a:r>
              <a:rPr sz="900" b="0" i="0">
                <a:solidFill>
                  <a:srgbClr val="595959"/>
                </a:solidFill>
              </a:rPr>
              <a:t>a prioridade cai se a Dahua cobrar ≥5% acima de produto equivalente ou falhar em tecnologia ou qualidade</a:t>
            </a:r>
          </a:p>
        </p:txBody>
      </p:sp>
      <p:sp>
        <p:nvSpPr>
          <p:cNvPr id="27" name="Rotulo assimetria"/>
          <p:cNvSpPr txBox="1"/>
          <p:nvPr/>
        </p:nvSpPr>
        <p:spPr>
          <a:xfrm>
            <a:off x="9217152" y="2642616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B6B6B"/>
                </a:solidFill>
              </a:rPr>
              <a:t>Dependência assimétrica (2025)</a:t>
            </a:r>
          </a:p>
        </p:txBody>
      </p:sp>
      <p:sp>
        <p:nvSpPr>
          <p:cNvPr id="28" name="Stat 23"/>
          <p:cNvSpPr txBox="1"/>
          <p:nvPr/>
        </p:nvSpPr>
        <p:spPr>
          <a:xfrm>
            <a:off x="9217152" y="2825496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9F41"/>
                </a:solidFill>
              </a:rPr>
              <a:t>23% </a:t>
            </a:r>
            <a:r>
              <a:rPr sz="900" b="0" i="0">
                <a:solidFill>
                  <a:srgbClr val="595959"/>
                </a:solidFill>
              </a:rPr>
              <a:t>do custo da Intelbras vem da Dahua</a:t>
            </a:r>
          </a:p>
        </p:txBody>
      </p:sp>
      <p:sp>
        <p:nvSpPr>
          <p:cNvPr id="29" name="Stat 3"/>
          <p:cNvSpPr txBox="1"/>
          <p:nvPr/>
        </p:nvSpPr>
        <p:spPr>
          <a:xfrm>
            <a:off x="9217152" y="3172968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</a:rPr>
              <a:t>~3% </a:t>
            </a:r>
            <a:r>
              <a:rPr sz="900" b="0" i="0">
                <a:solidFill>
                  <a:srgbClr val="595959"/>
                </a:solidFill>
              </a:rPr>
              <a:t>da receita da Dahua vem da Intelbras</a:t>
            </a:r>
          </a:p>
        </p:txBody>
      </p:sp>
      <p:graphicFrame>
        <p:nvGraphicFramePr>
          <p:cNvPr id="30" name="Grafico credito Dahua"/>
          <p:cNvGraphicFramePr>
            <a:graphicFrameLocks noGrp="1"/>
          </p:cNvGraphicFramePr>
          <p:nvPr/>
        </p:nvGraphicFramePr>
        <p:xfrm>
          <a:off x="566928" y="4407408"/>
          <a:ext cx="3794760" cy="198424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1" name="Callout credito Dahua"/>
          <p:cNvSpPr txBox="1"/>
          <p:nvPr/>
        </p:nvSpPr>
        <p:spPr>
          <a:xfrm>
            <a:off x="4498848" y="4498848"/>
            <a:ext cx="1600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</a:rPr>
              <a:t>225 dias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595959"/>
                </a:solidFill>
              </a:rPr>
              <a:t>de prazo implícito pago à Dahua em 2025 (151 em 2023)</a:t>
            </a:r>
          </a:p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F41"/>
                </a:solidFill>
              </a:rPr>
              <a:t>Se cair a 90 dias: </a:t>
            </a:r>
            <a:r>
              <a:rPr sz="1000" b="0" i="0">
                <a:solidFill>
                  <a:srgbClr val="595959"/>
                </a:solidFill>
              </a:rPr>
              <a:t>+R$269 mi de capital de giro e ROIC −1,7 p.p.</a:t>
            </a:r>
          </a:p>
        </p:txBody>
      </p:sp>
      <p:sp>
        <p:nvSpPr>
          <p:cNvPr id="32" name="Fase aproximacao"/>
          <p:cNvSpPr txBox="1"/>
          <p:nvPr/>
        </p:nvSpPr>
        <p:spPr>
          <a:xfrm>
            <a:off x="6428232" y="4407408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9F41"/>
                </a:solidFill>
              </a:rPr>
              <a:t>APROXIMAÇÃO  2007–2021</a:t>
            </a:r>
          </a:p>
        </p:txBody>
      </p:sp>
      <p:sp>
        <p:nvSpPr>
          <p:cNvPr id="33" name="Fase afastamento"/>
          <p:cNvSpPr txBox="1"/>
          <p:nvPr/>
        </p:nvSpPr>
        <p:spPr>
          <a:xfrm>
            <a:off x="9582912" y="4407408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1A1A1A"/>
                </a:solidFill>
              </a:rPr>
              <a:t>AFASTAMENTO  2023–2028</a:t>
            </a:r>
          </a:p>
        </p:txBody>
      </p:sp>
      <p:cxnSp>
        <p:nvCxnSpPr>
          <p:cNvPr id="34" name="Eixo 2007"/>
          <p:cNvCxnSpPr/>
          <p:nvPr/>
        </p:nvCxnSpPr>
        <p:spPr>
          <a:xfrm>
            <a:off x="6611112" y="5340096"/>
            <a:ext cx="320040" cy="0"/>
          </a:xfrm>
          <a:prstGeom prst="line">
            <a:avLst/>
          </a:prstGeom>
          <a:ln w="38100">
            <a:solidFill>
              <a:srgbClr val="009F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Quebra eixo"/>
          <p:cNvSpPr txBox="1"/>
          <p:nvPr/>
        </p:nvSpPr>
        <p:spPr>
          <a:xfrm>
            <a:off x="6958584" y="5230368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8C8C8C"/>
                </a:solidFill>
              </a:rPr>
              <a:t>//</a:t>
            </a:r>
          </a:p>
        </p:txBody>
      </p:sp>
      <p:cxnSp>
        <p:nvCxnSpPr>
          <p:cNvPr id="36" name="Eixo aproximacao"/>
          <p:cNvCxnSpPr/>
          <p:nvPr/>
        </p:nvCxnSpPr>
        <p:spPr>
          <a:xfrm>
            <a:off x="7178040" y="5340096"/>
            <a:ext cx="1698290" cy="0"/>
          </a:xfrm>
          <a:prstGeom prst="line">
            <a:avLst/>
          </a:prstGeom>
          <a:ln w="38100">
            <a:solidFill>
              <a:srgbClr val="009F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Eixo afastamento"/>
          <p:cNvCxnSpPr/>
          <p:nvPr/>
        </p:nvCxnSpPr>
        <p:spPr>
          <a:xfrm>
            <a:off x="8876330" y="5340096"/>
            <a:ext cx="2763982" cy="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Ponto 10% 2019.6"/>
          <p:cNvSpPr/>
          <p:nvPr/>
        </p:nvSpPr>
        <p:spPr>
          <a:xfrm>
            <a:off x="7869243" y="5280659"/>
            <a:ext cx="118872" cy="118872"/>
          </a:xfrm>
          <a:prstGeom prst="ellipse">
            <a:avLst/>
          </a:prstGeom>
          <a:solidFill>
            <a:srgbClr val="009F4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alor 2019.6"/>
          <p:cNvSpPr txBox="1"/>
          <p:nvPr/>
        </p:nvSpPr>
        <p:spPr>
          <a:xfrm>
            <a:off x="7562919" y="466344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09F41"/>
                </a:solidFill>
              </a:rPr>
              <a:t>10%</a:t>
            </a:r>
          </a:p>
        </p:txBody>
      </p:sp>
      <p:sp>
        <p:nvSpPr>
          <p:cNvPr id="40" name="Rotulo 2019.6"/>
          <p:cNvSpPr txBox="1"/>
          <p:nvPr/>
        </p:nvSpPr>
        <p:spPr>
          <a:xfrm>
            <a:off x="7562919" y="4919472"/>
            <a:ext cx="7315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</a:rPr>
              <a:t>compra</a:t>
            </a:r>
          </a:p>
        </p:txBody>
      </p:sp>
      <p:sp>
        <p:nvSpPr>
          <p:cNvPr id="41" name="Ponto 10% 2021.8"/>
          <p:cNvSpPr/>
          <p:nvPr/>
        </p:nvSpPr>
        <p:spPr>
          <a:xfrm>
            <a:off x="8737923" y="5280659"/>
            <a:ext cx="118872" cy="118872"/>
          </a:xfrm>
          <a:prstGeom prst="ellipse">
            <a:avLst/>
          </a:prstGeom>
          <a:solidFill>
            <a:srgbClr val="009F4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alor 2021.8"/>
          <p:cNvSpPr txBox="1"/>
          <p:nvPr/>
        </p:nvSpPr>
        <p:spPr>
          <a:xfrm>
            <a:off x="8431599" y="466344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09F41"/>
                </a:solidFill>
              </a:rPr>
              <a:t>10%</a:t>
            </a:r>
          </a:p>
        </p:txBody>
      </p:sp>
      <p:sp>
        <p:nvSpPr>
          <p:cNvPr id="43" name="Rotulo 2021.8"/>
          <p:cNvSpPr txBox="1"/>
          <p:nvPr/>
        </p:nvSpPr>
        <p:spPr>
          <a:xfrm>
            <a:off x="8431599" y="4919472"/>
            <a:ext cx="7315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</a:rPr>
              <a:t>recompõe após IPO</a:t>
            </a:r>
          </a:p>
        </p:txBody>
      </p:sp>
      <p:sp>
        <p:nvSpPr>
          <p:cNvPr id="44" name="Ponto 7,56% 2023.45"/>
          <p:cNvSpPr/>
          <p:nvPr/>
        </p:nvSpPr>
        <p:spPr>
          <a:xfrm>
            <a:off x="9389433" y="5280659"/>
            <a:ext cx="118872" cy="11887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Valor 2023.45"/>
          <p:cNvSpPr txBox="1"/>
          <p:nvPr/>
        </p:nvSpPr>
        <p:spPr>
          <a:xfrm>
            <a:off x="9083109" y="466344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</a:rPr>
              <a:t>7,56%</a:t>
            </a:r>
          </a:p>
        </p:txBody>
      </p:sp>
      <p:sp>
        <p:nvSpPr>
          <p:cNvPr id="46" name="Rotulo 2023.45"/>
          <p:cNvSpPr txBox="1"/>
          <p:nvPr/>
        </p:nvSpPr>
        <p:spPr>
          <a:xfrm>
            <a:off x="9083109" y="4919472"/>
            <a:ext cx="7315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</a:rPr>
              <a:t>vende 2,44%</a:t>
            </a:r>
          </a:p>
        </p:txBody>
      </p:sp>
      <p:sp>
        <p:nvSpPr>
          <p:cNvPr id="47" name="Ponto 0%? 2025.6"/>
          <p:cNvSpPr/>
          <p:nvPr/>
        </p:nvSpPr>
        <p:spPr>
          <a:xfrm>
            <a:off x="10238370" y="5280659"/>
            <a:ext cx="118872" cy="11887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alor 2025.6"/>
          <p:cNvSpPr txBox="1"/>
          <p:nvPr/>
        </p:nvSpPr>
        <p:spPr>
          <a:xfrm>
            <a:off x="9932046" y="466344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</a:rPr>
              <a:t>0%?</a:t>
            </a:r>
          </a:p>
        </p:txBody>
      </p:sp>
      <p:sp>
        <p:nvSpPr>
          <p:cNvPr id="49" name="Rotulo 2025.6"/>
          <p:cNvSpPr txBox="1"/>
          <p:nvPr/>
        </p:nvSpPr>
        <p:spPr>
          <a:xfrm>
            <a:off x="9932046" y="4919472"/>
            <a:ext cx="7315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</a:rPr>
              <a:t>aprova venda total até ago/28</a:t>
            </a:r>
          </a:p>
        </p:txBody>
      </p:sp>
      <p:sp>
        <p:nvSpPr>
          <p:cNvPr id="50" name="Marco 2007"/>
          <p:cNvSpPr/>
          <p:nvPr/>
        </p:nvSpPr>
        <p:spPr>
          <a:xfrm>
            <a:off x="6606540" y="5289804"/>
            <a:ext cx="100584" cy="100584"/>
          </a:xfrm>
          <a:prstGeom prst="ellipse">
            <a:avLst/>
          </a:prstGeom>
          <a:solidFill>
            <a:srgbClr val="009F4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o 2007"/>
          <p:cNvSpPr txBox="1"/>
          <p:nvPr/>
        </p:nvSpPr>
        <p:spPr>
          <a:xfrm>
            <a:off x="6428232" y="5449824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9F41"/>
                </a:solidFill>
              </a:rPr>
              <a:t>2007</a:t>
            </a:r>
          </a:p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</a:rPr>
              <a:t>parceria começa</a:t>
            </a:r>
          </a:p>
        </p:txBody>
      </p:sp>
      <p:sp>
        <p:nvSpPr>
          <p:cNvPr id="52" name="Marco dez/18"/>
          <p:cNvSpPr/>
          <p:nvPr/>
        </p:nvSpPr>
        <p:spPr>
          <a:xfrm>
            <a:off x="7621731" y="5289804"/>
            <a:ext cx="100584" cy="100584"/>
          </a:xfrm>
          <a:prstGeom prst="ellipse">
            <a:avLst/>
          </a:prstGeom>
          <a:solidFill>
            <a:srgbClr val="009F4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o dez/18"/>
          <p:cNvSpPr txBox="1"/>
          <p:nvPr/>
        </p:nvSpPr>
        <p:spPr>
          <a:xfrm>
            <a:off x="7191963" y="5449824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9F41"/>
                </a:solidFill>
              </a:rPr>
              <a:t>dez/18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</a:rPr>
              <a:t>acordo de 10 anos</a:t>
            </a:r>
          </a:p>
        </p:txBody>
      </p:sp>
      <p:sp>
        <p:nvSpPr>
          <p:cNvPr id="54" name="Marco c.2021"/>
          <p:cNvSpPr/>
          <p:nvPr/>
        </p:nvSpPr>
        <p:spPr>
          <a:xfrm>
            <a:off x="8431183" y="5289804"/>
            <a:ext cx="100584" cy="100584"/>
          </a:xfrm>
          <a:prstGeom prst="ellipse">
            <a:avLst/>
          </a:prstGeom>
          <a:solidFill>
            <a:srgbClr val="009F4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o c.2021"/>
          <p:cNvSpPr txBox="1"/>
          <p:nvPr/>
        </p:nvSpPr>
        <p:spPr>
          <a:xfrm>
            <a:off x="8001415" y="5449824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9F41"/>
                </a:solidFill>
              </a:rPr>
              <a:t>c.2021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</a:rPr>
              <a:t>Dahua Brasil vira região própria</a:t>
            </a:r>
          </a:p>
        </p:txBody>
      </p:sp>
      <p:sp>
        <p:nvSpPr>
          <p:cNvPr id="56" name="Marco jan/26"/>
          <p:cNvSpPr/>
          <p:nvPr/>
        </p:nvSpPr>
        <p:spPr>
          <a:xfrm>
            <a:off x="10425199" y="5289804"/>
            <a:ext cx="100584" cy="100584"/>
          </a:xfrm>
          <a:prstGeom prst="ellipse">
            <a:avLst/>
          </a:prstGeom>
          <a:solidFill>
            <a:srgbClr val="59595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o jan/26"/>
          <p:cNvSpPr txBox="1"/>
          <p:nvPr/>
        </p:nvSpPr>
        <p:spPr>
          <a:xfrm>
            <a:off x="9995431" y="5449824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595959"/>
                </a:solidFill>
              </a:rPr>
              <a:t>jan/26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</a:rPr>
              <a:t>FiberHome encerra exclusividade (precedente)</a:t>
            </a:r>
          </a:p>
        </p:txBody>
      </p:sp>
      <p:sp>
        <p:nvSpPr>
          <p:cNvPr id="58" name="Marco dez/28"/>
          <p:cNvSpPr/>
          <p:nvPr/>
        </p:nvSpPr>
        <p:spPr>
          <a:xfrm>
            <a:off x="11529129" y="5248656"/>
            <a:ext cx="182880" cy="18288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o dez/28"/>
          <p:cNvSpPr txBox="1"/>
          <p:nvPr/>
        </p:nvSpPr>
        <p:spPr>
          <a:xfrm>
            <a:off x="11000232" y="5449824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A1A1A"/>
                </a:solidFill>
              </a:rPr>
              <a:t>dez/28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</a:rPr>
              <a:t>acordo vence</a:t>
            </a:r>
          </a:p>
        </p:txBody>
      </p:sp>
      <p:sp>
        <p:nvSpPr>
          <p:cNvPr id="60" name="Em jogo"/>
          <p:cNvSpPr txBox="1"/>
          <p:nvPr/>
        </p:nvSpPr>
        <p:spPr>
          <a:xfrm>
            <a:off x="6428232" y="6035040"/>
            <a:ext cx="5532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</a:rPr>
              <a:t>Em jogo em dez/28: </a:t>
            </a:r>
            <a:r>
              <a:rPr sz="1100" b="1" i="0">
                <a:solidFill>
                  <a:srgbClr val="009F41"/>
                </a:solidFill>
              </a:rPr>
              <a:t>~metade do custo de Segurança e R$449 mi de crédito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Um_fabricante_de_hardware_movido_por_Segurança</Template>
  <TotalTime>34</TotalTime>
  <Words>477</Words>
  <Application>Microsoft Office PowerPoint</Application>
  <PresentationFormat>Widescreen</PresentationFormat>
  <Paragraphs>49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1_Office Theme</vt:lpstr>
      <vt:lpstr>Baixo poder de barganha com os fornecedores</vt:lpstr>
      <vt:lpstr>Dahua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Marques</dc:creator>
  <cp:lastModifiedBy>Gabriel Marques</cp:lastModifiedBy>
  <cp:revision>2</cp:revision>
  <dcterms:created xsi:type="dcterms:W3CDTF">2026-10-04T13:03:30Z</dcterms:created>
  <dcterms:modified xsi:type="dcterms:W3CDTF">2026-10-04T13:37:50Z</dcterms:modified>
</cp:coreProperties>
</file>