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3" d="100"/>
          <a:sy n="73" d="100"/>
        </p:scale>
        <p:origin x="139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Externo</c:v>
                </c:pt>
              </c:strCache>
            </c:strRef>
          </c:tx>
          <c:spPr>
            <a:solidFill>
              <a:srgbClr val="009F41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~80%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92%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85%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CPV atrelado a moeda estrangeira</c:v>
                </c:pt>
                <c:pt idx="1">
                  <c:v>Contas a pagar no exterior</c:v>
                </c:pt>
                <c:pt idx="2">
                  <c:v>Insumos e revenda no CPV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80.0</c:v>
                </c:pt>
                <c:pt idx="1">
                  <c:v>91.5</c:v>
                </c:pt>
                <c:pt idx="2">
                  <c:v>85.5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Restante</c:v>
                </c:pt>
              </c:strCache>
            </c:strRef>
          </c:tx>
          <c:spPr>
            <a:solidFill>
              <a:srgbClr val="E3E3E3"/>
            </a:solidFill>
          </c:spPr>
          <c:cat>
            <c:strRef>
              <c:f>Sheet1!$A$2:$A$4</c:f>
              <c:strCache>
                <c:ptCount val="3"/>
                <c:pt idx="0">
                  <c:v>CPV atrelado a moeda estrangeira</c:v>
                </c:pt>
                <c:pt idx="1">
                  <c:v>Contas a pagar no exterior</c:v>
                </c:pt>
                <c:pt idx="2">
                  <c:v>Insumos e revenda no CPV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20.0</c:v>
                </c:pt>
                <c:pt idx="1">
                  <c:v>8.5</c:v>
                </c:pt>
                <c:pt idx="2">
                  <c:v>14.5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1º</c:v>
                </c:pt>
              </c:strCache>
            </c:strRef>
          </c:tx>
          <c:spPr>
            <a:solidFill>
              <a:srgbClr val="1A1A1A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Hikvision 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SK hynix 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TSMC 70%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Fabricação de chips (2025)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33.2</c:v>
                </c:pt>
                <c:pt idx="2">
                  <c:v>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2º</c:v>
                </c:pt>
              </c:strCache>
            </c:strRef>
          </c:tx>
          <c:spPr>
            <a:solidFill>
              <a:srgbClr val="595959"/>
            </a:solidFill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Dahua 16%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Samsung 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Fabricação de chips (2025)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16.0</c:v>
                </c:pt>
                <c:pt idx="1">
                  <c:v>32.6</c:v>
                </c:pt>
                <c:pt idx="2">
                  <c:v>7.2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3º</c:v>
                </c:pt>
              </c:strCache>
            </c:strRef>
          </c:tx>
          <c:spPr>
            <a:solidFill>
              <a:srgbClr val="8C8C8C"/>
            </a:solidFill>
            <a:ln w="9525">
              <a:solidFill>
                <a:srgbClr val="FFFFFF"/>
              </a:solidFill>
            </a:ln>
          </c:spPr>
          <c:dLbls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Micron 26%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Fabricação de chips (2025)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25.7</c:v>
                </c:pt>
                <c:pt idx="2">
                  <c:v>5.3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Outros</c:v>
                </c:pt>
              </c:strCache>
            </c:strRef>
          </c:tx>
          <c:spPr>
            <a:solidFill>
              <a:srgbClr val="E3E3E3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Outros 64%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Outros 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Fabricação de chips (2025)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64.2</c:v>
                </c:pt>
                <c:pt idx="1">
                  <c:v>8.5</c:v>
                </c:pt>
                <c:pt idx="2">
                  <c:v>17.6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Fornecedores em US$</c:v>
                </c:pt>
                <c:pt idx="1">
                  <c:v>Caixa e recebíveis em US$</c:v>
                </c:pt>
                <c:pt idx="2">
                  <c:v>Hedge (NDF)</c:v>
                </c:pt>
                <c:pt idx="3">
                  <c:v>Exposição líquida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710.6</c:v>
                </c:pt>
                <c:pt idx="2">
                  <c:v>260.0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</c:v>
                </c:pt>
              </c:strCache>
            </c:strRef>
          </c:tx>
          <c:spPr>
            <a:solidFill>
              <a:srgbClr val="1A1A1A"/>
            </a:solidFill>
          </c:spPr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009F41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Pt>
            <c:idx val="3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894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−184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−451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260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Fornecedores em US$</c:v>
                </c:pt>
                <c:pt idx="1">
                  <c:v>Caixa e recebíveis em US$</c:v>
                </c:pt>
                <c:pt idx="2">
                  <c:v>Hedge (NDF)</c:v>
                </c:pt>
                <c:pt idx="3">
                  <c:v>Exposição líquida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894.4</c:v>
                </c:pt>
                <c:pt idx="1">
                  <c:v>183.8</c:v>
                </c:pt>
                <c:pt idx="2">
                  <c:v>450.6</c:v>
                </c:pt>
                <c:pt idx="3">
                  <c:v>260.0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Dias de estoque</c:v>
                </c:pt>
              </c:strCache>
            </c:strRef>
          </c:tx>
          <c:spPr>
            <a:solidFill>
              <a:srgbClr val="009F41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161</c:v>
                </c:pt>
                <c:pt idx="2">
                  <c:v>151</c:v>
                </c:pt>
                <c:pt idx="3">
                  <c:v>196</c:v>
                </c:pt>
                <c:pt idx="4">
                  <c:v>173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Prazo pago aos fornecedores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146</c:v>
                </c:pt>
                <c:pt idx="1">
                  <c:v>121</c:v>
                </c:pt>
                <c:pt idx="2">
                  <c:v>113</c:v>
                </c:pt>
                <c:pt idx="3">
                  <c:v>135</c:v>
                </c:pt>
                <c:pt idx="4">
                  <c:v>123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59595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P&amp;D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1.650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587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Hikvision · nº 1 global (19,8%)</c:v>
                </c:pt>
                <c:pt idx="1">
                  <c:v>Dahua · nº 2 global (16,0%)</c:v>
                </c:pt>
                <c:pt idx="2">
                  <c:v>Intelbras (todas as BUs)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</c:v>
                </c:pt>
                <c:pt idx="1">
                  <c:v>587</c:v>
                </c:pt>
                <c:pt idx="2">
                  <c:v>32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saldo de fornecedores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26%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42%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43%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30.2</c:v>
                </c:pt>
                <c:pt idx="1">
                  <c:v>34.9</c:v>
                </c:pt>
                <c:pt idx="2">
                  <c:v>25.7</c:v>
                </c:pt>
                <c:pt idx="3">
                  <c:v>41.5</c:v>
                </c:pt>
                <c:pt idx="4">
                  <c:v>42.8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CPV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24%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22%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19%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36%</a:t>
                    </a:r>
                  </a:p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(estoque)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23%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23.6</c:v>
                </c:pt>
                <c:pt idx="1">
                  <c:v>21.9</c:v>
                </c:pt>
                <c:pt idx="2">
                  <c:v>19.3</c:v>
                </c:pt>
                <c:pt idx="3">
                  <c:v>36.0</c:v>
                </c:pt>
                <c:pt idx="4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1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dPt>
            <c:idx val="3"/>
            <c:spPr>
              <a:solidFill>
                <a:srgbClr val="595959"/>
              </a:solidFill>
            </c:spPr>
          </c:dPt>
          <c:dPt>
            <c:idx val="4"/>
            <c:spPr>
              <a:solidFill>
                <a:srgbClr val="59595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7,56%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7,56%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09F41"/>
                        </a:solidFill>
                      </a:rPr>
                      <a:t>0%?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2019
compra</c:v>
                </c:pt>
                <c:pt idx="1">
                  <c:v>out/21
recompõe
pós-IPO</c:v>
                </c:pt>
                <c:pt idx="2">
                  <c:v>jun/23
vende
2,44%</c:v>
                </c:pt>
                <c:pt idx="3">
                  <c:v>ago/25
aprova
vender tudo</c:v>
                </c:pt>
                <c:pt idx="4">
                  <c:v>até ago/28
prazo da
venda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10.0</c:v>
                </c:pt>
                <c:pt idx="1">
                  <c:v>10.0</c:v>
                </c:pt>
                <c:pt idx="2">
                  <c:v>7.56</c:v>
                </c:pt>
                <c:pt idx="3">
                  <c:v>7.56</c:v>
                </c:pt>
                <c:pt idx="4">
                  <c:v>0.0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(≈2 min) — Slide 1: Fornecedores</a:t>
            </a:r>
          </a:p>
          <a:p/>
          <a:p>
            <a:r>
              <a:t>ABERTURA (título + subtítulo, 10s)</a:t>
            </a:r>
          </a:p>
          <a:p>
            <a:r>
              <a:t>"Para entender a margem da Intelbras, primeiro é preciso entender de quem ela compra. A resposta curta: compra de gigantes, em dólar, e não define o preço."</a:t>
            </a:r>
          </a:p>
          <a:p/>
          <a:p>
            <a:r>
              <a:t>I. CUSTO IMPORTADO (aponte para o 85%, 25s)</a:t>
            </a:r>
          </a:p>
          <a:p>
            <a:r>
              <a:t>"85% do custo é insumo ou produto comprado pronto. 92% do que ela deve a fornecedores está no exterior. E cerca de 80% do custo segue o dólar. Antes de ser fabricante, a Intelbras é uma compradora global."</a:t>
            </a:r>
          </a:p>
          <a:p/>
          <a:p>
            <a:r>
              <a:t>II. OLIGOPÓLIOS (aponte para TSMC 70%, depois para Dahua em verde, 25s)</a:t>
            </a:r>
          </a:p>
          <a:p>
            <a:r>
              <a:t>"E de quem ela compra? De mercados com dois ou três donos. A TSMC fabrica 70% dos chips do mundo; três empresas fazem 92% da memória. Em câmeras, os dois maiores são chineses, e um deles, a Dahua, em verde, é fornecedora da própria Intelbras. Voltamos a ela no próximo slide. A companhia admite no FRE que há poucas opções de chip."</a:t>
            </a:r>
          </a:p>
          <a:p/>
          <a:p>
            <a:r>
              <a:t>III. DÓLAR (aponte para R$249 mi, 25s)</a:t>
            </a:r>
          </a:p>
          <a:p>
            <a:r>
              <a:t>"O resultado é dólar no custo, não na receita. A empresa deve R$894 milhões em dólar; tirando caixa em dólar e o hedge, sobram R$260 milhões expostos no balanço. Mas o efeito grande está no custo do ano: cada 10% de alta do dólar soma R$249 milhões, ou 5,6 pontos de margem bruta, se não houver repasse."</a:t>
            </a:r>
          </a:p>
          <a:p/>
          <a:p>
            <a:r>
              <a:t>IV. ESTOQUE (aponte para ~40–70 dias, 25s)</a:t>
            </a:r>
          </a:p>
          <a:p>
            <a:r>
              <a:t>"Sem poder de barganha, a defesa é estoque. Ela carrega uns 170 dias de estoque contra uns 120 dias de prazo dos fornecedores. Essa diferença, de 40 a 70 dias, é dinheiro da Intelbras parado: perto de R$0,4 bilhão em 2025. É o custo de garantir produto ao instalador e de se proteger de falta de chip."</a:t>
            </a:r>
          </a:p>
          <a:p/>
          <a:p>
            <a:r>
              <a:t>PONTE PARA O SLIDE 2 (10s)</a:t>
            </a:r>
          </a:p>
          <a:p>
            <a:r>
              <a:t>"Resumo: a Intelbras é tomadora de preço, e paga isso em margem volátil e capital de giro alto. E entre todos esses fornecedores, um pesa mais que os outros: a Dahua."</a:t>
            </a:r>
          </a:p>
          <a:p/>
          <a:p>
            <a:r>
              <a:t>PERGUNTAS PROVÁVEIS</a:t>
            </a:r>
          </a:p>
          <a:p>
            <a:r>
              <a:t>• "A Intelbras compra direto da TSMC?" Não. Compra chips de fabricantes que produzem nessas fábricas. O ponto é que o topo da cadeia é concentrado: escassez e aumento de preço chegam de qualquer jeito (ex.: memória em 2026, que elevou custos no 2T26).</a:t>
            </a:r>
          </a:p>
          <a:p>
            <a:r>
              <a:t>• "Os 85% incluem revenda?" Sim: matéria-prima e revenda (DFP NE 27). A Intelbras agrega montagem, marca e canal, não o componente.</a:t>
            </a:r>
          </a:p>
          <a:p>
            <a:r>
              <a:t>• "Por que o hedge cobre só metade?" NDF de ~90 dias protege o caixa de curto prazo; política de cobrir ~70% das importações nacionalizadas (FRE 5.1). Hedge longo é caro com Selic alta.</a:t>
            </a:r>
          </a:p>
          <a:p>
            <a:r>
              <a:t>• "Isso já apareceu na margem?" Sim: em 2024 o dólar subiu 28% e a margem bruta caiu de 33,9% (1T24) para 29,0% (4T24); o repasse vem com defasagem.</a:t>
            </a:r>
          </a:p>
          <a:p/>
          <a:p>
            <a:r>
              <a:t>FONTES E CONTAS</a:t>
            </a:r>
          </a:p>
          <a:p>
            <a:r>
              <a:t>I: DFP 2025 NE 27 (matéria-prima e revenda R$2.666,9 mi ÷ CPV R$3.117,8 mi = 85,5%); NE 14 (fornecedores + risco sacado no exterior R$972,6 mi ÷ R$1.062,6 mi = 91,5%); FRE 2.2 (~80% do CPV em moeda estrangeira).</a:t>
            </a:r>
          </a:p>
          <a:p>
            <a:r>
              <a:t>II: TrendForce (fabricação de chips 2025: TSMC 69,9%, Samsung 7,2%, SMIC 5,3%; DRAM 3T25: SK hynix 33,2%, Samsung 32,6%, Micron 25,7%); Novaira Insights/Security World Market (câmeras de rede 2024: Hikvision 19,8%, Dahua 16,0%); FRE 1.4.e.</a:t>
            </a:r>
          </a:p>
          <a:p>
            <a:r>
              <a:t>III: DFP NE 25, posições em US$: fornecedores 894,4; caixa 157,2 + recebíveis 26,6; NDF 450,6 → exposição 260,0. Sensibilidade: 80% × 3.117,8 × 10% = 249; ÷ receita 4.460 = 5,6 p.p.</a:t>
            </a:r>
          </a:p>
          <a:p>
            <a:r>
              <a:t>IV: dias de estoque = estoque ÷ CPV × 365 (217/161/151/196/173); prazo = (fornecedores + risco sacado) ÷ CPV × 365 (146/121/113/135/123); gap 71/40/38/61/50 dias; 2025: 50 × 3.117,8/365 ≈ R$427 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(≈2,5 min) — Slide 2: Dahua</a:t>
            </a:r>
          </a:p>
          <a:p/>
          <a:p>
            <a:r>
              <a:t>ABERTURA (10s)</a:t>
            </a:r>
          </a:p>
          <a:p>
            <a:r>
              <a:t>"A Dahua é o fornecedor mais importante da Intelbras. A metade de cima mostra por que essa relação existe; a de baixo, por que ela está perdendo força."</a:t>
            </a:r>
          </a:p>
          <a:p/>
          <a:p>
            <a:r>
              <a:t>I. POR QUE DAHUA (aponte para 18x, 30s)</a:t>
            </a:r>
          </a:p>
          <a:p>
            <a:r>
              <a:t>"Por que comprar câmera da Dahua em vez de desenvolver? Porque câmera é uma corrida de P&amp;D. A Dahua investe US$587 milhões por ano, 18 vezes o P&amp;D da Intelbras inteira, somando todas as unidades. E a alternativa nº 1, a Hikvision, já é concorrente direta no Brasil. A Dahua é a única gigante disponível."</a:t>
            </a:r>
          </a:p>
          <a:p/>
          <a:p>
            <a:r>
              <a:t>II. A TROCA (aponte para as setas, depois para 23% vs ~3%, 30s)</a:t>
            </a:r>
          </a:p>
          <a:p>
            <a:r>
              <a:t>"A troca é clara. A Dahua entrega tecnologia, exclusividade da marca e crédito: são R$449 milhões a pagar, uns 7 meses de prazo. A Intelbras entrega o que a Dahua não tem aqui: canal, com 500 distribuidores e 90 mil instaladores. Mas a dependência é assimétrica: a Dahua é 23% do custo da Intelbras, e a Intelbras é só ~3% da receita da Dahua. Quem precisa mais de quem? A Intelbras."</a:t>
            </a:r>
          </a:p>
          <a:p/>
          <a:p>
            <a:r>
              <a:t>[se usar animação, revele a metade de baixo aqui]</a:t>
            </a:r>
          </a:p>
          <a:p>
            <a:r>
              <a:t>"Agora, por que essa relação está perdendo força."</a:t>
            </a:r>
          </a:p>
          <a:p/>
          <a:p>
            <a:r>
              <a:t>III. CRÉDITO (aponte para a linha verde, 30s)</a:t>
            </a:r>
          </a:p>
          <a:p>
            <a:r>
              <a:t>"O peso da Dahua no custo está estável, na faixa de 20% a 25%; o pico de 2024 foi compra antecipada para estoque. Mas o peso no crédito subiu de 30% para 43%, e o prazo implícito chegou a 225 dias. Se a Dahua voltar a cobrar em 90 dias, a Intelbras precisa de R$269 milhões a mais de capital de giro, e o ROIC cai 1,7 ponto."</a:t>
            </a:r>
          </a:p>
          <a:p/>
          <a:p>
            <a:r>
              <a:t>IV. AFASTAMENTO (percorra as colunas, depois os marcos, 30s)</a:t>
            </a:r>
          </a:p>
          <a:p>
            <a:r>
              <a:t>"Ao mesmo tempo, a Dahua está se afastando. Comprou 10% em 2019, vendeu parte em 2023 e, em agosto de 2025, aprovou vender o restante em até três anos. Montou operação própria no Brasil. E a FiberHome, outra parceira chinesa, já encerrou a exclusividade com a Intelbras este ano. Tudo converge para dezembro de 2028, quando o acordo vence."</a:t>
            </a:r>
          </a:p>
          <a:p/>
          <a:p>
            <a:r>
              <a:t>FECHO (15s)</a:t>
            </a:r>
          </a:p>
          <a:p>
            <a:r>
              <a:t>"Em jogo na renovação: cerca de metade do custo de Segurança, o negócio que gera 68% do lucro bruto, e R$449 milhões de crédito. Não é previsão de rompimento: é o maior risco isolado da tese, e por isso a Dahua precisava de um slide próprio."</a:t>
            </a:r>
          </a:p>
          <a:p/>
          <a:p>
            <a:r>
              <a:t>PERGUNTAS PROVÁVEIS</a:t>
            </a:r>
          </a:p>
          <a:p>
            <a:r>
              <a:t>• "Por que não troca de fornecedor?" A Hikvision é concorrente; os outros são menores ou mais caros. Trocar exige redesenvolver produto, firmware e app (FRE: a troca pode suspender a produção). A prioridade só cai se a Dahua cobrar ≥5% acima de produto equivalente ou falhar em tecnologia ou qualidade.</a:t>
            </a:r>
          </a:p>
          <a:p>
            <a:r>
              <a:t>• "225 dias de prazo não é bom?" No curto prazo, sim: é financiamento barato. Mas concentra risco em um credor que está saindo do capital.</a:t>
            </a:r>
          </a:p>
          <a:p>
            <a:r>
              <a:t>• "A Dahua pode entrar sozinha?" Há exclusividade até o fim do acordo + 6 meses. Já tem subsidiária no Brasil e marca de consumo (Imou) vendida via cross-border. O que falta é canal, e é isso que dá poder à Intelbras na negociação. [inferência]</a:t>
            </a:r>
          </a:p>
          <a:p>
            <a:r>
              <a:t>• "Por que a Dahua vende a participação?" Não foi divulgado. A Dahua vendeu a operação nos EUA após queda de lucro em 2024; pode ser realocação de capital. Leitura conservadora: menos alinhamento.</a:t>
            </a:r>
          </a:p>
          <a:p>
            <a:r>
              <a:t>• "Por que 23% e não os 36% do FRE?" Os 36% são sobre gastos com fornecedores (FRE); os 23%, sobre o CPV total (DFP). Bases diferentes, ambos corretos.</a:t>
            </a:r>
          </a:p>
          <a:p>
            <a:r>
              <a:t>• "Isso é red flag?" É risco de evento, não piora comprovada de termos: preços e condições não são divulgados. Acompanhar: prazo de fornecedores, % do CPV, comunicados sobre renovação e venda das ações.</a:t>
            </a:r>
          </a:p>
          <a:p/>
          <a:p>
            <a:r>
              <a:t>FONTES E CONTAS</a:t>
            </a:r>
          </a:p>
          <a:p>
            <a:r>
              <a:t>I: Hikvision P&amp;D RMB 11,75 bi (US$1,65 bi, 2025); Dahua P&amp;D RMB 4,213 bi (2024) ÷ 7,18 ≈ US$587 mi; Intelbras P&amp;D R$179 mi (FRE 2.10) ÷ 5,58 ≈ US$32 mi; shares Novaira 2024; Multilaser monta Hikvision em Manaus desde 2022 (Forbes).</a:t>
            </a:r>
          </a:p>
          <a:p>
            <a:r>
              <a:t>II: Acordo de 31/12/2018, 10 anos (FRE 1.2/11.3); saldo Dahua R$448,8 mi (DFP NE 32); compras R$729,2 mi ÷ CPV R$3.117,8 mi = 23,4%; R$729,2 mi ÷ 5,58 ≈ US$131 mi ÷ receita Dahua ≈ US$4,5 bi (RMB 32,3 bi) ≈ 2,9%.</a:t>
            </a:r>
          </a:p>
          <a:p>
            <a:r>
              <a:t>III: DFPs 2021–25. Compras 515/664/545/1.187/729; saldo 263/350/225/506/449; fornecedores + risco sacado 870/1.003/877/1.220/1.049; CPV 2.178/3.031/2.827/3.294/3.118. Prazo = saldo ÷ compras × 365 = 187/192/151/156/225. Se 90 dias: saldo 180 → +269; ROIC LTM 2T26 18,8% → 17,1%.</a:t>
            </a:r>
          </a:p>
          <a:p>
            <a:r>
              <a:t>IV: 10% em ago/2019 (FRE); recomposição de 10% em out/2021 (comunicado Intelbras); venda de 2,44% em jun/2023 (Brazil Journal); aprovação da venda de 7,56% em até 36 meses em ago/2025 (FilingReader); Dahua Brasil região independente após crescer três dígitos em 2020 (comunicado Dahua, data aproximada); FiberHome em 12/01/2026 (Teletime). ~metade = compras Dahua ÷ CPV de Segurança, média 2021–25 ≈ 50% (40% em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notesSlide" Target="../notesSlides/notesSlide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Fornecedores: tomadora de preço de oligopólios globais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Quase todo o custo é importado, dolarizado e vendido por poucos gigantes: a Intelbras aceita o preço e paga isso em margem e capital de giro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85% do custo é insumo comprado, quase todo no exterior e atrelado ao dólar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Peso da dependência externa em três medidas, 2025 (%)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Quem vende é oligopólio: poucos fabricantes de chips, memória e câmeras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Participação no mercado global dos maiores fabricantes (%)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dólar entra pelo custo, e o hedge cobre só metade da conta a pagar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Exposição cambial do balanço em dólar, 31/12/2025 (R$ milhões)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Sem barganha, a Intelbras se protege com estoque e financia a diferença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Dias de estoque vs prazo médio pago aos fornecedores (dias de CPV)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 2025 (NE 8, 14, 25 e 27) e FRE 2026 (itens 1.4.e e 2.2); TrendForce (fabricação de chips 2025; DRAM 3T25); Security World Market/Novaira Insights (câmeras de rede 2024). Dias = estoque e fornecedores (incl. risco sacado) ÷ CPV × 365.</a:t>
            </a:r>
          </a:p>
        </p:txBody>
      </p:sp>
      <p:graphicFrame>
        <p:nvGraphicFramePr>
          <p:cNvPr id="17" name="Grafico dependencia externa"/>
          <p:cNvGraphicFramePr>
            <a:graphicFrameLocks noGrp="1"/>
          </p:cNvGraphicFramePr>
          <p:nvPr/>
        </p:nvGraphicFramePr>
        <p:xfrm>
          <a:off x="566928" y="1591056"/>
          <a:ext cx="5532120" cy="18928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Grafico oligopolios"/>
          <p:cNvGraphicFramePr>
            <a:graphicFrameLocks noGrp="1"/>
          </p:cNvGraphicFramePr>
          <p:nvPr/>
        </p:nvGraphicFramePr>
        <p:xfrm>
          <a:off x="6428232" y="1591056"/>
          <a:ext cx="553212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Citacao chipsets"/>
          <p:cNvSpPr txBox="1"/>
          <p:nvPr/>
        </p:nvSpPr>
        <p:spPr>
          <a:xfrm>
            <a:off x="6428232" y="3191256"/>
            <a:ext cx="5532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B6B6B"/>
                </a:solidFill>
              </a:rPr>
              <a:t>“Existem poucas opções para escolha ou mudança dos chipsets”: trocar de fornecedor pode suspender parte da produção </a:t>
            </a:r>
            <a:r>
              <a:rPr sz="900" b="0" i="0">
                <a:solidFill>
                  <a:srgbClr val="6B6B6B"/>
                </a:solidFill>
              </a:rPr>
              <a:t>(FRE 2026)</a:t>
            </a:r>
          </a:p>
        </p:txBody>
      </p:sp>
      <p:graphicFrame>
        <p:nvGraphicFramePr>
          <p:cNvPr id="20" name="Grafico exposicao cambial"/>
          <p:cNvGraphicFramePr>
            <a:graphicFrameLocks noGrp="1"/>
          </p:cNvGraphicFramePr>
          <p:nvPr/>
        </p:nvGraphicFramePr>
        <p:xfrm>
          <a:off x="566928" y="4407408"/>
          <a:ext cx="361188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Callout sensibilidade cambial"/>
          <p:cNvSpPr txBox="1"/>
          <p:nvPr/>
        </p:nvSpPr>
        <p:spPr>
          <a:xfrm>
            <a:off x="4361688" y="4544568"/>
            <a:ext cx="17373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+R$249 mi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</a:rPr>
              <a:t>de custo por ano a cada +10% no dólar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9F41"/>
                </a:solidFill>
              </a:rPr>
              <a:t>= −5,6 p.p. </a:t>
            </a:r>
            <a:r>
              <a:rPr sz="1000" b="0" i="0">
                <a:solidFill>
                  <a:srgbClr val="595959"/>
                </a:solidFill>
              </a:rPr>
              <a:t>de margem bruta se não for repassado ao preço</a:t>
            </a:r>
          </a:p>
        </p:txBody>
      </p:sp>
      <p:graphicFrame>
        <p:nvGraphicFramePr>
          <p:cNvPr id="22" name="Grafico estoque vs prazo"/>
          <p:cNvGraphicFramePr>
            <a:graphicFrameLocks noGrp="1"/>
          </p:cNvGraphicFramePr>
          <p:nvPr/>
        </p:nvGraphicFramePr>
        <p:xfrm>
          <a:off x="6428232" y="4407408"/>
          <a:ext cx="3794760" cy="19842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3" name="Callout gap estoque"/>
          <p:cNvSpPr txBox="1"/>
          <p:nvPr/>
        </p:nvSpPr>
        <p:spPr>
          <a:xfrm>
            <a:off x="10360152" y="4544568"/>
            <a:ext cx="1600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~40–70 dias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</a:rPr>
              <a:t>de compras que a Intelbras carrega a mais no balanço (2021–25)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</a:rPr>
              <a:t>≈R$0,4 bi </a:t>
            </a:r>
            <a:r>
              <a:rPr sz="1000" b="0" i="0">
                <a:solidFill>
                  <a:srgbClr val="595959"/>
                </a:solidFill>
              </a:rPr>
              <a:t>de capital de giro em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Dahua: a parceria que sustenta Segurança está perdendo força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Dahua troca tecnologia e crédito pelo canal da Intelbras, mas está saindo do capital justo quando a Intelbras mais depende do seu crédito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Por que Dahua: câmera é corrida de P&amp;D, e a Intelbras não tem escala sozinha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Investimento anual em P&amp;D (US$ milhões) e posição no mercado global de câmeras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troca: tecnologia e crédito da Dahua pelo canal e pelo volume da Intelbras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Acordo de Cooperação (dez/2018 → dez/2028) e o que cada lado entrega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peso da Dahua no custo é estável, mas no crédito subiu de 30% para 43%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Dahua em % do CPV consolidado e do saldo de fornecedores (incl. risco sacado)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Dahua sai do capital e ganha presença própria: 2028 vira risco de renovação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Participação da Dahua no capital da Intelbras (%) e marcos da relação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2021–2025 (NE partes relacionadas e fornecedores), FRE 2026 (1.4.e, 11.3) e Release 2T26; Hikvision (2025), Dahua (2024) e Novaira Insights; Brazil Journal; FilingReader; Dahua Brasil; Teletime. US$ à PTAX média de 2025; RMB/US$ ≈ 7,18.</a:t>
            </a:r>
          </a:p>
        </p:txBody>
      </p:sp>
      <p:graphicFrame>
        <p:nvGraphicFramePr>
          <p:cNvPr id="17" name="Grafico P&amp;D"/>
          <p:cNvGraphicFramePr>
            <a:graphicFrameLocks noGrp="1"/>
          </p:cNvGraphicFramePr>
          <p:nvPr/>
        </p:nvGraphicFramePr>
        <p:xfrm>
          <a:off x="566928" y="1591056"/>
          <a:ext cx="3611880" cy="18928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llout P&amp;D"/>
          <p:cNvSpPr txBox="1"/>
          <p:nvPr/>
        </p:nvSpPr>
        <p:spPr>
          <a:xfrm>
            <a:off x="4361688" y="1636776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09F41"/>
                </a:solidFill>
              </a:rPr>
              <a:t>18x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mais P&amp;D na Dahua do que na Intelbras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A alternativa nº 1, Hikvision, </a:t>
            </a:r>
            <a:r>
              <a:rPr sz="1000" b="0" i="0">
                <a:solidFill>
                  <a:srgbClr val="595959"/>
                </a:solidFill>
              </a:rPr>
              <a:t>é concorrente direta no Brasil (via Multilaser)</a:t>
            </a:r>
          </a:p>
        </p:txBody>
      </p:sp>
      <p:sp>
        <p:nvSpPr>
          <p:cNvPr id="19" name="Caixa Intelbras"/>
          <p:cNvSpPr/>
          <p:nvPr/>
        </p:nvSpPr>
        <p:spPr>
          <a:xfrm>
            <a:off x="6428232" y="1636776"/>
            <a:ext cx="1188720" cy="868680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Intelbras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canal, marca e fábrica local</a:t>
            </a:r>
          </a:p>
        </p:txBody>
      </p:sp>
      <p:sp>
        <p:nvSpPr>
          <p:cNvPr id="20" name="Caixa Dahua"/>
          <p:cNvSpPr/>
          <p:nvPr/>
        </p:nvSpPr>
        <p:spPr>
          <a:xfrm>
            <a:off x="10771632" y="1636776"/>
            <a:ext cx="1188720" cy="8686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Dahua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nº 2 mundial em câmeras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90104" y="1938528"/>
            <a:ext cx="3008376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90104" y="2203704"/>
            <a:ext cx="3008376" cy="0"/>
          </a:xfrm>
          <a:prstGeom prst="line">
            <a:avLst/>
          </a:prstGeom>
          <a:ln w="19050">
            <a:solidFill>
              <a:srgbClr val="009F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o Dahua entrega"/>
          <p:cNvSpPr txBox="1"/>
          <p:nvPr/>
        </p:nvSpPr>
        <p:spPr>
          <a:xfrm>
            <a:off x="7690104" y="1508760"/>
            <a:ext cx="3008375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Dahua entrega: </a:t>
            </a:r>
            <a:r>
              <a:rPr sz="900" b="0" i="0">
                <a:solidFill>
                  <a:srgbClr val="595959"/>
                </a:solidFill>
              </a:rPr>
              <a:t>plataforma de CFTV e P&amp;D, exclusividade da marca no Brasil e ~7 meses de prazo (R$449 mi)</a:t>
            </a:r>
          </a:p>
        </p:txBody>
      </p:sp>
      <p:sp>
        <p:nvSpPr>
          <p:cNvPr id="24" name="Texto Intelbras entrega"/>
          <p:cNvSpPr txBox="1"/>
          <p:nvPr/>
        </p:nvSpPr>
        <p:spPr>
          <a:xfrm>
            <a:off x="7690104" y="2258568"/>
            <a:ext cx="3008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Intelbras entrega: </a:t>
            </a:r>
            <a:r>
              <a:rPr sz="900" b="0" i="0">
                <a:solidFill>
                  <a:srgbClr val="595959"/>
                </a:solidFill>
              </a:rPr>
              <a:t>~500 distribuidores, 90 mil instaladores e volume garantido (R$729 mi em 2025)</a:t>
            </a:r>
          </a:p>
        </p:txBody>
      </p:sp>
      <p:sp>
        <p:nvSpPr>
          <p:cNvPr id="25" name="Rotulo assimetria"/>
          <p:cNvSpPr txBox="1"/>
          <p:nvPr/>
        </p:nvSpPr>
        <p:spPr>
          <a:xfrm>
            <a:off x="6428232" y="2752344"/>
            <a:ext cx="5532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6B6B6B"/>
                </a:solidFill>
              </a:rPr>
              <a:t>Dependência assimétrica, 2025</a:t>
            </a:r>
          </a:p>
        </p:txBody>
      </p:sp>
      <p:sp>
        <p:nvSpPr>
          <p:cNvPr id="26" name="Moldura assimetria 1"/>
          <p:cNvSpPr/>
          <p:nvPr/>
        </p:nvSpPr>
        <p:spPr>
          <a:xfrm>
            <a:off x="6428232" y="2953512"/>
            <a:ext cx="2692908" cy="548640"/>
          </a:xfrm>
          <a:prstGeom prst="rect">
            <a:avLst/>
          </a:prstGeom>
          <a:noFill/>
          <a:ln w="12700">
            <a:solidFill>
              <a:srgbClr val="009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oldura assimetria 2"/>
          <p:cNvSpPr/>
          <p:nvPr/>
        </p:nvSpPr>
        <p:spPr>
          <a:xfrm>
            <a:off x="9267444" y="2953512"/>
            <a:ext cx="2692908" cy="548640"/>
          </a:xfrm>
          <a:prstGeom prst="rect">
            <a:avLst/>
          </a:prstGeom>
          <a:noFill/>
          <a:ln w="1270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at 23"/>
          <p:cNvSpPr txBox="1"/>
          <p:nvPr/>
        </p:nvSpPr>
        <p:spPr>
          <a:xfrm>
            <a:off x="6519672" y="2999232"/>
            <a:ext cx="25374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23% </a:t>
            </a:r>
            <a:r>
              <a:rPr sz="1000" b="0" i="0">
                <a:solidFill>
                  <a:srgbClr val="595959"/>
                </a:solidFill>
              </a:rPr>
              <a:t>do CPV da Intelbras vem da Dahua</a:t>
            </a:r>
          </a:p>
        </p:txBody>
      </p:sp>
      <p:sp>
        <p:nvSpPr>
          <p:cNvPr id="29" name="Stat 3"/>
          <p:cNvSpPr txBox="1"/>
          <p:nvPr/>
        </p:nvSpPr>
        <p:spPr>
          <a:xfrm>
            <a:off x="9358884" y="2999232"/>
            <a:ext cx="25374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~3% </a:t>
            </a:r>
            <a:r>
              <a:rPr sz="1000" b="0" i="0">
                <a:solidFill>
                  <a:srgbClr val="595959"/>
                </a:solidFill>
              </a:rPr>
              <a:t>da receita da Dahua vem da Intelbras</a:t>
            </a:r>
          </a:p>
        </p:txBody>
      </p:sp>
      <p:graphicFrame>
        <p:nvGraphicFramePr>
          <p:cNvPr id="30" name="Grafico Dahua CPV vs fornecedores"/>
          <p:cNvGraphicFramePr>
            <a:graphicFrameLocks noGrp="1"/>
          </p:cNvGraphicFramePr>
          <p:nvPr/>
        </p:nvGraphicFramePr>
        <p:xfrm>
          <a:off x="566928" y="4407408"/>
          <a:ext cx="37033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Callout prazo Dahua"/>
          <p:cNvSpPr txBox="1"/>
          <p:nvPr/>
        </p:nvSpPr>
        <p:spPr>
          <a:xfrm>
            <a:off x="4407408" y="4544568"/>
            <a:ext cx="16916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225 dias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de prazo implícito pago à Dahua em 2025 (151 em 2023)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Se cair a 90 dias: </a:t>
            </a:r>
            <a:r>
              <a:rPr sz="1000" b="0" i="0">
                <a:solidFill>
                  <a:srgbClr val="595959"/>
                </a:solidFill>
              </a:rPr>
              <a:t>+R$269 mi de capital de giro e ROIC −1,7 p.p.</a:t>
            </a:r>
          </a:p>
        </p:txBody>
      </p:sp>
      <p:graphicFrame>
        <p:nvGraphicFramePr>
          <p:cNvPr id="32" name="Grafico participacao Dahua"/>
          <p:cNvGraphicFramePr>
            <a:graphicFrameLocks noGrp="1"/>
          </p:cNvGraphicFramePr>
          <p:nvPr/>
        </p:nvGraphicFramePr>
        <p:xfrm>
          <a:off x="6428232" y="4407408"/>
          <a:ext cx="342900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Linha do tempo Dahua"/>
          <p:cNvSpPr txBox="1"/>
          <p:nvPr/>
        </p:nvSpPr>
        <p:spPr>
          <a:xfrm>
            <a:off x="9994392" y="4480560"/>
            <a:ext cx="19659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c.2021  </a:t>
            </a:r>
            <a:r>
              <a:rPr sz="900" b="0" i="0">
                <a:solidFill>
                  <a:srgbClr val="595959"/>
                </a:solidFill>
              </a:rPr>
              <a:t>Dahua Brasil vira região própria, com canal de integradores e distribuidores</a:t>
            </a:r>
          </a:p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jan/26  </a:t>
            </a:r>
            <a:r>
              <a:rPr sz="900" b="0" i="0">
                <a:solidFill>
                  <a:srgbClr val="595959"/>
                </a:solidFill>
              </a:rPr>
              <a:t>FiberHome encerra a exclusividade de GPON com a Intelbras (precedente)</a:t>
            </a:r>
          </a:p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dez/28  </a:t>
            </a:r>
            <a:r>
              <a:rPr sz="900" b="0" i="0">
                <a:solidFill>
                  <a:srgbClr val="595959"/>
                </a:solidFill>
              </a:rPr>
              <a:t>vence o acordo de 10 anos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Em jogo: </a:t>
            </a:r>
            <a:r>
              <a:rPr sz="1000" b="1" i="0">
                <a:solidFill>
                  <a:srgbClr val="009F41"/>
                </a:solidFill>
              </a:rPr>
              <a:t>~metade do custo de Segurança e R$449 mi de crédito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1</TotalTime>
  <Words>236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1_Office Theme</vt:lpstr>
      <vt:lpstr>Baixo poder de barganha com os fornecedores</vt:lpstr>
      <vt:lpstr>Dahua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1</cp:revision>
  <dcterms:created xsi:type="dcterms:W3CDTF">2026-10-04T13:03:30Z</dcterms:created>
  <dcterms:modified xsi:type="dcterms:W3CDTF">2026-10-04T13:04:33Z</dcterms:modified>
</cp:coreProperties>
</file>