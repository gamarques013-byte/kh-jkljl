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"/>
          <c:y val="0.04"/>
          <c:w val="0.96"/>
          <c:h val="0.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Segurança</c:v>
                </c:pt>
              </c:strCache>
            </c:strRef>
          </c:tx>
          <c:spPr>
            <a:solidFill>
              <a:srgbClr val="009B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1.01</c:v>
                </c:pt>
                <c:pt idx="1">
                  <c:v>1.15</c:v>
                </c:pt>
                <c:pt idx="2">
                  <c:v>1.62</c:v>
                </c:pt>
                <c:pt idx="3">
                  <c:v>1.98</c:v>
                </c:pt>
                <c:pt idx="4">
                  <c:v>2.23</c:v>
                </c:pt>
                <c:pt idx="5">
                  <c:v>2.6</c:v>
                </c:pt>
                <c:pt idx="6">
                  <c:v>2.73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0.58</c:v>
                </c:pt>
                <c:pt idx="1">
                  <c:v>0.77</c:v>
                </c:pt>
                <c:pt idx="2">
                  <c:v>0.92</c:v>
                </c:pt>
                <c:pt idx="3">
                  <c:v>0.84</c:v>
                </c:pt>
                <c:pt idx="4">
                  <c:v>0.91</c:v>
                </c:pt>
                <c:pt idx="5">
                  <c:v>1.06</c:v>
                </c:pt>
                <c:pt idx="6">
                  <c:v>0.98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Energia</c:v>
                </c:pt>
              </c:strCache>
            </c:strRef>
          </c:tx>
          <c:spPr>
            <a:solidFill>
              <a:srgbClr val="C8C8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0.12</c:v>
                </c:pt>
                <c:pt idx="1">
                  <c:v>0.22</c:v>
                </c:pt>
                <c:pt idx="2">
                  <c:v>0.55</c:v>
                </c:pt>
                <c:pt idx="3">
                  <c:v>1.41</c:v>
                </c:pt>
                <c:pt idx="4">
                  <c:v>0.97</c:v>
                </c:pt>
                <c:pt idx="5">
                  <c:v>1.09</c:v>
                </c:pt>
                <c:pt idx="6">
                  <c:v>0.75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8C8C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Segurança</c:v>
                </c:pt>
              </c:strCache>
            </c:strRef>
          </c:tx>
          <c:spPr>
            <a:solidFill>
              <a:srgbClr val="009B4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Lucro bruto</c:v>
                  </c:pt>
                  <c:pt idx="1">
                    <c:v>Receita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67.5</c:v>
                </c:pt>
                <c:pt idx="1">
                  <c:v>61.2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Lucro bruto</c:v>
                  </c:pt>
                  <c:pt idx="1">
                    <c:v>Receita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18.7</c:v>
                </c:pt>
                <c:pt idx="1">
                  <c:v>21.9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Energia</c:v>
                </c:pt>
              </c:strCache>
            </c:strRef>
          </c:tx>
          <c:spPr>
            <a:solidFill>
              <a:srgbClr val="C8C8C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Lucro bruto</c:v>
                  </c:pt>
                  <c:pt idx="1">
                    <c:v>Receita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13.8</c:v>
                </c:pt>
                <c:pt idx="1">
                  <c:v>16.9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8C8C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8C8C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Segurança</c:v>
                  </c:pt>
                  <c:pt idx="1">
                    <c:v>TIC</c:v>
                  </c:pt>
                  <c:pt idx="2">
                    <c:v>Energia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34.8</c:v>
                </c:pt>
                <c:pt idx="1">
                  <c:v>27.2</c:v>
                </c:pt>
                <c:pt idx="2">
                  <c:v>24.7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9B4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Segurança</c:v>
                  </c:pt>
                  <c:pt idx="1">
                    <c:v>TIC</c:v>
                  </c:pt>
                  <c:pt idx="2">
                    <c:v>Energia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33.2</c:v>
                </c:pt>
                <c:pt idx="1">
                  <c:v>25.7</c:v>
                </c:pt>
                <c:pt idx="2">
                  <c:v>24.6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8C8C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4D4D4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</c:v>
                </c:pt>
              </c:strCache>
            </c:strRef>
          </c:tx>
          <c:spPr>
            <a:solidFill>
              <a:srgbClr val="009B4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2020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Varejo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2020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</c:v>
                </c:pt>
                <c:pt idx="1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Integradores</c:v>
                </c:pt>
              </c:strCache>
            </c:strRef>
          </c:tx>
          <c:spPr>
            <a:solidFill>
              <a:srgbClr val="C8C8C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2020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16</c:v>
                </c:pt>
                <c:pt idx="1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8C8C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D4D4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Dahua / gastos com fornecedores</c:v>
                </c:pt>
              </c:strCache>
            </c:strRef>
          </c:tx>
          <c:spPr>
            <a:solidFill>
              <a:srgbClr val="C8C8C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C8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B4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28.6</c:v>
                </c:pt>
                <c:pt idx="1">
                  <c:v>36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8C8C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 mi</c:v>
                </c:pt>
              </c:strCache>
            </c:strRef>
          </c:tx>
          <c:spPr>
            <a:solidFill>
              <a:srgbClr val="009B4E"/>
            </a:solidFill>
            <a:effectLst/>
          </c:spPr>
          <c:invertIfNegative val="0"/>
          <c:dLbls>
            <c:numFmt formatCode="&quot;R$&quot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B4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D4D4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Incentivos fiscais</c:v>
                  </c:pt>
                  <c:pt idx="1">
                    <c:v>Lucro líquido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453</c:v>
                </c:pt>
                <c:pt idx="1">
                  <c:v>484</c:v>
                </c:pt>
              </c:numCache>
            </c:numRef>
          </c:val>
        </c:ser>
        <c:dLbls>
          <c:numFmt formatCode="&quot;R$&quot;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8C8C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Alíquota efetiva</c:v>
                </c:pt>
              </c:strCache>
            </c:strRef>
          </c:tx>
          <c:spPr>
            <a:solidFill>
              <a:srgbClr val="009B4E"/>
            </a:solidFill>
            <a:ln w="25400" cap="flat">
              <a:solidFill>
                <a:srgbClr val="009B4E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09B4E"/>
              </a:solidFill>
              <a:ln w="9525" cap="flat">
                <a:solidFill>
                  <a:srgbClr val="009B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</c:v>
                </c:pt>
                <c:pt idx="1">
                  <c:v>-3.5</c:v>
                </c:pt>
                <c:pt idx="2">
                  <c:v>1.9</c:v>
                </c:pt>
                <c:pt idx="3">
                  <c:v>-2</c:v>
                </c:pt>
                <c:pt idx="4">
                  <c:v>-5.6</c:v>
                </c:pt>
                <c:pt idx="5">
                  <c:v>-2.6</c:v>
                </c:pt>
                <c:pt idx="6">
                  <c:v>-0.7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Nominal 34%</c:v>
                </c:pt>
              </c:strCache>
            </c:strRef>
          </c:tx>
          <c:spPr>
            <a:solidFill>
              <a:srgbClr val="C8C8C8"/>
            </a:solidFill>
            <a:ln w="25400" cap="flat">
              <a:solidFill>
                <a:srgbClr val="C8C8C8"/>
              </a:solidFill>
              <a:prstDash val="dash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C8C8C8"/>
              </a:solidFill>
              <a:ln w="9525" cap="flat">
                <a:solidFill>
                  <a:srgbClr val="C8C8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34</c:v>
                </c:pt>
                <c:pt idx="1">
                  <c:v>34</c:v>
                </c:pt>
                <c:pt idx="2">
                  <c:v>34</c:v>
                </c:pt>
                <c:pt idx="3">
                  <c:v>34</c:v>
                </c:pt>
                <c:pt idx="4">
                  <c:v>34</c:v>
                </c:pt>
                <c:pt idx="5">
                  <c:v>34</c:v>
                </c:pt>
                <c:pt idx="6">
                  <c:v>34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8C8C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-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Ciclo de caixa (dias)</c:v>
                </c:pt>
              </c:strCache>
            </c:strRef>
          </c:tx>
          <c:spPr>
            <a:solidFill>
              <a:srgbClr val="009B4E"/>
            </a:solidFill>
            <a:ln w="31750" cap="flat">
              <a:solidFill>
                <a:srgbClr val="009B4E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9B4E"/>
              </a:solidFill>
              <a:ln w="9525" cap="flat">
                <a:solidFill>
                  <a:srgbClr val="009B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LTM 2T26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</c:v>
                </c:pt>
                <c:pt idx="1">
                  <c:v>69</c:v>
                </c:pt>
                <c:pt idx="2">
                  <c:v>147</c:v>
                </c:pt>
                <c:pt idx="3">
                  <c:v>112</c:v>
                </c:pt>
                <c:pt idx="4">
                  <c:v>124</c:v>
                </c:pt>
                <c:pt idx="5">
                  <c:v>157</c:v>
                </c:pt>
                <c:pt idx="6">
                  <c:v>145</c:v>
                </c:pt>
                <c:pt idx="7">
                  <c:v>132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8C8C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 bi</c:v>
                </c:pt>
              </c:strCache>
            </c:strRef>
          </c:tx>
          <c:spPr>
            <a:solidFill>
              <a:srgbClr val="C8C8C8"/>
            </a:solidFill>
            <a:effectLst/>
          </c:spPr>
          <c:invertIfNegative val="0"/>
          <c:dLbls>
            <c:numFmt formatCode="&quot;R$&quot;0.00&quot; bi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C8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B4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Imobilizado + intangível</c:v>
                  </c:pt>
                  <c:pt idx="1">
                    <c:v>Capital de giro operacional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1.6</c:v>
                </c:pt>
              </c:numCache>
            </c:numRef>
          </c:val>
        </c:ser>
        <c:dLbls>
          <c:numFmt formatCode="&quot;R$&quot;0.00&quot; bi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8C8C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SG&amp;A / receita</c:v>
                </c:pt>
              </c:strCache>
            </c:strRef>
          </c:tx>
          <c:spPr>
            <a:solidFill>
              <a:srgbClr val="4D4D4D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D4D4D"/>
              </a:solidFill>
              <a:ln w="9525" cap="flat">
                <a:solidFill>
                  <a:srgbClr val="4D4D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20.3</c:v>
                </c:pt>
                <c:pt idx="1">
                  <c:v>18.9</c:v>
                </c:pt>
                <c:pt idx="2">
                  <c:v>17.7</c:v>
                </c:pt>
                <c:pt idx="3">
                  <c:v>17.4</c:v>
                </c:pt>
                <c:pt idx="4">
                  <c:v>19.5</c:v>
                </c:pt>
                <c:pt idx="5">
                  <c:v>19</c:v>
                </c:pt>
                <c:pt idx="6">
                  <c:v>19.3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Margem EBITDA ajustada</c:v>
                </c:pt>
              </c:strCache>
            </c:strRef>
          </c:tx>
          <c:spPr>
            <a:solidFill>
              <a:srgbClr val="009B4E"/>
            </a:solidFill>
            <a:ln w="25400" cap="flat">
              <a:solidFill>
                <a:srgbClr val="009B4E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09B4E"/>
              </a:solidFill>
              <a:ln w="9525" cap="flat">
                <a:solidFill>
                  <a:srgbClr val="009B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11.9</c:v>
                </c:pt>
                <c:pt idx="1">
                  <c:v>16.7</c:v>
                </c:pt>
                <c:pt idx="2">
                  <c:v>13.1</c:v>
                </c:pt>
                <c:pt idx="3">
                  <c:v>12.6</c:v>
                </c:pt>
                <c:pt idx="4">
                  <c:v>13.8</c:v>
                </c:pt>
                <c:pt idx="5">
                  <c:v>13.5</c:v>
                </c:pt>
                <c:pt idx="6">
                  <c:v>12.1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8C8C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D4D4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sobre o modelo de negócios da Intelbras. Quatro números resumem a tese: Segurança é o motor de lucro; o canal de distribuição é a barreira; e a margem líquida tem forte componente fiscal. Fontes primárias: FRE 2026 e planilha interativa 2T26.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 gera 61% da receita e 67,5% do lucro bruto. Ganho de mix em 2025 (+0,64 p.p., menos Energia) foi mais que anulado pela queda de margem dentro dos segmentos (−1,30 p.p.), principalmente Segurança. SO WHAT: crescimento de receita em Segurança só vira lucro se a erosão de margem 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cliente direto é o distribuidor; quem escolhe a marca é o instalador; quem paga é o usuário final. O Programa de Canais funciona como contrato: o distribuidor dá metas de sell-in, dados de estoque e sell-out, segue política de preço e não vende ao consumidor final; a Intelbras dá descontos, proteção de preço, rotação de estoque ocioso e leads. SO WHAT: o canal sustenta volume e repasse, mas o custo aparece no capital de giro.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segue: fonte da vantagem → evidência → mecanismo → resultado observável → natureza. As duas vantagens estruturais estão no canal. A marca é parcial. O regime fiscal é regulatório e tem prazo. Os limites mostram onde a vantagem não protege. SO WHAT: a barreira protege volume e margem bruta, mas não protege contra deflação de preço.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Fatos: a Dahua foi 36% dos gastos com fornecedores em 2025 (28,6% em 2021) e tem R$524 mi a receber da Intelbras. O acordo de 2018 vale por 10 anos. A Intelbras dá prioridade de compra de CFTV; a Dahua dá exclusividade de seus produtos no Brasil. Se o preço da Dahua ficar 5% ou mais acima do equivalente, a Intelbras fica livre. Preços, prazos e metas são renegociados todo ano. A Dahua autorizou vender seus 7,56%. O conselheiro indicado por ela administra a Dahua Brasil. SO WHAT: a renovação de 2028 é a data-chave.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R$453 mi de incentivos reconhecidos no resultado de 2025 contra R$484 mi de lucro líquido. Alíquota efetiva de IR perto de zero. Os incentivos têm vencimentos: a Lei de TICs em 2029, a Sudam e a transição da reforma em 2033; a Zona Franca vai até 2073. As condições incluem PPB, P&amp;D mínimo de 4% do faturamento incentivado e emprego local. SO WHAT: tratar incentivos como variável no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ROIC = margem EBIT × giro. De 2019 a 2025, a margem tirou 3,7 p.p. e o giro tirou 12,3 p.p. Até o LTM 2T26, a margem devolveu 2,8 p.p. e o giro 0,9 p.p. O ciclo de caixa foi de 68 para 145 dias. O capital de giro operacional (R$1,60 bi) já supera imobilizado mais intangível (R$1,25 bi). SO WHAT: o retorno se decide no balanço.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Escala: a receita cresceu 2,6x, mas SG&amp;A e margem EBITDA ficaram no mesmo patamar. Escopo: acesso, cabeamento e nobreaks usam o mesmo comprador e a mesma obra; GPON e solar exigiram outro canal e foram podados. Flywheel: relevância para o canal e marca evidenciados; share of wallet e escala não evidenciados; novas categorias lucrativas contradito. SO WHAT: crescer só dentro da obra do instalador.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relações. A Intelbras domina contrapartes pulverizadas: distribuidores (nenhum acima de 10%, 95% exclusivos), revendedores e consumidor. É dominada por quem detém tecnologia ou compra por especificação: chipsets (poucas opções), Dahua (36% das compras) e integradores (multimarca). O varejo é equilibrado. SO WHAT: o risco de margem está nos donos de tecnologia.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impacto × probabilidade. Maior impacto: incentivos fiscais (93,9% do lucro líquido) e Dahua (36% das compras, vencimento em 2028). Maior probabilidade: deflação tecnológica, câmbio e capital de giro, que já aparecem em 2025. A perda de relevância do instalador tem alto impacto, mas é mais lenta. SO WHAT: as datas 2028–2033 e a margem de Segurança são os pontos a monitorar.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da tese em três pilares. I: canal como barreira, com 68% das vendas pela distribuição e 44% de share em Segurança (MIDI). II: margem de origem fiscal, com incentivos de 93,9% do lucro líquido e vencimentos a partir de 2029. III: retorno que depende do giro, com ROIC de 18,8% no LTM e ciclo de 132 dias. À direita, a ponte do ROIC de 2019 ao LTM 2T26. Embaixo, os campos de valuation, a preencher com dados de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referência. As fontes primárias são o FRE 2026 e a planilha interativa do 2T26. Fontes externas foram usadas só para validar dados que o FRE não traz.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00984"/>
            <a:ext cx="11277295" cy="2560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173736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2697480"/>
            <a:ext cx="112772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27048"/>
            <a:ext cx="11277295" cy="20117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9464040" y="6309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INTB3 · Modelo de negócios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27048"/>
            <a:ext cx="11277295" cy="20117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9464040" y="6309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INTB3 · Modelo de negócios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73736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Intelbras (INTB3)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26974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Modelo de negócios: como a empresa cria e captura valor</a:t>
            </a:r>
            <a:endParaRPr lang="en-US" sz="2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Equity Research · Data-base 2T26 · Fontes: Formulário de Referência 2026, planilha interativa e release do 2T26 · Outubro de 2026</a:t>
            </a:r>
            <a:endParaRPr lang="en-US" sz="1200" dirty="0"/>
          </a:p>
        </p:txBody>
      </p:sp>
      <p:sp>
        <p:nvSpPr>
          <p:cNvPr id="5" name="txt-1"/>
          <p:cNvSpPr txBox="1"/>
          <p:nvPr/>
        </p:nvSpPr>
        <p:spPr>
          <a:xfrm>
            <a:off x="457200" y="3886200"/>
            <a:ext cx="2545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R$4,46 bi</a:t>
            </a:r>
            <a:endParaRPr lang="en-US" sz="3000" dirty="0"/>
          </a:p>
        </p:txBody>
      </p:sp>
      <p:sp>
        <p:nvSpPr>
          <p:cNvPr id="6" name="txt-2"/>
          <p:cNvSpPr txBox="1"/>
          <p:nvPr/>
        </p:nvSpPr>
        <p:spPr>
          <a:xfrm>
            <a:off x="457200" y="4462272"/>
            <a:ext cx="2545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receita líquida 2025</a:t>
            </a:r>
            <a:endParaRPr lang="en-US" sz="1200" dirty="0"/>
          </a:p>
        </p:txBody>
      </p:sp>
      <p:sp>
        <p:nvSpPr>
          <p:cNvPr id="7" name="txt-3"/>
          <p:cNvSpPr txBox="1"/>
          <p:nvPr/>
        </p:nvSpPr>
        <p:spPr>
          <a:xfrm>
            <a:off x="3367964" y="3886200"/>
            <a:ext cx="2545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67,5%</a:t>
            </a:r>
            <a:endParaRPr lang="en-US" sz="3000" dirty="0"/>
          </a:p>
        </p:txBody>
      </p:sp>
      <p:sp>
        <p:nvSpPr>
          <p:cNvPr id="8" name="txt-4"/>
          <p:cNvSpPr txBox="1"/>
          <p:nvPr/>
        </p:nvSpPr>
        <p:spPr>
          <a:xfrm>
            <a:off x="3367964" y="4462272"/>
            <a:ext cx="2545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do lucro bruto vem de Segurança</a:t>
            </a:r>
            <a:endParaRPr lang="en-US" sz="1200" dirty="0"/>
          </a:p>
        </p:txBody>
      </p:sp>
      <p:sp>
        <p:nvSpPr>
          <p:cNvPr id="9" name="txt-5"/>
          <p:cNvSpPr txBox="1"/>
          <p:nvPr/>
        </p:nvSpPr>
        <p:spPr>
          <a:xfrm>
            <a:off x="6278728" y="3886200"/>
            <a:ext cx="2545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68%</a:t>
            </a:r>
            <a:endParaRPr lang="en-US" sz="3000" dirty="0"/>
          </a:p>
        </p:txBody>
      </p:sp>
      <p:sp>
        <p:nvSpPr>
          <p:cNvPr id="10" name="txt-6"/>
          <p:cNvSpPr txBox="1"/>
          <p:nvPr/>
        </p:nvSpPr>
        <p:spPr>
          <a:xfrm>
            <a:off x="6278728" y="4462272"/>
            <a:ext cx="2545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das vendas via ~500 pontos de distribuição</a:t>
            </a:r>
            <a:endParaRPr lang="en-US" sz="1200" dirty="0"/>
          </a:p>
        </p:txBody>
      </p:sp>
      <p:sp>
        <p:nvSpPr>
          <p:cNvPr id="11" name="txt-7"/>
          <p:cNvSpPr txBox="1"/>
          <p:nvPr/>
        </p:nvSpPr>
        <p:spPr>
          <a:xfrm>
            <a:off x="9189491" y="3886200"/>
            <a:ext cx="2545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93,9%</a:t>
            </a:r>
            <a:endParaRPr lang="en-US" sz="3000" dirty="0"/>
          </a:p>
        </p:txBody>
      </p:sp>
      <p:sp>
        <p:nvSpPr>
          <p:cNvPr id="12" name="txt-8"/>
          <p:cNvSpPr txBox="1"/>
          <p:nvPr/>
        </p:nvSpPr>
        <p:spPr>
          <a:xfrm>
            <a:off x="9189491" y="4462272"/>
            <a:ext cx="2545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do lucro líquido equivale a incentivos fiscais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Segurança gera dois terços do lucro bruto, mas sua margem encolhe e anula o ganho de mix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 crescimento só vira lucro se a margem de Segurança parar de cair: o mix sozinho não sustenta a margem consolidada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 WHAT?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Crescer em Segurança não garante lucro bruto: em 2025, a queda de margem no segmento (−0,95 p.p. no consolidado) superou o ganho de mix.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Fonte: planilha interativa 2T26 (receita por segmento 2019–25, histórico); FRE 2026 item 1.3 p.15–16 (receita e lucro bruto por segmento 2024–25); BTG CEO Conference 2021 s.13 (margem 2017–20, bases podem diferir). Ponte de margem: estimativa própria.</a:t>
            </a:r>
            <a:endParaRPr lang="en-US" sz="900" dirty="0"/>
          </a:p>
        </p:txBody>
      </p:sp>
      <p:sp>
        <p:nvSpPr>
          <p:cNvPr id="7" name="txt-9"/>
          <p:cNvSpPr txBox="1"/>
          <p:nvPr/>
        </p:nvSpPr>
        <p:spPr>
          <a:xfrm>
            <a:off x="457200" y="1719072"/>
            <a:ext cx="545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Segurança compõe: +18% a.a. de receita em 2019–25</a:t>
            </a:r>
            <a:endParaRPr lang="en-US" sz="1300" dirty="0"/>
          </a:p>
        </p:txBody>
      </p:sp>
      <p:graphicFrame>
        <p:nvGraphicFramePr>
          <p:cNvPr id="8" name="rec-seg" descr=""/>
          <p:cNvGraphicFramePr/>
          <p:nvPr/>
        </p:nvGraphicFramePr>
        <p:xfrm>
          <a:off x="457200" y="2103120"/>
          <a:ext cx="41605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xt-10"/>
          <p:cNvSpPr txBox="1"/>
          <p:nvPr/>
        </p:nvSpPr>
        <p:spPr>
          <a:xfrm>
            <a:off x="4663440" y="2271789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Energia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R$0,75 bi</a:t>
            </a:r>
            <a:endParaRPr lang="en-US" sz="1000" dirty="0"/>
          </a:p>
        </p:txBody>
      </p:sp>
      <p:sp>
        <p:nvSpPr>
          <p:cNvPr id="10" name="txt-11"/>
          <p:cNvSpPr txBox="1"/>
          <p:nvPr/>
        </p:nvSpPr>
        <p:spPr>
          <a:xfrm>
            <a:off x="4663440" y="2515667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TIC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R$0,98 bi</a:t>
            </a:r>
            <a:endParaRPr lang="en-US" sz="1000" dirty="0"/>
          </a:p>
        </p:txBody>
      </p:sp>
      <p:sp>
        <p:nvSpPr>
          <p:cNvPr id="11" name="txt-12"/>
          <p:cNvSpPr txBox="1"/>
          <p:nvPr/>
        </p:nvSpPr>
        <p:spPr>
          <a:xfrm>
            <a:off x="4663440" y="303866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Segurança </a:t>
            </a:r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R$2,73 bi</a:t>
            </a:r>
            <a:endParaRPr lang="en-US" sz="1000" dirty="0"/>
          </a:p>
        </p:txBody>
      </p:sp>
      <p:sp>
        <p:nvSpPr>
          <p:cNvPr id="12" name="txt-13"/>
          <p:cNvSpPr txBox="1"/>
          <p:nvPr/>
        </p:nvSpPr>
        <p:spPr>
          <a:xfrm>
            <a:off x="685800" y="21214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Energia: pico de R$1,41 bi em 2022 (solar)</a:t>
            </a:r>
            <a:endParaRPr lang="en-US" sz="900" dirty="0"/>
          </a:p>
        </p:txBody>
      </p:sp>
      <p:sp>
        <p:nvSpPr>
          <p:cNvPr id="13" name="txt-14"/>
          <p:cNvSpPr txBox="1"/>
          <p:nvPr/>
        </p:nvSpPr>
        <p:spPr>
          <a:xfrm>
            <a:off x="6278728" y="1719072"/>
            <a:ext cx="545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Segurança pesa mais no lucro (67,5%) do que na receita (61,2%)</a:t>
            </a:r>
            <a:endParaRPr lang="en-US" sz="1300" dirty="0"/>
          </a:p>
        </p:txBody>
      </p:sp>
      <p:graphicFrame>
        <p:nvGraphicFramePr>
          <p:cNvPr id="14" name="mix-rb" descr=""/>
          <p:cNvGraphicFramePr/>
          <p:nvPr/>
        </p:nvGraphicFramePr>
        <p:xfrm>
          <a:off x="6278728" y="2130552"/>
          <a:ext cx="38862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xt-15"/>
          <p:cNvSpPr txBox="1"/>
          <p:nvPr/>
        </p:nvSpPr>
        <p:spPr>
          <a:xfrm>
            <a:off x="6324448" y="3566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Segurança · TIC · Energia, % de 2025</a:t>
            </a:r>
            <a:endParaRPr lang="en-US" sz="900" dirty="0"/>
          </a:p>
        </p:txBody>
      </p:sp>
      <p:sp>
        <p:nvSpPr>
          <p:cNvPr id="16" name="txt-16"/>
          <p:cNvSpPr txBox="1"/>
          <p:nvPr/>
        </p:nvSpPr>
        <p:spPr>
          <a:xfrm>
            <a:off x="10302088" y="2221992"/>
            <a:ext cx="1432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+6,3 p.p.</a:t>
            </a:r>
            <a:endParaRPr lang="en-US" sz="2200" dirty="0"/>
          </a:p>
        </p:txBody>
      </p:sp>
      <p:sp>
        <p:nvSpPr>
          <p:cNvPr id="17" name="txt-17"/>
          <p:cNvSpPr txBox="1"/>
          <p:nvPr/>
        </p:nvSpPr>
        <p:spPr>
          <a:xfrm>
            <a:off x="10302088" y="2660904"/>
            <a:ext cx="1432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peso de Segurança no lucro bruto acima do peso na receita</a:t>
            </a:r>
            <a:endParaRPr lang="en-US" sz="1000" dirty="0"/>
          </a:p>
        </p:txBody>
      </p:sp>
      <p:sp>
        <p:nvSpPr>
          <p:cNvPr id="18" name="txt-18"/>
          <p:cNvSpPr txBox="1"/>
          <p:nvPr/>
        </p:nvSpPr>
        <p:spPr>
          <a:xfrm>
            <a:off x="457200" y="3794760"/>
            <a:ext cx="545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 margem caiu em todos os segmentos em 2025</a:t>
            </a:r>
            <a:endParaRPr lang="en-US" sz="1300" dirty="0"/>
          </a:p>
        </p:txBody>
      </p:sp>
      <p:graphicFrame>
        <p:nvGraphicFramePr>
          <p:cNvPr id="19" name="margem-seg" descr=""/>
          <p:cNvGraphicFramePr/>
          <p:nvPr/>
        </p:nvGraphicFramePr>
        <p:xfrm>
          <a:off x="457200" y="4178808"/>
          <a:ext cx="3931920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xt-19"/>
          <p:cNvSpPr txBox="1"/>
          <p:nvPr/>
        </p:nvSpPr>
        <p:spPr>
          <a:xfrm>
            <a:off x="4526280" y="4251960"/>
            <a:ext cx="1386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−1,6 p.p.</a:t>
            </a:r>
            <a:endParaRPr lang="en-US" sz="2200" dirty="0"/>
          </a:p>
        </p:txBody>
      </p:sp>
      <p:sp>
        <p:nvSpPr>
          <p:cNvPr id="21" name="txt-20"/>
          <p:cNvSpPr txBox="1"/>
          <p:nvPr/>
        </p:nvSpPr>
        <p:spPr>
          <a:xfrm>
            <a:off x="4526280" y="4690872"/>
            <a:ext cx="1386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margem bruta de Segurança, 2024 → 2025</a:t>
            </a:r>
            <a:endParaRPr lang="en-US" sz="1000" dirty="0"/>
          </a:p>
        </p:txBody>
      </p:sp>
      <p:sp>
        <p:nvSpPr>
          <p:cNvPr id="22" name="txt-21"/>
          <p:cNvSpPr txBox="1"/>
          <p:nvPr/>
        </p:nvSpPr>
        <p:spPr>
          <a:xfrm>
            <a:off x="4526280" y="5120640"/>
            <a:ext cx="1386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~39%</a:t>
            </a:r>
            <a:endParaRPr lang="en-US" sz="1800" dirty="0"/>
          </a:p>
        </p:txBody>
      </p:sp>
      <p:sp>
        <p:nvSpPr>
          <p:cNvPr id="23" name="txt-22"/>
          <p:cNvSpPr txBox="1"/>
          <p:nvPr/>
        </p:nvSpPr>
        <p:spPr>
          <a:xfrm>
            <a:off x="4526280" y="5468112"/>
            <a:ext cx="1386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margem de Segurança em 2017–20 (BTG21)</a:t>
            </a:r>
            <a:endParaRPr lang="en-US" sz="1000" dirty="0"/>
          </a:p>
        </p:txBody>
      </p:sp>
      <p:sp>
        <p:nvSpPr>
          <p:cNvPr id="24" name="txt-23"/>
          <p:cNvSpPr txBox="1"/>
          <p:nvPr/>
        </p:nvSpPr>
        <p:spPr>
          <a:xfrm>
            <a:off x="6278728" y="3794760"/>
            <a:ext cx="545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IV.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Mix +0,64 p.p. vs. queda de margem −1,30 p.p.</a:t>
            </a:r>
            <a:endParaRPr lang="en-US" sz="1300" dirty="0"/>
          </a:p>
        </p:txBody>
      </p:sp>
      <p:sp>
        <p:nvSpPr>
          <p:cNvPr id="25" name="rect-24"/>
          <p:cNvSpPr/>
          <p:nvPr/>
        </p:nvSpPr>
        <p:spPr>
          <a:xfrm>
            <a:off x="6469679" y="4787047"/>
            <a:ext cx="527391" cy="74507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xt-25"/>
          <p:cNvSpPr txBox="1"/>
          <p:nvPr/>
        </p:nvSpPr>
        <p:spPr>
          <a:xfrm>
            <a:off x="6241079" y="4531015"/>
            <a:ext cx="984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30,75%</a:t>
            </a:r>
            <a:endParaRPr lang="en-US" sz="1100" dirty="0"/>
          </a:p>
        </p:txBody>
      </p:sp>
      <p:sp>
        <p:nvSpPr>
          <p:cNvPr id="27" name="txt-26"/>
          <p:cNvSpPr txBox="1"/>
          <p:nvPr/>
        </p:nvSpPr>
        <p:spPr>
          <a:xfrm>
            <a:off x="6278728" y="5568696"/>
            <a:ext cx="90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2024</a:t>
            </a:r>
            <a:endParaRPr lang="en-US" sz="900" dirty="0"/>
          </a:p>
        </p:txBody>
      </p:sp>
      <p:sp>
        <p:nvSpPr>
          <p:cNvPr id="28" name="rect-27"/>
          <p:cNvSpPr/>
          <p:nvPr/>
        </p:nvSpPr>
        <p:spPr>
          <a:xfrm>
            <a:off x="7378974" y="4542511"/>
            <a:ext cx="527391" cy="244537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hline-28"/>
          <p:cNvSpPr/>
          <p:nvPr/>
        </p:nvSpPr>
        <p:spPr>
          <a:xfrm>
            <a:off x="6997070" y="4787047"/>
            <a:ext cx="381904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30" name="txt-29"/>
          <p:cNvSpPr txBox="1"/>
          <p:nvPr/>
        </p:nvSpPr>
        <p:spPr>
          <a:xfrm>
            <a:off x="7150374" y="4286479"/>
            <a:ext cx="984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+0,64</a:t>
            </a:r>
            <a:endParaRPr lang="en-US" sz="1100" dirty="0"/>
          </a:p>
        </p:txBody>
      </p:sp>
      <p:sp>
        <p:nvSpPr>
          <p:cNvPr id="31" name="txt-30"/>
          <p:cNvSpPr txBox="1"/>
          <p:nvPr/>
        </p:nvSpPr>
        <p:spPr>
          <a:xfrm>
            <a:off x="7188022" y="5568696"/>
            <a:ext cx="90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Mix</a:t>
            </a:r>
            <a:endParaRPr lang="en-US" sz="900" dirty="0"/>
          </a:p>
        </p:txBody>
      </p:sp>
      <p:sp>
        <p:nvSpPr>
          <p:cNvPr id="32" name="rect-31"/>
          <p:cNvSpPr/>
          <p:nvPr/>
        </p:nvSpPr>
        <p:spPr>
          <a:xfrm>
            <a:off x="8288269" y="4542511"/>
            <a:ext cx="527391" cy="36298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" name="hline-32"/>
          <p:cNvSpPr/>
          <p:nvPr/>
        </p:nvSpPr>
        <p:spPr>
          <a:xfrm>
            <a:off x="7906365" y="4542511"/>
            <a:ext cx="381904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34" name="txt-33"/>
          <p:cNvSpPr txBox="1"/>
          <p:nvPr/>
        </p:nvSpPr>
        <p:spPr>
          <a:xfrm>
            <a:off x="8059669" y="4286479"/>
            <a:ext cx="984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−0,95</a:t>
            </a:r>
            <a:endParaRPr lang="en-US" sz="1100" dirty="0"/>
          </a:p>
        </p:txBody>
      </p:sp>
      <p:sp>
        <p:nvSpPr>
          <p:cNvPr id="35" name="txt-34"/>
          <p:cNvSpPr txBox="1"/>
          <p:nvPr/>
        </p:nvSpPr>
        <p:spPr>
          <a:xfrm>
            <a:off x="8097317" y="5568696"/>
            <a:ext cx="90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Margem Seg.</a:t>
            </a:r>
            <a:endParaRPr lang="en-US" sz="900" dirty="0"/>
          </a:p>
        </p:txBody>
      </p:sp>
      <p:sp>
        <p:nvSpPr>
          <p:cNvPr id="36" name="rect-35"/>
          <p:cNvSpPr/>
          <p:nvPr/>
        </p:nvSpPr>
        <p:spPr>
          <a:xfrm>
            <a:off x="9197563" y="4905495"/>
            <a:ext cx="527391" cy="126089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7" name="hline-36"/>
          <p:cNvSpPr/>
          <p:nvPr/>
        </p:nvSpPr>
        <p:spPr>
          <a:xfrm>
            <a:off x="8815660" y="4905495"/>
            <a:ext cx="381904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38" name="txt-37"/>
          <p:cNvSpPr txBox="1"/>
          <p:nvPr/>
        </p:nvSpPr>
        <p:spPr>
          <a:xfrm>
            <a:off x="8968963" y="4649463"/>
            <a:ext cx="984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−0,33</a:t>
            </a:r>
            <a:endParaRPr lang="en-US" sz="1100" dirty="0"/>
          </a:p>
        </p:txBody>
      </p:sp>
      <p:sp>
        <p:nvSpPr>
          <p:cNvPr id="39" name="txt-38"/>
          <p:cNvSpPr txBox="1"/>
          <p:nvPr/>
        </p:nvSpPr>
        <p:spPr>
          <a:xfrm>
            <a:off x="9006611" y="5568696"/>
            <a:ext cx="90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Margem TIC</a:t>
            </a:r>
            <a:endParaRPr lang="en-US" sz="900" dirty="0"/>
          </a:p>
        </p:txBody>
      </p:sp>
      <p:sp>
        <p:nvSpPr>
          <p:cNvPr id="40" name="rect-39"/>
          <p:cNvSpPr/>
          <p:nvPr/>
        </p:nvSpPr>
        <p:spPr>
          <a:xfrm>
            <a:off x="10106858" y="5031584"/>
            <a:ext cx="527391" cy="1828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1" name="hline-40"/>
          <p:cNvSpPr/>
          <p:nvPr/>
        </p:nvSpPr>
        <p:spPr>
          <a:xfrm>
            <a:off x="9724954" y="5031584"/>
            <a:ext cx="381904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42" name="txt-41"/>
          <p:cNvSpPr txBox="1"/>
          <p:nvPr/>
        </p:nvSpPr>
        <p:spPr>
          <a:xfrm>
            <a:off x="9878258" y="4775552"/>
            <a:ext cx="984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−0,01</a:t>
            </a:r>
            <a:endParaRPr lang="en-US" sz="1100" dirty="0"/>
          </a:p>
        </p:txBody>
      </p:sp>
      <p:sp>
        <p:nvSpPr>
          <p:cNvPr id="43" name="txt-42"/>
          <p:cNvSpPr txBox="1"/>
          <p:nvPr/>
        </p:nvSpPr>
        <p:spPr>
          <a:xfrm>
            <a:off x="9915906" y="5568696"/>
            <a:ext cx="90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Margem Energia</a:t>
            </a:r>
            <a:endParaRPr lang="en-US" sz="900" dirty="0"/>
          </a:p>
        </p:txBody>
      </p:sp>
      <p:sp>
        <p:nvSpPr>
          <p:cNvPr id="44" name="rect-43"/>
          <p:cNvSpPr/>
          <p:nvPr/>
        </p:nvSpPr>
        <p:spPr>
          <a:xfrm>
            <a:off x="11016152" y="5035405"/>
            <a:ext cx="527391" cy="49671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5" name="hline-44"/>
          <p:cNvSpPr/>
          <p:nvPr/>
        </p:nvSpPr>
        <p:spPr>
          <a:xfrm>
            <a:off x="10634249" y="5035405"/>
            <a:ext cx="381904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46" name="txt-45"/>
          <p:cNvSpPr txBox="1"/>
          <p:nvPr/>
        </p:nvSpPr>
        <p:spPr>
          <a:xfrm>
            <a:off x="10787552" y="4779373"/>
            <a:ext cx="984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30,10%</a:t>
            </a:r>
            <a:endParaRPr lang="en-US" sz="1100" dirty="0"/>
          </a:p>
        </p:txBody>
      </p:sp>
      <p:sp>
        <p:nvSpPr>
          <p:cNvPr id="47" name="txt-46"/>
          <p:cNvSpPr txBox="1"/>
          <p:nvPr/>
        </p:nvSpPr>
        <p:spPr>
          <a:xfrm>
            <a:off x="10825201" y="5568696"/>
            <a:ext cx="90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2025</a:t>
            </a:r>
            <a:endParaRPr lang="en-US" sz="900" dirty="0"/>
          </a:p>
        </p:txBody>
      </p:sp>
      <p:sp>
        <p:nvSpPr>
          <p:cNvPr id="48" name="hline-47"/>
          <p:cNvSpPr/>
          <p:nvPr/>
        </p:nvSpPr>
        <p:spPr>
          <a:xfrm>
            <a:off x="6278728" y="5532120"/>
            <a:ext cx="545576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9" name="txt-48"/>
          <p:cNvSpPr txBox="1"/>
          <p:nvPr/>
        </p:nvSpPr>
        <p:spPr>
          <a:xfrm>
            <a:off x="6278728" y="41788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chemeClr val="accent4"/>
                </a:solidFill>
              </a:rPr>
              <a:t>Margem bruta consolidada (%), eixo truncado em 28,8%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 distribuidor agrega, o instalador escolhe a marca e a Intelbras financia o canal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arquitetura de canais converte hardware importado em disponibilidade local e especificação, mas exige prazo e descontos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 WHAT?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canal garante volume e repasse de preço, mas é pago com desconto, proteção de preço e ~100 dias de prazo: o custo aparece no capital de giro.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Fonte: FRE 2026 itens 1.1 (p.1), 1.2 (p.3, p.7), 1.4.b (p.22–23), 1.5 (p.32); BTG CEO Conference 2021 s.9 (mix 2020); planilha interativa 2T26 (DSO LTM 2T26 = 103 dias). Estimativa própria: compra média = receita 2025 × 68% ÷ 90 mil ÷ 12.</a:t>
            </a:r>
            <a:endParaRPr lang="en-US" sz="900" dirty="0"/>
          </a:p>
        </p:txBody>
      </p:sp>
      <p:sp>
        <p:nvSpPr>
          <p:cNvPr id="7" name="txt-49"/>
          <p:cNvSpPr txBox="1"/>
          <p:nvPr/>
        </p:nvSpPr>
        <p:spPr>
          <a:xfrm>
            <a:off x="457200" y="171907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68% das vendas chegam ao usuário por ~500 pontos e 90 mil instaladores</a:t>
            </a:r>
            <a:endParaRPr lang="en-US" sz="1300" dirty="0"/>
          </a:p>
        </p:txBody>
      </p:sp>
      <p:sp>
        <p:nvSpPr>
          <p:cNvPr id="8" name="rect-50"/>
          <p:cNvSpPr/>
          <p:nvPr/>
        </p:nvSpPr>
        <p:spPr>
          <a:xfrm>
            <a:off x="457200" y="2286000"/>
            <a:ext cx="1325880" cy="3154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xt-51"/>
          <p:cNvSpPr txBox="1"/>
          <p:nvPr/>
        </p:nvSpPr>
        <p:spPr>
          <a:xfrm>
            <a:off x="548640" y="2286000"/>
            <a:ext cx="11430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Intelbras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4 fábricas + Ásia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marca, estoque, crédito</a:t>
            </a:r>
            <a:endParaRPr lang="en-US" sz="1100" dirty="0"/>
          </a:p>
        </p:txBody>
      </p:sp>
      <p:sp>
        <p:nvSpPr>
          <p:cNvPr id="10" name="rect-52"/>
          <p:cNvSpPr/>
          <p:nvPr/>
        </p:nvSpPr>
        <p:spPr>
          <a:xfrm>
            <a:off x="2194560" y="2286000"/>
            <a:ext cx="1783080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xt-53"/>
          <p:cNvSpPr txBox="1"/>
          <p:nvPr/>
        </p:nvSpPr>
        <p:spPr>
          <a:xfrm>
            <a:off x="2304288" y="228600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16%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Varejo</a:t>
            </a:r>
            <a:endParaRPr lang="en-US" sz="1100" dirty="0"/>
          </a:p>
        </p:txBody>
      </p:sp>
      <p:sp>
        <p:nvSpPr>
          <p:cNvPr id="12" name="rect-54"/>
          <p:cNvSpPr/>
          <p:nvPr/>
        </p:nvSpPr>
        <p:spPr>
          <a:xfrm>
            <a:off x="2194560" y="3291840"/>
            <a:ext cx="1783080" cy="1143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xt-55"/>
          <p:cNvSpPr txBox="1"/>
          <p:nvPr/>
        </p:nvSpPr>
        <p:spPr>
          <a:xfrm>
            <a:off x="2304288" y="3291840"/>
            <a:ext cx="15636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68%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~500 pontos de distribuição</a:t>
            </a:r>
            <a:endParaRPr lang="en-US" sz="1100" dirty="0"/>
          </a:p>
        </p:txBody>
      </p:sp>
      <p:sp>
        <p:nvSpPr>
          <p:cNvPr id="14" name="rect-56"/>
          <p:cNvSpPr/>
          <p:nvPr/>
        </p:nvSpPr>
        <p:spPr>
          <a:xfrm>
            <a:off x="2194560" y="4663440"/>
            <a:ext cx="1783080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xt-57"/>
          <p:cNvSpPr txBox="1"/>
          <p:nvPr/>
        </p:nvSpPr>
        <p:spPr>
          <a:xfrm>
            <a:off x="2304288" y="466344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16%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Integradores e contas nomeadas</a:t>
            </a:r>
            <a:endParaRPr lang="en-US" sz="1100" dirty="0"/>
          </a:p>
        </p:txBody>
      </p:sp>
      <p:sp>
        <p:nvSpPr>
          <p:cNvPr id="16" name="rect-58"/>
          <p:cNvSpPr/>
          <p:nvPr/>
        </p:nvSpPr>
        <p:spPr>
          <a:xfrm>
            <a:off x="4389120" y="3291840"/>
            <a:ext cx="1463040" cy="1143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xt-59"/>
          <p:cNvSpPr txBox="1"/>
          <p:nvPr/>
        </p:nvSpPr>
        <p:spPr>
          <a:xfrm>
            <a:off x="4498848" y="3291840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90 mil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instaladores escolhem a marca</a:t>
            </a:r>
            <a:endParaRPr lang="en-US" sz="1100" dirty="0"/>
          </a:p>
        </p:txBody>
      </p:sp>
      <p:sp>
        <p:nvSpPr>
          <p:cNvPr id="18" name="usr-60"/>
          <p:cNvSpPr/>
          <p:nvPr/>
        </p:nvSpPr>
        <p:spPr>
          <a:xfrm>
            <a:off x="6217920" y="2286000"/>
            <a:ext cx="132588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xt-61"/>
          <p:cNvSpPr txBox="1"/>
          <p:nvPr/>
        </p:nvSpPr>
        <p:spPr>
          <a:xfrm>
            <a:off x="6309360" y="228600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Consumidor</a:t>
            </a:r>
            <a:endParaRPr lang="en-US" sz="1000" dirty="0"/>
          </a:p>
        </p:txBody>
      </p:sp>
      <p:sp>
        <p:nvSpPr>
          <p:cNvPr id="20" name="usr-62"/>
          <p:cNvSpPr/>
          <p:nvPr/>
        </p:nvSpPr>
        <p:spPr>
          <a:xfrm>
            <a:off x="6217920" y="3291840"/>
            <a:ext cx="132588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xt-63"/>
          <p:cNvSpPr txBox="1"/>
          <p:nvPr/>
        </p:nvSpPr>
        <p:spPr>
          <a:xfrm>
            <a:off x="6309360" y="3291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Residências, condomínios, PMEs</a:t>
            </a:r>
            <a:endParaRPr lang="en-US" sz="1000" dirty="0"/>
          </a:p>
        </p:txBody>
      </p:sp>
      <p:sp>
        <p:nvSpPr>
          <p:cNvPr id="22" name="usr-64"/>
          <p:cNvSpPr/>
          <p:nvPr/>
        </p:nvSpPr>
        <p:spPr>
          <a:xfrm>
            <a:off x="6217920" y="4663440"/>
            <a:ext cx="132588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xt-65"/>
          <p:cNvSpPr txBox="1"/>
          <p:nvPr/>
        </p:nvSpPr>
        <p:spPr>
          <a:xfrm>
            <a:off x="6309360" y="466344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Empresas, governo, provedores</a:t>
            </a:r>
            <a:endParaRPr lang="en-US" sz="1000" dirty="0"/>
          </a:p>
        </p:txBody>
      </p:sp>
      <p:sp>
        <p:nvSpPr>
          <p:cNvPr id="24" name="arrow-66"/>
          <p:cNvSpPr/>
          <p:nvPr/>
        </p:nvSpPr>
        <p:spPr>
          <a:xfrm flipV="1">
            <a:off x="1783080" y="2674620"/>
            <a:ext cx="411480" cy="118872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arrow-67"/>
          <p:cNvSpPr/>
          <p:nvPr/>
        </p:nvSpPr>
        <p:spPr>
          <a:xfrm>
            <a:off x="1783080" y="3863340"/>
            <a:ext cx="411480" cy="91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arrow-68"/>
          <p:cNvSpPr/>
          <p:nvPr/>
        </p:nvSpPr>
        <p:spPr>
          <a:xfrm>
            <a:off x="1783080" y="3863340"/>
            <a:ext cx="411480" cy="118872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arrow-69"/>
          <p:cNvSpPr/>
          <p:nvPr/>
        </p:nvSpPr>
        <p:spPr>
          <a:xfrm>
            <a:off x="3977640" y="3863340"/>
            <a:ext cx="41148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arrow-70"/>
          <p:cNvSpPr/>
          <p:nvPr/>
        </p:nvSpPr>
        <p:spPr>
          <a:xfrm>
            <a:off x="5852160" y="3863340"/>
            <a:ext cx="3657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arrow-71"/>
          <p:cNvSpPr/>
          <p:nvPr/>
        </p:nvSpPr>
        <p:spPr>
          <a:xfrm>
            <a:off x="3977640" y="2674620"/>
            <a:ext cx="2240280" cy="91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arrow-72"/>
          <p:cNvSpPr/>
          <p:nvPr/>
        </p:nvSpPr>
        <p:spPr>
          <a:xfrm>
            <a:off x="3977640" y="5052060"/>
            <a:ext cx="2240280" cy="91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1" name="txt-73"/>
          <p:cNvSpPr txBox="1"/>
          <p:nvPr/>
        </p:nvSpPr>
        <p:spPr>
          <a:xfrm>
            <a:off x="2194560" y="44622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~100 dias de prazo ao distribuidor</a:t>
            </a:r>
            <a:endParaRPr lang="en-US" sz="900" dirty="0"/>
          </a:p>
        </p:txBody>
      </p:sp>
      <p:sp>
        <p:nvSpPr>
          <p:cNvPr id="32" name="txt-74"/>
          <p:cNvSpPr txBox="1"/>
          <p:nvPr/>
        </p:nvSpPr>
        <p:spPr>
          <a:xfrm>
            <a:off x="4389120" y="4462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compra média ~R$2,8 mil/mês (est.)</a:t>
            </a:r>
            <a:endParaRPr lang="en-US" sz="900" dirty="0"/>
          </a:p>
        </p:txBody>
      </p:sp>
      <p:sp>
        <p:nvSpPr>
          <p:cNvPr id="33" name="txt-75"/>
          <p:cNvSpPr txBox="1"/>
          <p:nvPr/>
        </p:nvSpPr>
        <p:spPr>
          <a:xfrm>
            <a:off x="4069080" y="48051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multimarca por definição</a:t>
            </a:r>
            <a:endParaRPr lang="en-US" sz="900" dirty="0"/>
          </a:p>
        </p:txBody>
      </p:sp>
      <p:sp>
        <p:nvSpPr>
          <p:cNvPr id="34" name="txt-76"/>
          <p:cNvSpPr txBox="1"/>
          <p:nvPr/>
        </p:nvSpPr>
        <p:spPr>
          <a:xfrm>
            <a:off x="7909560" y="1719072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 distribuição perde peso para rotas que comparam preço</a:t>
            </a:r>
            <a:endParaRPr lang="en-US" sz="1300" dirty="0"/>
          </a:p>
        </p:txBody>
      </p:sp>
      <p:graphicFrame>
        <p:nvGraphicFramePr>
          <p:cNvPr id="35" name="mix-canal" descr=""/>
          <p:cNvGraphicFramePr/>
          <p:nvPr/>
        </p:nvGraphicFramePr>
        <p:xfrm>
          <a:off x="7909560" y="2176272"/>
          <a:ext cx="3824935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xt-77"/>
          <p:cNvSpPr txBox="1"/>
          <p:nvPr/>
        </p:nvSpPr>
        <p:spPr>
          <a:xfrm>
            <a:off x="7909560" y="3520440"/>
            <a:ext cx="3824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−9 p.p. na distribuição desde 2020</a:t>
            </a:r>
            <a:endParaRPr lang="en-US" sz="1000" dirty="0"/>
          </a:p>
        </p:txBody>
      </p:sp>
      <p:sp>
        <p:nvSpPr>
          <p:cNvPr id="37" name="txt-78"/>
          <p:cNvSpPr txBox="1"/>
          <p:nvPr/>
        </p:nvSpPr>
        <p:spPr>
          <a:xfrm>
            <a:off x="7909560" y="3840480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 Intelbras compra exclusividade e dados com desconto</a:t>
            </a:r>
            <a:endParaRPr lang="en-US" sz="1300" dirty="0"/>
          </a:p>
        </p:txBody>
      </p:sp>
      <p:sp>
        <p:nvSpPr>
          <p:cNvPr id="38" name="txt-79"/>
          <p:cNvSpPr txBox="1"/>
          <p:nvPr/>
        </p:nvSpPr>
        <p:spPr>
          <a:xfrm>
            <a:off x="7909560" y="4206240"/>
            <a:ext cx="1821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~95%</a:t>
            </a:r>
            <a:endParaRPr lang="en-US" sz="2200" dirty="0"/>
          </a:p>
        </p:txBody>
      </p:sp>
      <p:sp>
        <p:nvSpPr>
          <p:cNvPr id="39" name="txt-80"/>
          <p:cNvSpPr txBox="1"/>
          <p:nvPr/>
        </p:nvSpPr>
        <p:spPr>
          <a:xfrm>
            <a:off x="7909560" y="4599432"/>
            <a:ext cx="18210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dos distribuidores com exclusividade voluntária</a:t>
            </a:r>
            <a:endParaRPr lang="en-US" sz="1000" dirty="0"/>
          </a:p>
        </p:txBody>
      </p:sp>
      <p:sp>
        <p:nvSpPr>
          <p:cNvPr id="40" name="txt-81"/>
          <p:cNvSpPr txBox="1"/>
          <p:nvPr/>
        </p:nvSpPr>
        <p:spPr>
          <a:xfrm>
            <a:off x="9913468" y="4206240"/>
            <a:ext cx="1821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2–9%</a:t>
            </a:r>
            <a:endParaRPr lang="en-US" sz="2200" dirty="0"/>
          </a:p>
        </p:txBody>
      </p:sp>
      <p:sp>
        <p:nvSpPr>
          <p:cNvPr id="41" name="txt-82"/>
          <p:cNvSpPr txBox="1"/>
          <p:nvPr/>
        </p:nvSpPr>
        <p:spPr>
          <a:xfrm>
            <a:off x="9913468" y="4599432"/>
            <a:ext cx="1821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 desconto + proteção de preço em troca</a:t>
            </a:r>
            <a:endParaRPr lang="en-US" sz="1000" dirty="0"/>
          </a:p>
        </p:txBody>
      </p:sp>
      <p:sp>
        <p:nvSpPr>
          <p:cNvPr id="42" name="txt-83"/>
          <p:cNvSpPr txBox="1"/>
          <p:nvPr/>
        </p:nvSpPr>
        <p:spPr>
          <a:xfrm>
            <a:off x="7909560" y="5029200"/>
            <a:ext cx="1821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370 mil</a:t>
            </a:r>
            <a:endParaRPr lang="en-US" sz="2200" dirty="0"/>
          </a:p>
        </p:txBody>
      </p:sp>
      <p:sp>
        <p:nvSpPr>
          <p:cNvPr id="43" name="txt-84"/>
          <p:cNvSpPr txBox="1"/>
          <p:nvPr/>
        </p:nvSpPr>
        <p:spPr>
          <a:xfrm>
            <a:off x="7909560" y="5422392"/>
            <a:ext cx="1821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qualificações de canal em 2025</a:t>
            </a:r>
            <a:endParaRPr lang="en-US" sz="1000" dirty="0"/>
          </a:p>
        </p:txBody>
      </p:sp>
      <p:sp>
        <p:nvSpPr>
          <p:cNvPr id="44" name="txt-85"/>
          <p:cNvSpPr txBox="1"/>
          <p:nvPr/>
        </p:nvSpPr>
        <p:spPr>
          <a:xfrm>
            <a:off x="9913468" y="5029200"/>
            <a:ext cx="1821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</a:t>
            </a:r>
            <a:endParaRPr lang="en-US" sz="2200" dirty="0"/>
          </a:p>
        </p:txBody>
      </p:sp>
      <p:sp>
        <p:nvSpPr>
          <p:cNvPr id="45" name="txt-86"/>
          <p:cNvSpPr txBox="1"/>
          <p:nvPr/>
        </p:nvSpPr>
        <p:spPr>
          <a:xfrm>
            <a:off x="9913468" y="5422392"/>
            <a:ext cx="1821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clientes com mais de 10% da receita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vantagem é de canal, tempo e regime fiscal, não de tecnologia própria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Um concorrente iguala o produto rápido; replicar a base de instaladores e a prateleira exclusiva exige anos e dinheiro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 WHAT?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barreira protege share e margem bruta em Segurança, mas não impede a erosão de preço: é vantagem de distribuição e regulatória, não tecnológica.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Fonte: FRE 2026 itens 1.1 (p.1), 1.2 (p.7, p.10–11), 1.4 (p.22–24), 1.4.e (p.31), 2.11 (p.86), 4.1 (p.97); planilha interativa 2T26 (IR/CS efetivo). Market share pela metodologia MIDI da própria companhia (dados de importação, não independentes).</a:t>
            </a:r>
            <a:endParaRPr lang="en-US" sz="900" dirty="0"/>
          </a:p>
        </p:txBody>
      </p:sp>
      <p:sp>
        <p:nvSpPr>
          <p:cNvPr id="7" name="txt-87"/>
          <p:cNvSpPr txBox="1"/>
          <p:nvPr/>
        </p:nvSpPr>
        <p:spPr>
          <a:xfrm>
            <a:off x="457200" y="17190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4"/>
                </a:solidFill>
              </a:rPr>
              <a:t>FONTE</a:t>
            </a:r>
            <a:endParaRPr lang="en-US" sz="900" dirty="0"/>
          </a:p>
        </p:txBody>
      </p:sp>
      <p:sp>
        <p:nvSpPr>
          <p:cNvPr id="8" name="txt-88"/>
          <p:cNvSpPr txBox="1"/>
          <p:nvPr/>
        </p:nvSpPr>
        <p:spPr>
          <a:xfrm>
            <a:off x="2743200" y="17190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4"/>
                </a:solidFill>
              </a:rPr>
              <a:t>EVIDÊNCIA</a:t>
            </a:r>
            <a:endParaRPr lang="en-US" sz="900" dirty="0"/>
          </a:p>
        </p:txBody>
      </p:sp>
      <p:sp>
        <p:nvSpPr>
          <p:cNvPr id="9" name="txt-89"/>
          <p:cNvSpPr txBox="1"/>
          <p:nvPr/>
        </p:nvSpPr>
        <p:spPr>
          <a:xfrm>
            <a:off x="4846320" y="171907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4"/>
                </a:solidFill>
              </a:rPr>
              <a:t>MECANISMO</a:t>
            </a:r>
            <a:endParaRPr lang="en-US" sz="900" dirty="0"/>
          </a:p>
        </p:txBody>
      </p:sp>
      <p:sp>
        <p:nvSpPr>
          <p:cNvPr id="10" name="txt-90"/>
          <p:cNvSpPr txBox="1"/>
          <p:nvPr/>
        </p:nvSpPr>
        <p:spPr>
          <a:xfrm>
            <a:off x="8046720" y="17190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4"/>
                </a:solidFill>
              </a:rPr>
              <a:t>RESULTADO OBSERVÁVEL</a:t>
            </a:r>
            <a:endParaRPr lang="en-US" sz="900" dirty="0"/>
          </a:p>
        </p:txBody>
      </p:sp>
      <p:sp>
        <p:nvSpPr>
          <p:cNvPr id="11" name="txt-91"/>
          <p:cNvSpPr txBox="1"/>
          <p:nvPr/>
        </p:nvSpPr>
        <p:spPr>
          <a:xfrm>
            <a:off x="10424160" y="1719072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4"/>
                </a:solidFill>
              </a:rPr>
              <a:t>NATUREZA</a:t>
            </a:r>
            <a:endParaRPr lang="en-US" sz="900" dirty="0"/>
          </a:p>
        </p:txBody>
      </p:sp>
      <p:sp>
        <p:nvSpPr>
          <p:cNvPr id="12" name="hline-92"/>
          <p:cNvSpPr/>
          <p:nvPr/>
        </p:nvSpPr>
        <p:spPr>
          <a:xfrm>
            <a:off x="457200" y="1975104"/>
            <a:ext cx="11277295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13" name="txt-93"/>
          <p:cNvSpPr txBox="1"/>
          <p:nvPr/>
        </p:nvSpPr>
        <p:spPr>
          <a:xfrm>
            <a:off x="457200" y="2011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Instaladores treinados</a:t>
            </a:r>
            <a:endParaRPr lang="en-US" sz="1300" dirty="0"/>
          </a:p>
        </p:txBody>
      </p:sp>
      <p:sp>
        <p:nvSpPr>
          <p:cNvPr id="14" name="txt-94"/>
          <p:cNvSpPr txBox="1"/>
          <p:nvPr/>
        </p:nvSpPr>
        <p:spPr>
          <a:xfrm>
            <a:off x="2743200" y="2029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90 mil</a:t>
            </a:r>
            <a:endParaRPr lang="en-US" sz="2000" dirty="0"/>
          </a:p>
        </p:txBody>
      </p:sp>
      <p:sp>
        <p:nvSpPr>
          <p:cNvPr id="15" name="txt-95"/>
          <p:cNvSpPr txBox="1"/>
          <p:nvPr/>
        </p:nvSpPr>
        <p:spPr>
          <a:xfrm>
            <a:off x="2743200" y="23957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instaladores ativos; 370 mil qualificações/ano</a:t>
            </a:r>
            <a:endParaRPr lang="en-US" sz="900" dirty="0"/>
          </a:p>
        </p:txBody>
      </p:sp>
      <p:sp>
        <p:nvSpPr>
          <p:cNvPr id="16" name="txt-96"/>
          <p:cNvSpPr txBox="1"/>
          <p:nvPr/>
        </p:nvSpPr>
        <p:spPr>
          <a:xfrm>
            <a:off x="4846320" y="2011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Reaprender outra marca tem custo; o instalador especifica o que conhece</a:t>
            </a:r>
            <a:endParaRPr lang="en-US" sz="1100" dirty="0"/>
          </a:p>
        </p:txBody>
      </p:sp>
      <p:sp>
        <p:nvSpPr>
          <p:cNvPr id="17" name="txt-97"/>
          <p:cNvSpPr txBox="1"/>
          <p:nvPr/>
        </p:nvSpPr>
        <p:spPr>
          <a:xfrm>
            <a:off x="804672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Share em Segurança estável: 43% → 44%</a:t>
            </a:r>
            <a:endParaRPr lang="en-US" sz="1100" dirty="0"/>
          </a:p>
        </p:txBody>
      </p:sp>
      <p:sp>
        <p:nvSpPr>
          <p:cNvPr id="18" name="tag-98"/>
          <p:cNvSpPr txBox="1"/>
          <p:nvPr/>
        </p:nvSpPr>
        <p:spPr>
          <a:xfrm>
            <a:off x="10424160" y="2148840"/>
            <a:ext cx="1307592" cy="420624"/>
          </a:xfrm>
          <a:prstGeom prst="roundRect">
            <a:avLst>
              <a:gd name="adj" fmla="val 26087"/>
            </a:avLst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Estrutural</a:t>
            </a:r>
            <a:endParaRPr lang="en-US" sz="900" dirty="0"/>
          </a:p>
        </p:txBody>
      </p:sp>
      <p:sp>
        <p:nvSpPr>
          <p:cNvPr id="19" name="hline-99"/>
          <p:cNvSpPr/>
          <p:nvPr/>
        </p:nvSpPr>
        <p:spPr>
          <a:xfrm>
            <a:off x="457200" y="2706624"/>
            <a:ext cx="11277295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20" name="txt-100"/>
          <p:cNvSpPr txBox="1"/>
          <p:nvPr/>
        </p:nvSpPr>
        <p:spPr>
          <a:xfrm>
            <a:off x="45720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Prateleira exclusiva</a:t>
            </a:r>
            <a:endParaRPr lang="en-US" sz="1300" dirty="0"/>
          </a:p>
        </p:txBody>
      </p:sp>
      <p:sp>
        <p:nvSpPr>
          <p:cNvPr id="21" name="txt-101"/>
          <p:cNvSpPr txBox="1"/>
          <p:nvPr/>
        </p:nvSpPr>
        <p:spPr>
          <a:xfrm>
            <a:off x="2743200" y="2761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~95%</a:t>
            </a:r>
            <a:endParaRPr lang="en-US" sz="2000" dirty="0"/>
          </a:p>
        </p:txBody>
      </p:sp>
      <p:sp>
        <p:nvSpPr>
          <p:cNvPr id="22" name="txt-102"/>
          <p:cNvSpPr txBox="1"/>
          <p:nvPr/>
        </p:nvSpPr>
        <p:spPr>
          <a:xfrm>
            <a:off x="2743200" y="31272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dos distribuidores no programa Mais Verde</a:t>
            </a:r>
            <a:endParaRPr lang="en-US" sz="900" dirty="0"/>
          </a:p>
        </p:txBody>
      </p:sp>
      <p:sp>
        <p:nvSpPr>
          <p:cNvPr id="23" name="txt-103"/>
          <p:cNvSpPr txBox="1"/>
          <p:nvPr/>
        </p:nvSpPr>
        <p:spPr>
          <a:xfrm>
            <a:off x="4846320" y="2743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 entrante precisa superar 2–9% de desconto, prioridade e proteção de preço</a:t>
            </a:r>
            <a:endParaRPr lang="en-US" sz="1100" dirty="0"/>
          </a:p>
        </p:txBody>
      </p:sp>
      <p:sp>
        <p:nvSpPr>
          <p:cNvPr id="24" name="txt-104"/>
          <p:cNvSpPr txBox="1"/>
          <p:nvPr/>
        </p:nvSpPr>
        <p:spPr>
          <a:xfrm>
            <a:off x="8046720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Canal concentrado na Intelbras; 0 cliente acima de 10%</a:t>
            </a:r>
            <a:endParaRPr lang="en-US" sz="1100" dirty="0"/>
          </a:p>
        </p:txBody>
      </p:sp>
      <p:sp>
        <p:nvSpPr>
          <p:cNvPr id="25" name="tag-105"/>
          <p:cNvSpPr txBox="1"/>
          <p:nvPr/>
        </p:nvSpPr>
        <p:spPr>
          <a:xfrm>
            <a:off x="10424160" y="2880360"/>
            <a:ext cx="1307592" cy="420624"/>
          </a:xfrm>
          <a:prstGeom prst="roundRect">
            <a:avLst>
              <a:gd name="adj" fmla="val 26087"/>
            </a:avLst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Estrutural, enquanto pagar mais</a:t>
            </a:r>
            <a:endParaRPr lang="en-US" sz="900" dirty="0"/>
          </a:p>
        </p:txBody>
      </p:sp>
      <p:sp>
        <p:nvSpPr>
          <p:cNvPr id="26" name="hline-106"/>
          <p:cNvSpPr/>
          <p:nvPr/>
        </p:nvSpPr>
        <p:spPr>
          <a:xfrm>
            <a:off x="457200" y="3438144"/>
            <a:ext cx="11277295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27" name="txt-107"/>
          <p:cNvSpPr txBox="1"/>
          <p:nvPr/>
        </p:nvSpPr>
        <p:spPr>
          <a:xfrm>
            <a:off x="457200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Marca e suporte</a:t>
            </a:r>
            <a:endParaRPr lang="en-US" sz="1300" dirty="0"/>
          </a:p>
        </p:txBody>
      </p:sp>
      <p:sp>
        <p:nvSpPr>
          <p:cNvPr id="28" name="txt-108"/>
          <p:cNvSpPr txBox="1"/>
          <p:nvPr/>
        </p:nvSpPr>
        <p:spPr>
          <a:xfrm>
            <a:off x="2743200" y="34930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71%</a:t>
            </a:r>
            <a:endParaRPr lang="en-US" sz="2000" dirty="0"/>
          </a:p>
        </p:txBody>
      </p:sp>
      <p:sp>
        <p:nvSpPr>
          <p:cNvPr id="29" name="txt-109"/>
          <p:cNvSpPr txBox="1"/>
          <p:nvPr/>
        </p:nvSpPr>
        <p:spPr>
          <a:xfrm>
            <a:off x="2743200" y="38587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dos brasileiros reconhecem a marca; NPS 71%</a:t>
            </a:r>
            <a:endParaRPr lang="en-US" sz="900" dirty="0"/>
          </a:p>
        </p:txBody>
      </p:sp>
      <p:sp>
        <p:nvSpPr>
          <p:cNvPr id="30" name="txt-110"/>
          <p:cNvSpPr txBox="1"/>
          <p:nvPr/>
        </p:nvSpPr>
        <p:spPr>
          <a:xfrm>
            <a:off x="4846320" y="3474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Reduz o esforço de venda e o risco percebido; leads repassados ao canal</a:t>
            </a:r>
            <a:endParaRPr lang="en-US" sz="1100" dirty="0"/>
          </a:p>
        </p:txBody>
      </p:sp>
      <p:sp>
        <p:nvSpPr>
          <p:cNvPr id="31" name="txt-111"/>
          <p:cNvSpPr txBox="1"/>
          <p:nvPr/>
        </p:nvSpPr>
        <p:spPr>
          <a:xfrm>
            <a:off x="8046720" y="3474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Varejo: 13% → 16% das vendas</a:t>
            </a:r>
            <a:endParaRPr lang="en-US" sz="1100" dirty="0"/>
          </a:p>
        </p:txBody>
      </p:sp>
      <p:sp>
        <p:nvSpPr>
          <p:cNvPr id="32" name="tag-112"/>
          <p:cNvSpPr txBox="1"/>
          <p:nvPr/>
        </p:nvSpPr>
        <p:spPr>
          <a:xfrm>
            <a:off x="10424160" y="3611880"/>
            <a:ext cx="1307592" cy="420624"/>
          </a:xfrm>
          <a:prstGeom prst="roundRect">
            <a:avLst>
              <a:gd name="adj" fmla="val 26087"/>
            </a:avLst>
          </a:prstGeom>
          <a:solidFill>
            <a:schemeClr val="accent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Parcial</a:t>
            </a:r>
            <a:endParaRPr lang="en-US" sz="900" dirty="0"/>
          </a:p>
        </p:txBody>
      </p:sp>
      <p:sp>
        <p:nvSpPr>
          <p:cNvPr id="33" name="hline-113"/>
          <p:cNvSpPr/>
          <p:nvPr/>
        </p:nvSpPr>
        <p:spPr>
          <a:xfrm>
            <a:off x="457200" y="4169664"/>
            <a:ext cx="11277295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34" name="txt-114"/>
          <p:cNvSpPr txBox="1"/>
          <p:nvPr/>
        </p:nvSpPr>
        <p:spPr>
          <a:xfrm>
            <a:off x="457200" y="4206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IV.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Regime fiscal</a:t>
            </a:r>
            <a:endParaRPr lang="en-US" sz="1300" dirty="0"/>
          </a:p>
        </p:txBody>
      </p:sp>
      <p:sp>
        <p:nvSpPr>
          <p:cNvPr id="35" name="txt-115"/>
          <p:cNvSpPr txBox="1"/>
          <p:nvPr/>
        </p:nvSpPr>
        <p:spPr>
          <a:xfrm>
            <a:off x="2743200" y="4224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93,9%</a:t>
            </a:r>
            <a:endParaRPr lang="en-US" sz="2000" dirty="0"/>
          </a:p>
        </p:txBody>
      </p:sp>
      <p:sp>
        <p:nvSpPr>
          <p:cNvPr id="36" name="txt-116"/>
          <p:cNvSpPr txBox="1"/>
          <p:nvPr/>
        </p:nvSpPr>
        <p:spPr>
          <a:xfrm>
            <a:off x="2743200" y="45902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do lucro líquido equivale a incentivos</a:t>
            </a:r>
            <a:endParaRPr lang="en-US" sz="900" dirty="0"/>
          </a:p>
        </p:txBody>
      </p:sp>
      <p:sp>
        <p:nvSpPr>
          <p:cNvPr id="37" name="txt-117"/>
          <p:cNvSpPr txBox="1"/>
          <p:nvPr/>
        </p:nvSpPr>
        <p:spPr>
          <a:xfrm>
            <a:off x="4846320" y="4206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Produzir sob PPB/ZFM reduz a carga frente ao importador</a:t>
            </a:r>
            <a:endParaRPr lang="en-US" sz="1100" dirty="0"/>
          </a:p>
        </p:txBody>
      </p:sp>
      <p:sp>
        <p:nvSpPr>
          <p:cNvPr id="38" name="txt-118"/>
          <p:cNvSpPr txBox="1"/>
          <p:nvPr/>
        </p:nvSpPr>
        <p:spPr>
          <a:xfrm>
            <a:off x="8046720" y="4206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IR/CS efetivo perto de 0% (2019–25)</a:t>
            </a:r>
            <a:endParaRPr lang="en-US" sz="1100" dirty="0"/>
          </a:p>
        </p:txBody>
      </p:sp>
      <p:sp>
        <p:nvSpPr>
          <p:cNvPr id="39" name="tag-119"/>
          <p:cNvSpPr txBox="1"/>
          <p:nvPr/>
        </p:nvSpPr>
        <p:spPr>
          <a:xfrm>
            <a:off x="10424160" y="4343400"/>
            <a:ext cx="1307592" cy="420624"/>
          </a:xfrm>
          <a:prstGeom prst="roundRect">
            <a:avLst>
              <a:gd name="adj" fmla="val 26087"/>
            </a:avLst>
          </a:prstGeom>
          <a:solidFill>
            <a:schemeClr val="accent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Regulatória: vence 2029–33</a:t>
            </a:r>
            <a:endParaRPr lang="en-US" sz="900" dirty="0"/>
          </a:p>
        </p:txBody>
      </p:sp>
      <p:sp>
        <p:nvSpPr>
          <p:cNvPr id="40" name="hline-120"/>
          <p:cNvSpPr/>
          <p:nvPr/>
        </p:nvSpPr>
        <p:spPr>
          <a:xfrm>
            <a:off x="457200" y="4901184"/>
            <a:ext cx="11277295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41" name="txt-121"/>
          <p:cNvSpPr txBox="1"/>
          <p:nvPr/>
        </p:nvSpPr>
        <p:spPr>
          <a:xfrm>
            <a:off x="457200" y="5010912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Limites:  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integradores trabalham com várias marcas (16% das vendas) · revendas podem migrar para concorrentes (FRE 4.1) · câmeras plug &amp; play dispensam o instalador · a tecnologia vem do parceiro (Dahua = 36% das compras)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Dahua sustenta a tecnologia do CFTV e concentra o maior risco contratual, com vencimento em 2028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margem de Segurança, que gera 67,5% do lucro bruto, depende de um acordo renegociado todo ano e de um parceiro saindo do capital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 WHAT?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renovação do acordo em dez/2028 é o principal evento de risco para a margem de Segurança.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Fonte: FRE 2026 itens 1.1 (p.2), 1.2 (p.4, p.10), 1.4.e (p.31), 4.1 (p.104–105), 7.3 (p.183), 11.2 (p.257, p.259), 11.3 (p.259–260); 2021: research (Nord) citando FRE 2022; venda da participação: FilingReader, 15/08/2025; planilha 2T26 (fornecedores + risco sacado = R$1.049 mi). Histórico.</a:t>
            </a:r>
            <a:endParaRPr lang="en-US" sz="900" dirty="0"/>
          </a:p>
        </p:txBody>
      </p:sp>
      <p:sp>
        <p:nvSpPr>
          <p:cNvPr id="7" name="txt-122"/>
          <p:cNvSpPr txBox="1"/>
          <p:nvPr/>
        </p:nvSpPr>
        <p:spPr>
          <a:xfrm>
            <a:off x="457200" y="17190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Concentração em alta: 36% das compras</a:t>
            </a:r>
            <a:endParaRPr lang="en-US" sz="1300" dirty="0"/>
          </a:p>
        </p:txBody>
      </p:sp>
      <p:graphicFrame>
        <p:nvGraphicFramePr>
          <p:cNvPr id="8" name="dahua-conc" descr=""/>
          <p:cNvGraphicFramePr/>
          <p:nvPr/>
        </p:nvGraphicFramePr>
        <p:xfrm>
          <a:off x="457200" y="2103120"/>
          <a:ext cx="22860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xt-123"/>
          <p:cNvSpPr txBox="1"/>
          <p:nvPr/>
        </p:nvSpPr>
        <p:spPr>
          <a:xfrm>
            <a:off x="29260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R$524 mi</a:t>
            </a:r>
            <a:endParaRPr lang="en-US" sz="2400" dirty="0"/>
          </a:p>
        </p:txBody>
      </p:sp>
      <p:sp>
        <p:nvSpPr>
          <p:cNvPr id="10" name="txt-124"/>
          <p:cNvSpPr txBox="1"/>
          <p:nvPr/>
        </p:nvSpPr>
        <p:spPr>
          <a:xfrm>
            <a:off x="2926080" y="258775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 pagar à Dahua em dez/25 ≈ 50% de fornecedores + risco sacado: a Dahua também financia o capital de giro</a:t>
            </a:r>
            <a:endParaRPr lang="en-US" sz="1000" dirty="0"/>
          </a:p>
        </p:txBody>
      </p:sp>
      <p:sp>
        <p:nvSpPr>
          <p:cNvPr id="11" name="txt-125"/>
          <p:cNvSpPr txBox="1"/>
          <p:nvPr/>
        </p:nvSpPr>
        <p:spPr>
          <a:xfrm>
            <a:off x="457200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 acordo amarra os dois lados até dez/2028</a:t>
            </a:r>
            <a:endParaRPr lang="en-US" sz="1300" dirty="0"/>
          </a:p>
        </p:txBody>
      </p:sp>
      <p:sp>
        <p:nvSpPr>
          <p:cNvPr id="12" name="txt-126"/>
          <p:cNvSpPr txBox="1"/>
          <p:nvPr/>
        </p:nvSpPr>
        <p:spPr>
          <a:xfrm>
            <a:off x="457200" y="41879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Intelbras → Dahua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prioridade (o FRE também diz "exclusividade") na compra de câmeras e gravadores</a:t>
            </a:r>
            <a:endParaRPr lang="en-US" sz="1000" dirty="0"/>
          </a:p>
        </p:txBody>
      </p:sp>
      <p:sp>
        <p:nvSpPr>
          <p:cNvPr id="13" name="txt-127"/>
          <p:cNvSpPr txBox="1"/>
          <p:nvPr/>
        </p:nvSpPr>
        <p:spPr>
          <a:xfrm>
            <a:off x="2971800" y="41879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Dahua → Intelbras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exclusividade de comercialização dos produtos Dahua no Brasil (+6 meses)</a:t>
            </a:r>
            <a:endParaRPr lang="en-US" sz="1000" dirty="0"/>
          </a:p>
        </p:txBody>
      </p:sp>
      <p:sp>
        <p:nvSpPr>
          <p:cNvPr id="14" name="txt-128"/>
          <p:cNvSpPr txBox="1"/>
          <p:nvPr/>
        </p:nvSpPr>
        <p:spPr>
          <a:xfrm>
            <a:off x="457200" y="5029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≥5% 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preço acima do equivalente libera a Intelbras</a:t>
            </a:r>
            <a:endParaRPr lang="en-US" sz="1000" dirty="0"/>
          </a:p>
        </p:txBody>
      </p:sp>
      <p:sp>
        <p:nvSpPr>
          <p:cNvPr id="15" name="txt-129"/>
          <p:cNvSpPr txBox="1"/>
          <p:nvPr/>
        </p:nvSpPr>
        <p:spPr>
          <a:xfrm>
            <a:off x="2971800" y="5029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Anual 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renegociação de preços, prazos e metas</a:t>
            </a:r>
            <a:endParaRPr lang="en-US" sz="1000" dirty="0"/>
          </a:p>
        </p:txBody>
      </p:sp>
      <p:sp>
        <p:nvSpPr>
          <p:cNvPr id="16" name="vline-130"/>
          <p:cNvSpPr/>
          <p:nvPr/>
        </p:nvSpPr>
        <p:spPr>
          <a:xfrm>
            <a:off x="5440680" y="1783080"/>
            <a:ext cx="0" cy="388620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17" name="txt-131"/>
          <p:cNvSpPr txBox="1"/>
          <p:nvPr/>
        </p:nvSpPr>
        <p:spPr>
          <a:xfrm>
            <a:off x="5669280" y="1719072"/>
            <a:ext cx="6065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 dependência cresceu enquanto o alinhamento societário diminui</a:t>
            </a:r>
            <a:endParaRPr lang="en-US" sz="1300" dirty="0"/>
          </a:p>
        </p:txBody>
      </p:sp>
      <p:sp>
        <p:nvSpPr>
          <p:cNvPr id="18" name="hline-132"/>
          <p:cNvSpPr/>
          <p:nvPr/>
        </p:nvSpPr>
        <p:spPr>
          <a:xfrm>
            <a:off x="5760720" y="3429000"/>
            <a:ext cx="5882335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9" name="ev-133"/>
          <p:cNvSpPr/>
          <p:nvPr/>
        </p:nvSpPr>
        <p:spPr>
          <a:xfrm>
            <a:off x="6227064" y="334670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vline-134"/>
          <p:cNvSpPr/>
          <p:nvPr/>
        </p:nvSpPr>
        <p:spPr>
          <a:xfrm>
            <a:off x="6309360" y="2926080"/>
            <a:ext cx="0" cy="38404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1" name="txt-135"/>
          <p:cNvSpPr txBox="1"/>
          <p:nvPr/>
        </p:nvSpPr>
        <p:spPr>
          <a:xfrm>
            <a:off x="5742432" y="2240280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2007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Início da parceria comercial</a:t>
            </a:r>
            <a:endParaRPr lang="en-US" sz="900" dirty="0"/>
          </a:p>
        </p:txBody>
      </p:sp>
      <p:sp>
        <p:nvSpPr>
          <p:cNvPr id="22" name="ev-136"/>
          <p:cNvSpPr/>
          <p:nvPr/>
        </p:nvSpPr>
        <p:spPr>
          <a:xfrm>
            <a:off x="7184075" y="334670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3" name="vline-137"/>
          <p:cNvSpPr/>
          <p:nvPr/>
        </p:nvSpPr>
        <p:spPr>
          <a:xfrm>
            <a:off x="7266371" y="3547872"/>
            <a:ext cx="0" cy="38404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4" name="txt-138"/>
          <p:cNvSpPr txBox="1"/>
          <p:nvPr/>
        </p:nvSpPr>
        <p:spPr>
          <a:xfrm>
            <a:off x="6699443" y="3840480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Dez/2018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Acordo de cooperação de 10 anos</a:t>
            </a:r>
            <a:endParaRPr lang="en-US" sz="900" dirty="0"/>
          </a:p>
        </p:txBody>
      </p:sp>
      <p:sp>
        <p:nvSpPr>
          <p:cNvPr id="25" name="ev-139"/>
          <p:cNvSpPr/>
          <p:nvPr/>
        </p:nvSpPr>
        <p:spPr>
          <a:xfrm>
            <a:off x="8141086" y="334670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vline-140"/>
          <p:cNvSpPr/>
          <p:nvPr/>
        </p:nvSpPr>
        <p:spPr>
          <a:xfrm>
            <a:off x="8223382" y="2926080"/>
            <a:ext cx="0" cy="38404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7" name="txt-141"/>
          <p:cNvSpPr txBox="1"/>
          <p:nvPr/>
        </p:nvSpPr>
        <p:spPr>
          <a:xfrm>
            <a:off x="7656454" y="2240280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Nov/2019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Dahua compra 10% e indica conselheiro</a:t>
            </a:r>
            <a:endParaRPr lang="en-US" sz="900" dirty="0"/>
          </a:p>
        </p:txBody>
      </p:sp>
      <p:sp>
        <p:nvSpPr>
          <p:cNvPr id="28" name="ev-142"/>
          <p:cNvSpPr/>
          <p:nvPr/>
        </p:nvSpPr>
        <p:spPr>
          <a:xfrm>
            <a:off x="9098097" y="334670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9" name="vline-143"/>
          <p:cNvSpPr/>
          <p:nvPr/>
        </p:nvSpPr>
        <p:spPr>
          <a:xfrm>
            <a:off x="9180393" y="3547872"/>
            <a:ext cx="0" cy="38404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0" name="txt-144"/>
          <p:cNvSpPr txBox="1"/>
          <p:nvPr/>
        </p:nvSpPr>
        <p:spPr>
          <a:xfrm>
            <a:off x="8613465" y="3840480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Dez/2022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Revisão mantém os termos</a:t>
            </a:r>
            <a:endParaRPr lang="en-US" sz="900" dirty="0"/>
          </a:p>
        </p:txBody>
      </p:sp>
      <p:sp>
        <p:nvSpPr>
          <p:cNvPr id="31" name="ev-145"/>
          <p:cNvSpPr/>
          <p:nvPr/>
        </p:nvSpPr>
        <p:spPr>
          <a:xfrm>
            <a:off x="10055108" y="334670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2" name="vline-146"/>
          <p:cNvSpPr/>
          <p:nvPr/>
        </p:nvSpPr>
        <p:spPr>
          <a:xfrm>
            <a:off x="10137404" y="2926080"/>
            <a:ext cx="0" cy="38404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3" name="txt-147"/>
          <p:cNvSpPr txBox="1"/>
          <p:nvPr/>
        </p:nvSpPr>
        <p:spPr>
          <a:xfrm>
            <a:off x="9570476" y="2240280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Ago/2025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Com 7,56%, Dahua autoriza vender tudo em 36 meses</a:t>
            </a:r>
            <a:endParaRPr lang="en-US" sz="900" dirty="0"/>
          </a:p>
        </p:txBody>
      </p:sp>
      <p:sp>
        <p:nvSpPr>
          <p:cNvPr id="34" name="ev-148"/>
          <p:cNvSpPr/>
          <p:nvPr/>
        </p:nvSpPr>
        <p:spPr>
          <a:xfrm>
            <a:off x="10975543" y="3310128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5" name="vline-149"/>
          <p:cNvSpPr/>
          <p:nvPr/>
        </p:nvSpPr>
        <p:spPr>
          <a:xfrm>
            <a:off x="11094415" y="3547872"/>
            <a:ext cx="0" cy="38404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6" name="txt-150"/>
          <p:cNvSpPr txBox="1"/>
          <p:nvPr/>
        </p:nvSpPr>
        <p:spPr>
          <a:xfrm>
            <a:off x="10527487" y="3840480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Dez/2028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Vencimento do acordo (renovável)</a:t>
            </a:r>
            <a:endParaRPr lang="en-US" sz="900" dirty="0"/>
          </a:p>
        </p:txBody>
      </p:sp>
      <p:sp>
        <p:nvSpPr>
          <p:cNvPr id="37" name="txt-151"/>
          <p:cNvSpPr txBox="1"/>
          <p:nvPr/>
        </p:nvSpPr>
        <p:spPr>
          <a:xfrm>
            <a:off x="5669280" y="35021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chemeClr val="accent4"/>
                </a:solidFill>
              </a:rPr>
              <a:t>escala não proporcional</a:t>
            </a:r>
            <a:endParaRPr lang="en-US" sz="800" dirty="0"/>
          </a:p>
        </p:txBody>
      </p:sp>
      <p:sp>
        <p:nvSpPr>
          <p:cNvPr id="38" name="txt-152"/>
          <p:cNvSpPr txBox="1"/>
          <p:nvPr/>
        </p:nvSpPr>
        <p:spPr>
          <a:xfrm>
            <a:off x="5669280" y="4709160"/>
            <a:ext cx="2895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Benefícios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P&amp;D global de vídeo e IA · velocidade de lançamento · exclusividade da marca no Brasil</a:t>
            </a:r>
            <a:endParaRPr lang="en-US" sz="1000" dirty="0"/>
          </a:p>
        </p:txBody>
      </p:sp>
      <p:sp>
        <p:nvSpPr>
          <p:cNvPr id="39" name="txt-153"/>
          <p:cNvSpPr txBox="1"/>
          <p:nvPr/>
        </p:nvSpPr>
        <p:spPr>
          <a:xfrm>
            <a:off x="8839048" y="4709160"/>
            <a:ext cx="2895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Riscos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renegociação anual · venda da participação · conselheiro da Dahua administra a Dahua Brasil · EUA restringem Dahua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Incentivos fiscais equivalem a 94% do lucro líquido e começam a vencer em 2029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Produzir localmente vale mais pelo regime tributário que pelo custo industrial: a margem líquida é, em boa parte, política pública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 WHAT?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Incentivos devem ser variável explícita no modelo: mudanças em 2029–33 afetam NOPAT e ROIC; Manaus (R$200 mi) é também decisão fiscal.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Fonte: FRE 2026 itens 1.6 (p.33–35), 2.11 (p.86), 4.1 (p.109–110); planilha 2T26 (IR/CS e LAIR 2019–25; 2020 e 2023 com não recorrentes); Release 2T26 p.3 e p.9. Histórico. Os 93,9% não equivalem ao lucro "sem incentivo" (parte vira preço).</a:t>
            </a:r>
            <a:endParaRPr lang="en-US" sz="900" dirty="0"/>
          </a:p>
        </p:txBody>
      </p:sp>
      <p:sp>
        <p:nvSpPr>
          <p:cNvPr id="7" name="txt-154"/>
          <p:cNvSpPr txBox="1"/>
          <p:nvPr/>
        </p:nvSpPr>
        <p:spPr>
          <a:xfrm>
            <a:off x="457200" y="17190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R$453 mi de incentivos para R$484 mi de lucro líquido (2025)</a:t>
            </a:r>
            <a:endParaRPr lang="en-US" sz="1300" dirty="0"/>
          </a:p>
        </p:txBody>
      </p:sp>
      <p:graphicFrame>
        <p:nvGraphicFramePr>
          <p:cNvPr id="8" name="fiscal-bar" descr=""/>
          <p:cNvGraphicFramePr/>
          <p:nvPr/>
        </p:nvGraphicFramePr>
        <p:xfrm>
          <a:off x="457200" y="2103120"/>
          <a:ext cx="35661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xt-155"/>
          <p:cNvSpPr txBox="1"/>
          <p:nvPr/>
        </p:nvSpPr>
        <p:spPr>
          <a:xfrm>
            <a:off x="411480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93,9%</a:t>
            </a:r>
            <a:endParaRPr lang="en-US" sz="3000" dirty="0"/>
          </a:p>
        </p:txBody>
      </p:sp>
      <p:sp>
        <p:nvSpPr>
          <p:cNvPr id="10" name="txt-156"/>
          <p:cNvSpPr txBox="1"/>
          <p:nvPr/>
        </p:nvSpPr>
        <p:spPr>
          <a:xfrm>
            <a:off x="4114800" y="27706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do lucro líquido de 2025</a:t>
            </a:r>
            <a:endParaRPr lang="en-US" sz="1000" dirty="0"/>
          </a:p>
        </p:txBody>
      </p:sp>
      <p:sp>
        <p:nvSpPr>
          <p:cNvPr id="11" name="txt-157"/>
          <p:cNvSpPr txBox="1"/>
          <p:nvPr/>
        </p:nvSpPr>
        <p:spPr>
          <a:xfrm>
            <a:off x="457200" y="3794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IR/CS efetivo perto de zero desde 2019: NOPAT ≈ EBIT</a:t>
            </a:r>
            <a:endParaRPr lang="en-US" sz="1300" dirty="0"/>
          </a:p>
        </p:txBody>
      </p:sp>
      <p:graphicFrame>
        <p:nvGraphicFramePr>
          <p:cNvPr id="12" name="ir-efetivo" descr=""/>
          <p:cNvGraphicFramePr/>
          <p:nvPr/>
        </p:nvGraphicFramePr>
        <p:xfrm>
          <a:off x="457200" y="4160520"/>
          <a:ext cx="429768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xt-158"/>
          <p:cNvSpPr txBox="1"/>
          <p:nvPr/>
        </p:nvSpPr>
        <p:spPr>
          <a:xfrm>
            <a:off x="4773168" y="42245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34% nominal</a:t>
            </a:r>
            <a:endParaRPr lang="en-US" sz="900" dirty="0"/>
          </a:p>
        </p:txBody>
      </p:sp>
      <p:sp>
        <p:nvSpPr>
          <p:cNvPr id="14" name="txt-159"/>
          <p:cNvSpPr txBox="1"/>
          <p:nvPr/>
        </p:nvSpPr>
        <p:spPr>
          <a:xfrm>
            <a:off x="4773168" y="5074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~0% efetivo</a:t>
            </a:r>
            <a:endParaRPr lang="en-US" sz="900" dirty="0"/>
          </a:p>
        </p:txBody>
      </p:sp>
      <p:sp>
        <p:nvSpPr>
          <p:cNvPr id="15" name="vline-160"/>
          <p:cNvSpPr/>
          <p:nvPr/>
        </p:nvSpPr>
        <p:spPr>
          <a:xfrm>
            <a:off x="5788152" y="1783080"/>
            <a:ext cx="0" cy="388620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16" name="txt-161"/>
          <p:cNvSpPr txBox="1"/>
          <p:nvPr/>
        </p:nvSpPr>
        <p:spPr>
          <a:xfrm>
            <a:off x="5989320" y="1719072"/>
            <a:ext cx="5745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Calendário: os incentivos fora da ZFM vencem entre 2029 e 2033</a:t>
            </a:r>
            <a:endParaRPr lang="en-US" sz="1300" dirty="0"/>
          </a:p>
        </p:txBody>
      </p:sp>
      <p:sp>
        <p:nvSpPr>
          <p:cNvPr id="17" name="txt-162"/>
          <p:cNvSpPr txBox="1"/>
          <p:nvPr/>
        </p:nvSpPr>
        <p:spPr>
          <a:xfrm>
            <a:off x="7772400" y="2176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2026</a:t>
            </a:r>
            <a:endParaRPr lang="en-US" sz="900" dirty="0"/>
          </a:p>
        </p:txBody>
      </p:sp>
      <p:sp>
        <p:nvSpPr>
          <p:cNvPr id="18" name="vline-163"/>
          <p:cNvSpPr/>
          <p:nvPr/>
        </p:nvSpPr>
        <p:spPr>
          <a:xfrm>
            <a:off x="8046720" y="2377440"/>
            <a:ext cx="0" cy="274320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19" name="txt-164"/>
          <p:cNvSpPr txBox="1"/>
          <p:nvPr/>
        </p:nvSpPr>
        <p:spPr>
          <a:xfrm>
            <a:off x="8491667" y="2176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2028</a:t>
            </a:r>
            <a:endParaRPr lang="en-US" sz="900" dirty="0"/>
          </a:p>
        </p:txBody>
      </p:sp>
      <p:sp>
        <p:nvSpPr>
          <p:cNvPr id="20" name="vline-165"/>
          <p:cNvSpPr/>
          <p:nvPr/>
        </p:nvSpPr>
        <p:spPr>
          <a:xfrm>
            <a:off x="8765987" y="2377440"/>
            <a:ext cx="0" cy="274320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21" name="txt-166"/>
          <p:cNvSpPr txBox="1"/>
          <p:nvPr/>
        </p:nvSpPr>
        <p:spPr>
          <a:xfrm>
            <a:off x="9210934" y="2176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2030</a:t>
            </a:r>
            <a:endParaRPr lang="en-US" sz="900" dirty="0"/>
          </a:p>
        </p:txBody>
      </p:sp>
      <p:sp>
        <p:nvSpPr>
          <p:cNvPr id="22" name="vline-167"/>
          <p:cNvSpPr/>
          <p:nvPr/>
        </p:nvSpPr>
        <p:spPr>
          <a:xfrm>
            <a:off x="9485254" y="2377440"/>
            <a:ext cx="0" cy="274320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23" name="txt-168"/>
          <p:cNvSpPr txBox="1"/>
          <p:nvPr/>
        </p:nvSpPr>
        <p:spPr>
          <a:xfrm>
            <a:off x="9930201" y="2176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2032</a:t>
            </a:r>
            <a:endParaRPr lang="en-US" sz="900" dirty="0"/>
          </a:p>
        </p:txBody>
      </p:sp>
      <p:sp>
        <p:nvSpPr>
          <p:cNvPr id="24" name="vline-169"/>
          <p:cNvSpPr/>
          <p:nvPr/>
        </p:nvSpPr>
        <p:spPr>
          <a:xfrm>
            <a:off x="10204521" y="2377440"/>
            <a:ext cx="0" cy="274320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25" name="txt-170"/>
          <p:cNvSpPr txBox="1"/>
          <p:nvPr/>
        </p:nvSpPr>
        <p:spPr>
          <a:xfrm>
            <a:off x="10649468" y="2176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2034</a:t>
            </a:r>
            <a:endParaRPr lang="en-US" sz="900" dirty="0"/>
          </a:p>
        </p:txBody>
      </p:sp>
      <p:sp>
        <p:nvSpPr>
          <p:cNvPr id="26" name="vline-171"/>
          <p:cNvSpPr/>
          <p:nvPr/>
        </p:nvSpPr>
        <p:spPr>
          <a:xfrm>
            <a:off x="10923788" y="2377440"/>
            <a:ext cx="0" cy="274320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27" name="txt-172"/>
          <p:cNvSpPr txBox="1"/>
          <p:nvPr/>
        </p:nvSpPr>
        <p:spPr>
          <a:xfrm>
            <a:off x="11368735" y="2176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2036</a:t>
            </a:r>
            <a:endParaRPr lang="en-US" sz="900" dirty="0"/>
          </a:p>
        </p:txBody>
      </p:sp>
      <p:sp>
        <p:nvSpPr>
          <p:cNvPr id="28" name="vline-173"/>
          <p:cNvSpPr/>
          <p:nvPr/>
        </p:nvSpPr>
        <p:spPr>
          <a:xfrm>
            <a:off x="11643055" y="2377440"/>
            <a:ext cx="0" cy="274320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29" name="txt-174"/>
          <p:cNvSpPr txBox="1"/>
          <p:nvPr/>
        </p:nvSpPr>
        <p:spPr>
          <a:xfrm>
            <a:off x="598932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Lei de TICs (crédito de P&amp;D)</a:t>
            </a:r>
            <a:endParaRPr lang="en-US" sz="1000" dirty="0"/>
          </a:p>
        </p:txBody>
      </p:sp>
      <p:sp>
        <p:nvSpPr>
          <p:cNvPr id="30" name="rect-175"/>
          <p:cNvSpPr/>
          <p:nvPr/>
        </p:nvSpPr>
        <p:spPr>
          <a:xfrm>
            <a:off x="8046720" y="2569464"/>
            <a:ext cx="1078901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1" name="txt-176"/>
          <p:cNvSpPr txBox="1"/>
          <p:nvPr/>
        </p:nvSpPr>
        <p:spPr>
          <a:xfrm>
            <a:off x="9171341" y="2505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2029</a:t>
            </a:r>
            <a:endParaRPr lang="en-US" sz="900" dirty="0"/>
          </a:p>
        </p:txBody>
      </p:sp>
      <p:sp>
        <p:nvSpPr>
          <p:cNvPr id="32" name="txt-177"/>
          <p:cNvSpPr txBox="1"/>
          <p:nvPr/>
        </p:nvSpPr>
        <p:spPr>
          <a:xfrm>
            <a:off x="5989320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ICMS PE (crédito presumido)</a:t>
            </a:r>
            <a:endParaRPr lang="en-US" sz="1000" dirty="0"/>
          </a:p>
        </p:txBody>
      </p:sp>
      <p:sp>
        <p:nvSpPr>
          <p:cNvPr id="33" name="rect-178"/>
          <p:cNvSpPr/>
          <p:nvPr/>
        </p:nvSpPr>
        <p:spPr>
          <a:xfrm>
            <a:off x="8046720" y="2953512"/>
            <a:ext cx="2157801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4" name="txt-179"/>
          <p:cNvSpPr txBox="1"/>
          <p:nvPr/>
        </p:nvSpPr>
        <p:spPr>
          <a:xfrm>
            <a:off x="10250241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2032</a:t>
            </a:r>
            <a:endParaRPr lang="en-US" sz="900" dirty="0"/>
          </a:p>
        </p:txBody>
      </p:sp>
      <p:sp>
        <p:nvSpPr>
          <p:cNvPr id="35" name="txt-180"/>
          <p:cNvSpPr txBox="1"/>
          <p:nvPr/>
        </p:nvSpPr>
        <p:spPr>
          <a:xfrm>
            <a:off x="5989320" y="3282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ICMS convalidado (LC 160)</a:t>
            </a:r>
            <a:endParaRPr lang="en-US" sz="1000" dirty="0"/>
          </a:p>
        </p:txBody>
      </p:sp>
      <p:sp>
        <p:nvSpPr>
          <p:cNvPr id="36" name="rect-181"/>
          <p:cNvSpPr/>
          <p:nvPr/>
        </p:nvSpPr>
        <p:spPr>
          <a:xfrm>
            <a:off x="8046720" y="3337560"/>
            <a:ext cx="2481471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7" name="txt-182"/>
          <p:cNvSpPr txBox="1"/>
          <p:nvPr/>
        </p:nvSpPr>
        <p:spPr>
          <a:xfrm>
            <a:off x="10573911" y="3273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~2032</a:t>
            </a:r>
            <a:endParaRPr lang="en-US" sz="900" dirty="0"/>
          </a:p>
        </p:txBody>
      </p:sp>
      <p:sp>
        <p:nvSpPr>
          <p:cNvPr id="38" name="txt-183"/>
          <p:cNvSpPr txBox="1"/>
          <p:nvPr/>
        </p:nvSpPr>
        <p:spPr>
          <a:xfrm>
            <a:off x="5989320" y="3666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Sudam: −75% do IRPJ</a:t>
            </a:r>
            <a:endParaRPr lang="en-US" sz="1000" dirty="0"/>
          </a:p>
        </p:txBody>
      </p:sp>
      <p:sp>
        <p:nvSpPr>
          <p:cNvPr id="39" name="rect-184"/>
          <p:cNvSpPr/>
          <p:nvPr/>
        </p:nvSpPr>
        <p:spPr>
          <a:xfrm>
            <a:off x="8046720" y="3721608"/>
            <a:ext cx="2517435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0" name="txt-185"/>
          <p:cNvSpPr txBox="1"/>
          <p:nvPr/>
        </p:nvSpPr>
        <p:spPr>
          <a:xfrm>
            <a:off x="10609875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2033</a:t>
            </a:r>
            <a:endParaRPr lang="en-US" sz="900" dirty="0"/>
          </a:p>
        </p:txBody>
      </p:sp>
      <p:sp>
        <p:nvSpPr>
          <p:cNvPr id="41" name="txt-186"/>
          <p:cNvSpPr txBox="1"/>
          <p:nvPr/>
        </p:nvSpPr>
        <p:spPr>
          <a:xfrm>
            <a:off x="5989320" y="4050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Reforma tributária (transição)</a:t>
            </a:r>
            <a:endParaRPr lang="en-US" sz="1000" dirty="0"/>
          </a:p>
        </p:txBody>
      </p:sp>
      <p:sp>
        <p:nvSpPr>
          <p:cNvPr id="42" name="rect-187"/>
          <p:cNvSpPr/>
          <p:nvPr/>
        </p:nvSpPr>
        <p:spPr>
          <a:xfrm>
            <a:off x="8046720" y="4105656"/>
            <a:ext cx="2517435" cy="16459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3" name="txt-188"/>
          <p:cNvSpPr txBox="1"/>
          <p:nvPr/>
        </p:nvSpPr>
        <p:spPr>
          <a:xfrm>
            <a:off x="10609875" y="4041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2026–33</a:t>
            </a:r>
            <a:endParaRPr lang="en-US" sz="900" dirty="0"/>
          </a:p>
        </p:txBody>
      </p:sp>
      <p:sp>
        <p:nvSpPr>
          <p:cNvPr id="44" name="txt-189"/>
          <p:cNvSpPr txBox="1"/>
          <p:nvPr/>
        </p:nvSpPr>
        <p:spPr>
          <a:xfrm>
            <a:off x="59893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ZFM: IPI e II</a:t>
            </a:r>
            <a:endParaRPr lang="en-US" sz="1000" dirty="0"/>
          </a:p>
        </p:txBody>
      </p:sp>
      <p:sp>
        <p:nvSpPr>
          <p:cNvPr id="45" name="rect-190"/>
          <p:cNvSpPr/>
          <p:nvPr/>
        </p:nvSpPr>
        <p:spPr>
          <a:xfrm>
            <a:off x="8046720" y="4489704"/>
            <a:ext cx="3596335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6" name="txt-191"/>
          <p:cNvSpPr txBox="1"/>
          <p:nvPr/>
        </p:nvSpPr>
        <p:spPr>
          <a:xfrm>
            <a:off x="10774375" y="4425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→ 2073</a:t>
            </a:r>
            <a:endParaRPr lang="en-US" sz="900" dirty="0"/>
          </a:p>
        </p:txBody>
      </p:sp>
      <p:sp>
        <p:nvSpPr>
          <p:cNvPr id="47" name="txt-192"/>
          <p:cNvSpPr txBox="1"/>
          <p:nvPr/>
        </p:nvSpPr>
        <p:spPr>
          <a:xfrm>
            <a:off x="5989320" y="4818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ICMS SC (~3%)</a:t>
            </a:r>
            <a:endParaRPr lang="en-US" sz="1000" dirty="0"/>
          </a:p>
        </p:txBody>
      </p:sp>
      <p:sp>
        <p:nvSpPr>
          <p:cNvPr id="48" name="rect-193"/>
          <p:cNvSpPr/>
          <p:nvPr/>
        </p:nvSpPr>
        <p:spPr>
          <a:xfrm>
            <a:off x="8046720" y="4873752"/>
            <a:ext cx="3596335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9" name="txt-194"/>
          <p:cNvSpPr txBox="1"/>
          <p:nvPr/>
        </p:nvSpPr>
        <p:spPr>
          <a:xfrm>
            <a:off x="10774375" y="4809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indeterminado</a:t>
            </a:r>
            <a:endParaRPr lang="en-US" sz="900" dirty="0"/>
          </a:p>
        </p:txBody>
      </p:sp>
      <p:sp>
        <p:nvSpPr>
          <p:cNvPr id="50" name="vline-195"/>
          <p:cNvSpPr/>
          <p:nvPr/>
        </p:nvSpPr>
        <p:spPr>
          <a:xfrm>
            <a:off x="9107639" y="2377440"/>
            <a:ext cx="0" cy="274320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51" name="txt-196"/>
          <p:cNvSpPr txBox="1"/>
          <p:nvPr/>
        </p:nvSpPr>
        <p:spPr>
          <a:xfrm>
            <a:off x="7324559" y="51389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i="1" dirty="0">
                <a:solidFill>
                  <a:schemeClr val="accent1"/>
                </a:solidFill>
              </a:rPr>
              <a:t>acordo Dahua vence (dez/28)</a:t>
            </a:r>
            <a:endParaRPr lang="en-US" sz="800" dirty="0"/>
          </a:p>
        </p:txBody>
      </p:sp>
      <p:sp>
        <p:nvSpPr>
          <p:cNvPr id="52" name="txt-197"/>
          <p:cNvSpPr txBox="1"/>
          <p:nvPr/>
        </p:nvSpPr>
        <p:spPr>
          <a:xfrm>
            <a:off x="5989320" y="5376672"/>
            <a:ext cx="5745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Condições: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PPB · P&amp;D ≥ 4% do faturamento incentivado (R$39,5 mi em 2025) · emprego local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 ROIC caiu à metade por giro do capital, não por margem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margem EBIT ficou em 10–12%; o que derrubou o retorno foi o capital de giro crescer mais rápido que o lucro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 WHAT?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queda do ROIC veio do balanço, não da DRE: as duas alavancas são o ciclo de caixa (+0,6–0,9 p.p. por 10 dias) e a margem (+1,7 p.p. por 1 p.p.).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Fonte: planilha interativa 2T26 (Indicadores Anuais, BP, DRE) e Release 2T26 p.6 e p.14. ROIC pré-IR = EBIT ÷ (dívida líquida + PL), definição da companhia. Histórico. Ponte, ciclo de caixa e sensibilidades: estimativa própria (arredondamentos; DPO inclui risco sacado).</a:t>
            </a:r>
            <a:endParaRPr lang="en-US" sz="900" dirty="0"/>
          </a:p>
        </p:txBody>
      </p:sp>
      <p:sp>
        <p:nvSpPr>
          <p:cNvPr id="7" name="txt-198"/>
          <p:cNvSpPr txBox="1"/>
          <p:nvPr/>
        </p:nvSpPr>
        <p:spPr>
          <a:xfrm>
            <a:off x="457200" y="1719072"/>
            <a:ext cx="545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Ponte do ROIC pré-IR: o giro explica −12,3 p.p.</a:t>
            </a:r>
            <a:endParaRPr lang="en-US" sz="1300" dirty="0"/>
          </a:p>
        </p:txBody>
      </p:sp>
      <p:sp>
        <p:nvSpPr>
          <p:cNvPr id="8" name="rect-199"/>
          <p:cNvSpPr/>
          <p:nvPr/>
        </p:nvSpPr>
        <p:spPr>
          <a:xfrm>
            <a:off x="620873" y="2454787"/>
            <a:ext cx="452049" cy="106565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xt-200"/>
          <p:cNvSpPr txBox="1"/>
          <p:nvPr/>
        </p:nvSpPr>
        <p:spPr>
          <a:xfrm>
            <a:off x="392273" y="2198755"/>
            <a:ext cx="909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31,2%</a:t>
            </a:r>
            <a:endParaRPr lang="en-US" sz="1100" dirty="0"/>
          </a:p>
        </p:txBody>
      </p:sp>
      <p:sp>
        <p:nvSpPr>
          <p:cNvPr id="10" name="txt-201"/>
          <p:cNvSpPr txBox="1"/>
          <p:nvPr/>
        </p:nvSpPr>
        <p:spPr>
          <a:xfrm>
            <a:off x="457200" y="3557016"/>
            <a:ext cx="77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2019</a:t>
            </a:r>
            <a:endParaRPr lang="en-US" sz="1000" dirty="0"/>
          </a:p>
        </p:txBody>
      </p:sp>
      <p:sp>
        <p:nvSpPr>
          <p:cNvPr id="11" name="rect-202"/>
          <p:cNvSpPr/>
          <p:nvPr/>
        </p:nvSpPr>
        <p:spPr>
          <a:xfrm>
            <a:off x="1400268" y="2454787"/>
            <a:ext cx="452049" cy="126375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hline-203"/>
          <p:cNvSpPr/>
          <p:nvPr/>
        </p:nvSpPr>
        <p:spPr>
          <a:xfrm>
            <a:off x="1072922" y="2454787"/>
            <a:ext cx="327346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13" name="txt-204"/>
          <p:cNvSpPr txBox="1"/>
          <p:nvPr/>
        </p:nvSpPr>
        <p:spPr>
          <a:xfrm>
            <a:off x="1171668" y="2198755"/>
            <a:ext cx="909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−3,7</a:t>
            </a:r>
            <a:endParaRPr lang="en-US" sz="1100" dirty="0"/>
          </a:p>
        </p:txBody>
      </p:sp>
      <p:sp>
        <p:nvSpPr>
          <p:cNvPr id="14" name="txt-205"/>
          <p:cNvSpPr txBox="1"/>
          <p:nvPr/>
        </p:nvSpPr>
        <p:spPr>
          <a:xfrm>
            <a:off x="1236595" y="3557016"/>
            <a:ext cx="77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Margem</a:t>
            </a:r>
            <a:endParaRPr lang="en-US" sz="1000" dirty="0"/>
          </a:p>
        </p:txBody>
      </p:sp>
      <p:sp>
        <p:nvSpPr>
          <p:cNvPr id="15" name="rect-206"/>
          <p:cNvSpPr/>
          <p:nvPr/>
        </p:nvSpPr>
        <p:spPr>
          <a:xfrm>
            <a:off x="2179664" y="2581163"/>
            <a:ext cx="452049" cy="420113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hline-207"/>
          <p:cNvSpPr/>
          <p:nvPr/>
        </p:nvSpPr>
        <p:spPr>
          <a:xfrm>
            <a:off x="1852318" y="2581163"/>
            <a:ext cx="327346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17" name="txt-208"/>
          <p:cNvSpPr txBox="1"/>
          <p:nvPr/>
        </p:nvSpPr>
        <p:spPr>
          <a:xfrm>
            <a:off x="1951064" y="2325131"/>
            <a:ext cx="909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−12,3</a:t>
            </a:r>
            <a:endParaRPr lang="en-US" sz="1100" dirty="0"/>
          </a:p>
        </p:txBody>
      </p:sp>
      <p:sp>
        <p:nvSpPr>
          <p:cNvPr id="18" name="txt-209"/>
          <p:cNvSpPr txBox="1"/>
          <p:nvPr/>
        </p:nvSpPr>
        <p:spPr>
          <a:xfrm>
            <a:off x="2015991" y="3557016"/>
            <a:ext cx="77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Giro</a:t>
            </a:r>
            <a:endParaRPr lang="en-US" sz="1000" dirty="0"/>
          </a:p>
        </p:txBody>
      </p:sp>
      <p:sp>
        <p:nvSpPr>
          <p:cNvPr id="19" name="rect-210"/>
          <p:cNvSpPr/>
          <p:nvPr/>
        </p:nvSpPr>
        <p:spPr>
          <a:xfrm>
            <a:off x="2959059" y="3004692"/>
            <a:ext cx="452049" cy="5157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hline-211"/>
          <p:cNvSpPr/>
          <p:nvPr/>
        </p:nvSpPr>
        <p:spPr>
          <a:xfrm>
            <a:off x="2631713" y="3004692"/>
            <a:ext cx="327346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21" name="txt-212"/>
          <p:cNvSpPr txBox="1"/>
          <p:nvPr/>
        </p:nvSpPr>
        <p:spPr>
          <a:xfrm>
            <a:off x="2730459" y="2748660"/>
            <a:ext cx="909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15,1%</a:t>
            </a:r>
            <a:endParaRPr lang="en-US" sz="1100" dirty="0"/>
          </a:p>
        </p:txBody>
      </p:sp>
      <p:sp>
        <p:nvSpPr>
          <p:cNvPr id="22" name="txt-213"/>
          <p:cNvSpPr txBox="1"/>
          <p:nvPr/>
        </p:nvSpPr>
        <p:spPr>
          <a:xfrm>
            <a:off x="2795386" y="3557016"/>
            <a:ext cx="77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2025</a:t>
            </a:r>
            <a:endParaRPr lang="en-US" sz="1000" dirty="0"/>
          </a:p>
        </p:txBody>
      </p:sp>
      <p:sp>
        <p:nvSpPr>
          <p:cNvPr id="23" name="rect-214"/>
          <p:cNvSpPr/>
          <p:nvPr/>
        </p:nvSpPr>
        <p:spPr>
          <a:xfrm>
            <a:off x="3738455" y="2909056"/>
            <a:ext cx="452049" cy="95635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hline-215"/>
          <p:cNvSpPr/>
          <p:nvPr/>
        </p:nvSpPr>
        <p:spPr>
          <a:xfrm>
            <a:off x="3411108" y="3004692"/>
            <a:ext cx="327346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25" name="txt-216"/>
          <p:cNvSpPr txBox="1"/>
          <p:nvPr/>
        </p:nvSpPr>
        <p:spPr>
          <a:xfrm>
            <a:off x="3509855" y="2653024"/>
            <a:ext cx="909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+2,8</a:t>
            </a:r>
            <a:endParaRPr lang="en-US" sz="1100" dirty="0"/>
          </a:p>
        </p:txBody>
      </p:sp>
      <p:sp>
        <p:nvSpPr>
          <p:cNvPr id="26" name="txt-217"/>
          <p:cNvSpPr txBox="1"/>
          <p:nvPr/>
        </p:nvSpPr>
        <p:spPr>
          <a:xfrm>
            <a:off x="3574781" y="3557016"/>
            <a:ext cx="77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Margem</a:t>
            </a:r>
            <a:endParaRPr lang="en-US" sz="1000" dirty="0"/>
          </a:p>
        </p:txBody>
      </p:sp>
      <p:sp>
        <p:nvSpPr>
          <p:cNvPr id="27" name="rect-218"/>
          <p:cNvSpPr/>
          <p:nvPr/>
        </p:nvSpPr>
        <p:spPr>
          <a:xfrm>
            <a:off x="4517850" y="2878316"/>
            <a:ext cx="452049" cy="307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hline-219"/>
          <p:cNvSpPr/>
          <p:nvPr/>
        </p:nvSpPr>
        <p:spPr>
          <a:xfrm>
            <a:off x="4190504" y="2909056"/>
            <a:ext cx="327346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29" name="txt-220"/>
          <p:cNvSpPr txBox="1"/>
          <p:nvPr/>
        </p:nvSpPr>
        <p:spPr>
          <a:xfrm>
            <a:off x="4289250" y="2622284"/>
            <a:ext cx="909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+0,9</a:t>
            </a:r>
            <a:endParaRPr lang="en-US" sz="1100" dirty="0"/>
          </a:p>
        </p:txBody>
      </p:sp>
      <p:sp>
        <p:nvSpPr>
          <p:cNvPr id="30" name="txt-221"/>
          <p:cNvSpPr txBox="1"/>
          <p:nvPr/>
        </p:nvSpPr>
        <p:spPr>
          <a:xfrm>
            <a:off x="4354177" y="3557016"/>
            <a:ext cx="77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Giro</a:t>
            </a:r>
            <a:endParaRPr lang="en-US" sz="1000" dirty="0"/>
          </a:p>
        </p:txBody>
      </p:sp>
      <p:sp>
        <p:nvSpPr>
          <p:cNvPr id="31" name="rect-222"/>
          <p:cNvSpPr/>
          <p:nvPr/>
        </p:nvSpPr>
        <p:spPr>
          <a:xfrm>
            <a:off x="5297245" y="2878316"/>
            <a:ext cx="452049" cy="64212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hline-223"/>
          <p:cNvSpPr/>
          <p:nvPr/>
        </p:nvSpPr>
        <p:spPr>
          <a:xfrm>
            <a:off x="4969899" y="2878316"/>
            <a:ext cx="327346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33" name="txt-224"/>
          <p:cNvSpPr txBox="1"/>
          <p:nvPr/>
        </p:nvSpPr>
        <p:spPr>
          <a:xfrm>
            <a:off x="5068645" y="2622284"/>
            <a:ext cx="9092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18,8%</a:t>
            </a:r>
            <a:endParaRPr lang="en-US" sz="1100" dirty="0"/>
          </a:p>
        </p:txBody>
      </p:sp>
      <p:sp>
        <p:nvSpPr>
          <p:cNvPr id="34" name="txt-225"/>
          <p:cNvSpPr txBox="1"/>
          <p:nvPr/>
        </p:nvSpPr>
        <p:spPr>
          <a:xfrm>
            <a:off x="5133572" y="3557016"/>
            <a:ext cx="77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LTM 2T26</a:t>
            </a:r>
            <a:endParaRPr lang="en-US" sz="1000" dirty="0"/>
          </a:p>
        </p:txBody>
      </p:sp>
      <p:sp>
        <p:nvSpPr>
          <p:cNvPr id="35" name="hline-226"/>
          <p:cNvSpPr/>
          <p:nvPr/>
        </p:nvSpPr>
        <p:spPr>
          <a:xfrm>
            <a:off x="457200" y="3520440"/>
            <a:ext cx="545576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6" name="txt-227"/>
          <p:cNvSpPr txBox="1"/>
          <p:nvPr/>
        </p:nvSpPr>
        <p:spPr>
          <a:xfrm>
            <a:off x="6278728" y="1719072"/>
            <a:ext cx="545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Ciclo de caixa dobrou: 68 → 145 dias</a:t>
            </a:r>
            <a:endParaRPr lang="en-US" sz="1300" dirty="0"/>
          </a:p>
        </p:txBody>
      </p:sp>
      <p:graphicFrame>
        <p:nvGraphicFramePr>
          <p:cNvPr id="37" name="ccc" descr=""/>
          <p:cNvGraphicFramePr/>
          <p:nvPr/>
        </p:nvGraphicFramePr>
        <p:xfrm>
          <a:off x="6278728" y="2103120"/>
          <a:ext cx="5455768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txt-228"/>
          <p:cNvSpPr txBox="1"/>
          <p:nvPr/>
        </p:nvSpPr>
        <p:spPr>
          <a:xfrm>
            <a:off x="457200" y="3794760"/>
            <a:ext cx="545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 capital de giro já supera o ativo fixo (2025)</a:t>
            </a:r>
            <a:endParaRPr lang="en-US" sz="1300" dirty="0"/>
          </a:p>
        </p:txBody>
      </p:sp>
      <p:graphicFrame>
        <p:nvGraphicFramePr>
          <p:cNvPr id="39" name="cg-fixo" descr=""/>
          <p:cNvGraphicFramePr/>
          <p:nvPr/>
        </p:nvGraphicFramePr>
        <p:xfrm>
          <a:off x="457200" y="4206240"/>
          <a:ext cx="4175608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0" name="txt-229"/>
          <p:cNvSpPr txBox="1"/>
          <p:nvPr/>
        </p:nvSpPr>
        <p:spPr>
          <a:xfrm>
            <a:off x="4678528" y="4251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4,8x</a:t>
            </a:r>
            <a:endParaRPr lang="en-US" sz="2200" dirty="0"/>
          </a:p>
        </p:txBody>
      </p:sp>
      <p:sp>
        <p:nvSpPr>
          <p:cNvPr id="41" name="txt-230"/>
          <p:cNvSpPr txBox="1"/>
          <p:nvPr/>
        </p:nvSpPr>
        <p:spPr>
          <a:xfrm>
            <a:off x="4678528" y="469087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capital empregado vs 2,6x receita (2019–25)</a:t>
            </a:r>
            <a:endParaRPr lang="en-US" sz="1000" dirty="0"/>
          </a:p>
        </p:txBody>
      </p:sp>
      <p:sp>
        <p:nvSpPr>
          <p:cNvPr id="42" name="txt-231"/>
          <p:cNvSpPr txBox="1"/>
          <p:nvPr/>
        </p:nvSpPr>
        <p:spPr>
          <a:xfrm>
            <a:off x="6278728" y="3794760"/>
            <a:ext cx="545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IV.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Duas alavancas de ROIC (estimativa própria)</a:t>
            </a:r>
            <a:endParaRPr lang="en-US" sz="1300" dirty="0"/>
          </a:p>
        </p:txBody>
      </p:sp>
      <p:sp>
        <p:nvSpPr>
          <p:cNvPr id="43" name="txt-232"/>
          <p:cNvSpPr txBox="1"/>
          <p:nvPr/>
        </p:nvSpPr>
        <p:spPr>
          <a:xfrm>
            <a:off x="6278728" y="4251960"/>
            <a:ext cx="259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+0,6–0,9 p.p.</a:t>
            </a:r>
            <a:endParaRPr lang="en-US" sz="2200" dirty="0"/>
          </a:p>
        </p:txBody>
      </p:sp>
      <p:sp>
        <p:nvSpPr>
          <p:cNvPr id="44" name="txt-233"/>
          <p:cNvSpPr txBox="1"/>
          <p:nvPr/>
        </p:nvSpPr>
        <p:spPr>
          <a:xfrm>
            <a:off x="6278728" y="4736592"/>
            <a:ext cx="259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 ROIC por 10 dias a menos de ciclo de caixa (libera R$86–125 mi)</a:t>
            </a:r>
            <a:endParaRPr lang="en-US" sz="1000" dirty="0"/>
          </a:p>
        </p:txBody>
      </p:sp>
      <p:sp>
        <p:nvSpPr>
          <p:cNvPr id="45" name="txt-234"/>
          <p:cNvSpPr txBox="1"/>
          <p:nvPr/>
        </p:nvSpPr>
        <p:spPr>
          <a:xfrm>
            <a:off x="9143771" y="4251960"/>
            <a:ext cx="259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+1,7 p.p.</a:t>
            </a:r>
            <a:endParaRPr lang="en-US" sz="2200" dirty="0"/>
          </a:p>
        </p:txBody>
      </p:sp>
      <p:sp>
        <p:nvSpPr>
          <p:cNvPr id="46" name="txt-235"/>
          <p:cNvSpPr txBox="1"/>
          <p:nvPr/>
        </p:nvSpPr>
        <p:spPr>
          <a:xfrm>
            <a:off x="9143771" y="4736592"/>
            <a:ext cx="259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 ROIC por +1 p.p. de margem EBIT (giro de 1,66x)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 ciclo curto do canal gira; o ganho de escala não aparece nos números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Crescer só cria valor quando a nova categoria cabe na obra do instalador; fora dela, dilui margem e retorno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 WHAT?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Sem escala visível em SG&amp;A, crescimento novo só cria valor dentro da obra do instalador; fora dela (solar, GPON), dilui margem e ROIC.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Fonte: planilha interativa 2T26 (DRE 2019–25; EBITDA ajustado de 2020 e 2023); FRE 2026 itens 1.2 (p.7), 1.3 (p.16), 1.4 (p.17–19, p.25); Release 2T26 p.7–8. Status dos elos: avaliação própria a partir das fontes.</a:t>
            </a:r>
            <a:endParaRPr lang="en-US" sz="900" dirty="0"/>
          </a:p>
        </p:txBody>
      </p:sp>
      <p:sp>
        <p:nvSpPr>
          <p:cNvPr id="7" name="txt-236"/>
          <p:cNvSpPr txBox="1"/>
          <p:nvPr/>
        </p:nvSpPr>
        <p:spPr>
          <a:xfrm>
            <a:off x="457200" y="1719072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Receita 2,6x maior sem diluir SG&amp;A (% da receita)</a:t>
            </a:r>
            <a:endParaRPr lang="en-US" sz="1300" dirty="0"/>
          </a:p>
        </p:txBody>
      </p:sp>
      <p:graphicFrame>
        <p:nvGraphicFramePr>
          <p:cNvPr id="8" name="escala" descr=""/>
          <p:cNvGraphicFramePr/>
          <p:nvPr/>
        </p:nvGraphicFramePr>
        <p:xfrm>
          <a:off x="457200" y="2103120"/>
          <a:ext cx="41148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xt-237"/>
          <p:cNvSpPr txBox="1"/>
          <p:nvPr/>
        </p:nvSpPr>
        <p:spPr>
          <a:xfrm>
            <a:off x="4617720" y="21945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2,6x</a:t>
            </a:r>
            <a:endParaRPr lang="en-US" sz="2200" dirty="0"/>
          </a:p>
        </p:txBody>
      </p:sp>
      <p:sp>
        <p:nvSpPr>
          <p:cNvPr id="10" name="txt-238"/>
          <p:cNvSpPr txBox="1"/>
          <p:nvPr/>
        </p:nvSpPr>
        <p:spPr>
          <a:xfrm>
            <a:off x="4617720" y="26334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receita 2019 → 2025</a:t>
            </a:r>
            <a:endParaRPr lang="en-US" sz="1000" dirty="0"/>
          </a:p>
        </p:txBody>
      </p:sp>
      <p:sp>
        <p:nvSpPr>
          <p:cNvPr id="11" name="txt-239"/>
          <p:cNvSpPr txBox="1"/>
          <p:nvPr/>
        </p:nvSpPr>
        <p:spPr>
          <a:xfrm>
            <a:off x="4617720" y="3063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~19%</a:t>
            </a:r>
            <a:endParaRPr lang="en-US" sz="1800" dirty="0"/>
          </a:p>
        </p:txBody>
      </p:sp>
      <p:sp>
        <p:nvSpPr>
          <p:cNvPr id="12" name="txt-240"/>
          <p:cNvSpPr txBox="1"/>
          <p:nvPr/>
        </p:nvSpPr>
        <p:spPr>
          <a:xfrm>
            <a:off x="4617720" y="34107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SG&amp;A/receita em 2019 e 2025</a:t>
            </a:r>
            <a:endParaRPr lang="en-US" sz="1000" dirty="0"/>
          </a:p>
        </p:txBody>
      </p:sp>
      <p:sp>
        <p:nvSpPr>
          <p:cNvPr id="13" name="txt-241"/>
          <p:cNvSpPr txBox="1"/>
          <p:nvPr/>
        </p:nvSpPr>
        <p:spPr>
          <a:xfrm>
            <a:off x="457200" y="379476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Escopo funciona só dentro da obra do instalador</a:t>
            </a:r>
            <a:endParaRPr lang="en-US" sz="1300" dirty="0"/>
          </a:p>
        </p:txBody>
      </p:sp>
      <p:graphicFrame>
        <p:nvGraphicFramePr>
          <p:cNvPr id="9" name="escop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87952"/>
          <a:ext cx="51663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960120"/>
                <a:gridCol w="777240"/>
                <a:gridCol w="16459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Categoria adjacente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Mesmo comprador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Mesma obra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Acesso, alarmes, interfonia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Segurança: margem 33%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Cabeamento, redes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 +7% a/a no 2T26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Nobreaks, carregadores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Crescem no 2T26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GPON para provedores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(rede Renovigi)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Energia −31% em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vline-242"/>
          <p:cNvSpPr/>
          <p:nvPr/>
        </p:nvSpPr>
        <p:spPr>
          <a:xfrm>
            <a:off x="5833872" y="1783080"/>
            <a:ext cx="0" cy="388620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16" name="txt-243"/>
          <p:cNvSpPr txBox="1"/>
          <p:nvPr/>
        </p:nvSpPr>
        <p:spPr>
          <a:xfrm>
            <a:off x="6035040" y="1719072"/>
            <a:ext cx="5699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III.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Flywheel testado: falham os elos de escala e de novas categorias</a:t>
            </a:r>
            <a:endParaRPr lang="en-US" sz="1300" dirty="0"/>
          </a:p>
        </p:txBody>
      </p:sp>
      <p:sp>
        <p:nvSpPr>
          <p:cNvPr id="17" name="anel"/>
          <p:cNvSpPr/>
          <p:nvPr/>
        </p:nvSpPr>
        <p:spPr>
          <a:xfrm>
            <a:off x="7604608" y="2697480"/>
            <a:ext cx="2560320" cy="2377440"/>
          </a:xfrm>
          <a:prstGeom prst="ellipse">
            <a:avLst/>
          </a:prstGeom>
          <a:ln w="15875">
            <a:solidFill>
              <a:schemeClr val="accent5"/>
            </a:solidFill>
            <a:prstDash val="solid"/>
          </a:ln>
        </p:spPr>
      </p:sp>
      <p:sp>
        <p:nvSpPr>
          <p:cNvPr id="18" name="seta-244"/>
          <p:cNvSpPr/>
          <p:nvPr/>
        </p:nvSpPr>
        <p:spPr>
          <a:xfrm rot="6845584">
            <a:off x="9367056" y="2742048"/>
            <a:ext cx="146304" cy="146304"/>
          </a:xfrm>
          <a:prstGeom prst="triangle">
            <a:avLst/>
          </a:prstGeom>
          <a:solidFill>
            <a:schemeClr val="accent4"/>
          </a:solidFill>
          <a:ln/>
        </p:spPr>
      </p:sp>
      <p:sp>
        <p:nvSpPr>
          <p:cNvPr id="19" name="seta-245"/>
          <p:cNvSpPr/>
          <p:nvPr/>
        </p:nvSpPr>
        <p:spPr>
          <a:xfrm rot="9971426">
            <a:off x="10059679" y="3548533"/>
            <a:ext cx="146304" cy="146304"/>
          </a:xfrm>
          <a:prstGeom prst="triangle">
            <a:avLst/>
          </a:prstGeom>
          <a:solidFill>
            <a:schemeClr val="accent4"/>
          </a:solidFill>
          <a:ln/>
        </p:spPr>
      </p:sp>
      <p:sp>
        <p:nvSpPr>
          <p:cNvPr id="20" name="seta-246"/>
          <p:cNvSpPr/>
          <p:nvPr/>
        </p:nvSpPr>
        <p:spPr>
          <a:xfrm rot="13239394">
            <a:off x="9812485" y="4554203"/>
            <a:ext cx="146304" cy="146304"/>
          </a:xfrm>
          <a:prstGeom prst="triangle">
            <a:avLst/>
          </a:prstGeom>
          <a:solidFill>
            <a:schemeClr val="accent4"/>
          </a:solidFill>
          <a:ln/>
        </p:spPr>
      </p:sp>
      <p:sp>
        <p:nvSpPr>
          <p:cNvPr id="21" name="seta-247"/>
          <p:cNvSpPr/>
          <p:nvPr/>
        </p:nvSpPr>
        <p:spPr>
          <a:xfrm rot="16200000">
            <a:off x="8811616" y="5001768"/>
            <a:ext cx="146304" cy="146304"/>
          </a:xfrm>
          <a:prstGeom prst="triangle">
            <a:avLst/>
          </a:prstGeom>
          <a:solidFill>
            <a:schemeClr val="accent4"/>
          </a:solidFill>
          <a:ln/>
        </p:spPr>
      </p:sp>
      <p:sp>
        <p:nvSpPr>
          <p:cNvPr id="22" name="seta-248"/>
          <p:cNvSpPr/>
          <p:nvPr/>
        </p:nvSpPr>
        <p:spPr>
          <a:xfrm rot="-2439394">
            <a:off x="7810746" y="4554203"/>
            <a:ext cx="146304" cy="146304"/>
          </a:xfrm>
          <a:prstGeom prst="triangle">
            <a:avLst/>
          </a:prstGeom>
          <a:solidFill>
            <a:schemeClr val="accent4"/>
          </a:solidFill>
          <a:ln/>
        </p:spPr>
      </p:sp>
      <p:sp>
        <p:nvSpPr>
          <p:cNvPr id="23" name="seta-249"/>
          <p:cNvSpPr/>
          <p:nvPr/>
        </p:nvSpPr>
        <p:spPr>
          <a:xfrm rot="828574">
            <a:off x="7563552" y="3548533"/>
            <a:ext cx="146304" cy="146304"/>
          </a:xfrm>
          <a:prstGeom prst="triangle">
            <a:avLst/>
          </a:prstGeom>
          <a:solidFill>
            <a:schemeClr val="accent4"/>
          </a:solidFill>
          <a:ln/>
        </p:spPr>
      </p:sp>
      <p:sp>
        <p:nvSpPr>
          <p:cNvPr id="24" name="seta-250"/>
          <p:cNvSpPr/>
          <p:nvPr/>
        </p:nvSpPr>
        <p:spPr>
          <a:xfrm rot="3954416">
            <a:off x="8256175" y="2742048"/>
            <a:ext cx="146304" cy="146304"/>
          </a:xfrm>
          <a:prstGeom prst="triangle">
            <a:avLst/>
          </a:prstGeom>
          <a:solidFill>
            <a:schemeClr val="accent4"/>
          </a:solidFill>
          <a:ln/>
        </p:spPr>
      </p:sp>
      <p:sp>
        <p:nvSpPr>
          <p:cNvPr id="25" name="no-251"/>
          <p:cNvSpPr txBox="1"/>
          <p:nvPr/>
        </p:nvSpPr>
        <p:spPr>
          <a:xfrm>
            <a:off x="8701888" y="25146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xt-252"/>
          <p:cNvSpPr txBox="1"/>
          <p:nvPr/>
        </p:nvSpPr>
        <p:spPr>
          <a:xfrm>
            <a:off x="7696048" y="2130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Portfólio amplo</a:t>
            </a:r>
            <a:endParaRPr lang="en-US" sz="950" dirty="0"/>
          </a:p>
        </p:txBody>
      </p:sp>
      <p:sp>
        <p:nvSpPr>
          <p:cNvPr id="27" name="no-253"/>
          <p:cNvSpPr txBox="1"/>
          <p:nvPr/>
        </p:nvSpPr>
        <p:spPr>
          <a:xfrm>
            <a:off x="9702757" y="2962165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8" name="txt-254"/>
          <p:cNvSpPr txBox="1"/>
          <p:nvPr/>
        </p:nvSpPr>
        <p:spPr>
          <a:xfrm>
            <a:off x="10141669" y="2916445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Relevância para o canal (95% exclusivos)</a:t>
            </a:r>
            <a:endParaRPr lang="en-US" sz="950" dirty="0"/>
          </a:p>
        </p:txBody>
      </p:sp>
      <p:sp>
        <p:nvSpPr>
          <p:cNvPr id="29" name="no-255"/>
          <p:cNvSpPr txBox="1"/>
          <p:nvPr/>
        </p:nvSpPr>
        <p:spPr>
          <a:xfrm>
            <a:off x="9949951" y="3967835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xt-256"/>
          <p:cNvSpPr txBox="1"/>
          <p:nvPr/>
        </p:nvSpPr>
        <p:spPr>
          <a:xfrm>
            <a:off x="10388863" y="3922115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Share of wallet (não divulgado)</a:t>
            </a:r>
            <a:endParaRPr lang="en-US" sz="950" dirty="0"/>
          </a:p>
        </p:txBody>
      </p:sp>
      <p:sp>
        <p:nvSpPr>
          <p:cNvPr id="31" name="no-257"/>
          <p:cNvSpPr txBox="1"/>
          <p:nvPr/>
        </p:nvSpPr>
        <p:spPr>
          <a:xfrm>
            <a:off x="9257328" y="47743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xt-258"/>
          <p:cNvSpPr txBox="1"/>
          <p:nvPr/>
        </p:nvSpPr>
        <p:spPr>
          <a:xfrm>
            <a:off x="9696240" y="4728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Volume (só Segurança)</a:t>
            </a:r>
            <a:endParaRPr lang="en-US" sz="950" dirty="0"/>
          </a:p>
        </p:txBody>
      </p:sp>
      <p:sp>
        <p:nvSpPr>
          <p:cNvPr id="33" name="no-259"/>
          <p:cNvSpPr txBox="1"/>
          <p:nvPr/>
        </p:nvSpPr>
        <p:spPr>
          <a:xfrm>
            <a:off x="8146447" y="477432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xt-260"/>
          <p:cNvSpPr txBox="1"/>
          <p:nvPr/>
        </p:nvSpPr>
        <p:spPr>
          <a:xfrm>
            <a:off x="6701695" y="4728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Escala: custo ↓ (SG&amp;A estável)</a:t>
            </a:r>
            <a:endParaRPr lang="en-US" sz="950" dirty="0"/>
          </a:p>
        </p:txBody>
      </p:sp>
      <p:sp>
        <p:nvSpPr>
          <p:cNvPr id="35" name="no-261"/>
          <p:cNvSpPr txBox="1"/>
          <p:nvPr/>
        </p:nvSpPr>
        <p:spPr>
          <a:xfrm>
            <a:off x="7453824" y="3967835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xt-262"/>
          <p:cNvSpPr txBox="1"/>
          <p:nvPr/>
        </p:nvSpPr>
        <p:spPr>
          <a:xfrm>
            <a:off x="6009072" y="3922115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Marca e relacionamento</a:t>
            </a:r>
            <a:endParaRPr lang="en-US" sz="950" dirty="0"/>
          </a:p>
        </p:txBody>
      </p:sp>
      <p:sp>
        <p:nvSpPr>
          <p:cNvPr id="37" name="no-263"/>
          <p:cNvSpPr txBox="1"/>
          <p:nvPr/>
        </p:nvSpPr>
        <p:spPr>
          <a:xfrm>
            <a:off x="7701018" y="2962165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txt-264"/>
          <p:cNvSpPr txBox="1"/>
          <p:nvPr/>
        </p:nvSpPr>
        <p:spPr>
          <a:xfrm>
            <a:off x="6256266" y="2916445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Novas categorias lucrativas (solar, GPON)</a:t>
            </a:r>
            <a:endParaRPr lang="en-US" sz="950" dirty="0"/>
          </a:p>
        </p:txBody>
      </p:sp>
      <p:sp>
        <p:nvSpPr>
          <p:cNvPr id="39" name="leg-265"/>
          <p:cNvSpPr/>
          <p:nvPr/>
        </p:nvSpPr>
        <p:spPr>
          <a:xfrm>
            <a:off x="8016088" y="3602736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xt-266"/>
          <p:cNvSpPr txBox="1"/>
          <p:nvPr/>
        </p:nvSpPr>
        <p:spPr>
          <a:xfrm>
            <a:off x="8198968" y="355701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Evidenciado</a:t>
            </a:r>
            <a:endParaRPr lang="en-US" sz="900" dirty="0"/>
          </a:p>
        </p:txBody>
      </p:sp>
      <p:sp>
        <p:nvSpPr>
          <p:cNvPr id="41" name="leg-267"/>
          <p:cNvSpPr/>
          <p:nvPr/>
        </p:nvSpPr>
        <p:spPr>
          <a:xfrm>
            <a:off x="8016088" y="384048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txt-268"/>
          <p:cNvSpPr txBox="1"/>
          <p:nvPr/>
        </p:nvSpPr>
        <p:spPr>
          <a:xfrm>
            <a:off x="8198968" y="37947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Parcial</a:t>
            </a:r>
            <a:endParaRPr lang="en-US" sz="900" dirty="0"/>
          </a:p>
        </p:txBody>
      </p:sp>
      <p:sp>
        <p:nvSpPr>
          <p:cNvPr id="43" name="leg-269"/>
          <p:cNvSpPr/>
          <p:nvPr/>
        </p:nvSpPr>
        <p:spPr>
          <a:xfrm>
            <a:off x="8016088" y="407822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4" name="txt-270"/>
          <p:cNvSpPr txBox="1"/>
          <p:nvPr/>
        </p:nvSpPr>
        <p:spPr>
          <a:xfrm>
            <a:off x="8198968" y="403250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Não evidenciado / contradito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Intelbras captura valor de contrapartes pulverizadas e o cede a quem detém tecnologia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margem fica espremida entre quem controla o componente (Dahua, chipsets) e a deflação de preço no cliente final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 WHAT?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poder sobre o canal sustenta volume e repasse; o poder dos donos de tecnologia limita a margem bruta: é aí que mora o risco de Segurança.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Fonte: FRE 2026 itens 1.2 (p.7), 1.4 (p.22–23, p.31), 1.4.e (p.31), 1.5 (p.32), 4.1 (p.97), 11.3 (p.259–260); planilha interativa 2T26 (prazo de recebimento). Posicionamento qualitativo, baseado nos fatos indicados; não é nota. Compra por revendedor: estimativa própria.</a:t>
            </a:r>
            <a:endParaRPr lang="en-US" sz="900" dirty="0"/>
          </a:p>
        </p:txBody>
      </p:sp>
      <p:sp>
        <p:nvSpPr>
          <p:cNvPr id="7" name="txt-271"/>
          <p:cNvSpPr txBox="1"/>
          <p:nvPr/>
        </p:nvSpPr>
        <p:spPr>
          <a:xfrm>
            <a:off x="306324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Contraparte domina</a:t>
            </a:r>
            <a:endParaRPr lang="en-US" sz="900" dirty="0"/>
          </a:p>
        </p:txBody>
      </p:sp>
      <p:sp>
        <p:nvSpPr>
          <p:cNvPr id="8" name="txt-272"/>
          <p:cNvSpPr txBox="1"/>
          <p:nvPr/>
        </p:nvSpPr>
        <p:spPr>
          <a:xfrm>
            <a:off x="466344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Equilibrado</a:t>
            </a:r>
            <a:endParaRPr lang="en-US" sz="900" dirty="0"/>
          </a:p>
        </p:txBody>
      </p:sp>
      <p:sp>
        <p:nvSpPr>
          <p:cNvPr id="9" name="txt-273"/>
          <p:cNvSpPr txBox="1"/>
          <p:nvPr/>
        </p:nvSpPr>
        <p:spPr>
          <a:xfrm>
            <a:off x="589788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Intelbras domina</a:t>
            </a:r>
            <a:endParaRPr lang="en-US" sz="900" dirty="0"/>
          </a:p>
        </p:txBody>
      </p:sp>
      <p:sp>
        <p:nvSpPr>
          <p:cNvPr id="10" name="txt-274"/>
          <p:cNvSpPr txBox="1"/>
          <p:nvPr/>
        </p:nvSpPr>
        <p:spPr>
          <a:xfrm>
            <a:off x="7498080" y="1737360"/>
            <a:ext cx="423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4"/>
                </a:solidFill>
              </a:rPr>
              <a:t>FATO OBSERVÁVEL</a:t>
            </a:r>
            <a:endParaRPr lang="en-US" sz="900" dirty="0"/>
          </a:p>
        </p:txBody>
      </p:sp>
      <p:sp>
        <p:nvSpPr>
          <p:cNvPr id="11" name="vline-275"/>
          <p:cNvSpPr/>
          <p:nvPr/>
        </p:nvSpPr>
        <p:spPr>
          <a:xfrm>
            <a:off x="5212080" y="2057400"/>
            <a:ext cx="0" cy="364845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12" name="hline-276"/>
          <p:cNvSpPr/>
          <p:nvPr/>
        </p:nvSpPr>
        <p:spPr>
          <a:xfrm>
            <a:off x="457200" y="2569464"/>
            <a:ext cx="11277295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13" name="txt-277"/>
          <p:cNvSpPr txBox="1"/>
          <p:nvPr/>
        </p:nvSpPr>
        <p:spPr>
          <a:xfrm>
            <a:off x="457200" y="2103120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Fornecedores de chipset</a:t>
            </a:r>
            <a:endParaRPr lang="en-US" sz="1200" dirty="0"/>
          </a:p>
        </p:txBody>
      </p:sp>
      <p:sp>
        <p:nvSpPr>
          <p:cNvPr id="14" name="hline-278"/>
          <p:cNvSpPr/>
          <p:nvPr/>
        </p:nvSpPr>
        <p:spPr>
          <a:xfrm>
            <a:off x="3246120" y="2327148"/>
            <a:ext cx="39319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5" name="dot-279"/>
          <p:cNvSpPr/>
          <p:nvPr/>
        </p:nvSpPr>
        <p:spPr>
          <a:xfrm>
            <a:off x="3323844" y="2208276"/>
            <a:ext cx="237744" cy="23774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xt-280"/>
          <p:cNvSpPr txBox="1"/>
          <p:nvPr/>
        </p:nvSpPr>
        <p:spPr>
          <a:xfrm>
            <a:off x="7498080" y="2103120"/>
            <a:ext cx="423641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"Poucas opções"; trocar de fornecedor pode suspender a operação</a:t>
            </a:r>
            <a:endParaRPr lang="en-US" sz="1050" dirty="0"/>
          </a:p>
        </p:txBody>
      </p:sp>
      <p:sp>
        <p:nvSpPr>
          <p:cNvPr id="17" name="hline-281"/>
          <p:cNvSpPr/>
          <p:nvPr/>
        </p:nvSpPr>
        <p:spPr>
          <a:xfrm>
            <a:off x="457200" y="3090672"/>
            <a:ext cx="11277295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18" name="txt-282"/>
          <p:cNvSpPr txBox="1"/>
          <p:nvPr/>
        </p:nvSpPr>
        <p:spPr>
          <a:xfrm>
            <a:off x="457200" y="2624328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Dahua</a:t>
            </a:r>
            <a:endParaRPr lang="en-US" sz="1200" dirty="0"/>
          </a:p>
        </p:txBody>
      </p:sp>
      <p:sp>
        <p:nvSpPr>
          <p:cNvPr id="19" name="hline-283"/>
          <p:cNvSpPr/>
          <p:nvPr/>
        </p:nvSpPr>
        <p:spPr>
          <a:xfrm>
            <a:off x="3246120" y="2848356"/>
            <a:ext cx="39319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0" name="dot-284"/>
          <p:cNvSpPr/>
          <p:nvPr/>
        </p:nvSpPr>
        <p:spPr>
          <a:xfrm>
            <a:off x="3913632" y="2729484"/>
            <a:ext cx="237744" cy="23774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txt-285"/>
          <p:cNvSpPr txBox="1"/>
          <p:nvPr/>
        </p:nvSpPr>
        <p:spPr>
          <a:xfrm>
            <a:off x="7498080" y="2624328"/>
            <a:ext cx="423641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36% das compras; renegociação anual; acordo até dez/2028</a:t>
            </a:r>
            <a:endParaRPr lang="en-US" sz="1050" dirty="0"/>
          </a:p>
        </p:txBody>
      </p:sp>
      <p:sp>
        <p:nvSpPr>
          <p:cNvPr id="22" name="hline-286"/>
          <p:cNvSpPr/>
          <p:nvPr/>
        </p:nvSpPr>
        <p:spPr>
          <a:xfrm>
            <a:off x="457200" y="3611880"/>
            <a:ext cx="11277295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23" name="txt-287"/>
          <p:cNvSpPr txBox="1"/>
          <p:nvPr/>
        </p:nvSpPr>
        <p:spPr>
          <a:xfrm>
            <a:off x="457200" y="3145536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Integradores (16%)</a:t>
            </a:r>
            <a:endParaRPr lang="en-US" sz="1200" dirty="0"/>
          </a:p>
        </p:txBody>
      </p:sp>
      <p:sp>
        <p:nvSpPr>
          <p:cNvPr id="24" name="hline-288"/>
          <p:cNvSpPr/>
          <p:nvPr/>
        </p:nvSpPr>
        <p:spPr>
          <a:xfrm>
            <a:off x="3246120" y="3369564"/>
            <a:ext cx="39319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5" name="dot-289"/>
          <p:cNvSpPr/>
          <p:nvPr/>
        </p:nvSpPr>
        <p:spPr>
          <a:xfrm>
            <a:off x="4110228" y="3250692"/>
            <a:ext cx="237744" cy="23774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xt-290"/>
          <p:cNvSpPr txBox="1"/>
          <p:nvPr/>
        </p:nvSpPr>
        <p:spPr>
          <a:xfrm>
            <a:off x="7498080" y="3145536"/>
            <a:ext cx="423641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Projetos multimarca por definição; comparação técnica e de preço</a:t>
            </a:r>
            <a:endParaRPr lang="en-US" sz="1050" dirty="0"/>
          </a:p>
        </p:txBody>
      </p:sp>
      <p:sp>
        <p:nvSpPr>
          <p:cNvPr id="27" name="hline-291"/>
          <p:cNvSpPr/>
          <p:nvPr/>
        </p:nvSpPr>
        <p:spPr>
          <a:xfrm>
            <a:off x="457200" y="4133088"/>
            <a:ext cx="11277295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28" name="txt-292"/>
          <p:cNvSpPr txBox="1"/>
          <p:nvPr/>
        </p:nvSpPr>
        <p:spPr>
          <a:xfrm>
            <a:off x="457200" y="3666744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Varejistas (16%)</a:t>
            </a:r>
            <a:endParaRPr lang="en-US" sz="1200" dirty="0"/>
          </a:p>
        </p:txBody>
      </p:sp>
      <p:sp>
        <p:nvSpPr>
          <p:cNvPr id="29" name="hline-293"/>
          <p:cNvSpPr/>
          <p:nvPr/>
        </p:nvSpPr>
        <p:spPr>
          <a:xfrm>
            <a:off x="3246120" y="3890772"/>
            <a:ext cx="39319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30" name="dot-294"/>
          <p:cNvSpPr/>
          <p:nvPr/>
        </p:nvSpPr>
        <p:spPr>
          <a:xfrm>
            <a:off x="5093208" y="3771900"/>
            <a:ext cx="237744" cy="237744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1" name="txt-295"/>
          <p:cNvSpPr txBox="1"/>
          <p:nvPr/>
        </p:nvSpPr>
        <p:spPr>
          <a:xfrm>
            <a:off x="7498080" y="3666744"/>
            <a:ext cx="423641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Comparam com importados; promotores da Intelbras no ponto de venda</a:t>
            </a:r>
            <a:endParaRPr lang="en-US" sz="1050" dirty="0"/>
          </a:p>
        </p:txBody>
      </p:sp>
      <p:sp>
        <p:nvSpPr>
          <p:cNvPr id="32" name="hline-296"/>
          <p:cNvSpPr/>
          <p:nvPr/>
        </p:nvSpPr>
        <p:spPr>
          <a:xfrm>
            <a:off x="457200" y="4654296"/>
            <a:ext cx="11277295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33" name="txt-297"/>
          <p:cNvSpPr txBox="1"/>
          <p:nvPr/>
        </p:nvSpPr>
        <p:spPr>
          <a:xfrm>
            <a:off x="457200" y="4187952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Distribuidores (68%)</a:t>
            </a:r>
            <a:endParaRPr lang="en-US" sz="1200" dirty="0"/>
          </a:p>
        </p:txBody>
      </p:sp>
      <p:sp>
        <p:nvSpPr>
          <p:cNvPr id="34" name="hline-298"/>
          <p:cNvSpPr/>
          <p:nvPr/>
        </p:nvSpPr>
        <p:spPr>
          <a:xfrm>
            <a:off x="3246120" y="4411980"/>
            <a:ext cx="39319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35" name="dot-299"/>
          <p:cNvSpPr/>
          <p:nvPr/>
        </p:nvSpPr>
        <p:spPr>
          <a:xfrm>
            <a:off x="6371082" y="4293108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6" name="txt-300"/>
          <p:cNvSpPr txBox="1"/>
          <p:nvPr/>
        </p:nvSpPr>
        <p:spPr>
          <a:xfrm>
            <a:off x="7498080" y="4187952"/>
            <a:ext cx="423641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Nenhum cliente acima de 10%; ~95% exclusivos. Custo: 2–9% de desconto e ~100 dias</a:t>
            </a:r>
            <a:endParaRPr lang="en-US" sz="1050" dirty="0"/>
          </a:p>
        </p:txBody>
      </p:sp>
      <p:sp>
        <p:nvSpPr>
          <p:cNvPr id="37" name="hline-301"/>
          <p:cNvSpPr/>
          <p:nvPr/>
        </p:nvSpPr>
        <p:spPr>
          <a:xfrm>
            <a:off x="457200" y="5175504"/>
            <a:ext cx="11277295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38" name="txt-302"/>
          <p:cNvSpPr txBox="1"/>
          <p:nvPr/>
        </p:nvSpPr>
        <p:spPr>
          <a:xfrm>
            <a:off x="457200" y="4709160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Revendedores (90 mil)</a:t>
            </a:r>
            <a:endParaRPr lang="en-US" sz="1200" dirty="0"/>
          </a:p>
        </p:txBody>
      </p:sp>
      <p:sp>
        <p:nvSpPr>
          <p:cNvPr id="39" name="hline-303"/>
          <p:cNvSpPr/>
          <p:nvPr/>
        </p:nvSpPr>
        <p:spPr>
          <a:xfrm>
            <a:off x="3246120" y="4933188"/>
            <a:ext cx="39319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40" name="dot-304"/>
          <p:cNvSpPr/>
          <p:nvPr/>
        </p:nvSpPr>
        <p:spPr>
          <a:xfrm>
            <a:off x="6567678" y="4814316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1" name="txt-305"/>
          <p:cNvSpPr txBox="1"/>
          <p:nvPr/>
        </p:nvSpPr>
        <p:spPr>
          <a:xfrm>
            <a:off x="7498080" y="4709160"/>
            <a:ext cx="423641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~R$2,8 mil/mês cada (est.); dependem de leads e de pontos</a:t>
            </a:r>
            <a:endParaRPr lang="en-US" sz="1050" dirty="0"/>
          </a:p>
        </p:txBody>
      </p:sp>
      <p:sp>
        <p:nvSpPr>
          <p:cNvPr id="42" name="hline-306"/>
          <p:cNvSpPr/>
          <p:nvPr/>
        </p:nvSpPr>
        <p:spPr>
          <a:xfrm>
            <a:off x="457200" y="5696712"/>
            <a:ext cx="11277295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</a:ln>
        </p:spPr>
      </p:sp>
      <p:sp>
        <p:nvSpPr>
          <p:cNvPr id="43" name="txt-307"/>
          <p:cNvSpPr txBox="1"/>
          <p:nvPr/>
        </p:nvSpPr>
        <p:spPr>
          <a:xfrm>
            <a:off x="457200" y="5230368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Consumidor final</a:t>
            </a:r>
            <a:endParaRPr lang="en-US" sz="1200" dirty="0"/>
          </a:p>
        </p:txBody>
      </p:sp>
      <p:sp>
        <p:nvSpPr>
          <p:cNvPr id="44" name="hline-308"/>
          <p:cNvSpPr/>
          <p:nvPr/>
        </p:nvSpPr>
        <p:spPr>
          <a:xfrm>
            <a:off x="3246120" y="5454396"/>
            <a:ext cx="39319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45" name="dot-309"/>
          <p:cNvSpPr/>
          <p:nvPr/>
        </p:nvSpPr>
        <p:spPr>
          <a:xfrm>
            <a:off x="6174486" y="5335524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6" name="txt-310"/>
          <p:cNvSpPr txBox="1"/>
          <p:nvPr/>
        </p:nvSpPr>
        <p:spPr>
          <a:xfrm>
            <a:off x="7498080" y="5230368"/>
            <a:ext cx="423641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Delega a escolha ao instalador; o limite é a deflação tecnológica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Os dois riscos de maior impacto têm data marcada: Dahua (2028) e incentivos (2029–33)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Os riscos com mais chance de ocorrer (deflação, câmbio, capital de giro) já aparecem nos números de 2025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 WHAT?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Monitorar 2028–2033 e, no curto prazo, margem de Segurança e ciclo de caixa: é onde receita, margem e ROIC podem surpreender para baixo.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Fonte: FRE 2026 itens 1.4 (p.20, p.24), 2.2 (p.71), 2.11 (p.86), 4.1–4.2 (p.97, p.104–110, p.119), 5.1 (p.142), 11.3 (p.259–260); planilha interativa 2T26 (provisões, PCLD, ciclo de caixa). Posição na matriz: avaliação qualitativa própria.</a:t>
            </a:r>
            <a:endParaRPr lang="en-US" sz="900" dirty="0"/>
          </a:p>
        </p:txBody>
      </p:sp>
      <p:sp>
        <p:nvSpPr>
          <p:cNvPr id="7" name="rect-311"/>
          <p:cNvSpPr/>
          <p:nvPr/>
        </p:nvSpPr>
        <p:spPr>
          <a:xfrm>
            <a:off x="4023360" y="1783080"/>
            <a:ext cx="3154680" cy="1920240"/>
          </a:xfrm>
          <a:prstGeom prst="rect">
            <a:avLst/>
          </a:prstGeom>
          <a:solidFill>
            <a:srgbClr val="F2F8F4"/>
          </a:solidFill>
          <a:ln/>
        </p:spPr>
      </p:sp>
      <p:sp>
        <p:nvSpPr>
          <p:cNvPr id="8" name="matriz"/>
          <p:cNvSpPr/>
          <p:nvPr/>
        </p:nvSpPr>
        <p:spPr>
          <a:xfrm>
            <a:off x="868680" y="1783080"/>
            <a:ext cx="6309360" cy="384048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vline-312"/>
          <p:cNvSpPr/>
          <p:nvPr/>
        </p:nvSpPr>
        <p:spPr>
          <a:xfrm>
            <a:off x="4023360" y="1783080"/>
            <a:ext cx="0" cy="384048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dash"/>
          </a:ln>
        </p:spPr>
      </p:sp>
      <p:sp>
        <p:nvSpPr>
          <p:cNvPr id="10" name="hline-313"/>
          <p:cNvSpPr/>
          <p:nvPr/>
        </p:nvSpPr>
        <p:spPr>
          <a:xfrm>
            <a:off x="868680" y="3703320"/>
            <a:ext cx="6309360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dash"/>
          </a:ln>
        </p:spPr>
      </p:sp>
      <p:sp>
        <p:nvSpPr>
          <p:cNvPr id="11" name="txt-314"/>
          <p:cNvSpPr txBox="1"/>
          <p:nvPr/>
        </p:nvSpPr>
        <p:spPr>
          <a:xfrm rot="16200000">
            <a:off x="-4572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Impacto →</a:t>
            </a:r>
            <a:endParaRPr lang="en-US" sz="900" dirty="0"/>
          </a:p>
        </p:txBody>
      </p:sp>
      <p:sp>
        <p:nvSpPr>
          <p:cNvPr id="12" name="txt-315"/>
          <p:cNvSpPr txBox="1"/>
          <p:nvPr/>
        </p:nvSpPr>
        <p:spPr>
          <a:xfrm>
            <a:off x="868680" y="564184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Probabilidade →</a:t>
            </a:r>
            <a:endParaRPr lang="en-US" sz="900" dirty="0"/>
          </a:p>
        </p:txBody>
      </p:sp>
      <p:sp>
        <p:nvSpPr>
          <p:cNvPr id="13" name="risco-316"/>
          <p:cNvSpPr txBox="1"/>
          <p:nvPr/>
        </p:nvSpPr>
        <p:spPr>
          <a:xfrm>
            <a:off x="3867912" y="1858061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xt-317"/>
          <p:cNvSpPr txBox="1"/>
          <p:nvPr/>
        </p:nvSpPr>
        <p:spPr>
          <a:xfrm>
            <a:off x="4224528" y="1894637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Incentivos mudam</a:t>
            </a:r>
            <a:endParaRPr lang="en-US" sz="950" dirty="0"/>
          </a:p>
        </p:txBody>
      </p:sp>
      <p:sp>
        <p:nvSpPr>
          <p:cNvPr id="15" name="risco-318"/>
          <p:cNvSpPr txBox="1"/>
          <p:nvPr/>
        </p:nvSpPr>
        <p:spPr>
          <a:xfrm>
            <a:off x="3867912" y="23957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xt-319"/>
          <p:cNvSpPr txBox="1"/>
          <p:nvPr/>
        </p:nvSpPr>
        <p:spPr>
          <a:xfrm>
            <a:off x="4224528" y="2432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Dahua 2028 pior</a:t>
            </a:r>
            <a:endParaRPr lang="en-US" sz="950" dirty="0"/>
          </a:p>
        </p:txBody>
      </p:sp>
      <p:sp>
        <p:nvSpPr>
          <p:cNvPr id="17" name="risco-320"/>
          <p:cNvSpPr txBox="1"/>
          <p:nvPr/>
        </p:nvSpPr>
        <p:spPr>
          <a:xfrm>
            <a:off x="6265469" y="2856586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xt-321"/>
          <p:cNvSpPr txBox="1"/>
          <p:nvPr/>
        </p:nvSpPr>
        <p:spPr>
          <a:xfrm>
            <a:off x="4665269" y="289316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Deflação e concorrência</a:t>
            </a:r>
            <a:endParaRPr lang="en-US" sz="950" dirty="0"/>
          </a:p>
        </p:txBody>
      </p:sp>
      <p:sp>
        <p:nvSpPr>
          <p:cNvPr id="19" name="risco-322"/>
          <p:cNvSpPr txBox="1"/>
          <p:nvPr/>
        </p:nvSpPr>
        <p:spPr>
          <a:xfrm>
            <a:off x="5886907" y="362468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xt-323"/>
          <p:cNvSpPr txBox="1"/>
          <p:nvPr/>
        </p:nvSpPr>
        <p:spPr>
          <a:xfrm>
            <a:off x="4286707" y="366125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Capital de giro</a:t>
            </a:r>
            <a:endParaRPr lang="en-US" sz="950" dirty="0"/>
          </a:p>
        </p:txBody>
      </p:sp>
      <p:sp>
        <p:nvSpPr>
          <p:cNvPr id="21" name="risco-324"/>
          <p:cNvSpPr txBox="1"/>
          <p:nvPr/>
        </p:nvSpPr>
        <p:spPr>
          <a:xfrm>
            <a:off x="4877410" y="431596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xt-325"/>
          <p:cNvSpPr txBox="1"/>
          <p:nvPr/>
        </p:nvSpPr>
        <p:spPr>
          <a:xfrm>
            <a:off x="5234026" y="4352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Obsolescência</a:t>
            </a:r>
            <a:endParaRPr lang="en-US" sz="950" dirty="0"/>
          </a:p>
        </p:txBody>
      </p:sp>
      <p:sp>
        <p:nvSpPr>
          <p:cNvPr id="23" name="risco-326"/>
          <p:cNvSpPr txBox="1"/>
          <p:nvPr/>
        </p:nvSpPr>
        <p:spPr>
          <a:xfrm>
            <a:off x="3552444" y="4623206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4" name="txt-327"/>
          <p:cNvSpPr txBox="1"/>
          <p:nvPr/>
        </p:nvSpPr>
        <p:spPr>
          <a:xfrm>
            <a:off x="3909060" y="465978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Crédito do canal</a:t>
            </a:r>
            <a:endParaRPr lang="en-US" sz="950" dirty="0"/>
          </a:p>
        </p:txBody>
      </p:sp>
      <p:sp>
        <p:nvSpPr>
          <p:cNvPr id="25" name="risco-328"/>
          <p:cNvSpPr txBox="1"/>
          <p:nvPr/>
        </p:nvSpPr>
        <p:spPr>
          <a:xfrm>
            <a:off x="6391656" y="400873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txt-329"/>
          <p:cNvSpPr txBox="1"/>
          <p:nvPr/>
        </p:nvSpPr>
        <p:spPr>
          <a:xfrm>
            <a:off x="4791456" y="404530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Câmbio</a:t>
            </a:r>
            <a:endParaRPr lang="en-US" sz="950" dirty="0"/>
          </a:p>
        </p:txBody>
      </p:sp>
      <p:sp>
        <p:nvSpPr>
          <p:cNvPr id="27" name="risco-330"/>
          <p:cNvSpPr txBox="1"/>
          <p:nvPr/>
        </p:nvSpPr>
        <p:spPr>
          <a:xfrm>
            <a:off x="2101291" y="2702966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28" name="txt-331"/>
          <p:cNvSpPr txBox="1"/>
          <p:nvPr/>
        </p:nvSpPr>
        <p:spPr>
          <a:xfrm>
            <a:off x="2457907" y="273954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Instalador perde relevância</a:t>
            </a:r>
            <a:endParaRPr lang="en-US" sz="950" dirty="0"/>
          </a:p>
        </p:txBody>
      </p:sp>
      <p:sp>
        <p:nvSpPr>
          <p:cNvPr id="29" name="txt-332"/>
          <p:cNvSpPr txBox="1"/>
          <p:nvPr/>
        </p:nvSpPr>
        <p:spPr>
          <a:xfrm>
            <a:off x="7452360" y="1737360"/>
            <a:ext cx="4282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4"/>
                </a:solidFill>
              </a:rPr>
              <a:t>SINAL JÁ OBSERVADO</a:t>
            </a:r>
            <a:endParaRPr lang="en-US" sz="900" dirty="0"/>
          </a:p>
        </p:txBody>
      </p:sp>
      <p:sp>
        <p:nvSpPr>
          <p:cNvPr id="30" name="sn-333"/>
          <p:cNvSpPr txBox="1"/>
          <p:nvPr/>
        </p:nvSpPr>
        <p:spPr>
          <a:xfrm>
            <a:off x="7452360" y="210312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</a:t>
            </a:r>
            <a:endParaRPr lang="en-US" sz="900" dirty="0"/>
          </a:p>
        </p:txBody>
      </p:sp>
      <p:sp>
        <p:nvSpPr>
          <p:cNvPr id="31" name="txt-334"/>
          <p:cNvSpPr txBox="1"/>
          <p:nvPr/>
        </p:nvSpPr>
        <p:spPr>
          <a:xfrm>
            <a:off x="7799832" y="202996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93,9%</a:t>
            </a:r>
            <a:endParaRPr lang="en-US" sz="1500" dirty="0"/>
          </a:p>
        </p:txBody>
      </p:sp>
      <p:sp>
        <p:nvSpPr>
          <p:cNvPr id="32" name="txt-335"/>
          <p:cNvSpPr txBox="1"/>
          <p:nvPr/>
        </p:nvSpPr>
        <p:spPr>
          <a:xfrm>
            <a:off x="8961120" y="2029968"/>
            <a:ext cx="2773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do lucro líquido vem de incentivos</a:t>
            </a:r>
            <a:endParaRPr lang="en-US" sz="1000" dirty="0"/>
          </a:p>
        </p:txBody>
      </p:sp>
      <p:sp>
        <p:nvSpPr>
          <p:cNvPr id="33" name="sn-336"/>
          <p:cNvSpPr txBox="1"/>
          <p:nvPr/>
        </p:nvSpPr>
        <p:spPr>
          <a:xfrm>
            <a:off x="7452360" y="256032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txt-337"/>
          <p:cNvSpPr txBox="1"/>
          <p:nvPr/>
        </p:nvSpPr>
        <p:spPr>
          <a:xfrm>
            <a:off x="7799832" y="248716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36%</a:t>
            </a:r>
            <a:endParaRPr lang="en-US" sz="1500" dirty="0"/>
          </a:p>
        </p:txBody>
      </p:sp>
      <p:sp>
        <p:nvSpPr>
          <p:cNvPr id="35" name="txt-338"/>
          <p:cNvSpPr txBox="1"/>
          <p:nvPr/>
        </p:nvSpPr>
        <p:spPr>
          <a:xfrm>
            <a:off x="8961120" y="2487168"/>
            <a:ext cx="2773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das compras; acordo vence dez/28</a:t>
            </a:r>
            <a:endParaRPr lang="en-US" sz="1000" dirty="0"/>
          </a:p>
        </p:txBody>
      </p:sp>
      <p:sp>
        <p:nvSpPr>
          <p:cNvPr id="36" name="sn-339"/>
          <p:cNvSpPr txBox="1"/>
          <p:nvPr/>
        </p:nvSpPr>
        <p:spPr>
          <a:xfrm>
            <a:off x="7452360" y="301752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xt-340"/>
          <p:cNvSpPr txBox="1"/>
          <p:nvPr/>
        </p:nvSpPr>
        <p:spPr>
          <a:xfrm>
            <a:off x="7799832" y="294436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−1,6 p.p.</a:t>
            </a:r>
            <a:endParaRPr lang="en-US" sz="1500" dirty="0"/>
          </a:p>
        </p:txBody>
      </p:sp>
      <p:sp>
        <p:nvSpPr>
          <p:cNvPr id="38" name="txt-341"/>
          <p:cNvSpPr txBox="1"/>
          <p:nvPr/>
        </p:nvSpPr>
        <p:spPr>
          <a:xfrm>
            <a:off x="8961120" y="2944368"/>
            <a:ext cx="2773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margem de Segurança em 2025</a:t>
            </a:r>
            <a:endParaRPr lang="en-US" sz="1000" dirty="0"/>
          </a:p>
        </p:txBody>
      </p:sp>
      <p:sp>
        <p:nvSpPr>
          <p:cNvPr id="39" name="sn-342"/>
          <p:cNvSpPr txBox="1"/>
          <p:nvPr/>
        </p:nvSpPr>
        <p:spPr>
          <a:xfrm>
            <a:off x="7452360" y="347472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4</a:t>
            </a:r>
            <a:endParaRPr lang="en-US" sz="900" dirty="0"/>
          </a:p>
        </p:txBody>
      </p:sp>
      <p:sp>
        <p:nvSpPr>
          <p:cNvPr id="40" name="txt-343"/>
          <p:cNvSpPr txBox="1"/>
          <p:nvPr/>
        </p:nvSpPr>
        <p:spPr>
          <a:xfrm>
            <a:off x="7799832" y="340156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145 dias</a:t>
            </a:r>
            <a:endParaRPr lang="en-US" sz="1500" dirty="0"/>
          </a:p>
        </p:txBody>
      </p:sp>
      <p:sp>
        <p:nvSpPr>
          <p:cNvPr id="41" name="txt-344"/>
          <p:cNvSpPr txBox="1"/>
          <p:nvPr/>
        </p:nvSpPr>
        <p:spPr>
          <a:xfrm>
            <a:off x="8961120" y="3401568"/>
            <a:ext cx="2773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 ciclo de caixa (68 em 2019)</a:t>
            </a:r>
            <a:endParaRPr lang="en-US" sz="1000" dirty="0"/>
          </a:p>
        </p:txBody>
      </p:sp>
      <p:sp>
        <p:nvSpPr>
          <p:cNvPr id="42" name="sn-345"/>
          <p:cNvSpPr txBox="1"/>
          <p:nvPr/>
        </p:nvSpPr>
        <p:spPr>
          <a:xfrm>
            <a:off x="7452360" y="393192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5</a:t>
            </a:r>
            <a:endParaRPr lang="en-US" sz="900" dirty="0"/>
          </a:p>
        </p:txBody>
      </p:sp>
      <p:sp>
        <p:nvSpPr>
          <p:cNvPr id="43" name="txt-346"/>
          <p:cNvSpPr txBox="1"/>
          <p:nvPr/>
        </p:nvSpPr>
        <p:spPr>
          <a:xfrm>
            <a:off x="7799832" y="385876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R$54 mi</a:t>
            </a:r>
            <a:endParaRPr lang="en-US" sz="1500" dirty="0"/>
          </a:p>
        </p:txBody>
      </p:sp>
      <p:sp>
        <p:nvSpPr>
          <p:cNvPr id="44" name="txt-347"/>
          <p:cNvSpPr txBox="1"/>
          <p:nvPr/>
        </p:nvSpPr>
        <p:spPr>
          <a:xfrm>
            <a:off x="8961120" y="3858768"/>
            <a:ext cx="2773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provisão de estoques (R$0,6 mi em 2019)</a:t>
            </a:r>
            <a:endParaRPr lang="en-US" sz="1000" dirty="0"/>
          </a:p>
        </p:txBody>
      </p:sp>
      <p:sp>
        <p:nvSpPr>
          <p:cNvPr id="45" name="sn-348"/>
          <p:cNvSpPr txBox="1"/>
          <p:nvPr/>
        </p:nvSpPr>
        <p:spPr>
          <a:xfrm>
            <a:off x="7452360" y="438912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6</a:t>
            </a:r>
            <a:endParaRPr lang="en-US" sz="900" dirty="0"/>
          </a:p>
        </p:txBody>
      </p:sp>
      <p:sp>
        <p:nvSpPr>
          <p:cNvPr id="46" name="txt-349"/>
          <p:cNvSpPr txBox="1"/>
          <p:nvPr/>
        </p:nvSpPr>
        <p:spPr>
          <a:xfrm>
            <a:off x="7799832" y="431596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4x</a:t>
            </a:r>
            <a:endParaRPr lang="en-US" sz="1500" dirty="0"/>
          </a:p>
        </p:txBody>
      </p:sp>
      <p:sp>
        <p:nvSpPr>
          <p:cNvPr id="47" name="txt-350"/>
          <p:cNvSpPr txBox="1"/>
          <p:nvPr/>
        </p:nvSpPr>
        <p:spPr>
          <a:xfrm>
            <a:off x="8961120" y="4315968"/>
            <a:ext cx="2773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PCLD em 2025 (R$7 → 29 mi)</a:t>
            </a:r>
            <a:endParaRPr lang="en-US" sz="1000" dirty="0"/>
          </a:p>
        </p:txBody>
      </p:sp>
      <p:sp>
        <p:nvSpPr>
          <p:cNvPr id="48" name="sn-351"/>
          <p:cNvSpPr txBox="1"/>
          <p:nvPr/>
        </p:nvSpPr>
        <p:spPr>
          <a:xfrm>
            <a:off x="7452360" y="484632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7</a:t>
            </a:r>
            <a:endParaRPr lang="en-US" sz="900" dirty="0"/>
          </a:p>
        </p:txBody>
      </p:sp>
      <p:sp>
        <p:nvSpPr>
          <p:cNvPr id="49" name="txt-352"/>
          <p:cNvSpPr txBox="1"/>
          <p:nvPr/>
        </p:nvSpPr>
        <p:spPr>
          <a:xfrm>
            <a:off x="7799832" y="477316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80%</a:t>
            </a:r>
            <a:endParaRPr lang="en-US" sz="1500" dirty="0"/>
          </a:p>
        </p:txBody>
      </p:sp>
      <p:sp>
        <p:nvSpPr>
          <p:cNvPr id="50" name="txt-353"/>
          <p:cNvSpPr txBox="1"/>
          <p:nvPr/>
        </p:nvSpPr>
        <p:spPr>
          <a:xfrm>
            <a:off x="8961120" y="4773168"/>
            <a:ext cx="2773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do CPV em dólar; hedge de 70%</a:t>
            </a:r>
            <a:endParaRPr lang="en-US" sz="1000" dirty="0"/>
          </a:p>
        </p:txBody>
      </p:sp>
      <p:sp>
        <p:nvSpPr>
          <p:cNvPr id="51" name="sn-354"/>
          <p:cNvSpPr txBox="1"/>
          <p:nvPr/>
        </p:nvSpPr>
        <p:spPr>
          <a:xfrm>
            <a:off x="7452360" y="530352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8</a:t>
            </a:r>
            <a:endParaRPr lang="en-US" sz="900" dirty="0"/>
          </a:p>
        </p:txBody>
      </p:sp>
      <p:sp>
        <p:nvSpPr>
          <p:cNvPr id="52" name="txt-355"/>
          <p:cNvSpPr txBox="1"/>
          <p:nvPr/>
        </p:nvSpPr>
        <p:spPr>
          <a:xfrm>
            <a:off x="7799832" y="523036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—</a:t>
            </a:r>
            <a:endParaRPr lang="en-US" sz="1500" dirty="0"/>
          </a:p>
        </p:txBody>
      </p:sp>
      <p:sp>
        <p:nvSpPr>
          <p:cNvPr id="53" name="txt-356"/>
          <p:cNvSpPr txBox="1"/>
          <p:nvPr/>
        </p:nvSpPr>
        <p:spPr>
          <a:xfrm>
            <a:off x="8961120" y="5230368"/>
            <a:ext cx="2773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plug &amp; play cresce; não quantificado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Case in a nutshell: o canal protege o volume, o regime fiscal sustenta a margem e o giro decide o retorno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Três pilares explicam o modelo; o risco-chave é contratual (Dahua, dez/2028) e regulatório (incentivos, 2029–33)</a:t>
            </a:r>
            <a:endParaRPr lang="en-US" sz="1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Fonte: FRE 2026 (itens 1.2, 1.3, 1.4, 2.11, 11.3); planilha interativa 2T26; Release 2T26. Histórico; ponte do ROIC: estimativa própria. Valuation fora do escopo desta análise: campos [DATA NEEDED].</a:t>
            </a:r>
            <a:endParaRPr lang="en-US" sz="900" dirty="0"/>
          </a:p>
        </p:txBody>
      </p:sp>
      <p:sp>
        <p:nvSpPr>
          <p:cNvPr id="6" name="txt-357"/>
          <p:cNvSpPr txBox="1"/>
          <p:nvPr/>
        </p:nvSpPr>
        <p:spPr>
          <a:xfrm>
            <a:off x="45720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I. 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Canal como barreira</a:t>
            </a:r>
            <a:endParaRPr lang="en-US" sz="1300" dirty="0"/>
          </a:p>
        </p:txBody>
      </p:sp>
      <p:sp>
        <p:nvSpPr>
          <p:cNvPr id="7" name="txt-358"/>
          <p:cNvSpPr txBox="1"/>
          <p:nvPr/>
        </p:nvSpPr>
        <p:spPr>
          <a:xfrm>
            <a:off x="457200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68%</a:t>
            </a:r>
            <a:endParaRPr lang="en-US" sz="2600" dirty="0"/>
          </a:p>
        </p:txBody>
      </p:sp>
      <p:sp>
        <p:nvSpPr>
          <p:cNvPr id="8" name="txt-359"/>
          <p:cNvSpPr txBox="1"/>
          <p:nvPr/>
        </p:nvSpPr>
        <p:spPr>
          <a:xfrm>
            <a:off x="457200" y="25146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das vendas via distribuição</a:t>
            </a:r>
            <a:endParaRPr lang="en-US" sz="1000" dirty="0"/>
          </a:p>
        </p:txBody>
      </p:sp>
      <p:sp>
        <p:nvSpPr>
          <p:cNvPr id="9" name="txt-360"/>
          <p:cNvSpPr txBox="1"/>
          <p:nvPr/>
        </p:nvSpPr>
        <p:spPr>
          <a:xfrm>
            <a:off x="3063240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44%</a:t>
            </a:r>
            <a:endParaRPr lang="en-US" sz="2600" dirty="0"/>
          </a:p>
        </p:txBody>
      </p:sp>
      <p:sp>
        <p:nvSpPr>
          <p:cNvPr id="10" name="txt-361"/>
          <p:cNvSpPr txBox="1"/>
          <p:nvPr/>
        </p:nvSpPr>
        <p:spPr>
          <a:xfrm>
            <a:off x="3063240" y="25146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 share em Segurança (MIDI)</a:t>
            </a:r>
            <a:endParaRPr lang="en-US" sz="1000" dirty="0"/>
          </a:p>
        </p:txBody>
      </p:sp>
      <p:sp>
        <p:nvSpPr>
          <p:cNvPr id="11" name="txt-362"/>
          <p:cNvSpPr txBox="1"/>
          <p:nvPr/>
        </p:nvSpPr>
        <p:spPr>
          <a:xfrm>
            <a:off x="457200" y="29443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II. 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Margem de origem fiscal</a:t>
            </a:r>
            <a:endParaRPr lang="en-US" sz="1300" dirty="0"/>
          </a:p>
        </p:txBody>
      </p:sp>
      <p:sp>
        <p:nvSpPr>
          <p:cNvPr id="12" name="txt-363"/>
          <p:cNvSpPr txBox="1"/>
          <p:nvPr/>
        </p:nvSpPr>
        <p:spPr>
          <a:xfrm>
            <a:off x="457200" y="323697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93,9%</a:t>
            </a:r>
            <a:endParaRPr lang="en-US" sz="2600" dirty="0"/>
          </a:p>
        </p:txBody>
      </p:sp>
      <p:sp>
        <p:nvSpPr>
          <p:cNvPr id="13" name="txt-364"/>
          <p:cNvSpPr txBox="1"/>
          <p:nvPr/>
        </p:nvSpPr>
        <p:spPr>
          <a:xfrm>
            <a:off x="457200" y="37216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do lucro líquido = incentivos</a:t>
            </a:r>
            <a:endParaRPr lang="en-US" sz="1000" dirty="0"/>
          </a:p>
        </p:txBody>
      </p:sp>
      <p:sp>
        <p:nvSpPr>
          <p:cNvPr id="14" name="txt-365"/>
          <p:cNvSpPr txBox="1"/>
          <p:nvPr/>
        </p:nvSpPr>
        <p:spPr>
          <a:xfrm>
            <a:off x="3063240" y="323697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2029</a:t>
            </a:r>
            <a:endParaRPr lang="en-US" sz="2600" dirty="0"/>
          </a:p>
        </p:txBody>
      </p:sp>
      <p:sp>
        <p:nvSpPr>
          <p:cNvPr id="15" name="txt-366"/>
          <p:cNvSpPr txBox="1"/>
          <p:nvPr/>
        </p:nvSpPr>
        <p:spPr>
          <a:xfrm>
            <a:off x="3063240" y="37216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início dos vencimentos</a:t>
            </a:r>
            <a:endParaRPr lang="en-US" sz="1000" dirty="0"/>
          </a:p>
        </p:txBody>
      </p:sp>
      <p:sp>
        <p:nvSpPr>
          <p:cNvPr id="16" name="txt-367"/>
          <p:cNvSpPr txBox="1"/>
          <p:nvPr/>
        </p:nvSpPr>
        <p:spPr>
          <a:xfrm>
            <a:off x="457200" y="41513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III. 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Retorno depende do giro</a:t>
            </a:r>
            <a:endParaRPr lang="en-US" sz="1300" dirty="0"/>
          </a:p>
        </p:txBody>
      </p:sp>
      <p:sp>
        <p:nvSpPr>
          <p:cNvPr id="17" name="txt-368"/>
          <p:cNvSpPr txBox="1"/>
          <p:nvPr/>
        </p:nvSpPr>
        <p:spPr>
          <a:xfrm>
            <a:off x="457200" y="44439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18,8%</a:t>
            </a:r>
            <a:endParaRPr lang="en-US" sz="2600" dirty="0"/>
          </a:p>
        </p:txBody>
      </p:sp>
      <p:sp>
        <p:nvSpPr>
          <p:cNvPr id="18" name="txt-369"/>
          <p:cNvSpPr txBox="1"/>
          <p:nvPr/>
        </p:nvSpPr>
        <p:spPr>
          <a:xfrm>
            <a:off x="457200" y="49286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ROIC pré-IR (LTM 2T26)</a:t>
            </a:r>
            <a:endParaRPr lang="en-US" sz="1000" dirty="0"/>
          </a:p>
        </p:txBody>
      </p:sp>
      <p:sp>
        <p:nvSpPr>
          <p:cNvPr id="19" name="txt-370"/>
          <p:cNvSpPr txBox="1"/>
          <p:nvPr/>
        </p:nvSpPr>
        <p:spPr>
          <a:xfrm>
            <a:off x="3063240" y="44439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132 dias</a:t>
            </a:r>
            <a:endParaRPr lang="en-US" sz="2600" dirty="0"/>
          </a:p>
        </p:txBody>
      </p:sp>
      <p:sp>
        <p:nvSpPr>
          <p:cNvPr id="20" name="txt-371"/>
          <p:cNvSpPr txBox="1"/>
          <p:nvPr/>
        </p:nvSpPr>
        <p:spPr>
          <a:xfrm>
            <a:off x="3063240" y="49286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ciclo de caixa</a:t>
            </a:r>
            <a:endParaRPr lang="en-US" sz="1000" dirty="0"/>
          </a:p>
        </p:txBody>
      </p:sp>
      <p:sp>
        <p:nvSpPr>
          <p:cNvPr id="21" name="txt-372"/>
          <p:cNvSpPr txBox="1"/>
          <p:nvPr/>
        </p:nvSpPr>
        <p:spPr>
          <a:xfrm>
            <a:off x="457200" y="5349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Risco-chave: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acordo com a Dahua (36% das compras) vence em dez/2028</a:t>
            </a:r>
            <a:endParaRPr lang="en-US" sz="1100" dirty="0"/>
          </a:p>
        </p:txBody>
      </p:sp>
      <p:sp>
        <p:nvSpPr>
          <p:cNvPr id="22" name="txt-373"/>
          <p:cNvSpPr txBox="1"/>
          <p:nvPr/>
        </p:nvSpPr>
        <p:spPr>
          <a:xfrm>
            <a:off x="6126480" y="173736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ROIC pré-IR: de 31% para 15% pelo giro; volta a 18,8% com disciplina de capital</a:t>
            </a:r>
            <a:endParaRPr lang="en-US" sz="1300" dirty="0"/>
          </a:p>
        </p:txBody>
      </p:sp>
      <p:sp>
        <p:nvSpPr>
          <p:cNvPr id="23" name="rect-374"/>
          <p:cNvSpPr/>
          <p:nvPr/>
        </p:nvSpPr>
        <p:spPr>
          <a:xfrm>
            <a:off x="6294720" y="2651652"/>
            <a:ext cx="464664" cy="22403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xt-375"/>
          <p:cNvSpPr txBox="1"/>
          <p:nvPr/>
        </p:nvSpPr>
        <p:spPr>
          <a:xfrm>
            <a:off x="6066120" y="2395620"/>
            <a:ext cx="921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31,2%</a:t>
            </a:r>
            <a:endParaRPr lang="en-US" sz="1100" dirty="0"/>
          </a:p>
        </p:txBody>
      </p:sp>
      <p:sp>
        <p:nvSpPr>
          <p:cNvPr id="25" name="txt-376"/>
          <p:cNvSpPr txBox="1"/>
          <p:nvPr/>
        </p:nvSpPr>
        <p:spPr>
          <a:xfrm>
            <a:off x="6126480" y="4928616"/>
            <a:ext cx="801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2019</a:t>
            </a:r>
            <a:endParaRPr lang="en-US" sz="1000" dirty="0"/>
          </a:p>
        </p:txBody>
      </p:sp>
      <p:sp>
        <p:nvSpPr>
          <p:cNvPr id="26" name="rect-377"/>
          <p:cNvSpPr/>
          <p:nvPr/>
        </p:nvSpPr>
        <p:spPr>
          <a:xfrm>
            <a:off x="7095865" y="2651652"/>
            <a:ext cx="464664" cy="265687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7" name="hline-378"/>
          <p:cNvSpPr/>
          <p:nvPr/>
        </p:nvSpPr>
        <p:spPr>
          <a:xfrm>
            <a:off x="6759385" y="2651652"/>
            <a:ext cx="336481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dash"/>
          </a:ln>
        </p:spPr>
      </p:sp>
      <p:sp>
        <p:nvSpPr>
          <p:cNvPr id="28" name="txt-379"/>
          <p:cNvSpPr txBox="1"/>
          <p:nvPr/>
        </p:nvSpPr>
        <p:spPr>
          <a:xfrm>
            <a:off x="6867265" y="2395620"/>
            <a:ext cx="921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−3,7</a:t>
            </a:r>
            <a:endParaRPr lang="en-US" sz="1100" dirty="0"/>
          </a:p>
        </p:txBody>
      </p:sp>
      <p:sp>
        <p:nvSpPr>
          <p:cNvPr id="29" name="txt-380"/>
          <p:cNvSpPr txBox="1"/>
          <p:nvPr/>
        </p:nvSpPr>
        <p:spPr>
          <a:xfrm>
            <a:off x="6927625" y="4928616"/>
            <a:ext cx="801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Margem</a:t>
            </a:r>
            <a:endParaRPr lang="en-US" sz="1000" dirty="0"/>
          </a:p>
        </p:txBody>
      </p:sp>
      <p:sp>
        <p:nvSpPr>
          <p:cNvPr id="30" name="rect-381"/>
          <p:cNvSpPr/>
          <p:nvPr/>
        </p:nvSpPr>
        <p:spPr>
          <a:xfrm>
            <a:off x="7897011" y="2917339"/>
            <a:ext cx="464664" cy="88323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1" name="hline-382"/>
          <p:cNvSpPr/>
          <p:nvPr/>
        </p:nvSpPr>
        <p:spPr>
          <a:xfrm>
            <a:off x="7560530" y="2917339"/>
            <a:ext cx="336481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dash"/>
          </a:ln>
        </p:spPr>
      </p:sp>
      <p:sp>
        <p:nvSpPr>
          <p:cNvPr id="32" name="txt-383"/>
          <p:cNvSpPr txBox="1"/>
          <p:nvPr/>
        </p:nvSpPr>
        <p:spPr>
          <a:xfrm>
            <a:off x="7668411" y="2661307"/>
            <a:ext cx="921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−12,3</a:t>
            </a:r>
            <a:endParaRPr lang="en-US" sz="1100" dirty="0"/>
          </a:p>
        </p:txBody>
      </p:sp>
      <p:sp>
        <p:nvSpPr>
          <p:cNvPr id="33" name="txt-384"/>
          <p:cNvSpPr txBox="1"/>
          <p:nvPr/>
        </p:nvSpPr>
        <p:spPr>
          <a:xfrm>
            <a:off x="7728770" y="4928616"/>
            <a:ext cx="801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Giro</a:t>
            </a:r>
            <a:endParaRPr lang="en-US" sz="1000" dirty="0"/>
          </a:p>
        </p:txBody>
      </p:sp>
      <p:sp>
        <p:nvSpPr>
          <p:cNvPr id="34" name="rect-385"/>
          <p:cNvSpPr/>
          <p:nvPr/>
        </p:nvSpPr>
        <p:spPr>
          <a:xfrm>
            <a:off x="8698156" y="3807750"/>
            <a:ext cx="464664" cy="108429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5" name="hline-386"/>
          <p:cNvSpPr/>
          <p:nvPr/>
        </p:nvSpPr>
        <p:spPr>
          <a:xfrm>
            <a:off x="8361675" y="3807750"/>
            <a:ext cx="336481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dash"/>
          </a:ln>
        </p:spPr>
      </p:sp>
      <p:sp>
        <p:nvSpPr>
          <p:cNvPr id="36" name="txt-387"/>
          <p:cNvSpPr txBox="1"/>
          <p:nvPr/>
        </p:nvSpPr>
        <p:spPr>
          <a:xfrm>
            <a:off x="8469556" y="3551718"/>
            <a:ext cx="921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15,1%</a:t>
            </a:r>
            <a:endParaRPr lang="en-US" sz="1100" dirty="0"/>
          </a:p>
        </p:txBody>
      </p:sp>
      <p:sp>
        <p:nvSpPr>
          <p:cNvPr id="37" name="txt-388"/>
          <p:cNvSpPr txBox="1"/>
          <p:nvPr/>
        </p:nvSpPr>
        <p:spPr>
          <a:xfrm>
            <a:off x="8529915" y="4928616"/>
            <a:ext cx="801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2025</a:t>
            </a:r>
            <a:endParaRPr lang="en-US" sz="1000" dirty="0"/>
          </a:p>
        </p:txBody>
      </p:sp>
      <p:sp>
        <p:nvSpPr>
          <p:cNvPr id="38" name="rect-389"/>
          <p:cNvSpPr/>
          <p:nvPr/>
        </p:nvSpPr>
        <p:spPr>
          <a:xfrm>
            <a:off x="9499301" y="3606689"/>
            <a:ext cx="464664" cy="2010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9" name="hline-390"/>
          <p:cNvSpPr/>
          <p:nvPr/>
        </p:nvSpPr>
        <p:spPr>
          <a:xfrm>
            <a:off x="9162820" y="3807750"/>
            <a:ext cx="336481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dash"/>
          </a:ln>
        </p:spPr>
      </p:sp>
      <p:sp>
        <p:nvSpPr>
          <p:cNvPr id="40" name="txt-391"/>
          <p:cNvSpPr txBox="1"/>
          <p:nvPr/>
        </p:nvSpPr>
        <p:spPr>
          <a:xfrm>
            <a:off x="9270701" y="3350657"/>
            <a:ext cx="921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+2,8</a:t>
            </a:r>
            <a:endParaRPr lang="en-US" sz="1100" dirty="0"/>
          </a:p>
        </p:txBody>
      </p:sp>
      <p:sp>
        <p:nvSpPr>
          <p:cNvPr id="41" name="txt-392"/>
          <p:cNvSpPr txBox="1"/>
          <p:nvPr/>
        </p:nvSpPr>
        <p:spPr>
          <a:xfrm>
            <a:off x="9331060" y="4928616"/>
            <a:ext cx="801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Margem</a:t>
            </a:r>
            <a:endParaRPr lang="en-US" sz="1000" dirty="0"/>
          </a:p>
        </p:txBody>
      </p:sp>
      <p:sp>
        <p:nvSpPr>
          <p:cNvPr id="42" name="rect-393"/>
          <p:cNvSpPr/>
          <p:nvPr/>
        </p:nvSpPr>
        <p:spPr>
          <a:xfrm>
            <a:off x="10300446" y="3542063"/>
            <a:ext cx="464664" cy="64627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3" name="hline-394"/>
          <p:cNvSpPr/>
          <p:nvPr/>
        </p:nvSpPr>
        <p:spPr>
          <a:xfrm>
            <a:off x="9963965" y="3606689"/>
            <a:ext cx="336481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dash"/>
          </a:ln>
        </p:spPr>
      </p:sp>
      <p:sp>
        <p:nvSpPr>
          <p:cNvPr id="44" name="txt-395"/>
          <p:cNvSpPr txBox="1"/>
          <p:nvPr/>
        </p:nvSpPr>
        <p:spPr>
          <a:xfrm>
            <a:off x="10071846" y="3286031"/>
            <a:ext cx="921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+0,9</a:t>
            </a:r>
            <a:endParaRPr lang="en-US" sz="1100" dirty="0"/>
          </a:p>
        </p:txBody>
      </p:sp>
      <p:sp>
        <p:nvSpPr>
          <p:cNvPr id="45" name="txt-396"/>
          <p:cNvSpPr txBox="1"/>
          <p:nvPr/>
        </p:nvSpPr>
        <p:spPr>
          <a:xfrm>
            <a:off x="10132205" y="4928616"/>
            <a:ext cx="801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Giro</a:t>
            </a:r>
            <a:endParaRPr lang="en-US" sz="1000" dirty="0"/>
          </a:p>
        </p:txBody>
      </p:sp>
      <p:sp>
        <p:nvSpPr>
          <p:cNvPr id="46" name="rect-397"/>
          <p:cNvSpPr/>
          <p:nvPr/>
        </p:nvSpPr>
        <p:spPr>
          <a:xfrm>
            <a:off x="11101591" y="3542063"/>
            <a:ext cx="464664" cy="1349977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7" name="hline-398"/>
          <p:cNvSpPr/>
          <p:nvPr/>
        </p:nvSpPr>
        <p:spPr>
          <a:xfrm>
            <a:off x="10765110" y="3542063"/>
            <a:ext cx="336481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dash"/>
          </a:ln>
        </p:spPr>
      </p:sp>
      <p:sp>
        <p:nvSpPr>
          <p:cNvPr id="48" name="txt-399"/>
          <p:cNvSpPr txBox="1"/>
          <p:nvPr/>
        </p:nvSpPr>
        <p:spPr>
          <a:xfrm>
            <a:off x="10872991" y="3286031"/>
            <a:ext cx="921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18,8%</a:t>
            </a:r>
            <a:endParaRPr lang="en-US" sz="1100" dirty="0"/>
          </a:p>
        </p:txBody>
      </p:sp>
      <p:sp>
        <p:nvSpPr>
          <p:cNvPr id="49" name="txt-400"/>
          <p:cNvSpPr txBox="1"/>
          <p:nvPr/>
        </p:nvSpPr>
        <p:spPr>
          <a:xfrm>
            <a:off x="10933350" y="4928616"/>
            <a:ext cx="801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LTM 2T26</a:t>
            </a:r>
            <a:endParaRPr lang="en-US" sz="1000" dirty="0"/>
          </a:p>
        </p:txBody>
      </p:sp>
      <p:sp>
        <p:nvSpPr>
          <p:cNvPr id="50" name="hline-401"/>
          <p:cNvSpPr/>
          <p:nvPr/>
        </p:nvSpPr>
        <p:spPr>
          <a:xfrm>
            <a:off x="6126480" y="4892040"/>
            <a:ext cx="560801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51" name="val-402"/>
          <p:cNvSpPr/>
          <p:nvPr/>
        </p:nvSpPr>
        <p:spPr>
          <a:xfrm>
            <a:off x="457200" y="5687568"/>
            <a:ext cx="2647874" cy="548640"/>
          </a:xfrm>
          <a:prstGeom prst="rect">
            <a:avLst/>
          </a:prstGeom>
          <a:ln w="9525">
            <a:solidFill>
              <a:schemeClr val="accent3"/>
            </a:solidFill>
            <a:prstDash val="solid"/>
          </a:ln>
        </p:spPr>
      </p:sp>
      <p:sp>
        <p:nvSpPr>
          <p:cNvPr id="52" name="txt-403"/>
          <p:cNvSpPr txBox="1"/>
          <p:nvPr/>
        </p:nvSpPr>
        <p:spPr>
          <a:xfrm>
            <a:off x="566928" y="5687568"/>
            <a:ext cx="2428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Múltiplo de entrada  </a:t>
            </a:r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[DATA NEEDED]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EV/EBIT atual (Bloomberg/consenso)</a:t>
            </a:r>
            <a:endParaRPr lang="en-US" sz="1000" dirty="0"/>
          </a:p>
        </p:txBody>
      </p:sp>
      <p:sp>
        <p:nvSpPr>
          <p:cNvPr id="53" name="val-404"/>
          <p:cNvSpPr/>
          <p:nvPr/>
        </p:nvSpPr>
        <p:spPr>
          <a:xfrm>
            <a:off x="3333674" y="5687568"/>
            <a:ext cx="2647874" cy="548640"/>
          </a:xfrm>
          <a:prstGeom prst="rect">
            <a:avLst/>
          </a:prstGeom>
          <a:ln w="9525">
            <a:solidFill>
              <a:schemeClr val="accent3"/>
            </a:solidFill>
            <a:prstDash val="solid"/>
          </a:ln>
        </p:spPr>
      </p:sp>
      <p:sp>
        <p:nvSpPr>
          <p:cNvPr id="54" name="txt-405"/>
          <p:cNvSpPr txBox="1"/>
          <p:nvPr/>
        </p:nvSpPr>
        <p:spPr>
          <a:xfrm>
            <a:off x="3443402" y="5687568"/>
            <a:ext cx="2428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TIR  </a:t>
            </a:r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[DATA NEEDED]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modelo de valuation (fluxo de caixa)</a:t>
            </a:r>
            <a:endParaRPr lang="en-US" sz="1000" dirty="0"/>
          </a:p>
        </p:txBody>
      </p:sp>
      <p:sp>
        <p:nvSpPr>
          <p:cNvPr id="55" name="val-406"/>
          <p:cNvSpPr/>
          <p:nvPr/>
        </p:nvSpPr>
        <p:spPr>
          <a:xfrm>
            <a:off x="6210148" y="5687568"/>
            <a:ext cx="2647874" cy="548640"/>
          </a:xfrm>
          <a:prstGeom prst="rect">
            <a:avLst/>
          </a:prstGeom>
          <a:ln w="9525">
            <a:solidFill>
              <a:schemeClr val="accent3"/>
            </a:solidFill>
            <a:prstDash val="solid"/>
          </a:ln>
        </p:spPr>
      </p:sp>
      <p:sp>
        <p:nvSpPr>
          <p:cNvPr id="56" name="txt-407"/>
          <p:cNvSpPr txBox="1"/>
          <p:nvPr/>
        </p:nvSpPr>
        <p:spPr>
          <a:xfrm>
            <a:off x="6319876" y="5687568"/>
            <a:ext cx="2428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Custo do equity  </a:t>
            </a:r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[DATA NEEDED]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NTN-B + beta × prêmio de risco</a:t>
            </a:r>
            <a:endParaRPr lang="en-US" sz="1000" dirty="0"/>
          </a:p>
        </p:txBody>
      </p:sp>
      <p:sp>
        <p:nvSpPr>
          <p:cNvPr id="57" name="val-408"/>
          <p:cNvSpPr/>
          <p:nvPr/>
        </p:nvSpPr>
        <p:spPr>
          <a:xfrm>
            <a:off x="9086621" y="5687568"/>
            <a:ext cx="2647874" cy="548640"/>
          </a:xfrm>
          <a:prstGeom prst="rect">
            <a:avLst/>
          </a:prstGeom>
          <a:ln w="9525">
            <a:solidFill>
              <a:schemeClr val="accent3"/>
            </a:solidFill>
            <a:prstDash val="solid"/>
          </a:ln>
        </p:spPr>
      </p:sp>
      <p:sp>
        <p:nvSpPr>
          <p:cNvPr id="58" name="txt-409"/>
          <p:cNvSpPr txBox="1"/>
          <p:nvPr/>
        </p:nvSpPr>
        <p:spPr>
          <a:xfrm>
            <a:off x="9196349" y="5687568"/>
            <a:ext cx="2428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Múltiplo de saída  </a:t>
            </a:r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[DATA NEEDED]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EV/EBIT de pares no horizonte</a:t>
            </a:r>
            <a:endParaRPr lang="en-US" sz="1000" dirty="0"/>
          </a:p>
        </p:txBody>
      </p:sp>
      <p:sp>
        <p:nvSpPr>
          <p:cNvPr id="59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72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Fontes, definições e classificação dos dados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133856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Todos os números do deck têm origem rastreável; estimativas próprias estão marcadas como tal</a:t>
            </a:r>
            <a:endParaRPr lang="en-US" sz="1400" dirty="0"/>
          </a:p>
        </p:txBody>
      </p:sp>
      <p:sp>
        <p:nvSpPr>
          <p:cNvPr id="5" name="txt-410"/>
          <p:cNvSpPr txBox="1"/>
          <p:nvPr/>
        </p:nvSpPr>
        <p:spPr>
          <a:xfrm>
            <a:off x="457200" y="17830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Fontes primárias (companhia)</a:t>
            </a:r>
            <a:endParaRPr lang="en-US" sz="1300" dirty="0"/>
          </a:p>
        </p:txBody>
      </p:sp>
      <p:sp>
        <p:nvSpPr>
          <p:cNvPr id="6" name="txt-411"/>
          <p:cNvSpPr txBox="1"/>
          <p:nvPr/>
        </p:nvSpPr>
        <p:spPr>
          <a:xfrm>
            <a:off x="457200" y="2103120"/>
            <a:ext cx="541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Formulário de Referência 2026, versão 2: itens 1.1–1.6, 2.2, 2.10–2.11, 4.1–4.2, 5.1, 7.3, 11.2–11.3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Planilha interativa 2T26: DRE, BP, DFC, indicadores anuais e trimestrais, receita por segmento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Release de Resultados 2T26 (29/07/2026)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Apresentação BTG CEO Conference (mai/2021): mix de canais 2020 e margens 2017–20</a:t>
            </a:r>
            <a:endParaRPr lang="en-US" sz="1100" dirty="0"/>
          </a:p>
        </p:txBody>
      </p:sp>
      <p:sp>
        <p:nvSpPr>
          <p:cNvPr id="7" name="txt-412"/>
          <p:cNvSpPr txBox="1"/>
          <p:nvPr/>
        </p:nvSpPr>
        <p:spPr>
          <a:xfrm>
            <a:off x="457200" y="37947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Fontes externas (validação)</a:t>
            </a:r>
            <a:endParaRPr lang="en-US" sz="1300" dirty="0"/>
          </a:p>
        </p:txBody>
      </p:sp>
      <p:sp>
        <p:nvSpPr>
          <p:cNvPr id="8" name="txt-413"/>
          <p:cNvSpPr txBox="1"/>
          <p:nvPr/>
        </p:nvSpPr>
        <p:spPr>
          <a:xfrm>
            <a:off x="457200" y="4114800"/>
            <a:ext cx="541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FilingReader (15/08/2025): Dahua autoriza venda de 7,56%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Nord Research: Dahua = 28,6% das compras em 2021 (citando FRE 2022)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Teletime (27/04/2026): investimento de R$200 mi em Manaus</a:t>
            </a:r>
            <a:endParaRPr lang="en-US" sz="1100" dirty="0"/>
          </a:p>
        </p:txBody>
      </p:sp>
      <p:sp>
        <p:nvSpPr>
          <p:cNvPr id="9" name="txt-414"/>
          <p:cNvSpPr txBox="1"/>
          <p:nvPr/>
        </p:nvSpPr>
        <p:spPr>
          <a:xfrm>
            <a:off x="6324448" y="17830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Definições</a:t>
            </a:r>
            <a:endParaRPr lang="en-US" sz="1300" dirty="0"/>
          </a:p>
        </p:txBody>
      </p:sp>
      <p:sp>
        <p:nvSpPr>
          <p:cNvPr id="10" name="txt-415"/>
          <p:cNvSpPr txBox="1"/>
          <p:nvPr/>
        </p:nvSpPr>
        <p:spPr>
          <a:xfrm>
            <a:off x="6324448" y="2103120"/>
            <a:ext cx="541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ROIC pré-IR = EBIT ÷ (dívida líquida + PL), definição da companhia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Ciclo de caixa = DSO + DIO − DPO; DPO inclui risco sacado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Capital de giro operacional = recebíveis + estoques − fornecedores − risco sacado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Market share = MIDI, metodologia interna baseada em importações (Comex Stat), em R$, não independente</a:t>
            </a:r>
            <a:endParaRPr lang="en-US" sz="1100" dirty="0"/>
          </a:p>
        </p:txBody>
      </p:sp>
      <p:sp>
        <p:nvSpPr>
          <p:cNvPr id="11" name="txt-416"/>
          <p:cNvSpPr txBox="1"/>
          <p:nvPr/>
        </p:nvSpPr>
        <p:spPr>
          <a:xfrm>
            <a:off x="6324448" y="37947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Classificação dos números</a:t>
            </a:r>
            <a:endParaRPr lang="en-US" sz="1300" dirty="0"/>
          </a:p>
        </p:txBody>
      </p:sp>
      <p:sp>
        <p:nvSpPr>
          <p:cNvPr id="12" name="txt-417"/>
          <p:cNvSpPr txBox="1"/>
          <p:nvPr/>
        </p:nvSpPr>
        <p:spPr>
          <a:xfrm>
            <a:off x="6324448" y="4114800"/>
            <a:ext cx="541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Histórico: FRE, planilha e release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Dado da companhia: market share, NPS, reconhecimento de marca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Estimativa própria: pontes de margem e ROIC, sensibilidades, compra por revendedor, matriz de risco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</a:rPr>
              <a:t>Consenso e guidance: não utilizados; valuation fora do escopo ([DATA NEEDED])</a:t>
            </a:r>
            <a:endParaRPr lang="en-US" sz="1100" dirty="0"/>
          </a:p>
        </p:txBody>
      </p:sp>
      <p:sp>
        <p:nvSpPr>
          <p:cNvPr id="13" name="Text 1"/>
          <p:cNvSpPr/>
          <p:nvPr>
            <p:ph idx="103" type="body" hasCustomPrompt="1"/>
          </p:nvPr>
        </p:nvSpPr>
        <p:spPr>
          <a:xfrm>
            <a:off x="457200" y="585216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4" name="Text 1"/>
          <p:cNvSpPr/>
          <p:nvPr>
            <p:ph idx="104" type="body" hasCustomPrompt="1"/>
          </p:nvPr>
        </p:nvSpPr>
        <p:spPr>
          <a:xfrm>
            <a:off x="457200" y="6309360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09360"/>
            <a:ext cx="3474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B3 Equity Research">
  <a:themeElements>
    <a:clrScheme name="INTB3 Equity Research">
      <a:dk1>
        <a:srgbClr val="1A1A1A"/>
      </a:dk1>
      <a:lt1>
        <a:srgbClr val="FFFFFF"/>
      </a:lt1>
      <a:dk2>
        <a:srgbClr val="111513"/>
      </a:dk2>
      <a:lt2>
        <a:srgbClr val="EFEFEF"/>
      </a:lt2>
      <a:accent1>
        <a:srgbClr val="009B4E"/>
      </a:accent1>
      <a:accent2>
        <a:srgbClr val="7CC79A"/>
      </a:accent2>
      <a:accent3>
        <a:srgbClr val="4D4D4D"/>
      </a:accent3>
      <a:accent4>
        <a:srgbClr val="8C8C8C"/>
      </a:accent4>
      <a:accent5>
        <a:srgbClr val="C8C8C8"/>
      </a:accent5>
      <a:accent6>
        <a:srgbClr val="006B35"/>
      </a:accent6>
      <a:hlink>
        <a:srgbClr val="009B4E"/>
      </a:hlink>
      <a:folHlink>
        <a:srgbClr val="8C8C8C"/>
      </a:folHlink>
    </a:clrScheme>
    <a:fontScheme name="INTB3 Equity Resear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Intelbras (INTB3) — Modelo de negócios</dc:title>
  <dc:subject>PptxGenJS Presentation</dc:subject>
  <dc:creator>Equity Research</dc:creator>
  <cp:lastModifiedBy>Equity Research</cp:lastModifiedBy>
  <cp:revision>1</cp:revision>
  <dcterms:created xsi:type="dcterms:W3CDTF">2026-10-04T12:05:32Z</dcterms:created>
  <dcterms:modified xsi:type="dcterms:W3CDTF">2026-10-04T12:05:32Z</dcterms:modified>
</cp:coreProperties>
</file>