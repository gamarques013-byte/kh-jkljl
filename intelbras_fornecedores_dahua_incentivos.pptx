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sldIdLst>
    <p:sldId id="280" r:id="rId13"/>
    <p:sldId id="279" r:id="rId3"/>
    <p:sldId id="281" r:id="rId14"/>
    <p:sldId id="27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58672B-220E-4724-AF36-31A7AEC243DC}" v="1" dt="2026-10-04T16:11:59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14" y="14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arques" userId="1d9ea02e7d99515e" providerId="LiveId" clId="{7D7F225A-F182-4246-BCF5-AE16DC506AED}"/>
    <pc:docChg chg="addSld delSld modSld">
      <pc:chgData name="Gabriel Marques" userId="1d9ea02e7d99515e" providerId="LiveId" clId="{7D7F225A-F182-4246-BCF5-AE16DC506AED}" dt="2026-10-04T16:11:59.972" v="1"/>
      <pc:docMkLst>
        <pc:docMk/>
      </pc:docMkLst>
      <pc:sldChg chg="add">
        <pc:chgData name="Gabriel Marques" userId="1d9ea02e7d99515e" providerId="LiveId" clId="{7D7F225A-F182-4246-BCF5-AE16DC506AED}" dt="2026-10-04T16:11:59.972" v="1"/>
        <pc:sldMkLst>
          <pc:docMk/>
          <pc:sldMk cId="1076457472" sldId="259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3949088512" sldId="262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3611808962" sldId="278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2098809387" sldId="279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0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1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2"/>
        </pc:sldMkLst>
      </pc:sldChg>
    </pc:docChg>
  </pc:docChgLst>
</pc:chgInfo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dos gastos com fornecedores</c:v>
                </c:pt>
              </c:strCache>
            </c:strRef>
          </c:tx>
          <c:spPr>
            <a:ln w="31750">
              <a:solidFill>
                <a:srgbClr val="009F41"/>
              </a:solidFill>
              <a:prstDash val="dash"/>
              <a:round/>
            </a:ln>
          </c:spPr>
          <c:marker>
            <c:symbol val="none"/>
          </c:marker>
          <c:dPt>
            <c:idx val="4"/>
            <c:marker>
              <c:symbol val="circle"/>
              <c:size val="7"/>
            </c:marker>
            <c:bubble3D val="0"/>
            <c:extLst>
              <c:ext xmlns:c16="http://schemas.microsoft.com/office/drawing/2014/chart" uri="{C3380CC4-5D6E-409C-BE32-E72D297353CC}">
                <c16:uniqueId val="{00000001-509B-4120-B1A7-B32E93D8FE3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009F41"/>
                        </a:solidFill>
                      </a:rPr>
                      <a:t>28,6%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09B-4120-B1A7-B32E93D8FE3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009F41"/>
                        </a:solidFill>
                      </a:rPr>
                      <a:t>36%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09B-4120-B1A7-B32E93D8FE3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28.6</c:v>
                </c:pt>
                <c:pt idx="4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9B-4120-B1A7-B32E93D8FE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do custo dos produtos vendidos</c:v>
                </c:pt>
              </c:strCache>
            </c:strRef>
          </c:tx>
          <c:spPr>
            <a:ln w="31750">
              <a:solidFill>
                <a:srgbClr val="1A1A1A"/>
              </a:solidFill>
            </a:ln>
          </c:spPr>
          <c:marker>
            <c:symbol val="circle"/>
            <c:size val="7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A1A1A"/>
                        </a:solidFill>
                      </a:rPr>
                      <a:t>24%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09B-4120-B1A7-B32E93D8FE3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A1A1A"/>
                        </a:solidFill>
                      </a:rPr>
                      <a:t>22%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09B-4120-B1A7-B32E93D8FE3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A1A1A"/>
                        </a:solidFill>
                      </a:rPr>
                      <a:t>19%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09B-4120-B1A7-B32E93D8FE3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000" b="1" dirty="0">
                        <a:solidFill>
                          <a:srgbClr val="1A1A1A"/>
                        </a:solidFill>
                      </a:rPr>
                      <a:t>36%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09B-4120-B1A7-B32E93D8FE3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A1A1A"/>
                        </a:solidFill>
                      </a:rPr>
                      <a:t>23%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09B-4120-B1A7-B32E93D8FE3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23.6</c:v>
                </c:pt>
                <c:pt idx="1">
                  <c:v>21.9</c:v>
                </c:pt>
                <c:pt idx="2">
                  <c:v>19.3</c:v>
                </c:pt>
                <c:pt idx="3">
                  <c:v>36</c:v>
                </c:pt>
                <c:pt idx="4">
                  <c:v>23.4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09B-4120-B1A7-B32E93D8FE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4"/>
          <c:min val="1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8E1F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C8F3-4547-A529-7D008E17DCFF}"/>
              </c:ext>
            </c:extLst>
          </c:dPt>
          <c:dPt>
            <c:idx val="1"/>
            <c:invertIfNegative val="1"/>
            <c:bubble3D val="0"/>
            <c:spPr>
              <a:solidFill>
                <a:srgbClr val="595959"/>
              </a:solidFill>
            </c:spPr>
            <c:extLst>
              <c:ext xmlns:c16="http://schemas.microsoft.com/office/drawing/2014/chart" uri="{C3380CC4-5D6E-409C-BE32-E72D297353CC}">
                <c16:uniqueId val="{00000002-C8F3-4547-A529-7D008E17DCFF}"/>
              </c:ext>
            </c:extLst>
          </c:dPt>
          <c:dPt>
            <c:idx val="2"/>
            <c:invertIfNegative val="1"/>
            <c:bubble3D val="0"/>
            <c:spPr>
              <a:solidFill>
                <a:srgbClr val="595959"/>
              </a:solidFill>
            </c:spPr>
            <c:extLst>
              <c:ext xmlns:c16="http://schemas.microsoft.com/office/drawing/2014/chart" uri="{C3380CC4-5D6E-409C-BE32-E72D297353CC}">
                <c16:uniqueId val="{00000004-C8F3-4547-A529-7D008E17DCFF}"/>
              </c:ext>
            </c:extLst>
          </c:dPt>
          <c:dPt>
            <c:idx val="3"/>
            <c:invertIfNegative val="1"/>
            <c:bubble3D val="0"/>
            <c:spPr>
              <a:solidFill>
                <a:srgbClr val="A6A6A6"/>
              </a:solidFill>
            </c:spPr>
            <c:extLst>
              <c:ext xmlns:c16="http://schemas.microsoft.com/office/drawing/2014/chart" uri="{C3380CC4-5D6E-409C-BE32-E72D297353CC}">
                <c16:uniqueId val="{00000006-C8F3-4547-A529-7D008E17DCFF}"/>
              </c:ext>
            </c:extLst>
          </c:dPt>
          <c:dPt>
            <c:idx val="4"/>
            <c:invertIfNegative val="1"/>
            <c:bubble3D val="0"/>
            <c:spPr>
              <a:solidFill>
                <a:srgbClr val="A6A6A6"/>
              </a:solidFill>
            </c:spPr>
            <c:extLst>
              <c:ext xmlns:c16="http://schemas.microsoft.com/office/drawing/2014/chart" uri="{C3380CC4-5D6E-409C-BE32-E72D297353CC}">
                <c16:uniqueId val="{00000008-C8F3-4547-A529-7D008E17DCFF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ICMS AM (ZFM, 2073)</c:v>
                </c:pt>
                <c:pt idx="1">
                  <c:v>ICMS SC (2032)</c:v>
                </c:pt>
                <c:pt idx="2">
                  <c:v>Lei de TICs (2029)</c:v>
                </c:pt>
                <c:pt idx="3">
                  <c:v>ICMS MG (2032)</c:v>
                </c:pt>
                <c:pt idx="4">
                  <c:v>ICMS PE (2032)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123.6</c:v>
                </c:pt>
                <c:pt idx="2">
                  <c:v>123.3</c:v>
                </c:pt>
                <c:pt idx="3">
                  <c:v>24.6</c:v>
                </c:pt>
                <c:pt idx="4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8F3-4547-A529-7D008E17DC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1A1A1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3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Lei de TICs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2025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123.3</c:v>
                </c:pt>
                <c:pt idx="1">
                  <c:v>123.3</c:v>
                </c:pt>
                <c:pt idx="2">
                  <c:v>123.3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3-4AB7-A9E6-DA47A57FE4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ICMS SC, MG e PE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2025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156.30000000000001</c:v>
                </c:pt>
                <c:pt idx="1">
                  <c:v>156.30000000000001</c:v>
                </c:pt>
                <c:pt idx="2">
                  <c:v>140.69999999999999</c:v>
                </c:pt>
                <c:pt idx="3">
                  <c:v>125</c:v>
                </c:pt>
                <c:pt idx="4">
                  <c:v>109.4</c:v>
                </c:pt>
                <c:pt idx="5">
                  <c:v>93.8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A3-4AB7-A9E6-DA47A57FE4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ICMS AM (ZFM)</c:v>
                </c:pt>
              </c:strCache>
            </c:strRef>
          </c:tx>
          <c:spPr>
            <a:solidFill>
              <a:srgbClr val="3E8E1F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2025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180</c:v>
                </c:pt>
                <c:pt idx="1">
                  <c:v>180</c:v>
                </c:pt>
                <c:pt idx="2">
                  <c:v>180</c:v>
                </c:pt>
                <c:pt idx="3">
                  <c:v>180</c:v>
                </c:pt>
                <c:pt idx="4">
                  <c:v>180</c:v>
                </c:pt>
                <c:pt idx="5">
                  <c:v>180</c:v>
                </c:pt>
                <c:pt idx="6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A3-4AB7-A9E6-DA47A57FE44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1A1A1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8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8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A1A1A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A1A1A"/>
                        </a:solidFill>
                      </a:rPr>
                      <a:t>~80%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A1A1A"/>
                        </a:solidFill>
                      </a:rPr>
                      <a:t>92%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09F41"/>
                        </a:solidFill>
                      </a:rPr>
                      <a:t>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Custo dos produtos vendidos</c:v>
                </c:pt>
                <c:pt idx="1">
                  <c:v>Contas a pagar a fornecedores</c:v>
                </c:pt>
                <c:pt idx="2">
                  <c:v>Contas a receber de clientes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92</c:v>
                </c:pt>
                <c:pt idx="2">
                  <c:v>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A1A1A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A1A1A"/>
                        </a:solidFill>
                      </a:rPr>
                      <a:t>11.594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A1A1A"/>
                        </a:solidFill>
                      </a:rPr>
                      <a:t>&gt;10.000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09F41"/>
                        </a:solidFill>
                      </a:rPr>
                      <a:t>&gt;600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Dahua (2025)</c:v>
                </c:pt>
                <c:pt idx="1">
                  <c:v>FiberHome (2023)</c:v>
                </c:pt>
                <c:pt idx="2">
                  <c:v>Intelbras (2025)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11594</c:v>
                </c:pt>
                <c:pt idx="1">
                  <c:v>10000</c:v>
                </c:pt>
                <c:pt idx="2">
                  <c:v>600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5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spPr>
              <a:solidFill>
                <a:srgbClr val="1A1A1A"/>
              </a:solidFill>
            </c:spPr>
          </c:dPt>
          <c:dPt>
            <c:idx val="1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</a:rPr>
                      <a:t>85%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</a:rPr>
                      <a:t>15%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Comprado de terceiros</c:v>
                </c:pt>
                <c:pt idx="1">
                  <c:v>Fábrica própria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85.5</c:v>
                </c:pt>
                <c:pt idx="1">
                  <c:v>14.5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Gasto</c:v>
                </c:pt>
              </c:strCache>
            </c:strRef>
          </c:tx>
          <c:spPr>
            <a:solidFill>
              <a:srgbClr val="BFBFBF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595959"/>
                        </a:solidFill>
                      </a:rPr>
                      <a:t>451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595959"/>
                        </a:solidFill>
                      </a:rPr>
                      <a:t>179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Produção local</c:v>
                </c:pt>
                <c:pt idx="1">
                  <c:v>P&amp;D local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451</c:v>
                </c:pt>
                <c:pt idx="1">
                  <c:v>179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Incentivo que destrava</c:v>
                </c:pt>
              </c:strCache>
            </c:strRef>
          </c:tx>
          <c:spPr>
            <a:solidFill>
              <a:srgbClr val="009F41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9F41"/>
                        </a:solidFill>
                      </a:rPr>
                      <a:t>ICMS 336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9F41"/>
                        </a:solidFill>
                      </a:rPr>
                      <a:t>TICs 123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Produção local</c:v>
                </c:pt>
                <c:pt idx="1">
                  <c:v>P&amp;D local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336</c:v>
                </c:pt>
                <c:pt idx="1">
                  <c:v>123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4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5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Reportada</c:v>
                </c:pt>
              </c:strCache>
            </c:strRef>
          </c:tx>
          <c:spPr>
            <a:solidFill>
              <a:srgbClr val="BFBFBF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11,7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12,7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11,4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9,5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11.7</c:v>
                </c:pt>
                <c:pt idx="1">
                  <c:v>10.9</c:v>
                </c:pt>
                <c:pt idx="2">
                  <c:v>12.7</c:v>
                </c:pt>
                <c:pt idx="3">
                  <c:v>11.4</c:v>
                </c:pt>
                <c:pt idx="4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 incentivos</c:v>
                </c:pt>
              </c:strCache>
            </c:strRef>
          </c:tx>
          <c:spPr>
            <a:solidFill>
              <a:srgbClr val="009F41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0,6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-0,8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</c:v>
                </c:pt>
                <c:pt idx="1">
                  <c:v>1.9</c:v>
                </c:pt>
                <c:pt idx="2">
                  <c:v>2.1</c:v>
                </c:pt>
                <c:pt idx="3">
                  <c:v>0.6</c:v>
                </c:pt>
                <c:pt idx="4">
                  <c:v>-0.8</c:v>
                </c:pt>
              </c:numCache>
            </c:numRef>
          </c:val>
        </c:ser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-3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/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28835-0813-47C1-8179-7B192D0834C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38EA8-CAB9-4394-A5EA-6EE33784B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0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(≈1 min) — Fornecedores</a:t>
            </a:r>
          </a:p>
          <a:p/>
          <a:p>
            <a:r>
              <a:t>ABERTURA (5s)</a:t>
            </a:r>
          </a:p>
          <a:p>
            <a:r>
              <a:t>"A Intelbras tem pouco poder de barganha com quem vende para ela. Três provas."</a:t>
            </a:r>
          </a:p>
          <a:p/>
          <a:p>
            <a:r>
              <a:t>I. (percorra as barras de cima para baixo, 25s)</a:t>
            </a:r>
          </a:p>
          <a:p>
            <a:r>
              <a:t>"Primeira: poucos fabricantes no mundo.</a:t>
            </a:r>
          </a:p>
          <a:p>
            <a:r>
              <a:t>• Os chips vêm de Taiwan, Coreia e EUA: a TSMC fabrica 70% de tudo, e três empresas fazem 92% da memória.</a:t>
            </a:r>
          </a:p>
          <a:p>
            <a:r>
              <a:t>• Os produtos prontos e os insumos de energia vêm da China, as barras pretas: Hikvision e Dahua lideram câmeras, 86% dos módulos solares são chineses e quase 90% das células de bateria também."</a:t>
            </a:r>
          </a:p>
          <a:p/>
          <a:p>
            <a:r>
              <a:t>II. (aponte para as barras, depois para o número, 15s)</a:t>
            </a:r>
          </a:p>
          <a:p>
            <a:r>
              <a:t>"Segunda: o custo é em dólar e a receita, em reais. Cerca de 80% do custo e 92% das contas a pagar estão em moeda estrangeira, contra 4% do que ela tem a receber. Cada 10% de alta do dólar soma uns R$249 milhões ao custo do ano."</a:t>
            </a:r>
          </a:p>
          <a:p/>
          <a:p>
            <a:r>
              <a:t>III. (percorra os cartões, 10s)</a:t>
            </a:r>
          </a:p>
          <a:p>
            <a:r>
              <a:t>"Terceira: quem fabrica para a Intelbras é, quase sempre, chinês e grande: Dahua em câmeras, H3C em redes, FiberHome em fibra. São gigantes, e a Intelbras é um cliente pequeno para eles."</a:t>
            </a:r>
          </a:p>
          <a:p/>
          <a:p>
            <a:r>
              <a:t>PONTE (5s)</a:t>
            </a:r>
          </a:p>
          <a:p>
            <a:r>
              <a:t>"E a maior dessas relações, de longe, é com a Dahua."</a:t>
            </a:r>
          </a:p>
          <a:p/>
          <a:p>
            <a:r>
              <a:t>DETALHES (se perguntarem)</a:t>
            </a:r>
          </a:p>
          <a:p>
            <a:r>
              <a:t>• "A Intelbras compra da TSMC?" Não diretamente. Ela compra chips de quem não tem fábrica (Realtek, Qualcomm) e produtos prontos (Dahua). Todos dependem das mesmas fundições e memórias: concentração em cascata.</a:t>
            </a:r>
          </a:p>
          <a:p>
            <a:r>
              <a:t>• Por que a cor? Preto = empresa chinesa. A concentração em chips é de Taiwan, Coreia e EUA; nos produtos prontos e na energia, é chinesa.</a:t>
            </a:r>
          </a:p>
          <a:p>
            <a:r>
              <a:t>• Chips Wi-Fi: as cinco empresas somam 82% da receita mundial; a fonte não abre a fatia de cada uma. Por unidades vendidas, a Realtek é a 1ª, e é ela que está nos roteadores Twibi.</a:t>
            </a:r>
          </a:p>
          <a:p>
            <a:r>
              <a:t>• Câmeras: Hikvision 25% (Omdia, 2023) e Dahua 12% (Omdia, 2022). Os anos diferem porque a Omdia só divulga parte dos dados. Hikvision, Dahua, Axis e Motorola somam ≈ metade (Novaira, 2023).</a:t>
            </a:r>
          </a:p>
          <a:p>
            <a:r>
              <a:t>• "Origem por país (China 69%)?" A empresa não divulga gastos por país. O FRE só lista fábricas na China, Coreia e Vietnã. Por isso usamos a moeda (DFP) e os parceiros (FRE e comunicados).</a:t>
            </a:r>
          </a:p>
          <a:p>
            <a:r>
              <a:t>• Hedge: NDF de US$82 mi cobre ~50% dos fornecedores em dólar, por ~90 dias. Protege o caixa de curto prazo, não a margem.</a:t>
            </a:r>
          </a:p>
          <a:p>
            <a:r>
              <a:t>• Capital de giro (se perguntarem por barganha no prazo): dos 173 dias de estoque, os fornecedores em geral financiam só 39. A Dahua financia 53, os bancos 31 (risco sacado) e o caixa da Intelbras 50, ≈R$0,4 bi.</a:t>
            </a:r>
          </a:p>
          <a:p/>
          <a:p>
            <a:r>
              <a:t>FONTES E CONTAS</a:t>
            </a:r>
          </a:p>
          <a:p>
            <a:r>
              <a:t>I:</a:t>
            </a:r>
          </a:p>
          <a:p>
            <a:r>
              <a:t>• TrendForce: fundição 2025, TSMC 69,9% e Samsung 7,2%; SMIC 5,3% no 4T25. DRAM 3T25: SK hynix 33,2%, Samsung 32,6%, Micron 25,7%.</a:t>
            </a:r>
          </a:p>
          <a:p>
            <a:r>
              <a:t>• TrendFocus via Blocks &amp; Files (HD 1T25, unidades): WD 42%, Seagate 40%, Toshiba 18%.</a:t>
            </a:r>
          </a:p>
          <a:p>
            <a:r>
              <a:t>• Counterpoint (Wi-Fi 2024): 5 maiores = 82% da receita.</a:t>
            </a:r>
          </a:p>
          <a:p>
            <a:r>
              <a:t>• Omdia: Hikvision 25% em 2023; Dahua 12,2% em 2022.</a:t>
            </a:r>
          </a:p>
          <a:p>
            <a:r>
              <a:t>• Módulos solares: InfoLink (embarques 2024: Jinko ~93 GW, LONGi ~78, JA ~77, Trina ~77) ÷ produção mundial de 728 GW (IEA-PVPS) → 13/11/11/11%. China = 86,4% da produção; outras chinesas = 86 − 46 ≈ 40%.</a:t>
            </a:r>
          </a:p>
          <a:p>
            <a:r>
              <a:t>• Baterias para armazenamento: SNE Research via CnEVPost (1S26): CATL 27,1%, EVE 10,4%, Hithium 10,0%, BYD 7,7%. Outras chinesas (CALB 6,8, REPT 6,8, Cornex 6,5, AESC 4,6, Gotion 4,5, Great Power 4,4) = 33,6%; LG 2,6 + Samsung SDI 1,4 = 4%; outros 7%.</a:t>
            </a:r>
          </a:p>
          <a:p>
            <a:r>
              <a:t>II:</a:t>
            </a:r>
          </a:p>
          <a:p>
            <a:r>
              <a:t>• FRE 2.2: ~80% do CPV em moeda estrangeira.</a:t>
            </a:r>
          </a:p>
          <a:p>
            <a:r>
              <a:t>• DFP 2025, NE 14/25: fornecedores + risco sacado no exterior R$972,6 mi ÷ R$1.059,9 mi (bruto) = 92%; recebíveis em US$ e COP R$47,5 mi ÷ R$1.169,5 mi = 4%.</a:t>
            </a:r>
          </a:p>
          <a:p>
            <a:r>
              <a:t>• Sensibilidade: 80% × CPV R$3.117,8 mi × 10% = R$249 mi.</a:t>
            </a:r>
          </a:p>
          <a:p>
            <a:r>
              <a:t>III:</a:t>
            </a:r>
          </a:p>
          <a:p>
            <a:r>
              <a:t>• Dahua: FRE 1.4.e e 11.3;</a:t>
            </a:r>
          </a:p>
          <a:p>
            <a:r>
              <a:t>• H3C: Teletime, 09/10/2024;</a:t>
            </a:r>
          </a:p>
          <a:p>
            <a:r>
              <a:t>• FiberHome: comunicados de 24/10/2023 e 12/01/2026;</a:t>
            </a:r>
          </a:p>
          <a:p>
            <a:r>
              <a:t>• módulos: pv magazine, 16/02/2022;</a:t>
            </a:r>
          </a:p>
          <a:p>
            <a:r>
              <a:t>• Qualcomm: comunicado Intelbras/Qualcomm, ago/2021;</a:t>
            </a:r>
          </a:p>
          <a:p>
            <a:r>
              <a:t>• Realtek: datasheets Twibi.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(≈1 min 15s) — Dahua</a:t>
            </a:r>
          </a:p>
          <a:p/>
          <a:p>
            <a:r>
              <a:t>ABERTURA (5s)</a:t>
            </a:r>
          </a:p>
          <a:p>
            <a:r>
              <a:t>"A Dahua é três coisas para a Intelbras: fornecedora, sócia e concorrente."</a:t>
            </a:r>
          </a:p>
          <a:p/>
          <a:p>
            <a:r>
              <a:t>I. (aponte para a linha tracejada, 10s)</a:t>
            </a:r>
          </a:p>
          <a:p>
            <a:r>
              <a:t>"É a maior fornecedora: 36% dos gastos com fornecedores e perto de um quarto do custo."</a:t>
            </a:r>
          </a:p>
          <a:p/>
          <a:p>
            <a:r>
              <a:t>II. (setas, depois 23% e 3%, 15s)</a:t>
            </a:r>
          </a:p>
          <a:p>
            <a:r>
              <a:t>"A troca: a Dahua entrega câmeras de ponta, exclusividade da marca e prazo; a Intelbras entrega o canal. Mas a Dahua é 23% do custo da Intelbras, e a Intelbras é só 3% da receita da Dahua. Quem precisa mais é a Intelbras. A proteção: se a Dahua cobrar 5% acima do mercado, a Intelbras pode comprar de outro."</a:t>
            </a:r>
          </a:p>
          <a:p/>
          <a:p>
            <a:r>
              <a:t>III. (percorra os três números, 15s)</a:t>
            </a:r>
          </a:p>
          <a:p>
            <a:r>
              <a:t>"Ela também é sócia, com 7,56% e um conselheiro, que comanda a Dahua no Brasil. E é concorrente: desde 2024 tem três distribuidores próprios aqui, focados em projetos, justamente o que o acordo deixa fora da não concorrência."</a:t>
            </a:r>
          </a:p>
          <a:p/>
          <a:p>
            <a:r>
              <a:t>IV. (percorra a linha do tempo, 20s)</a:t>
            </a:r>
          </a:p>
          <a:p>
            <a:r>
              <a:t>"E está saindo do capital. Vendeu um quarto da participação em 2023, e desde então o conselho dela autoriza vender o resto, mas nada foi vendido em três anos. O motivo declarado é reciclar capital. A nossa leitura: sair do capital inicia o prazo de 3 anos da não concorrência. O teste é dezembro de 2028, quando vence o acordo de fornecimento."</a:t>
            </a:r>
          </a:p>
          <a:p/>
          <a:p>
            <a:r>
              <a:t>DETALHES (se perguntarem)</a:t>
            </a:r>
          </a:p>
          <a:p>
            <a:r>
              <a:t>• Por que vendeu?</a:t>
            </a:r>
          </a:p>
          <a:p>
            <a:r>
              <a:t>  – Declarado: liquidez (comunicado de 15/06/2023) e "otimizar a estrutura de ativos" (anúncios Dahua 2023-073 e 2025-075).</a:t>
            </a:r>
          </a:p>
          <a:p>
            <a:r>
              <a:t>  – Contexto: a Dahua vem vendendo participações (Leapmotor, Lorex, Huacheng). A Intelbras rende ~1% do lucro dela (RMB 43 mi de equivalência em 2025).</a:t>
            </a:r>
          </a:p>
          <a:p>
            <a:r>
              <a:t>  – Inferência: o acordo de acionistas proíbe concorrer enquanto sócia + 3 anos (cl. 12.1); por outro lado, garante 3 anos de fornecimento após a saída (cl. 11.9).</a:t>
            </a:r>
          </a:p>
          <a:p>
            <a:r>
              <a:t>• Nada vendido:</a:t>
            </a:r>
          </a:p>
          <a:p>
            <a:r>
              <a:t>  – a Dahua ainda registra a Intelbras como coligada (RMB 542,7 mi em 30/06/2026);</a:t>
            </a:r>
          </a:p>
          <a:p>
            <a:r>
              <a:t>  – o RI mostra 7,56% em 30/12/2025;</a:t>
            </a:r>
          </a:p>
          <a:p>
            <a:r>
              <a:t>  – a Intelbras só precisa comunicar se a Dahua cair abaixo de 5% (Res. CVM 44, art. 12).</a:t>
            </a:r>
          </a:p>
          <a:p>
            <a:r>
              <a:t>• Crédito: 43% das contas a pagar e 225 dias de prazo. Pela própria Dahua, o prazo subiu de 150 para 188 dias (1S25 → 1S26). Não há sinal de aperto.</a:t>
            </a:r>
          </a:p>
          <a:p>
            <a:r>
              <a:t>• Vendas da Dahua à Intelbras caíram 26% no 1S26 (em yuan). No mesmo período, o estoque da Intelbras caiu 16% e a receita de Segurança subiu 5,8%: parece desestocagem.</a:t>
            </a:r>
          </a:p>
          <a:p>
            <a:r>
              <a:t>• Precedente: a FiberHome encerrou a exclusividade em GPON em jan/2026.</a:t>
            </a:r>
          </a:p>
          <a:p/>
          <a:p>
            <a:r>
              <a:t>FONTES E CONTAS</a:t>
            </a:r>
          </a:p>
          <a:p>
            <a:r>
              <a:t>I: FRE 1.4.e (36,0% em 2025); Nord Research citando o FRE 2022 (28,6% em 2021); DFPs (compras da Dahua ÷ CPV = 23,6/21,9/19,3/36,0/23,4%; 2024 = estoque antecipado).</a:t>
            </a:r>
          </a:p>
          <a:p>
            <a:r>
              <a:t>II:</a:t>
            </a:r>
          </a:p>
          <a:p>
            <a:r>
              <a:t>• Acordo de 31/12/2018 (FRE 11.3);</a:t>
            </a:r>
          </a:p>
          <a:p>
            <a:r>
              <a:t>• compras da Dahua R$729,2 mi ÷ CPV R$3.117,8 mi = 23%;</a:t>
            </a:r>
          </a:p>
          <a:p>
            <a:r>
              <a:t>• vendas da Dahua à Intelbras RMB 957 mi ÷ receita da Dahua RMB 32.744 mi = 2,9% (Relatório Anual Dahua 2025).</a:t>
            </a:r>
          </a:p>
          <a:p>
            <a:r>
              <a:t>III:</a:t>
            </a:r>
          </a:p>
          <a:p>
            <a:r>
              <a:t>• DFP NE 32 (saldo R$448,8 mi; prazo = 448,8 ÷ 729,2 × 365 = 225 dias);</a:t>
            </a:r>
          </a:p>
          <a:p>
            <a:r>
              <a:t>• FRE 2026, item 7.3 (Lin Xiong);</a:t>
            </a:r>
          </a:p>
          <a:p>
            <a:r>
              <a:t>• distribuidores: WDC (Teletime, 21/06/2024), Agora (TI Inside, 16/10/2024), Dimensional (IT Forum);</a:t>
            </a:r>
          </a:p>
          <a:p>
            <a:r>
              <a:t>• Acordo de Acionistas, cl. 12.1.</a:t>
            </a:r>
          </a:p>
          <a:p>
            <a:r>
              <a:t>IV:</a:t>
            </a:r>
          </a:p>
          <a:p>
            <a:r>
              <a:t>• Fato Relevante de 20/10/2021;</a:t>
            </a:r>
          </a:p>
          <a:p>
            <a:r>
              <a:t>• comunicado de 15/06/2023;</a:t>
            </a:r>
          </a:p>
          <a:p>
            <a:r>
              <a:t>• Dahua: anúncios 2023-073 e 2025-075, semestral 2026;</a:t>
            </a:r>
          </a:p>
          <a:p>
            <a:r>
              <a:t>• FRE 11.3.</a:t>
            </a:r>
          </a:p>
          <a:p>
            <a:r>
              <a:t>Detalhe completo em evidencias_dahua_quadrante_IV.md.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(≈1 min) — Processo produtivo</a:t>
            </a:r>
          </a:p>
          <a:p/>
          <a:p>
            <a:r>
              <a:t>ABERTURA (5s)</a:t>
            </a:r>
          </a:p>
          <a:p>
            <a:r>
              <a:t>"Se a tecnologia vem de fora, por que a Intelbras fabrica no Brasil? Duas razões: adaptar o produto e ganhar o incentivo."</a:t>
            </a:r>
          </a:p>
          <a:p/>
          <a:p>
            <a:r>
              <a:t>I. (percorra as três caixas, 15s)</a:t>
            </a:r>
          </a:p>
          <a:p>
            <a:r>
              <a:t>"O parceiro desenvolve. A Intelbras tropicaliza: põe o software e o app em português, homologa na Anatel e adapta ao instalador brasileiro. O canal vende."</a:t>
            </a:r>
          </a:p>
          <a:p/>
          <a:p>
            <a:r>
              <a:t>II. (aponte para as barras, 10s)</a:t>
            </a:r>
          </a:p>
          <a:p>
            <a:r>
              <a:t>"O P&amp;D pesado fica com os parceiros: a Dahua tem 11,6 mil pessoas em P&amp;D, contra pouco mais de 600 na Intelbras. O P&amp;D da Intelbras é de adaptação."</a:t>
            </a:r>
          </a:p>
          <a:p/>
          <a:p>
            <a:r>
              <a:t>III. (da esquerda para a direita nos três painéis, 25s)</a:t>
            </a:r>
          </a:p>
          <a:p>
            <a:r>
              <a:t>"E ela fabrica aqui o que vem depois dos chips: injeta o plástico, insere os componentes, monta e testa 100% dos aparelhos. Isso é só 15% do custo; 85% é comprado. Mas é o que destrava o incentivo. A lei exige produzir aqui (o PPB) e investir em P&amp;D aqui. Em 2025, a Intelbras gastou R$630 milhões com fábrica e P&amp;D e recebeu R$459 milhões de incentivos."</a:t>
            </a:r>
          </a:p>
          <a:p/>
          <a:p>
            <a:r>
              <a:t>PONTE (5s)</a:t>
            </a:r>
          </a:p>
          <a:p>
            <a:r>
              <a:t>"Esses incentivos são quase todo o lucro. Vamos ver de onde vêm e quando acabam."</a:t>
            </a:r>
          </a:p>
          <a:p/>
          <a:p>
            <a:r>
              <a:t>DETALHES (se perguntarem)</a:t>
            </a:r>
          </a:p>
          <a:p>
            <a:r>
              <a:t>• Tropicalização = adaptar ao Brasil um produto desenvolvido fora: idioma, app e ecossistema Intelbras, certificação da Anatel, padrões locais, suporte e garantia, e produção local para cumprir o PPB. A Teletime (out/2024) usa o termo para a H3C: "tropicalização dos equipamentos para fabricação local".</a:t>
            </a:r>
          </a:p>
          <a:p>
            <a:r>
              <a:t>• "A maior parte do P&amp;D é tropicalização?" A empresa não divulga. Três indícios:</a:t>
            </a:r>
          </a:p>
          <a:p>
            <a:r>
              <a:t>  (i) o FRE diz que a Intelbras "passou a contar com o apoio da equipe de P&amp;D da Dahua na China";</a:t>
            </a:r>
          </a:p>
          <a:p>
            <a:r>
              <a:t>  (ii) os parceiros têm 10 a 20 vezes mais pessoas em P&amp;D;</a:t>
            </a:r>
          </a:p>
          <a:p>
            <a:r>
              <a:t>  (iii) o P&amp;D local é exigência da Lei de TICs.</a:t>
            </a:r>
          </a:p>
          <a:p>
            <a:r>
              <a:t>  [inferência]</a:t>
            </a:r>
          </a:p>
          <a:p>
            <a:r>
              <a:t>• O custo por pessoa é parecido: Intelbras R$179 mi ÷ 600 ≈ R$0,30 mi; Dahua RMB 4,34 bi ÷ 11.594 ≈ R$0,29 mi. A diferença é escala.</a:t>
            </a:r>
          </a:p>
          <a:p>
            <a:r>
              <a:t>• Ligação gasto → incentivo (aproximada):</a:t>
            </a:r>
          </a:p>
          <a:p>
            <a:r>
              <a:t>  – o ICMS estadual e a Zona Franca exigem produção local;</a:t>
            </a:r>
          </a:p>
          <a:p>
            <a:r>
              <a:t>  – o crédito da Lei de TICs é calculado sobre o P&amp;D (≥4% do faturamento incentivado);</a:t>
            </a:r>
          </a:p>
          <a:p>
            <a:r>
              <a:t>  – de 2021 a 2025, o crédito devolveu 83% do gasto com P&amp;D.</a:t>
            </a:r>
          </a:p>
          <a:p>
            <a:r>
              <a:t>• A verticalização também dá controle de custo, qualidade e prazo.</a:t>
            </a:r>
          </a:p>
          <a:p/>
          <a:p>
            <a:r>
              <a:t>FONTES E CONTAS</a:t>
            </a:r>
          </a:p>
          <a:p>
            <a:r>
              <a:t>I:</a:t>
            </a:r>
          </a:p>
          <a:p>
            <a:r>
              <a:t>• FRE 2026, 1.1 e 1.4.b (canal);</a:t>
            </a:r>
          </a:p>
          <a:p>
            <a:r>
              <a:t>• Investor Day 2025 (340 assistências);</a:t>
            </a:r>
          </a:p>
          <a:p>
            <a:r>
              <a:t>• Teletime (H3C);</a:t>
            </a:r>
          </a:p>
          <a:p>
            <a:r>
              <a:t>• comunicado FiberHome (24/10/2023).</a:t>
            </a:r>
          </a:p>
          <a:p>
            <a:r>
              <a:t>II:</a:t>
            </a:r>
          </a:p>
          <a:p>
            <a:r>
              <a:t>• Dahua, Relatório Anual 2025 (11.594 em P&amp;D; RMB 4,336 bi);</a:t>
            </a:r>
          </a:p>
          <a:p>
            <a:r>
              <a:t>• comunicado FiberHome (&gt;10 mil em P&amp;D);</a:t>
            </a:r>
          </a:p>
          <a:p>
            <a:r>
              <a:t>• FRE 2026, 1.4 (&gt;600). 4.336 × 0,776 ≈ R$3,36 bi ÷ R$179 mi ≈ 19x.</a:t>
            </a:r>
          </a:p>
          <a:p>
            <a:r>
              <a:t>III:</a:t>
            </a:r>
          </a:p>
          <a:p>
            <a:r>
              <a:t>• FRE 1.4.a (injeção ~230 t/mês; SMD ~450 mi componentes/mês; teste em 100%; fábricas em São José e Tubarão/SC, Manaus/AM, Santa Rita do Sapucaí/MG);</a:t>
            </a:r>
          </a:p>
          <a:p>
            <a:r>
              <a:t>• DFP 2025, NE 27 (matéria-prima e revenda R$2.666,9 mi = 85,5% do CPV; custos de produção R$396,1 mi + depreciação R$54,8 mi = R$450,9 mi);</a:t>
            </a:r>
          </a:p>
          <a:p>
            <a:r>
              <a:t>• P&amp;D R$179,3 mi (NE 13);</a:t>
            </a:r>
          </a:p>
          <a:p>
            <a:r>
              <a:t>• NE 23: ICMS R$336,3 mi + Lei de TICs R$123,3 mi = R$459,7 mi.</a:t>
            </a:r>
          </a:p>
          <a:p>
            <a:r>
              <a:t>• Gasto local 450,9 + 179,3 = R$630 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(≈1 min) — Incentivos fiscais</a:t>
            </a:r>
          </a:p>
          <a:p/>
          <a:p>
            <a:r>
              <a:t>ABERTURA (5s)</a:t>
            </a:r>
          </a:p>
          <a:p>
            <a:r>
              <a:t>"Os incentivos são o centro do lucro da Intelbras."</a:t>
            </a:r>
          </a:p>
          <a:p/>
          <a:p>
            <a:r>
              <a:t>I. (aponte para as barras e para 85%, 15s)</a:t>
            </a:r>
          </a:p>
          <a:p>
            <a:r>
              <a:t>"Em 2025 somaram R$460 milhões: 85% do EBITDA e quase todo o lucro. O maior é o ICMS do Amazonas, ligado à Zona Franca, que vai até 2073. Os outros vencem entre 2029 e 2032."</a:t>
            </a:r>
          </a:p>
          <a:p/>
          <a:p>
            <a:r>
              <a:t>II. (percorra as colunas, 15s)</a:t>
            </a:r>
          </a:p>
          <a:p>
            <a:r>
              <a:t>"Sem substituto, R$280 milhões saem do resultado até 2033, com o fim da Lei de TICs e a reforma tributária. É metade do EBITDA de 2025."</a:t>
            </a:r>
          </a:p>
          <a:p/>
          <a:p>
            <a:r>
              <a:t>III. (aponte para a tabela, 10s)</a:t>
            </a:r>
          </a:p>
          <a:p>
            <a:r>
              <a:t>"Cada incentivo exige algo em troca: produzir aqui, investir em P&amp;D aqui, ou estar na Zona Franca. E, como são subvenção, nem pagam imposto de renda."</a:t>
            </a:r>
          </a:p>
          <a:p/>
          <a:p>
            <a:r>
              <a:t>IV. (aponte para as colunas verdes, 10s)</a:t>
            </a:r>
          </a:p>
          <a:p>
            <a:r>
              <a:t>"A prova de que o incentivo é quase todo o lucro: sem ele, a margem operacional ficaria perto de zero desde 2021, e negativa em 2025. O incentivo não é margem extra: é o que deixa a Intelbras competir com o importado."</a:t>
            </a:r>
          </a:p>
          <a:p/>
          <a:p>
            <a:r>
              <a:t>DETALHES (se perguntarem)</a:t>
            </a:r>
          </a:p>
          <a:p>
            <a:r>
              <a:t>• Lei de TICs (8.248/91): vale para fábricas fora da Zona Franca. Na Zona Franca, vale a Lei 8.387/91, com isenção de IPI e redução do Imposto de Importação. O crédito da Lei de TICs exige ≥4% do faturamento incentivado em PD&amp;I no Brasil e vence em 31/12/2029.</a:t>
            </a:r>
          </a:p>
          <a:p>
            <a:r>
              <a:t>• Reforma tributária: o ICMS é substituído pelo IBS entre 2029 e 2033. Os incentivos de SC, MG e PE caem até 2032; os da Zona Franca ficam preservados (créditos presumidos de IBS/CBS).</a:t>
            </a:r>
          </a:p>
          <a:p>
            <a:r>
              <a:t>• Alíquota efetiva de IR de 0,74% em 2025: os incentivos ficam fora da base de IR e CSLL.</a:t>
            </a:r>
          </a:p>
          <a:p>
            <a:r>
              <a:t>• Margem EBIT sem incentivos = (EBIT − incentivos) ÷ receita líquida. Simplificação: sem o ICMS incentivado, a própria receita líquida seria menor.</a:t>
            </a:r>
          </a:p>
          <a:p>
            <a:r>
              <a:t>• 94% do lucro: R$459,7 mi ÷ lucro líquido. Pelo lucro consolidado de R$483,7 mi, dá 95%.</a:t>
            </a:r>
          </a:p>
          <a:p/>
          <a:p>
            <a:r>
              <a:t>FONTES E CONTAS</a:t>
            </a:r>
          </a:p>
          <a:p>
            <a:r>
              <a:t>I e II: DFP 2025, NE 23 (incentivos por instrumento e prazo); premissas de fim de vigência da Lei de TICs (2029) e da transição do ICMS (2029–32).</a:t>
            </a:r>
          </a:p>
          <a:p>
            <a:r>
              <a:t>III: DFP 2025, NE 23 e 24; FRE 2026.</a:t>
            </a:r>
          </a:p>
          <a:p>
            <a:r>
              <a:t>IV: EBIT 362,6/463,4/521,3/544,3/425,2; receita 3.087,2/4.232,6/4.103,7/4.756,1/4.460,4; incentivos (conciliação do IR) 308,3/382,4/434,7/514,7/459,7 (DFPs 2021–25).</a:t>
            </a:r>
          </a:p>
          <a:p>
            <a:r>
              <a:t>• Reportada: 11,7/10,9/12,7/11,4/9,5%.</a:t>
            </a:r>
          </a:p>
          <a:p>
            <a:r>
              <a:t>• Sem incentivos: 1,8/1,9/2,1/0,6/−0,8%.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864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>
            <a:extLst>
              <a:ext uri="{FF2B5EF4-FFF2-40B4-BE49-F238E27FC236}">
                <a16:creationId xmlns:a16="http://schemas.microsoft.com/office/drawing/2014/main" id="{08A86C5D-B5F1-A201-A803-FC2B06BC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4" name="Subtítulo">
            <a:extLst>
              <a:ext uri="{FF2B5EF4-FFF2-40B4-BE49-F238E27FC236}">
                <a16:creationId xmlns:a16="http://schemas.microsoft.com/office/drawing/2014/main" id="{BE673581-4171-765D-CF42-A03B1335C0E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abeçalho L1">
            <a:extLst>
              <a:ext uri="{FF2B5EF4-FFF2-40B4-BE49-F238E27FC236}">
                <a16:creationId xmlns:a16="http://schemas.microsoft.com/office/drawing/2014/main" id="{2CF8C16A-D844-F260-4E96-4A7088F8D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Linha L1">
            <a:extLst>
              <a:ext uri="{FF2B5EF4-FFF2-40B4-BE49-F238E27FC236}">
                <a16:creationId xmlns:a16="http://schemas.microsoft.com/office/drawing/2014/main" id="{6B2BDA49-2D8C-8E92-98C5-4AF723A23CF4}"/>
              </a:ext>
            </a:extLst>
          </p:cNvPr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7" name="Descrição L1">
            <a:extLst>
              <a:ext uri="{FF2B5EF4-FFF2-40B4-BE49-F238E27FC236}">
                <a16:creationId xmlns:a16="http://schemas.microsoft.com/office/drawing/2014/main" id="{DBA64B7F-D991-F80B-632A-A6F008F382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abeçalho R1">
            <a:extLst>
              <a:ext uri="{FF2B5EF4-FFF2-40B4-BE49-F238E27FC236}">
                <a16:creationId xmlns:a16="http://schemas.microsoft.com/office/drawing/2014/main" id="{63E473F4-0BD6-077F-9932-938AFBF13B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Linha R1">
            <a:extLst>
              <a:ext uri="{FF2B5EF4-FFF2-40B4-BE49-F238E27FC236}">
                <a16:creationId xmlns:a16="http://schemas.microsoft.com/office/drawing/2014/main" id="{C5D0D066-5B11-0856-4073-CD7F2F043381}"/>
              </a:ext>
            </a:extLst>
          </p:cNvPr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1" name="Descrição R1">
            <a:extLst>
              <a:ext uri="{FF2B5EF4-FFF2-40B4-BE49-F238E27FC236}">
                <a16:creationId xmlns:a16="http://schemas.microsoft.com/office/drawing/2014/main" id="{5656BE59-0847-8CB6-5BA7-687DF8FE1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údo R1">
            <a:extLst>
              <a:ext uri="{FF2B5EF4-FFF2-40B4-BE49-F238E27FC236}">
                <a16:creationId xmlns:a16="http://schemas.microsoft.com/office/drawing/2014/main" id="{275C8C39-0130-44B2-B522-AB8447F3755A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abeçalho R2">
            <a:extLst>
              <a:ext uri="{FF2B5EF4-FFF2-40B4-BE49-F238E27FC236}">
                <a16:creationId xmlns:a16="http://schemas.microsoft.com/office/drawing/2014/main" id="{DFA8ED1C-70D9-555F-0951-A17E938658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Linha R2">
            <a:extLst>
              <a:ext uri="{FF2B5EF4-FFF2-40B4-BE49-F238E27FC236}">
                <a16:creationId xmlns:a16="http://schemas.microsoft.com/office/drawing/2014/main" id="{23E53C43-0A06-3841-43EA-8CBBC05E38E4}"/>
              </a:ext>
            </a:extLst>
          </p:cNvPr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9" name="Descrição R2">
            <a:extLst>
              <a:ext uri="{FF2B5EF4-FFF2-40B4-BE49-F238E27FC236}">
                <a16:creationId xmlns:a16="http://schemas.microsoft.com/office/drawing/2014/main" id="{17B70730-704D-1A43-8FBA-BD7FE1834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údo R2">
            <a:extLst>
              <a:ext uri="{FF2B5EF4-FFF2-40B4-BE49-F238E27FC236}">
                <a16:creationId xmlns:a16="http://schemas.microsoft.com/office/drawing/2014/main" id="{9E63C622-421B-6FEC-8987-607A26EFBA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ontes">
            <a:extLst>
              <a:ext uri="{FF2B5EF4-FFF2-40B4-BE49-F238E27FC236}">
                <a16:creationId xmlns:a16="http://schemas.microsoft.com/office/drawing/2014/main" id="{F667FDC0-0538-49ED-735B-F8FA537E3E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43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>
            <a:cxnSpLocks/>
          </p:cNvCxnSpPr>
          <p:nvPr userDrawn="1"/>
        </p:nvCxnSpPr>
        <p:spPr>
          <a:xfrm>
            <a:off x="566928" y="4119372"/>
            <a:ext cx="11396472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71500" y="4168392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571500" y="377656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7564229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7600805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571500" y="4421704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údo R2">
            <a:extLst>
              <a:ext uri="{FF2B5EF4-FFF2-40B4-BE49-F238E27FC236}">
                <a16:creationId xmlns:a16="http://schemas.microsoft.com/office/drawing/2014/main" id="{C20F45A2-CC70-86CA-D254-970E22AF0660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383678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údo R2">
            <a:extLst>
              <a:ext uri="{FF2B5EF4-FFF2-40B4-BE49-F238E27FC236}">
                <a16:creationId xmlns:a16="http://schemas.microsoft.com/office/drawing/2014/main" id="{626C2B49-63EF-6B3E-66FE-3A88E630EB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199737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48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2 blo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9144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66928" y="502920"/>
            <a:ext cx="11393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F1"/>
          <p:cNvSpPr>
            <a:spLocks noGrp="1"/>
          </p:cNvSpPr>
          <p:nvPr>
            <p:ph type="body" sz="quarter" idx="10"/>
          </p:nvPr>
        </p:nvSpPr>
        <p:spPr>
          <a:xfrm>
            <a:off x="566928" y="8686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F1"/>
          <p:cNvCxnSpPr/>
          <p:nvPr userDrawn="1"/>
        </p:nvCxnSpPr>
        <p:spPr>
          <a:xfrm>
            <a:off x="566928" y="12618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F1"/>
          <p:cNvSpPr>
            <a:spLocks noGrp="1"/>
          </p:cNvSpPr>
          <p:nvPr>
            <p:ph type="body" sz="quarter" idx="14" hasCustomPrompt="1"/>
          </p:nvPr>
        </p:nvSpPr>
        <p:spPr>
          <a:xfrm>
            <a:off x="566928" y="12984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7" name="Conteúdo F1"/>
          <p:cNvSpPr>
            <a:spLocks noGrp="1"/>
          </p:cNvSpPr>
          <p:nvPr>
            <p:ph sz="quarter" idx="30"/>
          </p:nvPr>
        </p:nvSpPr>
        <p:spPr>
          <a:xfrm>
            <a:off x="566928" y="15453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F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F2"/>
          <p:cNvCxnSpPr/>
          <p:nvPr userDrawn="1"/>
        </p:nvCxnSpPr>
        <p:spPr>
          <a:xfrm>
            <a:off x="566928" y="41193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F2"/>
          <p:cNvSpPr>
            <a:spLocks noGrp="1"/>
          </p:cNvSpPr>
          <p:nvPr>
            <p:ph type="body" sz="quarter" idx="16" hasCustomPrompt="1"/>
          </p:nvPr>
        </p:nvSpPr>
        <p:spPr>
          <a:xfrm>
            <a:off x="566928" y="41559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11" name="Conteúdo F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61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1626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EAF86BB-950D-C028-EE25-EAF6B2091A5D}"/>
              </a:ext>
            </a:extLst>
          </p:cNvPr>
          <p:cNvSpPr/>
          <p:nvPr userDrawn="1"/>
        </p:nvSpPr>
        <p:spPr>
          <a:xfrm rot="10800000" flipH="1">
            <a:off x="0" y="2431"/>
            <a:ext cx="346464" cy="6858000"/>
          </a:xfrm>
          <a:prstGeom prst="rect">
            <a:avLst/>
          </a:prstGeom>
          <a:gradFill>
            <a:gsLst>
              <a:gs pos="19000">
                <a:srgbClr val="035144"/>
              </a:gs>
              <a:gs pos="95000">
                <a:srgbClr val="00D054"/>
              </a:gs>
              <a:gs pos="76000">
                <a:srgbClr val="009F4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Connector 43">
            <a:extLst>
              <a:ext uri="{FF2B5EF4-FFF2-40B4-BE49-F238E27FC236}">
                <a16:creationId xmlns:a16="http://schemas.microsoft.com/office/drawing/2014/main" id="{0C1F9473-D70C-D468-BBA5-C37F5F700542}"/>
              </a:ext>
            </a:extLst>
          </p:cNvPr>
          <p:cNvCxnSpPr>
            <a:cxnSpLocks/>
          </p:cNvCxnSpPr>
          <p:nvPr userDrawn="1"/>
        </p:nvCxnSpPr>
        <p:spPr>
          <a:xfrm>
            <a:off x="566928" y="6515100"/>
            <a:ext cx="11393424" cy="0"/>
          </a:xfrm>
          <a:prstGeom prst="line">
            <a:avLst/>
          </a:prstGeom>
          <a:ln w="12700">
            <a:solidFill>
              <a:srgbClr val="76B900"/>
            </a:solidFill>
          </a:ln>
        </p:spPr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9DE3E556-E840-AC70-8618-F06E954425C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7266" y1="39861" x2="17266" y2="39861"/>
                        <a14:foregroundMark x1="17266" y1="45000" x2="17266" y2="45000"/>
                        <a14:foregroundMark x1="20391" y1="55694" x2="20391" y2="55694"/>
                        <a14:foregroundMark x1="30391" y1="49306" x2="30391" y2="49306"/>
                        <a14:foregroundMark x1="41250" y1="51111" x2="41250" y2="51111"/>
                        <a14:foregroundMark x1="46797" y1="53194" x2="46797" y2="53194"/>
                        <a14:foregroundMark x1="62266" y1="53194" x2="62266" y2="53194"/>
                        <a14:foregroundMark x1="72734" y1="58056" x2="72734" y2="58056"/>
                        <a14:foregroundMark x1="81719" y1="59167" x2="81719" y2="59167"/>
                        <a14:backgroundMark x1="38984" y1="50278" x2="38984" y2="50278"/>
                      </a14:backgroundRemoval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894" y="-373028"/>
            <a:ext cx="1919326" cy="107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6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0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3" pos="216">
          <p15:clr>
            <a:srgbClr val="F26B43"/>
          </p15:clr>
        </p15:guide>
        <p15:guide id="4" pos="7536">
          <p15:clr>
            <a:srgbClr val="F26B43"/>
          </p15:clr>
        </p15:guide>
        <p15:guide id="5" orient="horz" pos="48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pos="3840">
          <p15:clr>
            <a:srgbClr val="F26B43"/>
          </p15:clr>
        </p15:guide>
        <p15:guide id="9" pos="360">
          <p15:clr>
            <a:srgbClr val="F26B43"/>
          </p15:clr>
        </p15:guide>
        <p15:guide id="10" pos="4032">
          <p15:clr>
            <a:srgbClr val="F26B43"/>
          </p15:clr>
        </p15:guide>
        <p15:guide id="11" orient="horz" pos="2232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10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notesSlide" Target="../notesSlides/notesSlide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D1C1-34F9-4327-8011-D05C31DD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Dahua: fornecedora, sócia e concorrente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7DAAB05-3BD8-F31B-D717-359368B0263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A 2ª maior empresa de segurança do mundo troca tecnologia pelo canal da Intelbras, mas prepara a saída do capital e já monta canal próprio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0AC53C0-4B17-93F6-6E22-CE86972A81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Cabeçalho L2">
            <a:extLst>
              <a:ext uri="{FF2B5EF4-FFF2-40B4-BE49-F238E27FC236}">
                <a16:creationId xmlns:a16="http://schemas.microsoft.com/office/drawing/2014/main" id="{785E9B56-92F2-353F-00F5-12AE475DA46A}"/>
              </a:ext>
            </a:extLst>
          </p:cNvPr>
          <p:cNvSpPr txBox="1">
            <a:spLocks/>
          </p:cNvSpPr>
          <p:nvPr/>
        </p:nvSpPr>
        <p:spPr>
          <a:xfrm>
            <a:off x="566928" y="845566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1" i="0" kern="120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I. Um terço dos gastos com fornecedores já vai para a Dahua</a:t>
            </a:r>
            <a:endParaRPr lang="en-US" dirty="0"/>
          </a:p>
        </p:txBody>
      </p:sp>
      <p:sp>
        <p:nvSpPr>
          <p:cNvPr id="46" name="Cabeçalho R2">
            <a:extLst>
              <a:ext uri="{FF2B5EF4-FFF2-40B4-BE49-F238E27FC236}">
                <a16:creationId xmlns:a16="http://schemas.microsoft.com/office/drawing/2014/main" id="{62D57970-C7CC-45FB-F64A-7A0856BE76F3}"/>
              </a:ext>
            </a:extLst>
          </p:cNvPr>
          <p:cNvSpPr txBox="1">
            <a:spLocks/>
          </p:cNvSpPr>
          <p:nvPr/>
        </p:nvSpPr>
        <p:spPr>
          <a:xfrm>
            <a:off x="6428232" y="845566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1" i="0" kern="120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II. A troca é mútua, mas quem mais precisa é a Intelbras</a:t>
            </a:r>
          </a:p>
        </p:txBody>
      </p:sp>
      <p:sp>
        <p:nvSpPr>
          <p:cNvPr id="47" name="Descrição R2">
            <a:extLst>
              <a:ext uri="{FF2B5EF4-FFF2-40B4-BE49-F238E27FC236}">
                <a16:creationId xmlns:a16="http://schemas.microsoft.com/office/drawing/2014/main" id="{99E423A9-8FD1-E863-C979-D4D5F9029BBC}"/>
              </a:ext>
            </a:extLst>
          </p:cNvPr>
          <p:cNvSpPr txBox="1">
            <a:spLocks/>
          </p:cNvSpPr>
          <p:nvPr/>
        </p:nvSpPr>
        <p:spPr>
          <a:xfrm>
            <a:off x="6428232" y="1275334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 i="1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/>
              <a:t>Acordo de Cooperação Intelbras–Dahua (dez/2018, 10 anos)</a:t>
            </a:r>
            <a:endParaRPr lang="pt-BR" dirty="0"/>
          </a:p>
        </p:txBody>
      </p:sp>
      <p:sp>
        <p:nvSpPr>
          <p:cNvPr id="48" name="Fontes">
            <a:extLst>
              <a:ext uri="{FF2B5EF4-FFF2-40B4-BE49-F238E27FC236}">
                <a16:creationId xmlns:a16="http://schemas.microsoft.com/office/drawing/2014/main" id="{978CF138-959F-701D-B23F-193B58E27510}"/>
              </a:ext>
            </a:extLst>
          </p:cNvPr>
          <p:cNvSpPr txBox="1">
            <a:spLocks/>
          </p:cNvSpPr>
          <p:nvPr/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00" b="0" i="0" kern="1200">
                <a:solidFill>
                  <a:srgbClr val="A6A6A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Fontes: DFPs 2021–25 (NE 32); FRE 2026 (1.4.e, 11.3); Acordo de Acionistas (2019); Dahua (Relatório Anual 2025, anúncios 2023-073 e 2025-075); Teletime; TI Inside; IT Forum.</a:t>
            </a:r>
            <a:endParaRPr lang="pt-BR" dirty="0"/>
          </a:p>
        </p:txBody>
      </p:sp>
      <p:sp>
        <p:nvSpPr>
          <p:cNvPr id="53" name="Shape 26">
            <a:extLst>
              <a:ext uri="{FF2B5EF4-FFF2-40B4-BE49-F238E27FC236}">
                <a16:creationId xmlns:a16="http://schemas.microsoft.com/office/drawing/2014/main" id="{B4DDB6E1-E3D2-4062-C8A5-5905371586FC}"/>
              </a:ext>
            </a:extLst>
          </p:cNvPr>
          <p:cNvSpPr/>
          <p:nvPr/>
        </p:nvSpPr>
        <p:spPr>
          <a:xfrm>
            <a:off x="6428232" y="1653986"/>
            <a:ext cx="1162077" cy="907996"/>
          </a:xfrm>
          <a:prstGeom prst="roundRect">
            <a:avLst>
              <a:gd name="adj" fmla="val 5263"/>
            </a:avLst>
          </a:prstGeom>
          <a:solidFill>
            <a:srgbClr val="3E9B35"/>
          </a:solidFill>
          <a:ln w="9525">
            <a:solidFill>
              <a:srgbClr val="3E9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EE086C88-6248-A311-C5B0-AE0AC6F36B60}"/>
              </a:ext>
            </a:extLst>
          </p:cNvPr>
          <p:cNvSpPr/>
          <p:nvPr/>
        </p:nvSpPr>
        <p:spPr>
          <a:xfrm>
            <a:off x="6461350" y="1653986"/>
            <a:ext cx="1093214" cy="907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Intelbras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canal</a:t>
            </a:r>
            <a:endParaRPr lang="en-US" sz="1300" dirty="0"/>
          </a:p>
        </p:txBody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A476993E-AAAF-A610-627B-96173639378D}"/>
              </a:ext>
            </a:extLst>
          </p:cNvPr>
          <p:cNvSpPr/>
          <p:nvPr/>
        </p:nvSpPr>
        <p:spPr>
          <a:xfrm>
            <a:off x="10834020" y="1653986"/>
            <a:ext cx="1126332" cy="907996"/>
          </a:xfrm>
          <a:prstGeom prst="roundRect">
            <a:avLst>
              <a:gd name="adj" fmla="val 5263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4B734FF4-6005-68D2-DE4E-04923FAAE65D}"/>
              </a:ext>
            </a:extLst>
          </p:cNvPr>
          <p:cNvSpPr/>
          <p:nvPr/>
        </p:nvSpPr>
        <p:spPr>
          <a:xfrm>
            <a:off x="10867137" y="1653986"/>
            <a:ext cx="1093214" cy="907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</a:t>
            </a:r>
            <a:endParaRPr lang="en-US" sz="13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 de CFTV e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acionista</a:t>
            </a:r>
            <a:endParaRPr lang="en-US" sz="1300" dirty="0"/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8CE3FC43-A3D9-98BF-B9BE-CCB37824C1C3}"/>
              </a:ext>
            </a:extLst>
          </p:cNvPr>
          <p:cNvSpPr/>
          <p:nvPr/>
        </p:nvSpPr>
        <p:spPr>
          <a:xfrm>
            <a:off x="7790780" y="1522222"/>
            <a:ext cx="2909498" cy="4014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CFTV com tecnologia de ponta, exclusividade da marca no Brasil e prazos flexíveis</a:t>
            </a:r>
            <a:endParaRPr lang="en-US" sz="1000" dirty="0"/>
          </a:p>
        </p:txBody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934F1FB7-4C84-2B00-3353-D561B4F382FB}"/>
              </a:ext>
            </a:extLst>
          </p:cNvPr>
          <p:cNvSpPr/>
          <p:nvPr/>
        </p:nvSpPr>
        <p:spPr>
          <a:xfrm>
            <a:off x="7790780" y="1958157"/>
            <a:ext cx="2909498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32">
            <a:extLst>
              <a:ext uri="{FF2B5EF4-FFF2-40B4-BE49-F238E27FC236}">
                <a16:creationId xmlns:a16="http://schemas.microsoft.com/office/drawing/2014/main" id="{EDD16275-1340-E4F8-D4B4-5AFE1EFFC7E7}"/>
              </a:ext>
            </a:extLst>
          </p:cNvPr>
          <p:cNvSpPr/>
          <p:nvPr/>
        </p:nvSpPr>
        <p:spPr>
          <a:xfrm>
            <a:off x="7790780" y="2346330"/>
            <a:ext cx="2909498" cy="0"/>
          </a:xfrm>
          <a:prstGeom prst="line">
            <a:avLst/>
          </a:prstGeom>
          <a:noFill/>
          <a:ln w="19050">
            <a:solidFill>
              <a:srgbClr val="3E9B3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06176A34-9BE1-B5FE-741E-6F2ADFCE73AE}"/>
              </a:ext>
            </a:extLst>
          </p:cNvPr>
          <p:cNvSpPr/>
          <p:nvPr/>
        </p:nvSpPr>
        <p:spPr>
          <a:xfrm>
            <a:off x="7790780" y="2350325"/>
            <a:ext cx="2909498" cy="401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endParaRPr lang="en-US" sz="1000" dirty="0"/>
          </a:p>
        </p:txBody>
      </p:sp>
      <p:sp>
        <p:nvSpPr>
          <p:cNvPr id="61" name="Shape 34">
            <a:extLst>
              <a:ext uri="{FF2B5EF4-FFF2-40B4-BE49-F238E27FC236}">
                <a16:creationId xmlns:a16="http://schemas.microsoft.com/office/drawing/2014/main" id="{A5C18C40-B9F1-14E5-F8D7-0BCFE4DAD694}"/>
              </a:ext>
            </a:extLst>
          </p:cNvPr>
          <p:cNvSpPr/>
          <p:nvPr/>
        </p:nvSpPr>
        <p:spPr>
          <a:xfrm>
            <a:off x="7927343" y="2756385"/>
            <a:ext cx="2634043" cy="745513"/>
          </a:xfrm>
          <a:prstGeom prst="rect">
            <a:avLst/>
          </a:prstGeom>
          <a:solidFill>
            <a:srgbClr val="FFFFFF"/>
          </a:solidFill>
          <a:ln w="12700">
            <a:solidFill>
              <a:srgbClr val="3E9B3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F7467489-8B9E-501A-6069-FC75FA6FFE59}"/>
              </a:ext>
            </a:extLst>
          </p:cNvPr>
          <p:cNvSpPr/>
          <p:nvPr/>
        </p:nvSpPr>
        <p:spPr>
          <a:xfrm>
            <a:off x="7993578" y="2756385"/>
            <a:ext cx="2496315" cy="745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D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prioridade cai se a Dahua cobrar ≥5% acima de outro fornecedor ou não atender em tecnologia e qualidade.</a:t>
            </a:r>
            <a:endParaRPr lang="en-US" sz="1100" dirty="0"/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6FF8F611-4147-4BB6-1291-9826D8C833CF}"/>
              </a:ext>
            </a:extLst>
          </p:cNvPr>
          <p:cNvSpPr txBox="1">
            <a:spLocks/>
          </p:cNvSpPr>
          <p:nvPr/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 i="1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Dahua</a:t>
            </a:r>
            <a:r>
              <a:rPr lang="pt-BR" dirty="0"/>
              <a:t> em % dos gastos com fornecedores (FRE) e do custo dos produtos vendidos (DFP)</a:t>
            </a:r>
          </a:p>
        </p:txBody>
      </p:sp>
      <p:graphicFrame>
        <p:nvGraphicFramePr>
          <p:cNvPr id="84" name="Grafico concentracao Dahua">
            <a:extLst>
              <a:ext uri="{FF2B5EF4-FFF2-40B4-BE49-F238E27FC236}">
                <a16:creationId xmlns:a16="http://schemas.microsoft.com/office/drawing/2014/main" id="{090C9A45-8B8A-4431-91BF-3E7BAB4B467C}"/>
              </a:ext>
            </a:extLst>
          </p:cNvPr>
          <p:cNvGraphicFramePr>
            <a:graphicFrameLocks noGrp="1"/>
          </p:cNvGraphicFramePr>
          <p:nvPr/>
        </p:nvGraphicFramePr>
        <p:xfrm>
          <a:off x="566928" y="1545336"/>
          <a:ext cx="5532120" cy="1984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0DF07282-8090-02D8-259A-891680CC8ED9}"/>
              </a:ext>
            </a:extLst>
          </p:cNvPr>
          <p:cNvSpPr txBox="1">
            <a:spLocks/>
          </p:cNvSpPr>
          <p:nvPr/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1" i="0" kern="120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III. Sócia e concorrente ao mesmo tempo: coopetição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F527187-1E71-69D3-02C2-6FBE5DE1A9C9}"/>
              </a:ext>
            </a:extLst>
          </p:cNvPr>
          <p:cNvSpPr txBox="1">
            <a:spLocks/>
          </p:cNvSpPr>
          <p:nvPr/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 i="1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Os três papéis da Dahua na Intelbras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A976DE7-5CE7-8C43-04C5-966504070D38}"/>
              </a:ext>
            </a:extLst>
          </p:cNvPr>
          <p:cNvSpPr txBox="1">
            <a:spLocks/>
          </p:cNvSpPr>
          <p:nvPr/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1" i="0" kern="120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IV. Venda autorizada desde 2023, nada vendido: o teste é dez/2028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1B0A0965-0BB7-ADBE-9211-3E537347BAD5}"/>
              </a:ext>
            </a:extLst>
          </p:cNvPr>
          <p:cNvSpPr txBox="1">
            <a:spLocks/>
          </p:cNvSpPr>
          <p:nvPr/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 i="1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Participação da Dahua no capital da Intelbras (%) e marcos</a:t>
            </a:r>
          </a:p>
        </p:txBody>
      </p:sp>
      <p:sp>
        <p:nvSpPr>
          <p:cNvPr id="7" name="Papel Fornecedora">
            <a:extLst>
              <a:ext uri="{FF2B5EF4-FFF2-40B4-BE49-F238E27FC236}">
                <a16:creationId xmlns:a16="http://schemas.microsoft.com/office/drawing/2014/main" id="{9CFB89C7-67AA-0CD5-8345-D0D086275F8E}"/>
              </a:ext>
            </a:extLst>
          </p:cNvPr>
          <p:cNvSpPr/>
          <p:nvPr/>
        </p:nvSpPr>
        <p:spPr>
          <a:xfrm>
            <a:off x="566928" y="4425696"/>
            <a:ext cx="1752600" cy="32918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Fornecedora</a:t>
            </a:r>
          </a:p>
        </p:txBody>
      </p:sp>
      <p:sp>
        <p:nvSpPr>
          <p:cNvPr id="8" name="Numero Fornecedora">
            <a:extLst>
              <a:ext uri="{FF2B5EF4-FFF2-40B4-BE49-F238E27FC236}">
                <a16:creationId xmlns:a16="http://schemas.microsoft.com/office/drawing/2014/main" id="{83EB3274-3BD2-391D-1FCB-116B75082CC5}"/>
              </a:ext>
            </a:extLst>
          </p:cNvPr>
          <p:cNvSpPr txBox="1"/>
          <p:nvPr/>
        </p:nvSpPr>
        <p:spPr>
          <a:xfrm>
            <a:off x="566928" y="4818888"/>
            <a:ext cx="1752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</a:rPr>
              <a:t>36%</a:t>
            </a:r>
          </a:p>
        </p:txBody>
      </p:sp>
      <p:sp>
        <p:nvSpPr>
          <p:cNvPr id="9" name="Texto Fornecedora">
            <a:extLst>
              <a:ext uri="{FF2B5EF4-FFF2-40B4-BE49-F238E27FC236}">
                <a16:creationId xmlns:a16="http://schemas.microsoft.com/office/drawing/2014/main" id="{CB273BDD-6DF7-6314-47AD-28365F80D00B}"/>
              </a:ext>
            </a:extLst>
          </p:cNvPr>
          <p:cNvSpPr txBox="1"/>
          <p:nvPr/>
        </p:nvSpPr>
        <p:spPr>
          <a:xfrm>
            <a:off x="566928" y="5321808"/>
            <a:ext cx="1752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</a:rPr>
              <a:t>dos gastos com fornecedores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</a:rPr>
              <a:t>225 dias de prazo</a:t>
            </a:r>
          </a:p>
        </p:txBody>
      </p:sp>
      <p:sp>
        <p:nvSpPr>
          <p:cNvPr id="10" name="Papel Sócia">
            <a:extLst>
              <a:ext uri="{FF2B5EF4-FFF2-40B4-BE49-F238E27FC236}">
                <a16:creationId xmlns:a16="http://schemas.microsoft.com/office/drawing/2014/main" id="{71E37BA3-DDC0-D9CA-16D5-2C1F465BDF93}"/>
              </a:ext>
            </a:extLst>
          </p:cNvPr>
          <p:cNvSpPr/>
          <p:nvPr/>
        </p:nvSpPr>
        <p:spPr>
          <a:xfrm>
            <a:off x="2456688" y="4425696"/>
            <a:ext cx="1752600" cy="329184"/>
          </a:xfrm>
          <a:prstGeom prst="roundRect">
            <a:avLst>
              <a:gd name="adj" fmla="val 8000"/>
            </a:avLst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Sócia</a:t>
            </a:r>
          </a:p>
        </p:txBody>
      </p:sp>
      <p:sp>
        <p:nvSpPr>
          <p:cNvPr id="12" name="Numero Sócia">
            <a:extLst>
              <a:ext uri="{FF2B5EF4-FFF2-40B4-BE49-F238E27FC236}">
                <a16:creationId xmlns:a16="http://schemas.microsoft.com/office/drawing/2014/main" id="{C314DAE9-7BF4-75D2-7F13-5858EF344DA1}"/>
              </a:ext>
            </a:extLst>
          </p:cNvPr>
          <p:cNvSpPr txBox="1"/>
          <p:nvPr/>
        </p:nvSpPr>
        <p:spPr>
          <a:xfrm>
            <a:off x="2456688" y="4818888"/>
            <a:ext cx="1752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9F41"/>
                </a:solidFill>
              </a:rPr>
              <a:t>7,56%</a:t>
            </a:r>
          </a:p>
        </p:txBody>
      </p:sp>
      <p:sp>
        <p:nvSpPr>
          <p:cNvPr id="13" name="Texto Sócia">
            <a:extLst>
              <a:ext uri="{FF2B5EF4-FFF2-40B4-BE49-F238E27FC236}">
                <a16:creationId xmlns:a16="http://schemas.microsoft.com/office/drawing/2014/main" id="{273B9816-E607-D70C-43F0-EFC00A6F2E3E}"/>
              </a:ext>
            </a:extLst>
          </p:cNvPr>
          <p:cNvSpPr txBox="1"/>
          <p:nvPr/>
        </p:nvSpPr>
        <p:spPr>
          <a:xfrm>
            <a:off x="2456688" y="5321808"/>
            <a:ext cx="1752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</a:rPr>
              <a:t>do capital e 1 conselheiro,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</a:rPr>
              <a:t>que chefia a Dahua Brasil</a:t>
            </a:r>
          </a:p>
        </p:txBody>
      </p:sp>
      <p:sp>
        <p:nvSpPr>
          <p:cNvPr id="14" name="Papel Concorrente">
            <a:extLst>
              <a:ext uri="{FF2B5EF4-FFF2-40B4-BE49-F238E27FC236}">
                <a16:creationId xmlns:a16="http://schemas.microsoft.com/office/drawing/2014/main" id="{389FD823-E918-1371-FB4F-487A5702EB25}"/>
              </a:ext>
            </a:extLst>
          </p:cNvPr>
          <p:cNvSpPr/>
          <p:nvPr/>
        </p:nvSpPr>
        <p:spPr>
          <a:xfrm>
            <a:off x="4346448" y="4425696"/>
            <a:ext cx="1752600" cy="329184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Concorrente</a:t>
            </a:r>
          </a:p>
        </p:txBody>
      </p:sp>
      <p:sp>
        <p:nvSpPr>
          <p:cNvPr id="15" name="Numero Concorrente">
            <a:extLst>
              <a:ext uri="{FF2B5EF4-FFF2-40B4-BE49-F238E27FC236}">
                <a16:creationId xmlns:a16="http://schemas.microsoft.com/office/drawing/2014/main" id="{FDFDBCCA-DFB9-29E8-876E-85A03070864D}"/>
              </a:ext>
            </a:extLst>
          </p:cNvPr>
          <p:cNvSpPr txBox="1"/>
          <p:nvPr/>
        </p:nvSpPr>
        <p:spPr>
          <a:xfrm>
            <a:off x="4346448" y="4818888"/>
            <a:ext cx="1752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595959"/>
                </a:solidFill>
              </a:rPr>
              <a:t>3</a:t>
            </a:r>
          </a:p>
        </p:txBody>
      </p:sp>
      <p:sp>
        <p:nvSpPr>
          <p:cNvPr id="16" name="Texto Concorrente">
            <a:extLst>
              <a:ext uri="{FF2B5EF4-FFF2-40B4-BE49-F238E27FC236}">
                <a16:creationId xmlns:a16="http://schemas.microsoft.com/office/drawing/2014/main" id="{492E6CCF-A6C5-0328-19AE-F9C2723890F9}"/>
              </a:ext>
            </a:extLst>
          </p:cNvPr>
          <p:cNvSpPr txBox="1"/>
          <p:nvPr/>
        </p:nvSpPr>
        <p:spPr>
          <a:xfrm>
            <a:off x="4346448" y="5321808"/>
            <a:ext cx="1752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</a:rPr>
              <a:t>distribuidores próprios desde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</a:rPr>
              <a:t>2024, foco em projetos</a:t>
            </a:r>
          </a:p>
        </p:txBody>
      </p:sp>
      <p:sp>
        <p:nvSpPr>
          <p:cNvPr id="17" name="Nota nao concorrencia">
            <a:extLst>
              <a:ext uri="{FF2B5EF4-FFF2-40B4-BE49-F238E27FC236}">
                <a16:creationId xmlns:a16="http://schemas.microsoft.com/office/drawing/2014/main" id="{9975455E-2C48-A99A-FCF7-C0DA6450ACD1}"/>
              </a:ext>
            </a:extLst>
          </p:cNvPr>
          <p:cNvSpPr txBox="1"/>
          <p:nvPr/>
        </p:nvSpPr>
        <p:spPr>
          <a:xfrm>
            <a:off x="566928" y="5943600"/>
            <a:ext cx="5532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B6B6B"/>
                </a:solidFill>
              </a:rPr>
              <a:t>O acordo de acionistas proíbe a Dahua de concorrer enquanto for sócia e por 3 anos após sair; projetos ficam de fora (cl. 12.1).</a:t>
            </a:r>
          </a:p>
        </p:txBody>
      </p:sp>
      <p:cxnSp>
        <p:nvCxnSpPr>
          <p:cNvPr id="18" name="Eixo aproximacao">
            <a:extLst>
              <a:ext uri="{FF2B5EF4-FFF2-40B4-BE49-F238E27FC236}">
                <a16:creationId xmlns:a16="http://schemas.microsoft.com/office/drawing/2014/main" id="{B20E52CD-0195-58B0-CFAF-D6C80905AEBB}"/>
              </a:ext>
            </a:extLst>
          </p:cNvPr>
          <p:cNvCxnSpPr/>
          <p:nvPr/>
        </p:nvCxnSpPr>
        <p:spPr>
          <a:xfrm>
            <a:off x="6702552" y="5120640"/>
            <a:ext cx="1742738" cy="0"/>
          </a:xfrm>
          <a:prstGeom prst="line">
            <a:avLst/>
          </a:prstGeom>
          <a:ln w="44450">
            <a:solidFill>
              <a:srgbClr val="009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ixo afastamento">
            <a:extLst>
              <a:ext uri="{FF2B5EF4-FFF2-40B4-BE49-F238E27FC236}">
                <a16:creationId xmlns:a16="http://schemas.microsoft.com/office/drawing/2014/main" id="{5E9189F8-D582-92C0-FAF7-8BC59A2152CA}"/>
              </a:ext>
            </a:extLst>
          </p:cNvPr>
          <p:cNvCxnSpPr/>
          <p:nvPr/>
        </p:nvCxnSpPr>
        <p:spPr>
          <a:xfrm>
            <a:off x="8445290" y="5120640"/>
            <a:ext cx="3195022" cy="0"/>
          </a:xfrm>
          <a:prstGeom prst="line">
            <a:avLst/>
          </a:prstGeom>
          <a:ln w="444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nto 2019">
            <a:extLst>
              <a:ext uri="{FF2B5EF4-FFF2-40B4-BE49-F238E27FC236}">
                <a16:creationId xmlns:a16="http://schemas.microsoft.com/office/drawing/2014/main" id="{722FBD6C-6FEA-B90E-6700-20BE06BDC281}"/>
              </a:ext>
            </a:extLst>
          </p:cNvPr>
          <p:cNvSpPr/>
          <p:nvPr/>
        </p:nvSpPr>
        <p:spPr>
          <a:xfrm>
            <a:off x="7065084" y="5047488"/>
            <a:ext cx="146304" cy="146304"/>
          </a:xfrm>
          <a:prstGeom prst="ellipse">
            <a:avLst/>
          </a:prstGeom>
          <a:solidFill>
            <a:srgbClr val="009F41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Valor 2019">
            <a:extLst>
              <a:ext uri="{FF2B5EF4-FFF2-40B4-BE49-F238E27FC236}">
                <a16:creationId xmlns:a16="http://schemas.microsoft.com/office/drawing/2014/main" id="{7648ACB1-8BB1-7B29-84EB-241EDBB32C3E}"/>
              </a:ext>
            </a:extLst>
          </p:cNvPr>
          <p:cNvSpPr txBox="1"/>
          <p:nvPr/>
        </p:nvSpPr>
        <p:spPr>
          <a:xfrm>
            <a:off x="6681036" y="46177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9F41"/>
                </a:solidFill>
              </a:rPr>
              <a:t>10%</a:t>
            </a:r>
          </a:p>
        </p:txBody>
      </p:sp>
      <p:sp>
        <p:nvSpPr>
          <p:cNvPr id="23" name="Ano 2019">
            <a:extLst>
              <a:ext uri="{FF2B5EF4-FFF2-40B4-BE49-F238E27FC236}">
                <a16:creationId xmlns:a16="http://schemas.microsoft.com/office/drawing/2014/main" id="{85AB207C-A62D-A95B-BAE8-EDA88AF995CA}"/>
              </a:ext>
            </a:extLst>
          </p:cNvPr>
          <p:cNvSpPr txBox="1"/>
          <p:nvPr/>
        </p:nvSpPr>
        <p:spPr>
          <a:xfrm>
            <a:off x="6681036" y="52212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2019</a:t>
            </a:r>
          </a:p>
        </p:txBody>
      </p:sp>
      <p:sp>
        <p:nvSpPr>
          <p:cNvPr id="24" name="Ponto 2021">
            <a:extLst>
              <a:ext uri="{FF2B5EF4-FFF2-40B4-BE49-F238E27FC236}">
                <a16:creationId xmlns:a16="http://schemas.microsoft.com/office/drawing/2014/main" id="{1270904C-7C16-07BB-0584-350DE8832C96}"/>
              </a:ext>
            </a:extLst>
          </p:cNvPr>
          <p:cNvSpPr/>
          <p:nvPr/>
        </p:nvSpPr>
        <p:spPr>
          <a:xfrm>
            <a:off x="7984863" y="5047488"/>
            <a:ext cx="146304" cy="146304"/>
          </a:xfrm>
          <a:prstGeom prst="ellipse">
            <a:avLst/>
          </a:prstGeom>
          <a:solidFill>
            <a:srgbClr val="009F41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Valor 2021">
            <a:extLst>
              <a:ext uri="{FF2B5EF4-FFF2-40B4-BE49-F238E27FC236}">
                <a16:creationId xmlns:a16="http://schemas.microsoft.com/office/drawing/2014/main" id="{2C84F7AF-7FCB-4F77-67EE-47D9ABEFCA57}"/>
              </a:ext>
            </a:extLst>
          </p:cNvPr>
          <p:cNvSpPr txBox="1"/>
          <p:nvPr/>
        </p:nvSpPr>
        <p:spPr>
          <a:xfrm>
            <a:off x="7600815" y="46177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9F41"/>
                </a:solidFill>
              </a:rPr>
              <a:t>10%</a:t>
            </a:r>
          </a:p>
        </p:txBody>
      </p:sp>
      <p:sp>
        <p:nvSpPr>
          <p:cNvPr id="26" name="Ano 2021">
            <a:extLst>
              <a:ext uri="{FF2B5EF4-FFF2-40B4-BE49-F238E27FC236}">
                <a16:creationId xmlns:a16="http://schemas.microsoft.com/office/drawing/2014/main" id="{EF9FCBA7-8767-0256-A33F-E50A36919384}"/>
              </a:ext>
            </a:extLst>
          </p:cNvPr>
          <p:cNvSpPr txBox="1"/>
          <p:nvPr/>
        </p:nvSpPr>
        <p:spPr>
          <a:xfrm>
            <a:off x="7600815" y="52212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2021</a:t>
            </a:r>
          </a:p>
        </p:txBody>
      </p:sp>
      <p:sp>
        <p:nvSpPr>
          <p:cNvPr id="27" name="Ponto jun/23">
            <a:extLst>
              <a:ext uri="{FF2B5EF4-FFF2-40B4-BE49-F238E27FC236}">
                <a16:creationId xmlns:a16="http://schemas.microsoft.com/office/drawing/2014/main" id="{D963D2A0-4537-253D-7721-FED43187F4F1}"/>
              </a:ext>
            </a:extLst>
          </p:cNvPr>
          <p:cNvSpPr/>
          <p:nvPr/>
        </p:nvSpPr>
        <p:spPr>
          <a:xfrm>
            <a:off x="8783618" y="5047488"/>
            <a:ext cx="146304" cy="146304"/>
          </a:xfrm>
          <a:prstGeom prst="ellipse">
            <a:avLst/>
          </a:prstGeom>
          <a:solidFill>
            <a:srgbClr val="1A1A1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Valor jun/23">
            <a:extLst>
              <a:ext uri="{FF2B5EF4-FFF2-40B4-BE49-F238E27FC236}">
                <a16:creationId xmlns:a16="http://schemas.microsoft.com/office/drawing/2014/main" id="{DF28AAF5-115D-A709-E13A-7D00BB69A6D3}"/>
              </a:ext>
            </a:extLst>
          </p:cNvPr>
          <p:cNvSpPr txBox="1"/>
          <p:nvPr/>
        </p:nvSpPr>
        <p:spPr>
          <a:xfrm>
            <a:off x="8399570" y="46177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</a:rPr>
              <a:t>7,56%</a:t>
            </a:r>
          </a:p>
        </p:txBody>
      </p:sp>
      <p:sp>
        <p:nvSpPr>
          <p:cNvPr id="29" name="Ano jun/23">
            <a:extLst>
              <a:ext uri="{FF2B5EF4-FFF2-40B4-BE49-F238E27FC236}">
                <a16:creationId xmlns:a16="http://schemas.microsoft.com/office/drawing/2014/main" id="{408B44E8-8511-8E8C-47DC-A4157596E5AA}"/>
              </a:ext>
            </a:extLst>
          </p:cNvPr>
          <p:cNvSpPr txBox="1"/>
          <p:nvPr/>
        </p:nvSpPr>
        <p:spPr>
          <a:xfrm>
            <a:off x="8399570" y="52212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jun/23</a:t>
            </a:r>
          </a:p>
        </p:txBody>
      </p:sp>
      <p:sp>
        <p:nvSpPr>
          <p:cNvPr id="30" name="Ponto jun/26">
            <a:extLst>
              <a:ext uri="{FF2B5EF4-FFF2-40B4-BE49-F238E27FC236}">
                <a16:creationId xmlns:a16="http://schemas.microsoft.com/office/drawing/2014/main" id="{07758D9D-743A-458D-4058-82AF2D6D8C37}"/>
              </a:ext>
            </a:extLst>
          </p:cNvPr>
          <p:cNvSpPr/>
          <p:nvPr/>
        </p:nvSpPr>
        <p:spPr>
          <a:xfrm>
            <a:off x="10235901" y="5047488"/>
            <a:ext cx="146304" cy="146304"/>
          </a:xfrm>
          <a:prstGeom prst="ellipse">
            <a:avLst/>
          </a:prstGeom>
          <a:solidFill>
            <a:srgbClr val="1A1A1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Valor jun/26">
            <a:extLst>
              <a:ext uri="{FF2B5EF4-FFF2-40B4-BE49-F238E27FC236}">
                <a16:creationId xmlns:a16="http://schemas.microsoft.com/office/drawing/2014/main" id="{DD91433C-DD66-7825-6B4A-A7E65E24E8DB}"/>
              </a:ext>
            </a:extLst>
          </p:cNvPr>
          <p:cNvSpPr txBox="1"/>
          <p:nvPr/>
        </p:nvSpPr>
        <p:spPr>
          <a:xfrm>
            <a:off x="9851853" y="46177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</a:rPr>
              <a:t>7,56%</a:t>
            </a:r>
          </a:p>
        </p:txBody>
      </p:sp>
      <p:sp>
        <p:nvSpPr>
          <p:cNvPr id="32" name="Ano jun/26">
            <a:extLst>
              <a:ext uri="{FF2B5EF4-FFF2-40B4-BE49-F238E27FC236}">
                <a16:creationId xmlns:a16="http://schemas.microsoft.com/office/drawing/2014/main" id="{3E7688C7-A028-9157-8686-57FD212A18B4}"/>
              </a:ext>
            </a:extLst>
          </p:cNvPr>
          <p:cNvSpPr txBox="1"/>
          <p:nvPr/>
        </p:nvSpPr>
        <p:spPr>
          <a:xfrm>
            <a:off x="9851853" y="52212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jun/26</a:t>
            </a:r>
          </a:p>
        </p:txBody>
      </p:sp>
      <p:sp>
        <p:nvSpPr>
          <p:cNvPr id="33" name="Ponto fim do acordo">
            <a:extLst>
              <a:ext uri="{FF2B5EF4-FFF2-40B4-BE49-F238E27FC236}">
                <a16:creationId xmlns:a16="http://schemas.microsoft.com/office/drawing/2014/main" id="{AD4E6B60-E2B8-6D34-EB47-BB19F380948E}"/>
              </a:ext>
            </a:extLst>
          </p:cNvPr>
          <p:cNvSpPr/>
          <p:nvPr/>
        </p:nvSpPr>
        <p:spPr>
          <a:xfrm>
            <a:off x="11400416" y="5001768"/>
            <a:ext cx="237744" cy="237744"/>
          </a:xfrm>
          <a:prstGeom prst="ellipse">
            <a:avLst/>
          </a:prstGeom>
          <a:solidFill>
            <a:srgbClr val="1A1A1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Valor fim acordo">
            <a:extLst>
              <a:ext uri="{FF2B5EF4-FFF2-40B4-BE49-F238E27FC236}">
                <a16:creationId xmlns:a16="http://schemas.microsoft.com/office/drawing/2014/main" id="{E7A64D49-1F40-79E2-52E2-4C1A781BE855}"/>
              </a:ext>
            </a:extLst>
          </p:cNvPr>
          <p:cNvSpPr txBox="1"/>
          <p:nvPr/>
        </p:nvSpPr>
        <p:spPr>
          <a:xfrm>
            <a:off x="10970648" y="461772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</a:rPr>
              <a:t>dez/28</a:t>
            </a:r>
          </a:p>
        </p:txBody>
      </p:sp>
      <p:sp>
        <p:nvSpPr>
          <p:cNvPr id="35" name="Rotulo fim acordo">
            <a:extLst>
              <a:ext uri="{FF2B5EF4-FFF2-40B4-BE49-F238E27FC236}">
                <a16:creationId xmlns:a16="http://schemas.microsoft.com/office/drawing/2014/main" id="{FCC53E64-94B9-B936-E6CB-42992C0292CC}"/>
              </a:ext>
            </a:extLst>
          </p:cNvPr>
          <p:cNvSpPr txBox="1"/>
          <p:nvPr/>
        </p:nvSpPr>
        <p:spPr>
          <a:xfrm>
            <a:off x="10970648" y="523951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acordo vence</a:t>
            </a:r>
          </a:p>
        </p:txBody>
      </p:sp>
      <p:cxnSp>
        <p:nvCxnSpPr>
          <p:cNvPr id="36" name="Faixa venda autorizada">
            <a:extLst>
              <a:ext uri="{FF2B5EF4-FFF2-40B4-BE49-F238E27FC236}">
                <a16:creationId xmlns:a16="http://schemas.microsoft.com/office/drawing/2014/main" id="{5060D92C-F50A-499A-ECDD-D68EBED7D585}"/>
              </a:ext>
            </a:extLst>
          </p:cNvPr>
          <p:cNvCxnSpPr/>
          <p:nvPr/>
        </p:nvCxnSpPr>
        <p:spPr>
          <a:xfrm>
            <a:off x="8953589" y="5550408"/>
            <a:ext cx="2405948" cy="0"/>
          </a:xfrm>
          <a:prstGeom prst="line">
            <a:avLst/>
          </a:prstGeom>
          <a:ln w="762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tulo venda autorizada">
            <a:extLst>
              <a:ext uri="{FF2B5EF4-FFF2-40B4-BE49-F238E27FC236}">
                <a16:creationId xmlns:a16="http://schemas.microsoft.com/office/drawing/2014/main" id="{B438235D-6478-3CF8-46EF-8432EFCC2BF7}"/>
              </a:ext>
            </a:extLst>
          </p:cNvPr>
          <p:cNvSpPr txBox="1"/>
          <p:nvPr/>
        </p:nvSpPr>
        <p:spPr>
          <a:xfrm>
            <a:off x="8053443" y="5614416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</a:rPr>
              <a:t>venda autorizada desde ago/23 (renovada até ago/28)</a:t>
            </a:r>
          </a:p>
        </p:txBody>
      </p:sp>
      <p:sp>
        <p:nvSpPr>
          <p:cNvPr id="38" name="Nota por que">
            <a:extLst>
              <a:ext uri="{FF2B5EF4-FFF2-40B4-BE49-F238E27FC236}">
                <a16:creationId xmlns:a16="http://schemas.microsoft.com/office/drawing/2014/main" id="{F7584A99-9134-4158-9C9F-6C38C9DD2D90}"/>
              </a:ext>
            </a:extLst>
          </p:cNvPr>
          <p:cNvSpPr txBox="1"/>
          <p:nvPr/>
        </p:nvSpPr>
        <p:spPr>
          <a:xfrm>
            <a:off x="6428232" y="5943600"/>
            <a:ext cx="5532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1">
                <a:solidFill>
                  <a:srgbClr val="1A1A1A"/>
                </a:solidFill>
              </a:rPr>
              <a:t>Por quê: </a:t>
            </a:r>
            <a:r>
              <a:rPr sz="900" b="0" i="1">
                <a:solidFill>
                  <a:srgbClr val="6B6B6B"/>
                </a:solidFill>
              </a:rPr>
              <a:t>reciclagem de capital (declarado); liberdade para competir 3 anos após sair (leitura nossa).</a:t>
            </a:r>
          </a:p>
        </p:txBody>
      </p:sp>
      <p:sp>
        <p:nvSpPr>
          <p:cNvPr id="85" name="Destaque 23"/>
          <p:cNvSpPr txBox="1"/>
          <p:nvPr/>
        </p:nvSpPr>
        <p:spPr>
          <a:xfrm>
            <a:off x="6428232" y="2670048"/>
            <a:ext cx="14447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9F41"/>
                </a:solidFill>
              </a:rPr>
              <a:t>23%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do custo da Intelbras vem da Dahua</a:t>
            </a:r>
          </a:p>
        </p:txBody>
      </p:sp>
      <p:sp>
        <p:nvSpPr>
          <p:cNvPr id="86" name="Destaque 3"/>
          <p:cNvSpPr txBox="1"/>
          <p:nvPr/>
        </p:nvSpPr>
        <p:spPr>
          <a:xfrm>
            <a:off x="10661904" y="2670048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3%</a:t>
            </a:r>
          </a:p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da receita da Dahua vem da Intelbras</a:t>
            </a:r>
          </a:p>
        </p:txBody>
      </p:sp>
    </p:spTree>
    <p:extLst>
      <p:ext uri="{BB962C8B-B14F-4D97-AF65-F5344CB8AC3E}">
        <p14:creationId xmlns:p14="http://schemas.microsoft.com/office/powerpoint/2010/main" val="209880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3E195C9-E9A3-A721-5FA7-8214DC0A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Incentivos fiscais: quase todo o lucro, com prazo para acabar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56DF3C-C474-9B45-824D-7C9DA288689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R$460 mi em 2025, 85% do EBITDA; sem eles a margem operacional seria negativa, e R$280 mi vencem até 2033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A6C0387-13AF-FDB9-3846-8BC5D79162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III. Cada incentivo exige produzir ou pesquisar aqui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CBD21B-D8ED-8ACF-276B-225A46E029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Como funciona, valor em 2025 (R$ mi) e prazo de cada incentivo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FF8639D-6BF2-B0E0-6994-F4E74059A0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IV. Sem incentivos, a margem operacional seria quase zero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37CE883-F6CB-8EEB-DFE7-48F36F2C5B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Margem EBIT reportada vs sem incentivos, 2021–2025 (% da receita líquida)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BDBBEF6-3775-D77D-D45F-7E4AEB23BA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Fontes: DFPs 2021–25 (NE 23, 24 e conciliação do IR); FRE 2026; Lei 8.248/91 e 13.969/19; EC 132/2023 (reforma tributária). Prazos e premissas nas anotações.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2720D7E-BBB5-2800-928E-0952DE479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</p:spPr>
        <p:txBody>
          <a:bodyPr/>
          <a:lstStyle/>
          <a:p>
            <a:pPr algn="l"/>
            <a:r>
              <a:rPr dirty="0" err="1"/>
              <a:t>I. Incentivos de 2025 somaram R$ 460 mi, quase todo o EBITDA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220C3E3-C1E8-E339-3F7E-5777C4327C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</p:spPr>
        <p:txBody>
          <a:bodyPr/>
          <a:lstStyle/>
          <a:p>
            <a:pPr algn="l"/>
            <a:r>
              <a:rPr dirty="0" err="1"/>
              <a:t>Regulação</a:t>
            </a:r>
            <a:r>
              <a:rPr dirty="0"/>
              <a:t> · </a:t>
            </a:r>
            <a:r>
              <a:rPr dirty="0" err="1"/>
              <a:t>Incentivos</a:t>
            </a:r>
            <a:r>
              <a:rPr dirty="0"/>
              <a:t> </a:t>
            </a:r>
            <a:r>
              <a:rPr dirty="0" err="1"/>
              <a:t>fiscais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instrumento</a:t>
            </a:r>
            <a:r>
              <a:rPr dirty="0"/>
              <a:t> e </a:t>
            </a:r>
            <a:r>
              <a:rPr dirty="0" err="1"/>
              <a:t>prazo</a:t>
            </a:r>
            <a:r>
              <a:rPr dirty="0"/>
              <a:t>, 2025 (R$ mi)</a:t>
            </a:r>
          </a:p>
        </p:txBody>
      </p:sp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9EE0C482-18AF-D7EC-D4BD-410BEAAAED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5F02ED7B-5CD3-C40B-0825-20C36072F4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</p:spPr>
        <p:txBody>
          <a:bodyPr/>
          <a:lstStyle/>
          <a:p>
            <a:pPr algn="l"/>
            <a:r>
              <a:rPr dirty="0"/>
              <a:t>II. Sem substituto, R$ 280 mi podem sair do resultado até 2033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AFD585A-5DD9-E242-B89B-B249FF33B1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</p:spPr>
        <p:txBody>
          <a:bodyPr/>
          <a:lstStyle/>
          <a:p>
            <a:pPr algn="l"/>
            <a:r>
              <a:rPr dirty="0" err="1"/>
              <a:t>Incentivos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ano</a:t>
            </a:r>
            <a:r>
              <a:rPr dirty="0"/>
              <a:t>, a </a:t>
            </a:r>
            <a:r>
              <a:rPr dirty="0" err="1"/>
              <a:t>valores</a:t>
            </a:r>
            <a:r>
              <a:rPr dirty="0"/>
              <a:t> de 2025 (R$ mi), </a:t>
            </a:r>
            <a:r>
              <a:rPr lang="en-US" dirty="0"/>
              <a:t>com o </a:t>
            </a:r>
            <a:r>
              <a:rPr lang="en-US" dirty="0" err="1"/>
              <a:t>fim</a:t>
            </a:r>
            <a:r>
              <a:rPr lang="en-US" dirty="0"/>
              <a:t> da Lei das Tics e da </a:t>
            </a:r>
            <a:r>
              <a:rPr lang="en-US" dirty="0" err="1"/>
              <a:t>reforma</a:t>
            </a:r>
            <a:r>
              <a:rPr lang="en-US" dirty="0"/>
              <a:t> </a:t>
            </a:r>
            <a:r>
              <a:rPr lang="en-US" dirty="0" err="1"/>
              <a:t>tributária</a:t>
            </a:r>
            <a:endParaRPr dirty="0"/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49F331E1-1995-96EF-1A07-053160EF2E5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7D4C3685-A837-E742-0C61-5C377C2C36BE}"/>
              </a:ext>
            </a:extLst>
          </p:cNvPr>
          <p:cNvGraphicFramePr>
            <a:graphicFrameLocks noGrp="1"/>
          </p:cNvGraphicFramePr>
          <p:nvPr/>
        </p:nvGraphicFramePr>
        <p:xfrm>
          <a:off x="566928" y="1545336"/>
          <a:ext cx="3520440" cy="1984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94AA1BD9-977B-9487-8081-0853ECA6BAC1}"/>
              </a:ext>
            </a:extLst>
          </p:cNvPr>
          <p:cNvSpPr/>
          <p:nvPr/>
        </p:nvSpPr>
        <p:spPr>
          <a:xfrm>
            <a:off x="4224528" y="1655064"/>
            <a:ext cx="1874519" cy="1764792"/>
          </a:xfrm>
          <a:prstGeom prst="rect">
            <a:avLst/>
          </a:prstGeom>
          <a:solidFill>
            <a:srgbClr val="FFFFFF"/>
          </a:solidFill>
          <a:ln w="12700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3E8E1F"/>
                </a:solidFill>
                <a:latin typeface="Calibri"/>
              </a:rPr>
              <a:t>85%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1A1A1A"/>
                </a:solidFill>
                <a:latin typeface="Calibri"/>
              </a:rPr>
              <a:t>do EBITDA de 2025 (R$ 460 mi de R$ 542 mi) e 94% do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lucro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líquido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F69DD5DC-9C14-D7EF-62AD-5B95566DD3CB}"/>
              </a:ext>
            </a:extLst>
          </p:cNvPr>
          <p:cNvGraphicFramePr>
            <a:graphicFrameLocks noGrp="1"/>
          </p:cNvGraphicFramePr>
          <p:nvPr/>
        </p:nvGraphicFramePr>
        <p:xfrm>
          <a:off x="6428232" y="1545336"/>
          <a:ext cx="3520440" cy="1984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1CD9D4AD-A775-1FD1-5351-7D5EB8ABDE32}"/>
              </a:ext>
            </a:extLst>
          </p:cNvPr>
          <p:cNvSpPr/>
          <p:nvPr/>
        </p:nvSpPr>
        <p:spPr>
          <a:xfrm>
            <a:off x="10085832" y="1655064"/>
            <a:ext cx="1874519" cy="1764792"/>
          </a:xfrm>
          <a:prstGeom prst="rect">
            <a:avLst/>
          </a:prstGeom>
          <a:solidFill>
            <a:srgbClr val="FFFFFF"/>
          </a:solidFill>
          <a:ln w="12700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3E8E1F"/>
                </a:solidFill>
                <a:latin typeface="Calibri"/>
              </a:rPr>
              <a:t>−52%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1A1A1A"/>
                </a:solidFill>
                <a:latin typeface="Calibri"/>
              </a:rPr>
              <a:t>do EBITDA de 2025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em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risco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até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 2033. </a:t>
            </a:r>
            <a:endParaRPr sz="1000" b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44" name="Tabela cab Incentivo"/>
          <p:cNvSpPr txBox="1"/>
          <p:nvPr/>
        </p:nvSpPr>
        <p:spPr>
          <a:xfrm>
            <a:off x="566928" y="442569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</a:rPr>
              <a:t>Incentivo</a:t>
            </a:r>
          </a:p>
        </p:txBody>
      </p:sp>
      <p:sp>
        <p:nvSpPr>
          <p:cNvPr id="45" name="Tabela cab Como funciona"/>
          <p:cNvSpPr txBox="1"/>
          <p:nvPr/>
        </p:nvSpPr>
        <p:spPr>
          <a:xfrm>
            <a:off x="1984248" y="4425696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</a:rPr>
              <a:t>Como funciona</a:t>
            </a:r>
          </a:p>
        </p:txBody>
      </p:sp>
      <p:sp>
        <p:nvSpPr>
          <p:cNvPr id="46" name="Tabela cab 2025"/>
          <p:cNvSpPr txBox="1"/>
          <p:nvPr/>
        </p:nvSpPr>
        <p:spPr>
          <a:xfrm>
            <a:off x="4544568" y="44256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</a:rPr>
              <a:t>2025</a:t>
            </a:r>
          </a:p>
        </p:txBody>
      </p:sp>
      <p:sp>
        <p:nvSpPr>
          <p:cNvPr id="47" name="Tabela cab Até"/>
          <p:cNvSpPr txBox="1"/>
          <p:nvPr/>
        </p:nvSpPr>
        <p:spPr>
          <a:xfrm>
            <a:off x="5184648" y="442569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</a:rPr>
              <a:t>Até</a:t>
            </a:r>
          </a:p>
        </p:txBody>
      </p:sp>
      <p:cxnSp>
        <p:nvCxnSpPr>
          <p:cNvPr id="48" name="Tabela linha cab"/>
          <p:cNvCxnSpPr/>
          <p:nvPr/>
        </p:nvCxnSpPr>
        <p:spPr>
          <a:xfrm>
            <a:off x="566928" y="4663440"/>
            <a:ext cx="5532120" cy="0"/>
          </a:xfrm>
          <a:prstGeom prst="line">
            <a:avLst/>
          </a:prstGeom>
          <a:ln w="12700">
            <a:solidFill>
              <a:srgbClr val="009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abela faixa 0"/>
          <p:cNvSpPr/>
          <p:nvPr/>
        </p:nvSpPr>
        <p:spPr>
          <a:xfrm>
            <a:off x="566928" y="4700016"/>
            <a:ext cx="5532120" cy="3383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abela nome 0"/>
          <p:cNvSpPr txBox="1"/>
          <p:nvPr/>
        </p:nvSpPr>
        <p:spPr>
          <a:xfrm>
            <a:off x="566928" y="4718304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</a:rPr>
              <a:t>ICMS estadual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B6B6B"/>
                </a:solidFill>
              </a:rPr>
              <a:t>AM, SC, MG, PE</a:t>
            </a:r>
          </a:p>
        </p:txBody>
      </p:sp>
      <p:sp>
        <p:nvSpPr>
          <p:cNvPr id="51" name="Tabela como 0"/>
          <p:cNvSpPr txBox="1"/>
          <p:nvPr/>
        </p:nvSpPr>
        <p:spPr>
          <a:xfrm>
            <a:off x="1984248" y="4718304"/>
            <a:ext cx="2514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crédito presumido e base reduzida; exige produzir no estado</a:t>
            </a:r>
          </a:p>
        </p:txBody>
      </p:sp>
      <p:sp>
        <p:nvSpPr>
          <p:cNvPr id="52" name="Tabela valor 0"/>
          <p:cNvSpPr txBox="1"/>
          <p:nvPr/>
        </p:nvSpPr>
        <p:spPr>
          <a:xfrm>
            <a:off x="4544568" y="4718304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09F41"/>
                </a:solidFill>
              </a:rPr>
              <a:t>336</a:t>
            </a:r>
          </a:p>
        </p:txBody>
      </p:sp>
      <p:sp>
        <p:nvSpPr>
          <p:cNvPr id="53" name="Tabela prazo 0"/>
          <p:cNvSpPr txBox="1"/>
          <p:nvPr/>
        </p:nvSpPr>
        <p:spPr>
          <a:xfrm>
            <a:off x="5276088" y="4718304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2032 · AM 2073</a:t>
            </a:r>
          </a:p>
        </p:txBody>
      </p:sp>
      <p:sp>
        <p:nvSpPr>
          <p:cNvPr id="54" name="Tabela nome 1"/>
          <p:cNvSpPr txBox="1"/>
          <p:nvPr/>
        </p:nvSpPr>
        <p:spPr>
          <a:xfrm>
            <a:off x="566928" y="5056632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</a:rPr>
              <a:t>Lei de TICs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B6B6B"/>
                </a:solidFill>
              </a:rPr>
              <a:t>fora da Zona Franca</a:t>
            </a:r>
          </a:p>
        </p:txBody>
      </p:sp>
      <p:sp>
        <p:nvSpPr>
          <p:cNvPr id="55" name="Tabela como 1"/>
          <p:cNvSpPr txBox="1"/>
          <p:nvPr/>
        </p:nvSpPr>
        <p:spPr>
          <a:xfrm>
            <a:off x="1984248" y="5056632"/>
            <a:ext cx="2514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≥4% do faturamento incentivado em P&amp;D vira crédito federal</a:t>
            </a:r>
          </a:p>
        </p:txBody>
      </p:sp>
      <p:sp>
        <p:nvSpPr>
          <p:cNvPr id="56" name="Tabela valor 1"/>
          <p:cNvSpPr txBox="1"/>
          <p:nvPr/>
        </p:nvSpPr>
        <p:spPr>
          <a:xfrm>
            <a:off x="4544568" y="5056632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09F41"/>
                </a:solidFill>
              </a:rPr>
              <a:t>123</a:t>
            </a:r>
          </a:p>
        </p:txBody>
      </p:sp>
      <p:sp>
        <p:nvSpPr>
          <p:cNvPr id="57" name="Tabela prazo 1"/>
          <p:cNvSpPr txBox="1"/>
          <p:nvPr/>
        </p:nvSpPr>
        <p:spPr>
          <a:xfrm>
            <a:off x="5276088" y="5056632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2029</a:t>
            </a:r>
          </a:p>
        </p:txBody>
      </p:sp>
      <p:sp>
        <p:nvSpPr>
          <p:cNvPr id="58" name="Tabela faixa 2"/>
          <p:cNvSpPr/>
          <p:nvPr/>
        </p:nvSpPr>
        <p:spPr>
          <a:xfrm>
            <a:off x="566928" y="5376672"/>
            <a:ext cx="5532120" cy="3383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abela nome 2"/>
          <p:cNvSpPr txBox="1"/>
          <p:nvPr/>
        </p:nvSpPr>
        <p:spPr>
          <a:xfrm>
            <a:off x="566928" y="5394960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</a:rPr>
              <a:t>Zona Franca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B6B6B"/>
                </a:solidFill>
              </a:rPr>
              <a:t>Manaus (SUFRAMA)</a:t>
            </a:r>
          </a:p>
        </p:txBody>
      </p:sp>
      <p:sp>
        <p:nvSpPr>
          <p:cNvPr id="60" name="Tabela como 2"/>
          <p:cNvSpPr txBox="1"/>
          <p:nvPr/>
        </p:nvSpPr>
        <p:spPr>
          <a:xfrm>
            <a:off x="1984248" y="5394960"/>
            <a:ext cx="2514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isenção de IPI e redução do imposto de importação</a:t>
            </a:r>
          </a:p>
        </p:txBody>
      </p:sp>
      <p:sp>
        <p:nvSpPr>
          <p:cNvPr id="61" name="Tabela valor 2"/>
          <p:cNvSpPr txBox="1"/>
          <p:nvPr/>
        </p:nvSpPr>
        <p:spPr>
          <a:xfrm>
            <a:off x="4544568" y="5394960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1">
                <a:solidFill>
                  <a:srgbClr val="6B6B6B"/>
                </a:solidFill>
              </a:rPr>
              <a:t>no custo</a:t>
            </a:r>
          </a:p>
        </p:txBody>
      </p:sp>
      <p:sp>
        <p:nvSpPr>
          <p:cNvPr id="62" name="Tabela prazo 2"/>
          <p:cNvSpPr txBox="1"/>
          <p:nvPr/>
        </p:nvSpPr>
        <p:spPr>
          <a:xfrm>
            <a:off x="5276088" y="5394960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2073</a:t>
            </a:r>
          </a:p>
        </p:txBody>
      </p:sp>
      <p:sp>
        <p:nvSpPr>
          <p:cNvPr id="63" name="Tabela nome 3"/>
          <p:cNvSpPr txBox="1"/>
          <p:nvPr/>
        </p:nvSpPr>
        <p:spPr>
          <a:xfrm>
            <a:off x="566928" y="5733288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</a:rPr>
              <a:t>SUDAM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B6B6B"/>
                </a:solidFill>
              </a:rPr>
              <a:t>Manaus</a:t>
            </a:r>
          </a:p>
        </p:txBody>
      </p:sp>
      <p:sp>
        <p:nvSpPr>
          <p:cNvPr id="64" name="Tabela como 3"/>
          <p:cNvSpPr txBox="1"/>
          <p:nvPr/>
        </p:nvSpPr>
        <p:spPr>
          <a:xfrm>
            <a:off x="1984248" y="5733288"/>
            <a:ext cx="2514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−75% do IRPJ sobre o lucro da fábrica</a:t>
            </a:r>
          </a:p>
        </p:txBody>
      </p:sp>
      <p:sp>
        <p:nvSpPr>
          <p:cNvPr id="65" name="Tabela valor 3"/>
          <p:cNvSpPr txBox="1"/>
          <p:nvPr/>
        </p:nvSpPr>
        <p:spPr>
          <a:xfrm>
            <a:off x="4544568" y="5733288"/>
            <a:ext cx="594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1">
                <a:solidFill>
                  <a:srgbClr val="6B6B6B"/>
                </a:solidFill>
              </a:rPr>
              <a:t>pequeno</a:t>
            </a:r>
          </a:p>
        </p:txBody>
      </p:sp>
      <p:sp>
        <p:nvSpPr>
          <p:cNvPr id="66" name="Tabela prazo 3"/>
          <p:cNvSpPr txBox="1"/>
          <p:nvPr/>
        </p:nvSpPr>
        <p:spPr>
          <a:xfrm>
            <a:off x="5276088" y="5733288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67" name="Tabela nota"/>
          <p:cNvSpPr txBox="1"/>
          <p:nvPr/>
        </p:nvSpPr>
        <p:spPr>
          <a:xfrm>
            <a:off x="566928" y="6108192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B6B6B"/>
                </a:solidFill>
              </a:rPr>
              <a:t>Subvenção: fica fora da base do IR, por isso a alíquota efetiva foi de 0,7% em 2025.</a:t>
            </a:r>
          </a:p>
        </p:txBody>
      </p:sp>
      <p:graphicFrame>
        <p:nvGraphicFramePr>
          <p:cNvPr id="68" name="Grafico margem sem incentivos"/>
          <p:cNvGraphicFramePr>
            <a:graphicFrameLocks noGrp="1"/>
          </p:cNvGraphicFramePr>
          <p:nvPr/>
        </p:nvGraphicFramePr>
        <p:xfrm>
          <a:off x="6428232" y="4407408"/>
          <a:ext cx="3886200" cy="19842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9" name="Destaque margem"/>
          <p:cNvSpPr txBox="1"/>
          <p:nvPr/>
        </p:nvSpPr>
        <p:spPr>
          <a:xfrm>
            <a:off x="10405872" y="4773168"/>
            <a:ext cx="1554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9F41"/>
                </a:solidFill>
              </a:rPr>
              <a:t>−0,8%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</a:rPr>
              <a:t>margem EBIT de 2025 sem os incentivos</a:t>
            </a:r>
          </a:p>
        </p:txBody>
      </p:sp>
    </p:spTree>
    <p:extLst>
      <p:ext uri="{BB962C8B-B14F-4D97-AF65-F5344CB8AC3E}">
        <p14:creationId xmlns:p14="http://schemas.microsoft.com/office/powerpoint/2010/main" val="3611808962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Baixo poder de barganha com os fornecedores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Com custo dolarizado, chips escassos e um terço dos gastos em um único fornecedor, a Intelbras aceita o preço na origem e compensa na distribuição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Chips vêm de Taiwan, Coreia e EUA; produtos prontos e energia, da China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Participação dos maiores fabricantes no mundo (%) e o produto Intelbras que depende do insumo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II. O custo é dolarizado; a receita, em reais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Parcela ligada a moeda estrangeira, 2025 (%)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III. Quem fabrica para a Intelbras é, quase sempre, chinês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Principais parceiros por produto e o vínculo com a Intelbras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TrendForce; TrendFocus; Counterpoint; Omdia; InfoLink; IEA-PVPS; SNE Research; FRE 2026 (1.4.e, 2.2, 11.3); DFP 2025 (NE 14, 25); comunicados Intelbras; Teletime; datasheets. Detalhes nas anotações.</a:t>
            </a:r>
          </a:p>
        </p:txBody>
      </p:sp>
      <p:sp>
        <p:nvSpPr>
          <p:cNvPr id="13" name="Rotulo Fabricação de chips"/>
          <p:cNvSpPr txBox="1"/>
          <p:nvPr/>
        </p:nvSpPr>
        <p:spPr>
          <a:xfrm>
            <a:off x="566928" y="1554480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Fabricação de chips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B6B"/>
                </a:solidFill>
              </a:rPr>
              <a:t>todos os eletrônicos · 2025</a:t>
            </a:r>
          </a:p>
        </p:txBody>
      </p:sp>
      <p:sp>
        <p:nvSpPr>
          <p:cNvPr id="14" name="Barra Fabricação de chips 0"/>
          <p:cNvSpPr/>
          <p:nvPr/>
        </p:nvSpPr>
        <p:spPr>
          <a:xfrm>
            <a:off x="2368296" y="1600200"/>
            <a:ext cx="2607795" cy="402336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TSMC (TW) 70%</a:t>
            </a:r>
          </a:p>
        </p:txBody>
      </p:sp>
      <p:sp>
        <p:nvSpPr>
          <p:cNvPr id="15" name="Barra Fabricação de chips 1"/>
          <p:cNvSpPr/>
          <p:nvPr/>
        </p:nvSpPr>
        <p:spPr>
          <a:xfrm>
            <a:off x="4976091" y="1600200"/>
            <a:ext cx="268614" cy="402336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</a:p>
        </p:txBody>
      </p:sp>
      <p:sp>
        <p:nvSpPr>
          <p:cNvPr id="16" name="Barra Fabricação de chips 2"/>
          <p:cNvSpPr/>
          <p:nvPr/>
        </p:nvSpPr>
        <p:spPr>
          <a:xfrm>
            <a:off x="5244705" y="1600200"/>
            <a:ext cx="197729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</a:p>
        </p:txBody>
      </p:sp>
      <p:sp>
        <p:nvSpPr>
          <p:cNvPr id="17" name="Barra Fabricação de chips 3"/>
          <p:cNvSpPr/>
          <p:nvPr/>
        </p:nvSpPr>
        <p:spPr>
          <a:xfrm>
            <a:off x="5442435" y="1600200"/>
            <a:ext cx="656612" cy="402336"/>
          </a:xfrm>
          <a:prstGeom prst="rect">
            <a:avLst/>
          </a:prstGeom>
          <a:solidFill>
            <a:srgbClr val="E3E3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595959"/>
                </a:solidFill>
              </a:rPr>
              <a:t>outros 18</a:t>
            </a:r>
          </a:p>
        </p:txBody>
      </p:sp>
      <p:sp>
        <p:nvSpPr>
          <p:cNvPr id="18" name="Rotulo Memória DRAM"/>
          <p:cNvSpPr txBox="1"/>
          <p:nvPr/>
        </p:nvSpPr>
        <p:spPr>
          <a:xfrm>
            <a:off x="566928" y="213969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Memória DRAM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B6B"/>
                </a:solidFill>
              </a:rPr>
              <a:t>câmeras, gravadores, roteadores · 3T25</a:t>
            </a:r>
          </a:p>
        </p:txBody>
      </p:sp>
      <p:sp>
        <p:nvSpPr>
          <p:cNvPr id="19" name="Barra Memória DRAM 0"/>
          <p:cNvSpPr/>
          <p:nvPr/>
        </p:nvSpPr>
        <p:spPr>
          <a:xfrm>
            <a:off x="2368296" y="2185416"/>
            <a:ext cx="1238609" cy="402336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SK hynix (KR)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20" name="Barra Memória DRAM 1"/>
          <p:cNvSpPr/>
          <p:nvPr/>
        </p:nvSpPr>
        <p:spPr>
          <a:xfrm>
            <a:off x="3606905" y="2185416"/>
            <a:ext cx="1216225" cy="402336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Samsung (KR)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21" name="Barra Memória DRAM 2"/>
          <p:cNvSpPr/>
          <p:nvPr/>
        </p:nvSpPr>
        <p:spPr>
          <a:xfrm>
            <a:off x="4823130" y="2185416"/>
            <a:ext cx="958803" cy="402336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Micron (EUA)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22" name="Barra Memória DRAM 3"/>
          <p:cNvSpPr/>
          <p:nvPr/>
        </p:nvSpPr>
        <p:spPr>
          <a:xfrm>
            <a:off x="5781934" y="2185416"/>
            <a:ext cx="317113" cy="402336"/>
          </a:xfrm>
          <a:prstGeom prst="rect">
            <a:avLst/>
          </a:prstGeom>
          <a:solidFill>
            <a:srgbClr val="E3E3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</a:p>
        </p:txBody>
      </p:sp>
      <p:sp>
        <p:nvSpPr>
          <p:cNvPr id="23" name="Rotulo Discos rígidos"/>
          <p:cNvSpPr txBox="1"/>
          <p:nvPr/>
        </p:nvSpPr>
        <p:spPr>
          <a:xfrm>
            <a:off x="566928" y="27249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Discos rígidos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B6B"/>
                </a:solidFill>
              </a:rPr>
              <a:t>gravadores de vídeo (DVR/NVR) · 1T25</a:t>
            </a:r>
          </a:p>
        </p:txBody>
      </p:sp>
      <p:sp>
        <p:nvSpPr>
          <p:cNvPr id="24" name="Barra Discos rígidos 0"/>
          <p:cNvSpPr/>
          <p:nvPr/>
        </p:nvSpPr>
        <p:spPr>
          <a:xfrm>
            <a:off x="2368296" y="2770632"/>
            <a:ext cx="1566915" cy="402336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WD (EUA)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25" name="Barra Discos rígidos 1"/>
          <p:cNvSpPr/>
          <p:nvPr/>
        </p:nvSpPr>
        <p:spPr>
          <a:xfrm>
            <a:off x="3935211" y="2770632"/>
            <a:ext cx="1492300" cy="402336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Seagate (EUA)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6" name="Barra Discos rígidos 2"/>
          <p:cNvSpPr/>
          <p:nvPr/>
        </p:nvSpPr>
        <p:spPr>
          <a:xfrm>
            <a:off x="5427512" y="2770632"/>
            <a:ext cx="671535" cy="402336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Toshiba (JP)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27" name="Rotulo Chips Wi-Fi"/>
          <p:cNvSpPr txBox="1"/>
          <p:nvPr/>
        </p:nvSpPr>
        <p:spPr>
          <a:xfrm>
            <a:off x="566928" y="331012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Chips Wi-Fi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B6B"/>
                </a:solidFill>
              </a:rPr>
              <a:t>roteadores (Twibi usa Realtek) · 2024</a:t>
            </a:r>
          </a:p>
        </p:txBody>
      </p:sp>
      <p:sp>
        <p:nvSpPr>
          <p:cNvPr id="28" name="Barra Chips Wi-Fi 0"/>
          <p:cNvSpPr/>
          <p:nvPr/>
        </p:nvSpPr>
        <p:spPr>
          <a:xfrm>
            <a:off x="2368296" y="3355848"/>
            <a:ext cx="3059216" cy="402336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Broadcom · Qualcomm · MediaTek · Realtek · Intel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82% juntos</a:t>
            </a:r>
          </a:p>
        </p:txBody>
      </p:sp>
      <p:sp>
        <p:nvSpPr>
          <p:cNvPr id="29" name="Barra Chips Wi-Fi 1"/>
          <p:cNvSpPr/>
          <p:nvPr/>
        </p:nvSpPr>
        <p:spPr>
          <a:xfrm>
            <a:off x="5427512" y="3355848"/>
            <a:ext cx="671535" cy="402336"/>
          </a:xfrm>
          <a:prstGeom prst="rect">
            <a:avLst/>
          </a:prstGeom>
          <a:solidFill>
            <a:srgbClr val="E3E3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</a:p>
        </p:txBody>
      </p:sp>
      <p:sp>
        <p:nvSpPr>
          <p:cNvPr id="30" name="Rotulo Câmeras e gravadores"/>
          <p:cNvSpPr txBox="1"/>
          <p:nvPr/>
        </p:nvSpPr>
        <p:spPr>
          <a:xfrm>
            <a:off x="566928" y="3895344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Câmeras e gravadores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B6B"/>
                </a:solidFill>
              </a:rPr>
              <a:t>CFTV · Intelbras compra só da Dahua · 2023/22</a:t>
            </a:r>
          </a:p>
        </p:txBody>
      </p:sp>
      <p:sp>
        <p:nvSpPr>
          <p:cNvPr id="31" name="Barra Câmeras e gravadores 0"/>
          <p:cNvSpPr/>
          <p:nvPr/>
        </p:nvSpPr>
        <p:spPr>
          <a:xfrm>
            <a:off x="2368296" y="3941064"/>
            <a:ext cx="932688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Hikvision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32" name="Barra Câmeras e gravadores 1"/>
          <p:cNvSpPr/>
          <p:nvPr/>
        </p:nvSpPr>
        <p:spPr>
          <a:xfrm>
            <a:off x="3300984" y="3941064"/>
            <a:ext cx="44769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Dahua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3" name="Barra Câmeras e gravadores 2"/>
          <p:cNvSpPr/>
          <p:nvPr/>
        </p:nvSpPr>
        <p:spPr>
          <a:xfrm>
            <a:off x="3748674" y="3941064"/>
            <a:ext cx="2350373" cy="402336"/>
          </a:xfrm>
          <a:prstGeom prst="rect">
            <a:avLst/>
          </a:prstGeom>
          <a:solidFill>
            <a:srgbClr val="E3E3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800" b="1">
                <a:solidFill>
                  <a:srgbClr val="595959"/>
                </a:solidFill>
              </a:rPr>
              <a:t>Axis, Motorola, Hanwha, Uniview e outros</a:t>
            </a:r>
          </a:p>
          <a:p>
            <a:pPr algn="ctr"/>
            <a:r>
              <a:rPr sz="800" b="0">
                <a:solidFill>
                  <a:srgbClr val="595959"/>
                </a:solidFill>
              </a:rPr>
              <a:t>63</a:t>
            </a:r>
          </a:p>
        </p:txBody>
      </p:sp>
      <p:sp>
        <p:nvSpPr>
          <p:cNvPr id="34" name="Rotulo Módulos solares"/>
          <p:cNvSpPr txBox="1"/>
          <p:nvPr/>
        </p:nvSpPr>
        <p:spPr>
          <a:xfrm>
            <a:off x="566928" y="4480560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Módulos solares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B6B"/>
                </a:solidFill>
              </a:rPr>
              <a:t>energia solar · 2024</a:t>
            </a:r>
          </a:p>
        </p:txBody>
      </p:sp>
      <p:sp>
        <p:nvSpPr>
          <p:cNvPr id="35" name="Barra Módulos solares 0"/>
          <p:cNvSpPr/>
          <p:nvPr/>
        </p:nvSpPr>
        <p:spPr>
          <a:xfrm>
            <a:off x="2368296" y="4526280"/>
            <a:ext cx="477536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Jinko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6" name="Barra Módulos solares 1"/>
          <p:cNvSpPr/>
          <p:nvPr/>
        </p:nvSpPr>
        <p:spPr>
          <a:xfrm>
            <a:off x="2845832" y="4526280"/>
            <a:ext cx="39919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LONGi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7" name="Barra Módulos solares 2"/>
          <p:cNvSpPr/>
          <p:nvPr/>
        </p:nvSpPr>
        <p:spPr>
          <a:xfrm>
            <a:off x="3245022" y="4526280"/>
            <a:ext cx="395459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JA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Barra Módulos solares 3"/>
          <p:cNvSpPr/>
          <p:nvPr/>
        </p:nvSpPr>
        <p:spPr>
          <a:xfrm>
            <a:off x="3640482" y="4526280"/>
            <a:ext cx="395459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Trina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Barra Módulos solares 4"/>
          <p:cNvSpPr/>
          <p:nvPr/>
        </p:nvSpPr>
        <p:spPr>
          <a:xfrm>
            <a:off x="4035942" y="4526280"/>
            <a:ext cx="1555723" cy="402336"/>
          </a:xfrm>
          <a:prstGeom prst="rect">
            <a:avLst/>
          </a:prstGeom>
          <a:solidFill>
            <a:srgbClr val="40404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outras chinesas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40" name="Barra Módulos solares 5"/>
          <p:cNvSpPr/>
          <p:nvPr/>
        </p:nvSpPr>
        <p:spPr>
          <a:xfrm>
            <a:off x="5591665" y="4526280"/>
            <a:ext cx="507382" cy="402336"/>
          </a:xfrm>
          <a:prstGeom prst="rect">
            <a:avLst/>
          </a:prstGeom>
          <a:solidFill>
            <a:srgbClr val="E3E3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595959"/>
                </a:solidFill>
              </a:rPr>
              <a:t>resto</a:t>
            </a:r>
          </a:p>
          <a:p>
            <a:pPr algn="ctr"/>
            <a:r>
              <a:rPr sz="750" b="0">
                <a:solidFill>
                  <a:srgbClr val="595959"/>
                </a:solidFill>
              </a:rPr>
              <a:t>14</a:t>
            </a:r>
          </a:p>
        </p:txBody>
      </p:sp>
      <p:sp>
        <p:nvSpPr>
          <p:cNvPr id="41" name="Rotulo Células para armazenamento"/>
          <p:cNvSpPr txBox="1"/>
          <p:nvPr/>
        </p:nvSpPr>
        <p:spPr>
          <a:xfrm>
            <a:off x="566928" y="506577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Células para armazenamento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B6B"/>
                </a:solidFill>
              </a:rPr>
              <a:t>baterias de lítio · 1S26</a:t>
            </a:r>
          </a:p>
        </p:txBody>
      </p:sp>
      <p:sp>
        <p:nvSpPr>
          <p:cNvPr id="42" name="Barra Células para armazenamento 0"/>
          <p:cNvSpPr/>
          <p:nvPr/>
        </p:nvSpPr>
        <p:spPr>
          <a:xfrm>
            <a:off x="2368296" y="5111496"/>
            <a:ext cx="1011033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CATL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43" name="Barra Células para armazenamento 1"/>
          <p:cNvSpPr/>
          <p:nvPr/>
        </p:nvSpPr>
        <p:spPr>
          <a:xfrm>
            <a:off x="3379329" y="5111496"/>
            <a:ext cx="387998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EVE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Barra Células para armazenamento 2"/>
          <p:cNvSpPr/>
          <p:nvPr/>
        </p:nvSpPr>
        <p:spPr>
          <a:xfrm>
            <a:off x="3767328" y="5111496"/>
            <a:ext cx="373075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Hithium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Barra Células para armazenamento 3"/>
          <p:cNvSpPr/>
          <p:nvPr/>
        </p:nvSpPr>
        <p:spPr>
          <a:xfrm>
            <a:off x="4140403" y="5111496"/>
            <a:ext cx="287267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BYD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6" name="Barra Células para armazenamento 4"/>
          <p:cNvSpPr/>
          <p:nvPr/>
        </p:nvSpPr>
        <p:spPr>
          <a:xfrm>
            <a:off x="4427671" y="5111496"/>
            <a:ext cx="1253532" cy="402336"/>
          </a:xfrm>
          <a:prstGeom prst="rect">
            <a:avLst/>
          </a:prstGeom>
          <a:solidFill>
            <a:srgbClr val="40404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outras chinesas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34</a:t>
            </a:r>
          </a:p>
        </p:txBody>
      </p:sp>
      <p:sp>
        <p:nvSpPr>
          <p:cNvPr id="47" name="Barra Células para armazenamento 5"/>
          <p:cNvSpPr/>
          <p:nvPr/>
        </p:nvSpPr>
        <p:spPr>
          <a:xfrm>
            <a:off x="5681203" y="5111496"/>
            <a:ext cx="149230" cy="402336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</a:p>
        </p:txBody>
      </p:sp>
      <p:sp>
        <p:nvSpPr>
          <p:cNvPr id="48" name="Barra Células para armazenamento 6"/>
          <p:cNvSpPr/>
          <p:nvPr/>
        </p:nvSpPr>
        <p:spPr>
          <a:xfrm>
            <a:off x="5830433" y="5111496"/>
            <a:ext cx="268614" cy="402336"/>
          </a:xfrm>
          <a:prstGeom prst="rect">
            <a:avLst/>
          </a:prstGeom>
          <a:solidFill>
            <a:srgbClr val="E3E3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</a:p>
        </p:txBody>
      </p:sp>
      <p:sp>
        <p:nvSpPr>
          <p:cNvPr id="49" name="Legenda China"/>
          <p:cNvSpPr/>
          <p:nvPr/>
        </p:nvSpPr>
        <p:spPr>
          <a:xfrm>
            <a:off x="2368296" y="5751576"/>
            <a:ext cx="128016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egenda China texto"/>
          <p:cNvSpPr txBox="1"/>
          <p:nvPr/>
        </p:nvSpPr>
        <p:spPr>
          <a:xfrm>
            <a:off x="2551176" y="57150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empresa chinesa</a:t>
            </a:r>
          </a:p>
        </p:txBody>
      </p:sp>
      <p:sp>
        <p:nvSpPr>
          <p:cNvPr id="51" name="Legenda outras"/>
          <p:cNvSpPr/>
          <p:nvPr/>
        </p:nvSpPr>
        <p:spPr>
          <a:xfrm>
            <a:off x="3785615" y="5751576"/>
            <a:ext cx="128016" cy="12801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egenda outras texto"/>
          <p:cNvSpPr txBox="1"/>
          <p:nvPr/>
        </p:nvSpPr>
        <p:spPr>
          <a:xfrm>
            <a:off x="3968496" y="57150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Taiwan, Coreia, EUA, Japão</a:t>
            </a:r>
          </a:p>
        </p:txBody>
      </p:sp>
      <p:sp>
        <p:nvSpPr>
          <p:cNvPr id="53" name="Citacao chipsets"/>
          <p:cNvSpPr txBox="1"/>
          <p:nvPr/>
        </p:nvSpPr>
        <p:spPr>
          <a:xfrm>
            <a:off x="566928" y="598932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B6B6B"/>
                </a:solidFill>
              </a:rPr>
              <a:t>“Existem poucas opções para escolha ou mudança dos chipsets”: trocar de fornecedor pode suspender parte da produção (FRE 2026)</a:t>
            </a:r>
          </a:p>
        </p:txBody>
      </p:sp>
      <p:graphicFrame>
        <p:nvGraphicFramePr>
          <p:cNvPr id="54" name="Grafico dolarizacao"/>
          <p:cNvGraphicFramePr>
            <a:graphicFrameLocks noGrp="1"/>
          </p:cNvGraphicFramePr>
          <p:nvPr/>
        </p:nvGraphicFramePr>
        <p:xfrm>
          <a:off x="6428232" y="1545336"/>
          <a:ext cx="3886200" cy="1984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5" name="Destaque cambio"/>
          <p:cNvSpPr txBox="1"/>
          <p:nvPr/>
        </p:nvSpPr>
        <p:spPr>
          <a:xfrm>
            <a:off x="10405872" y="1865376"/>
            <a:ext cx="1554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</a:rPr>
              <a:t>+R$249 mi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</a:rPr>
              <a:t>de custo por ano a cada +10% no dólar</a:t>
            </a:r>
          </a:p>
        </p:txBody>
      </p:sp>
      <p:sp>
        <p:nvSpPr>
          <p:cNvPr id="56" name="Cartao Dahua"/>
          <p:cNvSpPr/>
          <p:nvPr/>
        </p:nvSpPr>
        <p:spPr>
          <a:xfrm>
            <a:off x="6428232" y="4407408"/>
            <a:ext cx="1770887" cy="9144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artao topo Dahua"/>
          <p:cNvSpPr/>
          <p:nvPr/>
        </p:nvSpPr>
        <p:spPr>
          <a:xfrm>
            <a:off x="6428232" y="4407408"/>
            <a:ext cx="1770887" cy="32918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Dahua</a:t>
            </a:r>
          </a:p>
        </p:txBody>
      </p:sp>
      <p:sp>
        <p:nvSpPr>
          <p:cNvPr id="58" name="Cartao texto Dahua"/>
          <p:cNvSpPr txBox="1"/>
          <p:nvPr/>
        </p:nvSpPr>
        <p:spPr>
          <a:xfrm>
            <a:off x="6473952" y="4791456"/>
            <a:ext cx="16794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 i="0">
                <a:solidFill>
                  <a:srgbClr val="1A1A1A"/>
                </a:solidFill>
              </a:rPr>
              <a:t>China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</a:rPr>
              <a:t>câmeras e gravadores</a:t>
            </a:r>
          </a:p>
          <a:p>
            <a:pPr algn="ctr">
              <a:spcAft>
                <a:spcPts val="0"/>
              </a:spcAft>
            </a:pPr>
            <a:r>
              <a:rPr sz="800" b="0" i="1">
                <a:solidFill>
                  <a:srgbClr val="6B6B6B"/>
                </a:solidFill>
              </a:rPr>
              <a:t>exclusividade até 2028</a:t>
            </a:r>
          </a:p>
        </p:txBody>
      </p:sp>
      <p:sp>
        <p:nvSpPr>
          <p:cNvPr id="59" name="Cartao H3C"/>
          <p:cNvSpPr/>
          <p:nvPr/>
        </p:nvSpPr>
        <p:spPr>
          <a:xfrm>
            <a:off x="8308847" y="4407408"/>
            <a:ext cx="1770887" cy="9144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artao topo H3C"/>
          <p:cNvSpPr/>
          <p:nvPr/>
        </p:nvSpPr>
        <p:spPr>
          <a:xfrm>
            <a:off x="8308847" y="4407408"/>
            <a:ext cx="1770887" cy="32918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H3C</a:t>
            </a:r>
          </a:p>
        </p:txBody>
      </p:sp>
      <p:sp>
        <p:nvSpPr>
          <p:cNvPr id="61" name="Cartao texto H3C"/>
          <p:cNvSpPr txBox="1"/>
          <p:nvPr/>
        </p:nvSpPr>
        <p:spPr>
          <a:xfrm>
            <a:off x="8354568" y="4791456"/>
            <a:ext cx="16794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 i="0">
                <a:solidFill>
                  <a:srgbClr val="1A1A1A"/>
                </a:solidFill>
              </a:rPr>
              <a:t>China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</a:rPr>
              <a:t>redes corporativas</a:t>
            </a:r>
          </a:p>
          <a:p>
            <a:pPr algn="ctr">
              <a:spcAft>
                <a:spcPts val="0"/>
              </a:spcAft>
            </a:pPr>
            <a:r>
              <a:rPr sz="800" b="0" i="1">
                <a:solidFill>
                  <a:srgbClr val="6B6B6B"/>
                </a:solidFill>
              </a:rPr>
              <a:t>parceria desde 2023</a:t>
            </a:r>
          </a:p>
        </p:txBody>
      </p:sp>
      <p:sp>
        <p:nvSpPr>
          <p:cNvPr id="62" name="Cartao FiberHome"/>
          <p:cNvSpPr/>
          <p:nvPr/>
        </p:nvSpPr>
        <p:spPr>
          <a:xfrm>
            <a:off x="10189464" y="4407408"/>
            <a:ext cx="1770887" cy="9144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artao topo FiberHome"/>
          <p:cNvSpPr/>
          <p:nvPr/>
        </p:nvSpPr>
        <p:spPr>
          <a:xfrm>
            <a:off x="10189464" y="4407408"/>
            <a:ext cx="1770887" cy="32918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FiberHome</a:t>
            </a:r>
          </a:p>
        </p:txBody>
      </p:sp>
      <p:sp>
        <p:nvSpPr>
          <p:cNvPr id="64" name="Cartao texto FiberHome"/>
          <p:cNvSpPr txBox="1"/>
          <p:nvPr/>
        </p:nvSpPr>
        <p:spPr>
          <a:xfrm>
            <a:off x="10235184" y="4791456"/>
            <a:ext cx="16794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 i="0">
                <a:solidFill>
                  <a:srgbClr val="1A1A1A"/>
                </a:solidFill>
              </a:rPr>
              <a:t>China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</a:rPr>
              <a:t>fibra óptica (GPON)</a:t>
            </a:r>
          </a:p>
          <a:p>
            <a:pPr algn="ctr">
              <a:spcAft>
                <a:spcPts val="0"/>
              </a:spcAft>
            </a:pPr>
            <a:r>
              <a:rPr sz="800" b="0" i="1">
                <a:solidFill>
                  <a:srgbClr val="6B6B6B"/>
                </a:solidFill>
              </a:rPr>
              <a:t>exclusividade até jan/26</a:t>
            </a:r>
          </a:p>
        </p:txBody>
      </p:sp>
      <p:sp>
        <p:nvSpPr>
          <p:cNvPr id="65" name="Cartao Risen, JA, BYD…"/>
          <p:cNvSpPr/>
          <p:nvPr/>
        </p:nvSpPr>
        <p:spPr>
          <a:xfrm>
            <a:off x="6428232" y="5413248"/>
            <a:ext cx="1770887" cy="9144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rtao topo Risen, JA, BYD…"/>
          <p:cNvSpPr/>
          <p:nvPr/>
        </p:nvSpPr>
        <p:spPr>
          <a:xfrm>
            <a:off x="6428232" y="5413248"/>
            <a:ext cx="1770887" cy="32918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Risen, JA, BYD…</a:t>
            </a:r>
          </a:p>
        </p:txBody>
      </p:sp>
      <p:sp>
        <p:nvSpPr>
          <p:cNvPr id="67" name="Cartao texto Risen, JA, BYD…"/>
          <p:cNvSpPr txBox="1"/>
          <p:nvPr/>
        </p:nvSpPr>
        <p:spPr>
          <a:xfrm>
            <a:off x="6473952" y="5797296"/>
            <a:ext cx="16794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 i="0">
                <a:solidFill>
                  <a:srgbClr val="1A1A1A"/>
                </a:solidFill>
              </a:rPr>
              <a:t>China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</a:rPr>
              <a:t>módulos solares</a:t>
            </a:r>
          </a:p>
          <a:p>
            <a:pPr algn="ctr">
              <a:spcAft>
                <a:spcPts val="0"/>
              </a:spcAft>
            </a:pPr>
            <a:r>
              <a:rPr sz="800" b="0" i="1">
                <a:solidFill>
                  <a:srgbClr val="6B6B6B"/>
                </a:solidFill>
              </a:rPr>
              <a:t>via Renovigi</a:t>
            </a:r>
          </a:p>
        </p:txBody>
      </p:sp>
      <p:sp>
        <p:nvSpPr>
          <p:cNvPr id="68" name="Cartao Qualcomm"/>
          <p:cNvSpPr/>
          <p:nvPr/>
        </p:nvSpPr>
        <p:spPr>
          <a:xfrm>
            <a:off x="8308847" y="5413248"/>
            <a:ext cx="1770887" cy="9144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artao topo Qualcomm"/>
          <p:cNvSpPr/>
          <p:nvPr/>
        </p:nvSpPr>
        <p:spPr>
          <a:xfrm>
            <a:off x="8308847" y="5413248"/>
            <a:ext cx="1770887" cy="329184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Qualcomm</a:t>
            </a:r>
          </a:p>
        </p:txBody>
      </p:sp>
      <p:sp>
        <p:nvSpPr>
          <p:cNvPr id="70" name="Cartao texto Qualcomm"/>
          <p:cNvSpPr txBox="1"/>
          <p:nvPr/>
        </p:nvSpPr>
        <p:spPr>
          <a:xfrm>
            <a:off x="8354568" y="5797296"/>
            <a:ext cx="16794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 i="0">
                <a:solidFill>
                  <a:srgbClr val="595959"/>
                </a:solidFill>
              </a:rPr>
              <a:t>EUA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</a:rPr>
              <a:t>5G (modem X62)</a:t>
            </a:r>
          </a:p>
          <a:p>
            <a:pPr algn="ctr">
              <a:spcAft>
                <a:spcPts val="0"/>
              </a:spcAft>
            </a:pPr>
            <a:r>
              <a:rPr sz="800" b="0" i="1">
                <a:solidFill>
                  <a:srgbClr val="6B6B6B"/>
                </a:solidFill>
              </a:rPr>
              <a:t>exclusividade na A. Latina</a:t>
            </a:r>
          </a:p>
        </p:txBody>
      </p:sp>
      <p:sp>
        <p:nvSpPr>
          <p:cNvPr id="71" name="Cartao Realtek"/>
          <p:cNvSpPr/>
          <p:nvPr/>
        </p:nvSpPr>
        <p:spPr>
          <a:xfrm>
            <a:off x="10189464" y="5413248"/>
            <a:ext cx="1770887" cy="91440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artao topo Realtek"/>
          <p:cNvSpPr/>
          <p:nvPr/>
        </p:nvSpPr>
        <p:spPr>
          <a:xfrm>
            <a:off x="10189464" y="5413248"/>
            <a:ext cx="1770887" cy="329184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Realtek</a:t>
            </a:r>
          </a:p>
        </p:txBody>
      </p:sp>
      <p:sp>
        <p:nvSpPr>
          <p:cNvPr id="73" name="Cartao texto Realtek"/>
          <p:cNvSpPr txBox="1"/>
          <p:nvPr/>
        </p:nvSpPr>
        <p:spPr>
          <a:xfrm>
            <a:off x="10235184" y="5797296"/>
            <a:ext cx="16794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 i="0">
                <a:solidFill>
                  <a:srgbClr val="595959"/>
                </a:solidFill>
              </a:rPr>
              <a:t>Taiwan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</a:rPr>
              <a:t>chips dos roteadores</a:t>
            </a:r>
          </a:p>
          <a:p>
            <a:pPr algn="ctr">
              <a:spcAft>
                <a:spcPts val="0"/>
              </a:spcAft>
            </a:pPr>
            <a:r>
              <a:rPr sz="800" b="0" i="1">
                <a:solidFill>
                  <a:srgbClr val="6B6B6B"/>
                </a:solidFill>
              </a:rPr>
              <a:t>nos datasheets Twibi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Vantagem em fabricar no Brasil o que vem depois dos chips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 Intelbras tropicaliza a tecnologia dos parceiros e fabrica aqui; esse P&amp;D e essa produção locais dão acesso aos incentivos fiscais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Tropicalizar: o parceiro desenvolve, a Intelbras adapta ao Brasil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Como um produto chega ao instalador brasileiro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II. O P&amp;D pesado é do parceiro: 19 pessoas para cada 1 da Intelbras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Pessoas em P&amp;D, último dado disponível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 sz="quarter"/>
          </p:nvPr>
        </p:nvSpPr>
        <p:spPr>
          <a:xfrm>
            <a:off x="566928" y="4151376"/>
            <a:ext cx="11393424" cy="201168"/>
          </a:xfrm>
        </p:spPr>
        <p:txBody>
          <a:bodyPr/>
          <a:lstStyle/>
          <a:p>
            <a:r>
              <a:t>Etapas da fábrica; composição do custo dos produtos vendidos; gasto local vs incentivo, 2025 (R$ mi). O PPB exige etapas mínimas de produção no Brasil para dar o incentivo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>
          <a:xfrm>
            <a:off x="566928" y="3730752"/>
            <a:ext cx="11393424" cy="365760"/>
          </a:xfrm>
        </p:spPr>
        <p:txBody>
          <a:bodyPr/>
          <a:lstStyle/>
          <a:p>
            <a:r>
              <a:t>III. Fabricar aqui: da resina ao teste, só 15% do custo, mas destrava os incentivos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FRE 2026 (1.1, 1.4); DFP 2025 (NE 13, 23, 27); Dahua, Relatório Anual 2025; comunicado Intelbras–FiberHome (24/10/2023); Teletime (H3C, 09/10/2024); Investor Day 2025.</a:t>
            </a:r>
          </a:p>
        </p:txBody>
      </p:sp>
      <p:sp>
        <p:nvSpPr>
          <p:cNvPr id="15" name="Passo Parceiro global"/>
          <p:cNvSpPr/>
          <p:nvPr/>
        </p:nvSpPr>
        <p:spPr>
          <a:xfrm>
            <a:off x="566928" y="1591056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Parceiro global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desenvolve</a:t>
            </a:r>
          </a:p>
        </p:txBody>
      </p:sp>
      <p:sp>
        <p:nvSpPr>
          <p:cNvPr id="16" name="Itens Parceiro global"/>
          <p:cNvSpPr txBox="1"/>
          <p:nvPr/>
        </p:nvSpPr>
        <p:spPr>
          <a:xfrm>
            <a:off x="585216" y="2157984"/>
            <a:ext cx="15636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Dahua · câmeras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H3C · redes corporativas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FiberHome · fibra óptica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Qualcomm · 5G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21992" y="1819656"/>
            <a:ext cx="256032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sso Intelbras"/>
          <p:cNvSpPr/>
          <p:nvPr/>
        </p:nvSpPr>
        <p:spPr>
          <a:xfrm>
            <a:off x="2532888" y="1591056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Intelbras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tropicaliza</a:t>
            </a:r>
          </a:p>
        </p:txBody>
      </p:sp>
      <p:sp>
        <p:nvSpPr>
          <p:cNvPr id="19" name="Itens Intelbras"/>
          <p:cNvSpPr txBox="1"/>
          <p:nvPr/>
        </p:nvSpPr>
        <p:spPr>
          <a:xfrm>
            <a:off x="2551176" y="2157984"/>
            <a:ext cx="15636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Software e app em português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Homologação na Anatel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Ajuste ao instalador brasileiro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Suporte e garantia locais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87951" y="1819656"/>
            <a:ext cx="256033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sso Canal"/>
          <p:cNvSpPr/>
          <p:nvPr/>
        </p:nvSpPr>
        <p:spPr>
          <a:xfrm>
            <a:off x="4498848" y="1591056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Canal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vende e instala</a:t>
            </a:r>
          </a:p>
        </p:txBody>
      </p:sp>
      <p:sp>
        <p:nvSpPr>
          <p:cNvPr id="22" name="Itens Canal"/>
          <p:cNvSpPr txBox="1"/>
          <p:nvPr/>
        </p:nvSpPr>
        <p:spPr>
          <a:xfrm>
            <a:off x="4517136" y="2157984"/>
            <a:ext cx="15636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~500 distribuidores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&gt;90 mil revendas e instaladores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</a:rPr>
              <a:t>340 assistências técnicas</a:t>
            </a:r>
          </a:p>
        </p:txBody>
      </p:sp>
      <p:graphicFrame>
        <p:nvGraphicFramePr>
          <p:cNvPr id="23" name="Grafico pessoas P&amp;D"/>
          <p:cNvGraphicFramePr>
            <a:graphicFrameLocks noGrp="1"/>
          </p:cNvGraphicFramePr>
          <p:nvPr/>
        </p:nvGraphicFramePr>
        <p:xfrm>
          <a:off x="6428232" y="1545336"/>
          <a:ext cx="3840480" cy="1984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Destaque 19x"/>
          <p:cNvSpPr txBox="1"/>
          <p:nvPr/>
        </p:nvSpPr>
        <p:spPr>
          <a:xfrm>
            <a:off x="10360152" y="1865376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</a:rPr>
              <a:t>19x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</a:rPr>
              <a:t>o P&amp;D da Dahua vs o da Intelbras (R$3,4 bi vs R$0,18 bi)</a:t>
            </a:r>
          </a:p>
        </p:txBody>
      </p:sp>
      <p:sp>
        <p:nvSpPr>
          <p:cNvPr id="25" name="Painel A titulo"/>
          <p:cNvSpPr txBox="1"/>
          <p:nvPr/>
        </p:nvSpPr>
        <p:spPr>
          <a:xfrm>
            <a:off x="566928" y="4443984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Da resina ao teste, na fábrica própria</a:t>
            </a:r>
          </a:p>
        </p:txBody>
      </p:sp>
      <p:sp>
        <p:nvSpPr>
          <p:cNvPr id="26" name="Etapa 1"/>
          <p:cNvSpPr/>
          <p:nvPr/>
        </p:nvSpPr>
        <p:spPr>
          <a:xfrm>
            <a:off x="566928" y="4773168"/>
            <a:ext cx="219456" cy="219456"/>
          </a:xfrm>
          <a:prstGeom prst="ellipse">
            <a:avLst/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Etapa texto 1"/>
          <p:cNvSpPr txBox="1"/>
          <p:nvPr/>
        </p:nvSpPr>
        <p:spPr>
          <a:xfrm>
            <a:off x="859536" y="4745736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</a:rPr>
              <a:t>Injeção plástica</a:t>
            </a:r>
            <a:r>
              <a:rPr sz="900" b="0" i="0">
                <a:solidFill>
                  <a:srgbClr val="6B6B6B"/>
                </a:solidFill>
              </a:rPr>
              <a:t>  ~230 t/mês de gabinetes</a:t>
            </a:r>
          </a:p>
        </p:txBody>
      </p:sp>
      <p:sp>
        <p:nvSpPr>
          <p:cNvPr id="28" name="Etapa 2"/>
          <p:cNvSpPr/>
          <p:nvPr/>
        </p:nvSpPr>
        <p:spPr>
          <a:xfrm>
            <a:off x="566928" y="5102352"/>
            <a:ext cx="219456" cy="219456"/>
          </a:xfrm>
          <a:prstGeom prst="ellipse">
            <a:avLst/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Etapa texto 2"/>
          <p:cNvSpPr txBox="1"/>
          <p:nvPr/>
        </p:nvSpPr>
        <p:spPr>
          <a:xfrm>
            <a:off x="859536" y="5074920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</a:rPr>
              <a:t>Inserção SMD</a:t>
            </a:r>
            <a:r>
              <a:rPr sz="900" b="0" i="0">
                <a:solidFill>
                  <a:srgbClr val="6B6B6B"/>
                </a:solidFill>
              </a:rPr>
              <a:t>  ~450 mi de componentes/mês</a:t>
            </a:r>
          </a:p>
        </p:txBody>
      </p:sp>
      <p:sp>
        <p:nvSpPr>
          <p:cNvPr id="30" name="Etapa 3"/>
          <p:cNvSpPr/>
          <p:nvPr/>
        </p:nvSpPr>
        <p:spPr>
          <a:xfrm>
            <a:off x="566928" y="5431536"/>
            <a:ext cx="219456" cy="219456"/>
          </a:xfrm>
          <a:prstGeom prst="ellipse">
            <a:avLst/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Etapa texto 3"/>
          <p:cNvSpPr txBox="1"/>
          <p:nvPr/>
        </p:nvSpPr>
        <p:spPr>
          <a:xfrm>
            <a:off x="859536" y="5404104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</a:rPr>
              <a:t>Montagem manual</a:t>
            </a:r>
            <a:r>
              <a:rPr sz="900" b="0" i="0">
                <a:solidFill>
                  <a:srgbClr val="6B6B6B"/>
                </a:solidFill>
              </a:rPr>
              <a:t>  o que a máquina não insere</a:t>
            </a:r>
          </a:p>
        </p:txBody>
      </p:sp>
      <p:sp>
        <p:nvSpPr>
          <p:cNvPr id="32" name="Etapa 4"/>
          <p:cNvSpPr/>
          <p:nvPr/>
        </p:nvSpPr>
        <p:spPr>
          <a:xfrm>
            <a:off x="566928" y="5760720"/>
            <a:ext cx="219456" cy="219456"/>
          </a:xfrm>
          <a:prstGeom prst="ellipse">
            <a:avLst/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Etapa texto 4"/>
          <p:cNvSpPr txBox="1"/>
          <p:nvPr/>
        </p:nvSpPr>
        <p:spPr>
          <a:xfrm>
            <a:off x="859536" y="5733288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</a:rPr>
              <a:t>Montagem final e teste</a:t>
            </a:r>
            <a:r>
              <a:rPr sz="900" b="0" i="0">
                <a:solidFill>
                  <a:srgbClr val="6B6B6B"/>
                </a:solidFill>
              </a:rPr>
              <a:t>  100% dos aparelhos testados</a:t>
            </a:r>
          </a:p>
        </p:txBody>
      </p:sp>
      <p:sp>
        <p:nvSpPr>
          <p:cNvPr id="34" name="Etapa 5"/>
          <p:cNvSpPr/>
          <p:nvPr/>
        </p:nvSpPr>
        <p:spPr>
          <a:xfrm>
            <a:off x="566928" y="6089904"/>
            <a:ext cx="219456" cy="219456"/>
          </a:xfrm>
          <a:prstGeom prst="ellipse">
            <a:avLst/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Etapa texto 5"/>
          <p:cNvSpPr txBox="1"/>
          <p:nvPr/>
        </p:nvSpPr>
        <p:spPr>
          <a:xfrm>
            <a:off x="859536" y="6062472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</a:rPr>
              <a:t>Armazenagem e expedição</a:t>
            </a:r>
            <a:r>
              <a:rPr sz="900" b="0" i="0">
                <a:solidFill>
                  <a:srgbClr val="6B6B6B"/>
                </a:solidFill>
              </a:rPr>
              <a:t>  fábricas em SC, AM e MG; CDs</a:t>
            </a:r>
          </a:p>
        </p:txBody>
      </p:sp>
      <p:sp>
        <p:nvSpPr>
          <p:cNvPr id="36" name="Painel B titulo"/>
          <p:cNvSpPr txBox="1"/>
          <p:nvPr/>
        </p:nvSpPr>
        <p:spPr>
          <a:xfrm>
            <a:off x="4379976" y="4443984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</a:rPr>
              <a:t>A fábrica é só 15% do custo</a:t>
            </a:r>
          </a:p>
        </p:txBody>
      </p:sp>
      <p:graphicFrame>
        <p:nvGraphicFramePr>
          <p:cNvPr id="37" name="Grafico rosca custo"/>
          <p:cNvGraphicFramePr>
            <a:graphicFrameLocks noGrp="1"/>
          </p:cNvGraphicFramePr>
          <p:nvPr/>
        </p:nvGraphicFramePr>
        <p:xfrm>
          <a:off x="4379976" y="4700016"/>
          <a:ext cx="3749039" cy="1719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Painel C titulo"/>
          <p:cNvSpPr txBox="1"/>
          <p:nvPr/>
        </p:nvSpPr>
        <p:spPr>
          <a:xfrm>
            <a:off x="8202168" y="4443984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9F41"/>
                </a:solidFill>
              </a:rPr>
              <a:t>Gasta R$630 mi aqui e recebe R$459 mi</a:t>
            </a:r>
          </a:p>
        </p:txBody>
      </p:sp>
      <p:graphicFrame>
        <p:nvGraphicFramePr>
          <p:cNvPr id="39" name="Grafico gasto vs incentivo"/>
          <p:cNvGraphicFramePr>
            <a:graphicFrameLocks noGrp="1"/>
          </p:cNvGraphicFramePr>
          <p:nvPr/>
        </p:nvGraphicFramePr>
        <p:xfrm>
          <a:off x="8202168" y="4700016"/>
          <a:ext cx="3749039" cy="171907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Um_fabricante_de_hardware_movido_por_Segurança</Template>
  <TotalTime>78</TotalTime>
  <Words>1073</Words>
  <Application>Microsoft Office PowerPoint</Application>
  <PresentationFormat>Widescreen</PresentationFormat>
  <Paragraphs>147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1_Office Theme</vt:lpstr>
      <vt:lpstr>Baixo poder de barganha com os fornecedores</vt:lpstr>
      <vt:lpstr>Dahua</vt:lpstr>
      <vt:lpstr>Vantagem em fabricar no Brasil o que vem depois dos chips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Marques</dc:creator>
  <cp:lastModifiedBy>Gabriel Marques</cp:lastModifiedBy>
  <cp:revision>3</cp:revision>
  <dcterms:created xsi:type="dcterms:W3CDTF">2026-10-04T13:03:30Z</dcterms:created>
  <dcterms:modified xsi:type="dcterms:W3CDTF">2026-10-04T16:12:34Z</dcterms:modified>
</cp:coreProperties>
</file>